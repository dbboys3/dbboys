
<file path=[Content_Types].xml><?xml version="1.0" encoding="utf-8"?>
<Types xmlns="http://schemas.openxmlformats.org/package/2006/content-types">
  <Default ContentType="application/vnd.openxmlformats-officedocument.oleObject" Extension="bin"/>
  <Default ContentType="image/x-emf" Extension="emf"/>
  <Default ContentType="application/x-fontdata" Extension="fntdata"/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vnd.openxmlformats-officedocument.vmlDrawing" Extension="vml"/>
  <Default ContentType="image/x-wmf" Extension="wm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17" r:id="rId2"/>
    <p:sldId id="439" r:id="rId3"/>
    <p:sldId id="419" r:id="rId4"/>
    <p:sldId id="420" r:id="rId5"/>
    <p:sldId id="440" r:id="rId6"/>
    <p:sldId id="422" r:id="rId7"/>
    <p:sldId id="461" r:id="rId8"/>
    <p:sldId id="462" r:id="rId9"/>
    <p:sldId id="424" r:id="rId10"/>
    <p:sldId id="425" r:id="rId11"/>
    <p:sldId id="426" r:id="rId12"/>
    <p:sldId id="427" r:id="rId13"/>
    <p:sldId id="428" r:id="rId14"/>
    <p:sldId id="429" r:id="rId15"/>
    <p:sldId id="463" r:id="rId16"/>
    <p:sldId id="464" r:id="rId17"/>
    <p:sldId id="465" r:id="rId18"/>
    <p:sldId id="430" r:id="rId19"/>
    <p:sldId id="44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07" r:id="rId28"/>
  </p:sldIdLst>
  <p:sldSz cx="12192000" cy="6858000"/>
  <p:notesSz cx="6858000" cy="9144000"/>
  <p:embeddedFontLst>
    <p:embeddedFont>
      <p:font typeface="Calibri Light" pitchFamily="34" charset="0"/>
      <p:regular r:id="rId31"/>
      <p:italic r:id="rId32"/>
    </p:embeddedFont>
    <p:embeddedFont>
      <p:font typeface="微软雅黑" pitchFamily="34" charset="-122"/>
      <p:regular r:id="rId33"/>
      <p:bold r:id="rId34"/>
    </p:embeddedFont>
    <p:embeddedFont>
      <p:font typeface="Verdana" pitchFamily="34" charset="0"/>
      <p:regular r:id="rId35"/>
      <p:bold r:id="rId36"/>
      <p:italic r:id="rId37"/>
      <p:boldItalic r:id="rId38"/>
    </p:embeddedFont>
    <p:embeddedFont>
      <p:font typeface="Bookman Old Style" pitchFamily="18" charset="0"/>
      <p:regular r:id="rId39"/>
      <p:bold r:id="rId40"/>
      <p:italic r:id="rId41"/>
      <p:boldItalic r:id="rId42"/>
    </p:embeddedFont>
    <p:embeddedFont>
      <p:font typeface="Arial Unicode MS" pitchFamily="34" charset="-122"/>
      <p:regular r:id="rId43"/>
    </p:embeddedFont>
    <p:embeddedFont>
      <p:font typeface="Calibri" pitchFamily="34" charset="0"/>
      <p:regular r:id="rId44"/>
      <p:bold r:id="rId45"/>
      <p:italic r:id="rId46"/>
      <p:boldItalic r:id="rId47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6"/>
    <a:srgbClr val="B5B5B5"/>
    <a:srgbClr val="DE1208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2" autoAdjust="0"/>
    <p:restoredTop sz="99878" autoAdjust="0"/>
  </p:normalViewPr>
  <p:slideViewPr>
    <p:cSldViewPr snapToGrid="0">
      <p:cViewPr varScale="1">
        <p:scale>
          <a:sx n="79" d="100"/>
          <a:sy n="79" d="100"/>
        </p:scale>
        <p:origin x="-114" y="-144"/>
      </p:cViewPr>
      <p:guideLst>
        <p:guide orient="horz" pos="1094"/>
        <p:guide orient="horz" pos="4065"/>
        <p:guide pos="325"/>
        <p:guide pos="7106"/>
        <p:guide pos="18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19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notesMasters/notesMaster1.xml" Type="http://schemas.openxmlformats.org/officeDocument/2006/relationships/notesMaster"/><Relationship Id="rId3" Target="slides/slide2.xml" Type="http://schemas.openxmlformats.org/officeDocument/2006/relationships/slide"/><Relationship Id="rId30" Target="handoutMasters/handoutMaster1.xml" Type="http://schemas.openxmlformats.org/officeDocument/2006/relationships/handoutMaster"/><Relationship Id="rId31" Target="fonts/font1.fntdata" Type="http://schemas.openxmlformats.org/officeDocument/2006/relationships/font"/><Relationship Id="rId32" Target="fonts/font2.fntdata" Type="http://schemas.openxmlformats.org/officeDocument/2006/relationships/font"/><Relationship Id="rId33" Target="fonts/font3.fntdata" Type="http://schemas.openxmlformats.org/officeDocument/2006/relationships/font"/><Relationship Id="rId34" Target="fonts/font4.fntdata" Type="http://schemas.openxmlformats.org/officeDocument/2006/relationships/font"/><Relationship Id="rId35" Target="fonts/font5.fntdata" Type="http://schemas.openxmlformats.org/officeDocument/2006/relationships/font"/><Relationship Id="rId36" Target="fonts/font6.fntdata" Type="http://schemas.openxmlformats.org/officeDocument/2006/relationships/font"/><Relationship Id="rId37" Target="fonts/font7.fntdata" Type="http://schemas.openxmlformats.org/officeDocument/2006/relationships/font"/><Relationship Id="rId38" Target="fonts/font8.fntdata" Type="http://schemas.openxmlformats.org/officeDocument/2006/relationships/font"/><Relationship Id="rId39" Target="fonts/font9.fntdata" Type="http://schemas.openxmlformats.org/officeDocument/2006/relationships/font"/><Relationship Id="rId4" Target="slides/slide3.xml" Type="http://schemas.openxmlformats.org/officeDocument/2006/relationships/slide"/><Relationship Id="rId40" Target="fonts/font10.fntdata" Type="http://schemas.openxmlformats.org/officeDocument/2006/relationships/font"/><Relationship Id="rId41" Target="fonts/font11.fntdata" Type="http://schemas.openxmlformats.org/officeDocument/2006/relationships/font"/><Relationship Id="rId42" Target="fonts/font12.fntdata" Type="http://schemas.openxmlformats.org/officeDocument/2006/relationships/font"/><Relationship Id="rId43" Target="fonts/font13.fntdata" Type="http://schemas.openxmlformats.org/officeDocument/2006/relationships/font"/><Relationship Id="rId44" Target="fonts/font14.fntdata" Type="http://schemas.openxmlformats.org/officeDocument/2006/relationships/font"/><Relationship Id="rId45" Target="fonts/font15.fntdata" Type="http://schemas.openxmlformats.org/officeDocument/2006/relationships/font"/><Relationship Id="rId46" Target="fonts/font16.fntdata" Type="http://schemas.openxmlformats.org/officeDocument/2006/relationships/font"/><Relationship Id="rId47" Target="fonts/font17.fntdata" Type="http://schemas.openxmlformats.org/officeDocument/2006/relationships/font"/><Relationship Id="rId48" Target="presProps.xml" Type="http://schemas.openxmlformats.org/officeDocument/2006/relationships/presProps"/><Relationship Id="rId49" Target="viewProps.xml" Type="http://schemas.openxmlformats.org/officeDocument/2006/relationships/viewProps"/><Relationship Id="rId5" Target="slides/slide4.xml" Type="http://schemas.openxmlformats.org/officeDocument/2006/relationships/slide"/><Relationship Id="rId50" Target="theme/theme1.xml" Type="http://schemas.openxmlformats.org/officeDocument/2006/relationships/theme"/><Relationship Id="rId51" Target="tableStyles.xml" Type="http://schemas.openxmlformats.org/officeDocument/2006/relationships/tableStyles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drawings/_rels/vmlDrawing1.vml.rels><?xml version="1.0" encoding="UTF-8" standalone="yes"?><Relationships xmlns="http://schemas.openxmlformats.org/package/2006/relationships"><Relationship Id="rId1" Target="../media/image14.png" Type="http://schemas.openxmlformats.org/officeDocument/2006/relationships/image"/></Relationships>
</file>

<file path=ppt/drawings/_rels/vmlDrawing2.vml.rels><?xml version="1.0" encoding="UTF-8" standalone="yes"?><Relationships xmlns="http://schemas.openxmlformats.org/package/2006/relationships"><Relationship Id="rId1" Target="../media/image15.png" Type="http://schemas.openxmlformats.org/officeDocument/2006/relationships/image"/></Relationships>
</file>

<file path=ppt/drawings/_rels/vmlDrawing3.vml.rels><?xml version="1.0" encoding="UTF-8" standalone="yes"?><Relationships xmlns="http://schemas.openxmlformats.org/package/2006/relationships"><Relationship Id="rId1" Target="../media/image21.wmf" Type="http://schemas.openxmlformats.org/officeDocument/2006/relationships/imag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2019-01-09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09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pPr>
                <a:defRPr/>
              </a:pPr>
              <a:t>2019-01-09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4961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</p:spPr>
        <p:txBody>
          <a:bodyPr wrap="square" lIns="94576" tIns="47288" rIns="94576" bIns="47288" numCol="1" anchor="t" anchorCtr="0" compatLnSpc="1">
            <a:normAutofit lnSpcReduction="10000"/>
          </a:bodyPr>
          <a:lstStyle/>
          <a:p>
            <a:pPr fontAlgn="base"/>
            <a:endParaRPr lang="zh-CN" altLang="en-US" strike="noStrike" noProof="1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</p:spPr>
        <p:txBody>
          <a:bodyPr wrap="square" lIns="94576" tIns="47288" rIns="94576" bIns="47288" numCol="1" anchor="t" anchorCtr="0" compatLnSpc="1">
            <a:normAutofit lnSpcReduction="10000"/>
          </a:bodyPr>
          <a:lstStyle/>
          <a:p>
            <a:pPr fontAlgn="base"/>
            <a:endParaRPr lang="zh-CN" altLang="en-US" strike="noStrike" noProof="1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63FC02-4544-0F4D-BA6F-A90A2640F071}" type="slidenum">
              <a:rPr lang="zh-CN" altLang="en-US" sz="1200" b="0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6</a:t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This will slightly reduce the network traffic,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especially on highly used systems with fast filling log files. The secondary will,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after receiving the LSN from the primary, read the associated log entries from the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cs typeface="宋体" panose="02010600030101010101" pitchFamily="2" charset="-122"/>
              </a:rPr>
              <a:t>采用</a:t>
            </a:r>
            <a:r>
              <a:rPr lang="en-US" altLang="zh-CN">
                <a:cs typeface="宋体" panose="02010600030101010101" pitchFamily="2" charset="-122"/>
              </a:rPr>
              <a:t>Server Multiplexer (SMX)</a:t>
            </a:r>
            <a:r>
              <a:rPr lang="zh-CN" altLang="en-US">
                <a:cs typeface="宋体" panose="02010600030101010101" pitchFamily="2" charset="-122"/>
              </a:rPr>
              <a:t>实现</a:t>
            </a:r>
            <a:r>
              <a:rPr lang="en-US" altLang="zh-CN">
                <a:cs typeface="宋体" panose="02010600030101010101" pitchFamily="2" charset="-122"/>
              </a:rPr>
              <a:t>Primary server</a:t>
            </a:r>
            <a:r>
              <a:rPr lang="zh-CN" altLang="en-US">
                <a:cs typeface="宋体" panose="02010600030101010101" pitchFamily="2" charset="-122"/>
              </a:rPr>
              <a:t>与</a:t>
            </a:r>
            <a:r>
              <a:rPr lang="en-US" altLang="zh-CN">
                <a:cs typeface="宋体" panose="02010600030101010101" pitchFamily="2" charset="-122"/>
              </a:rPr>
              <a:t>Secondary Servers</a:t>
            </a:r>
            <a:r>
              <a:rPr lang="zh-CN" altLang="en-US">
                <a:cs typeface="宋体" panose="02010600030101010101" pitchFamily="2" charset="-122"/>
              </a:rPr>
              <a:t>之间的通信</a:t>
            </a:r>
          </a:p>
          <a:p>
            <a:pPr eaLnBrk="1" hangingPunct="1"/>
            <a:endParaRPr lang="en-US" altLang="zh-CN">
              <a:cs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The changes are only applied in the buffer pool and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will not be written to disk on a secondary server.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After applying the log entries to the buffer pool, the secondary server will send a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acknowledgement (ACK) back to the primary. The primary server will keep track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of the ACK messages for the LSN progress.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the SDS does not support synchronous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mode. The LSN will be sent out and the primary will not block an ACK from any of</a:t>
            </a:r>
          </a:p>
          <a:p>
            <a:pPr eaLnBrk="1" hangingPunct="1"/>
            <a:r>
              <a:rPr lang="en-US" altLang="zh-CN">
                <a:cs typeface="宋体" panose="02010600030101010101" pitchFamily="2" charset="-122"/>
              </a:rPr>
              <a:t>the secondary servers.</a:t>
            </a:r>
            <a:endParaRPr lang="zh-CN" altLang="en-US">
              <a:cs typeface="宋体" panose="02010600030101010101" pitchFamily="2" charset="-122"/>
            </a:endParaRPr>
          </a:p>
          <a:p>
            <a:pPr eaLnBrk="1" hangingPunct="1"/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FAB9C4-69D1-1A40-8547-460B562A281B}" type="slidenum">
              <a:rPr lang="zh-CN" altLang="en-US" sz="1200" b="0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7</a:t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800" b="1">
                <a:cs typeface="宋体" panose="02010600030101010101" pitchFamily="2" charset="-122"/>
              </a:rPr>
              <a:t>Threads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In an SDS environment, the IDS 11 server will create a send and receive thread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for SMX once the communication between a newly started secondary and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primary is established.</a:t>
            </a:r>
          </a:p>
          <a:p>
            <a:pPr eaLnBrk="1" hangingPunct="1">
              <a:lnSpc>
                <a:spcPct val="80000"/>
              </a:lnSpc>
            </a:pPr>
            <a:endParaRPr lang="en-US" altLang="zh-CN" sz="800">
              <a:cs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Primary: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– SDS_send_&lt;secondary&gt;</a:t>
            </a:r>
            <a:br>
              <a:rPr lang="en-US" altLang="zh-CN" sz="800">
                <a:cs typeface="宋体" panose="02010600030101010101" pitchFamily="2" charset="-122"/>
              </a:rPr>
            </a:br>
            <a:r>
              <a:rPr lang="en-US" altLang="zh-CN" sz="800">
                <a:cs typeface="宋体" panose="02010600030101010101" pitchFamily="2" charset="-122"/>
              </a:rPr>
              <a:t>Requests a send of all data, such as the LSN or heartbeats, by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invocation of the </a:t>
            </a:r>
            <a:r>
              <a:rPr lang="en-US" altLang="zh-CN" sz="800" b="1">
                <a:cs typeface="宋体" panose="02010600030101010101" pitchFamily="2" charset="-122"/>
              </a:rPr>
              <a:t>smxsnd </a:t>
            </a:r>
            <a:r>
              <a:rPr lang="en-US" altLang="zh-CN" sz="800">
                <a:cs typeface="宋体" panose="02010600030101010101" pitchFamily="2" charset="-122"/>
              </a:rPr>
              <a:t>command to a particular secondary SDS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server specified in the name of the thread.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SDS_recv_&lt;secondary&gt;: For incoming messages such as ACKs,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appropriate structures related to the particular associated SDS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secondary server specified by the name in the thread will be updated.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The thread will be woken up by the smxrcv thread when incoming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messages arrive.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Secondary: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– SDS_Network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Activated by the smxrcv thread when an incoming message arrives.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Validates the incoming message for consistency and performs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appropriate action, such as sending reply messages, such as ACKs, 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putting the incoming data into the work queue for the threads dedicated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to work on the incoming message.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Activates the target threads after putting the message in the work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queue.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– SDS_LogReader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In case a new LSN arrives, this thread will read the associated log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pages from the disk and put them into the work queue for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SDS_apply thread and activate it.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– SDS_apply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• Will convert the log pages from the queue into a readable format for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fast recovery threads that apply the log entries on the pages in the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800">
                <a:cs typeface="宋体" panose="02010600030101010101" pitchFamily="2" charset="-122"/>
              </a:rPr>
              <a:t>buffer pool.</a:t>
            </a:r>
          </a:p>
          <a:p>
            <a:pPr eaLnBrk="1" hangingPunct="1">
              <a:lnSpc>
                <a:spcPct val="80000"/>
              </a:lnSpc>
            </a:pPr>
            <a:endParaRPr lang="zh-CN" altLang="en-US" sz="800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</p:spPr>
        <p:txBody>
          <a:bodyPr wrap="square" lIns="94576" tIns="47288" rIns="94576" bIns="47288" numCol="1" anchor="t" anchorCtr="0" compatLnSpc="1">
            <a:normAutofit lnSpcReduction="10000"/>
          </a:bodyPr>
          <a:lstStyle/>
          <a:p>
            <a:pPr fontAlgn="base"/>
            <a:endParaRPr lang="zh-CN" altLang="en-US" strike="noStrike" noProof="1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这三种同步模式控制事务提交什么时候返回给客户端应用：在主实例处理之后，在传输给</a:t>
            </a:r>
            <a:r>
              <a:rPr lang="en-US" altLang="zh-CN">
                <a:latin typeface="Arial" panose="020B0604020202020204" pitchFamily="34" charset="0"/>
              </a:rPr>
              <a:t>HDR</a:t>
            </a:r>
            <a:r>
              <a:rPr lang="zh-CN" altLang="en-US">
                <a:latin typeface="Arial" panose="020B0604020202020204" pitchFamily="34" charset="0"/>
              </a:rPr>
              <a:t>备实例后，在</a:t>
            </a:r>
            <a:r>
              <a:rPr lang="en-US" altLang="zh-CN">
                <a:latin typeface="Arial" panose="020B0604020202020204" pitchFamily="34" charset="0"/>
              </a:rPr>
              <a:t>HDR</a:t>
            </a:r>
            <a:r>
              <a:rPr lang="zh-CN" altLang="en-US">
                <a:latin typeface="Arial" panose="020B0604020202020204" pitchFamily="34" charset="0"/>
              </a:rPr>
              <a:t>备实例处理之后。</a:t>
            </a:r>
          </a:p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36AFE3-9640-4F9B-BBEF-D1B2D1389B04}" type="slidenum">
              <a:rPr lang="en-US" altLang="zh-CN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9525"/>
        </p:spPr>
        <p:txBody>
          <a:bodyPr/>
          <a:lstStyle>
            <a:lvl1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7586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2544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75660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2587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DCEA1D-059E-B144-8CAD-52B966C19491}" type="slidenum">
              <a:rPr lang="en-US" altLang="zh-CN" sz="2400" b="0">
                <a:solidFill>
                  <a:srgbClr val="000000"/>
                </a:solidFill>
              </a:rPr>
              <a:pPr eaLnBrk="1" hangingPunct="1"/>
              <a:t>15</a:t>
            </a:fld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4413" cy="3429000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956" y="4344144"/>
            <a:ext cx="5486088" cy="4113939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altLang="zh-CN" sz="1600">
                <a:latin typeface="Times New Roman" panose="02020603050405020304" pitchFamily="18" charset="0"/>
              </a:rPr>
              <a:t>Multiple hot backups</a:t>
            </a:r>
          </a:p>
          <a:p>
            <a:pPr lvl="1">
              <a:spcBef>
                <a:spcPct val="10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Additional secondary servers</a:t>
            </a:r>
          </a:p>
          <a:p>
            <a:pPr lvl="1">
              <a:spcBef>
                <a:spcPct val="10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Located Globally</a:t>
            </a:r>
          </a:p>
          <a:p>
            <a:pPr lvl="1">
              <a:spcBef>
                <a:spcPct val="10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Extends HDR capabilities</a:t>
            </a:r>
          </a:p>
          <a:p>
            <a:r>
              <a:rPr lang="en-US" altLang="zh-CN" sz="1600">
                <a:latin typeface="Times New Roman" panose="02020603050405020304" pitchFamily="18" charset="0"/>
              </a:rPr>
              <a:t>Optimize Capacity</a:t>
            </a:r>
          </a:p>
          <a:p>
            <a:pPr lvl="1">
              <a:spcBef>
                <a:spcPct val="15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Flexible workload distribution</a:t>
            </a:r>
          </a:p>
          <a:p>
            <a:pPr lvl="1">
              <a:spcBef>
                <a:spcPct val="15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Local read for performance</a:t>
            </a:r>
          </a:p>
          <a:p>
            <a:pPr lvl="1">
              <a:spcBef>
                <a:spcPct val="15000"/>
              </a:spcBef>
            </a:pPr>
            <a:r>
              <a:rPr lang="en-US" altLang="zh-CN" sz="1400">
                <a:latin typeface="Times New Roman" panose="02020603050405020304" pitchFamily="18" charset="0"/>
                <a:cs typeface="宋体" panose="02010600030101010101" pitchFamily="2" charset="-122"/>
              </a:rPr>
              <a:t>Distribute to increase capacity</a:t>
            </a:r>
          </a:p>
          <a:p>
            <a:endParaRPr lang="en-US" altLang="zh-CN" b="1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endParaRPr lang="en-US" altLang="zh-CN" b="1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r>
              <a:rPr lang="en-US" altLang="zh-CN" b="1">
                <a:latin typeface="Times New Roman" panose="02020603050405020304" pitchFamily="18" charset="0"/>
                <a:cs typeface="宋体" panose="02010600030101010101" pitchFamily="2" charset="-122"/>
              </a:rPr>
              <a:t>Remote Secondary Server (RSS) nodes</a:t>
            </a:r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Similar to HDR Secondary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Dirty reads allowed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Primary sends logs to RSS nodes concurrently with logs to secondary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Minimal impact on primary</a:t>
            </a:r>
            <a:endParaRPr lang="en-US" altLang="zh-CN" b="1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r>
              <a:rPr lang="en-US" altLang="zh-CN" b="1">
                <a:latin typeface="Times New Roman" panose="02020603050405020304" pitchFamily="18" charset="0"/>
                <a:cs typeface="宋体" panose="02010600030101010101" pitchFamily="2" charset="-122"/>
              </a:rPr>
              <a:t>Some differences with HDR Secondary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RSS nodes can be promoted to HDR secondary, not primary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RSS nodes can only be updated asynchronously</a:t>
            </a:r>
          </a:p>
          <a:p>
            <a:r>
              <a:rPr lang="en-US" altLang="zh-CN" b="1">
                <a:latin typeface="Times New Roman" panose="02020603050405020304" pitchFamily="18" charset="0"/>
                <a:cs typeface="宋体" panose="02010600030101010101" pitchFamily="2" charset="-122"/>
              </a:rPr>
              <a:t>Business Value:</a:t>
            </a:r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  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Easily grow your query and reporting capacity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Multiple replications for different purposes (hot backups, bunker sites, disaster recovery, etc.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宋体" panose="02010600030101010101" pitchFamily="2" charset="-122"/>
              </a:rPr>
              <a:t>More availability capacity and better performance (reduced network latency at remote sites)</a:t>
            </a:r>
          </a:p>
          <a:p>
            <a:endParaRPr lang="en-US" altLang="zh-CN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endParaRPr lang="en-US" altLang="zh-CN">
              <a:latin typeface="Times New Roman" panose="02020603050405020304" pitchFamily="18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9525"/>
        </p:spPr>
        <p:txBody>
          <a:bodyPr/>
          <a:lstStyle>
            <a:lvl1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7586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2544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75660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25875" indent="-224790" defTabSz="4419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712470" algn="l"/>
                <a:tab pos="1424940" algn="l"/>
                <a:tab pos="2137410" algn="l"/>
              </a:tabLst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047A1E-E894-3C40-9E80-DFBB9D9DDEC3}" type="slidenum">
              <a:rPr lang="en-US" altLang="zh-CN" sz="2400" b="0">
                <a:solidFill>
                  <a:srgbClr val="000000"/>
                </a:solidFill>
              </a:rPr>
              <a:pPr eaLnBrk="1" hangingPunct="1"/>
              <a:t>16</a:t>
            </a:fld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4413" cy="3429000"/>
          </a:xfrm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956" y="4344144"/>
            <a:ext cx="5486088" cy="4113939"/>
          </a:xfrm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5086F9E-73FB-4A42-8CF3-60795880E0AD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471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jpg" Type="http://schemas.openxmlformats.org/officeDocument/2006/relationships/image"/><Relationship Id="rId5" Target="../media/image8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14" name="图片 13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690706"/>
            <a:ext cx="3288080" cy="323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500" b="1" spc="650" baseline="0" dirty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让世界用上中国的数据库</a:t>
            </a: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南大通用数据技术股份有限公司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3341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5221105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r>
              <a:rPr lang="zh-CN" altLang="en-US" sz="1600" b="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" y="6372451"/>
            <a:ext cx="1811337" cy="58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5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493295" y="1248508"/>
            <a:ext cx="10981155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2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" y="6372451"/>
            <a:ext cx="1811337" cy="58893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 bwMode="auto">
          <a:xfrm>
            <a:off x="5221105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r>
              <a:rPr lang="zh-CN" altLang="en-US" sz="1600" b="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7086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01-封底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4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Thank you</a:t>
            </a:r>
            <a:r>
              <a:rPr lang="zh-CN" altLang="en-US" dirty="0"/>
              <a:t>！</a:t>
            </a:r>
          </a:p>
        </p:txBody>
      </p:sp>
      <p:sp>
        <p:nvSpPr>
          <p:cNvPr id="18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>
                <a:ln>
                  <a:noFill/>
                </a:ln>
                <a:solidFill>
                  <a:srgbClr val="B81C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B81C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20200" y="5502132"/>
            <a:ext cx="2654300" cy="462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/>
          <p:cNvSpPr txBox="1"/>
          <p:nvPr userDrawn="1"/>
        </p:nvSpPr>
        <p:spPr bwMode="auto">
          <a:xfrm>
            <a:off x="6857236" y="6430656"/>
            <a:ext cx="917239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100" b="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</a:t>
            </a:r>
            <a:r>
              <a:rPr lang="zh-CN" altLang="en-US" sz="1100" b="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官微</a:t>
            </a:r>
          </a:p>
        </p:txBody>
      </p:sp>
      <p:sp>
        <p:nvSpPr>
          <p:cNvPr id="23" name="文本框 13"/>
          <p:cNvSpPr txBox="1"/>
          <p:nvPr userDrawn="1"/>
        </p:nvSpPr>
        <p:spPr bwMode="auto">
          <a:xfrm>
            <a:off x="7904741" y="6431937"/>
            <a:ext cx="1369286" cy="261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100" b="0" kern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</a:t>
            </a:r>
            <a:r>
              <a:rPr lang="en-US" altLang="zh-CN" sz="1100" b="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8a</a:t>
            </a:r>
            <a:r>
              <a:rPr lang="zh-CN" altLang="en-US" sz="1100" b="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技术社区</a:t>
            </a:r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793" y="5561132"/>
            <a:ext cx="913832" cy="91383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059" y="5577750"/>
            <a:ext cx="881765" cy="87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760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theme/theme1.xml" Type="http://schemas.openxmlformats.org/officeDocument/2006/relationships/theme"/><Relationship Id="rId6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emf" Type="http://schemas.openxmlformats.org/officeDocument/2006/relationships/image"/><Relationship Id="rId4" Target="../media/image10.emf" Type="http://schemas.openxmlformats.org/officeDocument/2006/relationships/image"/><Relationship Id="rId5" Target="../media/image11.emf" Type="http://schemas.openxmlformats.org/officeDocument/2006/relationships/image"/><Relationship Id="rId6" Target="../media/image12.em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drawings/vmlDrawing1.vml" Type="http://schemas.openxmlformats.org/officeDocument/2006/relationships/vmlDrawing"/><Relationship Id="rId2" Target="../slideLayouts/slideLayout2.xml" Type="http://schemas.openxmlformats.org/officeDocument/2006/relationships/slideLayout"/><Relationship Id="rId3" Target="../notesSlides/notesSlide5.xml" Type="http://schemas.openxmlformats.org/officeDocument/2006/relationships/notesSlide"/><Relationship Id="rId4" Target="../embeddings/oleObject1.bin" Type="http://schemas.openxmlformats.org/officeDocument/2006/relationships/oleObject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drawings/vmlDrawing2.vml" Type="http://schemas.openxmlformats.org/officeDocument/2006/relationships/vmlDrawing"/><Relationship Id="rId2" Target="../slideLayouts/slideLayout3.xml" Type="http://schemas.openxmlformats.org/officeDocument/2006/relationships/slideLayout"/><Relationship Id="rId3" Target="../notesSlides/notesSlide7.xml" Type="http://schemas.openxmlformats.org/officeDocument/2006/relationships/notesSlide"/><Relationship Id="rId4" Target="../embeddings/oleObject2.bin" Type="http://schemas.openxmlformats.org/officeDocument/2006/relationships/oleObject"/><Relationship Id="rId5" Target="../media/image15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drawings/vmlDrawing3.vml" Type="http://schemas.openxmlformats.org/officeDocument/2006/relationships/vmlDrawing"/><Relationship Id="rId2" Target="../slideLayouts/slideLayout2.xml" Type="http://schemas.openxmlformats.org/officeDocument/2006/relationships/slideLayout"/><Relationship Id="rId3" Target="../notesSlides/notesSlide10.xml" Type="http://schemas.openxmlformats.org/officeDocument/2006/relationships/notesSlide"/><Relationship Id="rId4" Target="../embeddings/oleObject4.bin" Type="http://schemas.openxmlformats.org/officeDocument/2006/relationships/oleObject"/><Relationship Id="rId5" Target="../media/image21.wm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9.emf" Type="http://schemas.openxmlformats.org/officeDocument/2006/relationships/image"/><Relationship Id="rId3" Target="../media/image4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9.emf" Type="http://schemas.openxmlformats.org/officeDocument/2006/relationships/image"/><Relationship Id="rId3" Target="../media/image4.png" Type="http://schemas.openxmlformats.org/officeDocument/2006/relationships/image"/><Relationship Id="rId4" Target="../media/image11.emf" Type="http://schemas.openxmlformats.org/officeDocument/2006/relationships/image"/><Relationship Id="rId5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9.emf" Type="http://schemas.openxmlformats.org/officeDocument/2006/relationships/image"/><Relationship Id="rId3" Target="../media/image11.emf" Type="http://schemas.openxmlformats.org/officeDocument/2006/relationships/image"/><Relationship Id="rId4" Target="../media/image12.emf" Type="http://schemas.openxmlformats.org/officeDocument/2006/relationships/image"/><Relationship Id="rId5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1.emf" Type="http://schemas.openxmlformats.org/officeDocument/2006/relationships/image"/><Relationship Id="rId3" Target="../media/image12.emf" Type="http://schemas.openxmlformats.org/officeDocument/2006/relationships/image"/><Relationship Id="rId4" Target="../media/image9.em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高可用数据库集群简介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39148" y="1960880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960880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854960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854960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749040"/>
            <a:ext cx="7223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749040"/>
            <a:ext cx="45704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8639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8s  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高可用概况</a:t>
            </a: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SDS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871208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适用场景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cs typeface="微软雅黑" panose="020B0503020204020204" pitchFamily="34" charset="-122"/>
                <a:sym typeface="+mn-ea"/>
              </a:rPr>
              <a:t>G</a:t>
            </a:r>
            <a:r>
              <a:rPr kumimoji="1" lang="en-US" altLang="zh-TW" dirty="0">
                <a:cs typeface="微软雅黑" panose="020B0503020204020204" pitchFamily="34" charset="-122"/>
                <a:sym typeface="+mn-ea"/>
              </a:rPr>
              <a:t>B</a:t>
            </a:r>
            <a:r>
              <a:rPr kumimoji="1" lang="en-US" altLang="zh-CN" dirty="0">
                <a:cs typeface="微软雅黑" panose="020B0503020204020204" pitchFamily="34" charset="-122"/>
                <a:sym typeface="+mn-ea"/>
              </a:rPr>
              <a:t>ase </a:t>
            </a:r>
            <a:r>
              <a:rPr kumimoji="1" lang="en-US" altLang="zh-TW" dirty="0">
                <a:cs typeface="微软雅黑" panose="020B0503020204020204" pitchFamily="34" charset="-122"/>
                <a:sym typeface="+mn-ea"/>
              </a:rPr>
              <a:t>8s </a:t>
            </a:r>
            <a:r>
              <a:rPr kumimoji="1" lang="zh-TW" altLang="en-US" dirty="0">
                <a:cs typeface="微软雅黑" panose="020B0503020204020204" pitchFamily="34" charset="-122"/>
                <a:sym typeface="+mn-ea"/>
              </a:rPr>
              <a:t>的高可用集群</a:t>
            </a:r>
            <a:r>
              <a:rPr lang="en-US" altLang="zh-CN" dirty="0">
                <a:solidFill>
                  <a:schemeClr val="tx2"/>
                </a:solidFill>
                <a:cs typeface="微软雅黑" panose="020B0503020204020204" pitchFamily="34" charset="-122"/>
                <a:sym typeface="+mn-ea"/>
              </a:rPr>
              <a:t>	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  <a:buClr>
                <a:schemeClr val="accent1"/>
              </a:buClr>
              <a:buSzPct val="50000"/>
              <a:buBlip>
                <a:blip r:embed="rId2"/>
              </a:buBlip>
            </a:pPr>
            <a:r>
              <a:rPr lang="en-US" altLang="zh-CN" sz="2400" dirty="0" err="1"/>
              <a:t>G</a:t>
            </a:r>
            <a:r>
              <a:rPr lang="en-US" altLang="zh-TW" sz="2400" dirty="0" err="1"/>
              <a:t>B</a:t>
            </a:r>
            <a:r>
              <a:rPr lang="en-US" altLang="zh-CN" sz="2400" dirty="0" err="1"/>
              <a:t>ase</a:t>
            </a:r>
            <a:r>
              <a:rPr lang="en-US" altLang="zh-CN" sz="2400" dirty="0"/>
              <a:t> </a:t>
            </a:r>
            <a:r>
              <a:rPr lang="en-US" altLang="zh-TW" sz="2400" dirty="0"/>
              <a:t>8s </a:t>
            </a:r>
            <a:r>
              <a:rPr lang="zh-TW" altLang="en-US" sz="2400" dirty="0"/>
              <a:t>的高可用集群提供下列</a:t>
            </a:r>
            <a:r>
              <a:rPr lang="zh-CN" altLang="en-US" sz="2400" dirty="0"/>
              <a:t>主要部分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cs typeface="微软雅黑" panose="020B0503020204020204" pitchFamily="34" charset="-122"/>
              </a:rPr>
              <a:t>CM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 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(Connection Manager</a:t>
            </a:r>
            <a:r>
              <a:rPr kumimoji="1" lang="zh-CN" altLang="zh-CN" sz="1800" dirty="0">
                <a:cs typeface="微软雅黑" panose="020B0503020204020204" pitchFamily="34" charset="-122"/>
              </a:rPr>
              <a:t>，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连接管理器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)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lang="en-US" altLang="zh-CN" sz="1800" dirty="0">
                <a:cs typeface="微软雅黑" panose="020B0503020204020204" pitchFamily="34" charset="-122"/>
              </a:rPr>
              <a:t>HDR (High availability Data Replication, </a:t>
            </a:r>
            <a:r>
              <a:rPr lang="zh-CN" altLang="en-US" sz="1800" dirty="0">
                <a:cs typeface="微软雅黑" panose="020B0503020204020204" pitchFamily="34" charset="-122"/>
              </a:rPr>
              <a:t>高可用性数据复制</a:t>
            </a:r>
            <a:r>
              <a:rPr lang="en-US" altLang="zh-CN" sz="1800" dirty="0">
                <a:cs typeface="微软雅黑" panose="020B0503020204020204" pitchFamily="34" charset="-122"/>
              </a:rPr>
              <a:t>)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lang="en-US" altLang="zh-CN" sz="1800" dirty="0">
                <a:cs typeface="微软雅黑" panose="020B0503020204020204" pitchFamily="34" charset="-122"/>
              </a:rPr>
              <a:t>RSS (Remote Standalone Secondary, </a:t>
            </a:r>
            <a:r>
              <a:rPr lang="zh-CN" altLang="en-US" sz="1800" dirty="0">
                <a:cs typeface="微软雅黑" panose="020B0503020204020204" pitchFamily="34" charset="-122"/>
              </a:rPr>
              <a:t>远程独立辅节点</a:t>
            </a:r>
            <a:r>
              <a:rPr lang="en-US" altLang="zh-CN" sz="1800" dirty="0">
                <a:cs typeface="微软雅黑" panose="020B0503020204020204" pitchFamily="34" charset="-122"/>
              </a:rPr>
              <a:t>)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lang="en-US" altLang="zh-CN" sz="1800" dirty="0">
                <a:cs typeface="微软雅黑" panose="020B0503020204020204" pitchFamily="34" charset="-122"/>
              </a:rPr>
              <a:t>SDS (Shared Disk Secondary, </a:t>
            </a:r>
            <a:r>
              <a:rPr lang="zh-CN" altLang="en-US" sz="1800" dirty="0">
                <a:cs typeface="微软雅黑" panose="020B0503020204020204" pitchFamily="34" charset="-122"/>
              </a:rPr>
              <a:t>共享磁盘辅节点</a:t>
            </a:r>
            <a:r>
              <a:rPr lang="en-US" altLang="zh-CN" sz="1800" dirty="0">
                <a:cs typeface="微软雅黑" panose="020B0503020204020204" pitchFamily="34" charset="-122"/>
              </a:rPr>
              <a:t>)</a:t>
            </a:r>
          </a:p>
          <a:p>
            <a:pPr marL="571500" lvl="2" indent="-227330"/>
            <a:endParaRPr lang="en-US" altLang="zh-CN" sz="1600" dirty="0">
              <a:cs typeface="微软雅黑" panose="020B0503020204020204" pitchFamily="34" charset="-122"/>
            </a:endParaRPr>
          </a:p>
          <a:p>
            <a:pPr marL="228600" lvl="1">
              <a:spcBef>
                <a:spcPts val="1000"/>
              </a:spcBef>
              <a:buClr>
                <a:schemeClr val="accent1"/>
              </a:buClr>
              <a:buSzPct val="50000"/>
              <a:buBlip>
                <a:blip r:embed="rId2"/>
              </a:buBlip>
            </a:pPr>
            <a:r>
              <a:rPr lang="en-US" altLang="zh-CN" sz="2400" dirty="0" err="1"/>
              <a:t>G</a:t>
            </a:r>
            <a:r>
              <a:rPr lang="en-US" altLang="zh-TW" sz="2400" dirty="0" err="1"/>
              <a:t>B</a:t>
            </a:r>
            <a:r>
              <a:rPr lang="en-US" altLang="zh-CN" sz="2400" dirty="0" err="1"/>
              <a:t>ase</a:t>
            </a:r>
            <a:r>
              <a:rPr lang="en-US" altLang="zh-CN" sz="2400" dirty="0"/>
              <a:t> </a:t>
            </a:r>
            <a:r>
              <a:rPr lang="en-US" altLang="zh-TW" sz="2400" dirty="0"/>
              <a:t>8s </a:t>
            </a:r>
            <a:r>
              <a:rPr lang="zh-TW" altLang="en-US" sz="2400" dirty="0"/>
              <a:t>的高可用集群提供下列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CM </a:t>
            </a:r>
            <a:r>
              <a:rPr kumimoji="1" lang="zh-CN" altLang="en-US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－连接服务；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感应故障，主导节点转移，客户端重新连接。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cs typeface="微软雅黑" panose="020B0503020204020204" pitchFamily="34" charset="-122"/>
              </a:rPr>
              <a:t>HDR 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－故障转移；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30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秒无缝转移；应用高可用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 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至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 99.5%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cs typeface="微软雅黑" panose="020B0503020204020204" pitchFamily="34" charset="-122"/>
              </a:rPr>
              <a:t>RSS 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－</a:t>
            </a:r>
            <a:r>
              <a:rPr kumimoji="1" lang="en-US" altLang="zh-CN" sz="1800" dirty="0">
                <a:cs typeface="微软雅黑" panose="020B0503020204020204" pitchFamily="34" charset="-122"/>
              </a:rPr>
              <a:t> 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异地远端备份防灾。</a:t>
            </a:r>
          </a:p>
          <a:p>
            <a:pPr marL="800100" lvl="2" indent="-34290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SDS </a:t>
            </a:r>
            <a:r>
              <a:rPr kumimoji="1" lang="zh-CN" altLang="en-US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－</a:t>
            </a:r>
            <a:r>
              <a:rPr kumimoji="1" lang="en-US" altLang="zh-CN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 </a:t>
            </a:r>
            <a:r>
              <a:rPr kumimoji="1" lang="zh-CN" altLang="en-US" sz="1800" dirty="0">
                <a:solidFill>
                  <a:srgbClr val="000000"/>
                </a:solidFill>
                <a:cs typeface="微软雅黑" panose="020B0503020204020204" pitchFamily="34" charset="-122"/>
              </a:rPr>
              <a:t>多点</a:t>
            </a:r>
            <a:r>
              <a:rPr kumimoji="1" lang="zh-CN" altLang="en-US" sz="1800" dirty="0">
                <a:cs typeface="微软雅黑" panose="020B0503020204020204" pitchFamily="34" charset="-122"/>
              </a:rPr>
              <a:t>数据库共享内存；横向扩展，提高大量查询</a:t>
            </a:r>
          </a:p>
          <a:p>
            <a:pPr marL="969645" lvl="2" indent="-285750">
              <a:lnSpc>
                <a:spcPct val="110000"/>
              </a:lnSpc>
            </a:pPr>
            <a:endParaRPr kumimoji="1" lang="zh-CN" altLang="en-US" sz="1800" dirty="0">
              <a:cs typeface="微软雅黑" panose="020B0503020204020204" pitchFamily="34" charset="-122"/>
            </a:endParaRPr>
          </a:p>
          <a:p>
            <a:pPr>
              <a:buClr>
                <a:schemeClr val="accent1"/>
              </a:buClr>
              <a:buSzPct val="50000"/>
            </a:pPr>
            <a:r>
              <a:rPr lang="zh-CN" altLang="en-US" dirty="0">
                <a:solidFill>
                  <a:srgbClr val="0070C0"/>
                </a:solidFill>
              </a:rPr>
              <a:t>数据库高可用是保障诸多</a:t>
            </a:r>
            <a:r>
              <a:rPr lang="en-US" altLang="zh-CN" dirty="0">
                <a:solidFill>
                  <a:srgbClr val="0070C0"/>
                </a:solidFill>
              </a:rPr>
              <a:t> 7</a:t>
            </a:r>
            <a:r>
              <a:rPr lang="zh-CN" altLang="en-US" dirty="0">
                <a:solidFill>
                  <a:srgbClr val="0070C0"/>
                </a:solidFill>
              </a:rPr>
              <a:t>*</a:t>
            </a:r>
            <a:r>
              <a:rPr lang="en-US" altLang="zh-CN" dirty="0">
                <a:solidFill>
                  <a:srgbClr val="0070C0"/>
                </a:solidFill>
              </a:rPr>
              <a:t>24</a:t>
            </a:r>
            <a:r>
              <a:rPr lang="zh-CN" altLang="en-US" dirty="0">
                <a:solidFill>
                  <a:srgbClr val="0070C0"/>
                </a:solidFill>
              </a:rPr>
              <a:t>服务的根本</a:t>
            </a:r>
            <a:r>
              <a:rPr lang="zh-CN" altLang="en-US" dirty="0" smtClean="0">
                <a:solidFill>
                  <a:srgbClr val="0070C0"/>
                </a:solidFill>
              </a:rPr>
              <a:t>，如</a:t>
            </a:r>
            <a:r>
              <a:rPr lang="en-US" altLang="zh-CN" dirty="0" smtClean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7</a:t>
            </a:r>
            <a:r>
              <a:rPr lang="zh-CN" altLang="en-US" dirty="0">
                <a:solidFill>
                  <a:srgbClr val="0070C0"/>
                </a:solidFill>
              </a:rPr>
              <a:t>*</a:t>
            </a:r>
            <a:r>
              <a:rPr lang="en-US" altLang="zh-CN" dirty="0">
                <a:solidFill>
                  <a:srgbClr val="0070C0"/>
                </a:solidFill>
              </a:rPr>
              <a:t>24 </a:t>
            </a:r>
            <a:r>
              <a:rPr lang="zh-CN" altLang="en-US" dirty="0">
                <a:solidFill>
                  <a:srgbClr val="0070C0"/>
                </a:solidFill>
              </a:rPr>
              <a:t>银行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服务，保险查询服务，电子商务网上购物等。</a:t>
            </a:r>
            <a:endParaRPr lang="zh-TW" altLang="en-US" dirty="0">
              <a:solidFill>
                <a:srgbClr val="0070C0"/>
              </a:solidFill>
            </a:endParaRPr>
          </a:p>
          <a:p>
            <a:pPr marL="1031875" lvl="3" indent="-342900"/>
            <a:endParaRPr kumimoji="1" lang="en-US" altLang="zh-CN" dirty="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磁盘 6"/>
          <p:cNvSpPr/>
          <p:nvPr/>
        </p:nvSpPr>
        <p:spPr>
          <a:xfrm>
            <a:off x="4320364" y="3182114"/>
            <a:ext cx="1054100" cy="551202"/>
          </a:xfrm>
          <a:prstGeom prst="flowChartMagneticDisk">
            <a:avLst/>
          </a:prstGeom>
          <a:solidFill>
            <a:srgbClr val="A6A6A6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9056" tIns="34528" rIns="69056" bIns="34528" anchor="t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/>
          </a:p>
        </p:txBody>
      </p:sp>
      <p:sp>
        <p:nvSpPr>
          <p:cNvPr id="71" name="圆角矩形 70"/>
          <p:cNvSpPr/>
          <p:nvPr/>
        </p:nvSpPr>
        <p:spPr bwMode="auto">
          <a:xfrm>
            <a:off x="1925145" y="1305689"/>
            <a:ext cx="8227695" cy="356054"/>
          </a:xfrm>
          <a:prstGeom prst="roundRect">
            <a:avLst>
              <a:gd name="adj" fmla="val 18506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accent2">
                <a:lumMod val="50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9056" tIns="34528" rIns="69056" bIns="34528" numCol="1" spcCol="0" rtlCol="0" fromWordArt="0" anchor="t" anchorCtr="0" forceAA="0" compatLnSpc="1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noProof="1"/>
          </a:p>
        </p:txBody>
      </p:sp>
      <p:sp>
        <p:nvSpPr>
          <p:cNvPr id="44036" name="文本框 12"/>
          <p:cNvSpPr txBox="1"/>
          <p:nvPr/>
        </p:nvSpPr>
        <p:spPr>
          <a:xfrm>
            <a:off x="5940884" y="3867279"/>
            <a:ext cx="72898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主节点</a:t>
            </a:r>
          </a:p>
        </p:txBody>
      </p:sp>
      <p:pic>
        <p:nvPicPr>
          <p:cNvPr id="44037" name="图片 107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75785" y="3064639"/>
            <a:ext cx="1153795" cy="822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8" name="图片 107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53859" y="2121664"/>
            <a:ext cx="1473200" cy="1060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9" name="图片 107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08469" y="3463419"/>
            <a:ext cx="1386840" cy="9982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0" name="图片 65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2059" y="2204849"/>
            <a:ext cx="1156970" cy="822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1" name="图片 65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2059" y="3058924"/>
            <a:ext cx="1156970" cy="822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2" name="图片 66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2059" y="3982849"/>
            <a:ext cx="1156970" cy="8216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3" name="图片 66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27519" y="4269234"/>
            <a:ext cx="1366520" cy="985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4" name="图片 108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96564" y="3347215"/>
            <a:ext cx="977900" cy="67754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85" name="直接连接符 1084"/>
          <p:cNvCxnSpPr>
            <a:endCxn id="44037" idx="1"/>
          </p:cNvCxnSpPr>
          <p:nvPr/>
        </p:nvCxnSpPr>
        <p:spPr>
          <a:xfrm flipV="1">
            <a:off x="5307154" y="3476120"/>
            <a:ext cx="468630" cy="23495"/>
          </a:xfrm>
          <a:prstGeom prst="line">
            <a:avLst/>
          </a:prstGeom>
          <a:ln w="19050"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直接连接符 669"/>
          <p:cNvCxnSpPr>
            <a:stCxn id="44034" idx="2"/>
            <a:endCxn id="44040" idx="3"/>
          </p:cNvCxnSpPr>
          <p:nvPr/>
        </p:nvCxnSpPr>
        <p:spPr>
          <a:xfrm flipH="1" flipV="1">
            <a:off x="3799030" y="2616329"/>
            <a:ext cx="521335" cy="841386"/>
          </a:xfrm>
          <a:prstGeom prst="line">
            <a:avLst/>
          </a:prstGeom>
          <a:ln w="19050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直接连接符 672"/>
          <p:cNvCxnSpPr>
            <a:stCxn id="44034" idx="2"/>
            <a:endCxn id="44041" idx="3"/>
          </p:cNvCxnSpPr>
          <p:nvPr/>
        </p:nvCxnSpPr>
        <p:spPr>
          <a:xfrm flipH="1">
            <a:off x="3799030" y="3457716"/>
            <a:ext cx="521335" cy="12689"/>
          </a:xfrm>
          <a:prstGeom prst="line">
            <a:avLst/>
          </a:prstGeom>
          <a:ln w="19050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直接连接符 674"/>
          <p:cNvCxnSpPr>
            <a:stCxn id="44034" idx="2"/>
            <a:endCxn id="44042" idx="3"/>
          </p:cNvCxnSpPr>
          <p:nvPr/>
        </p:nvCxnSpPr>
        <p:spPr>
          <a:xfrm flipH="1">
            <a:off x="3799030" y="3457716"/>
            <a:ext cx="521335" cy="935979"/>
          </a:xfrm>
          <a:prstGeom prst="line">
            <a:avLst/>
          </a:prstGeom>
          <a:ln w="19050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直接连接符 680"/>
          <p:cNvCxnSpPr>
            <a:stCxn id="44037" idx="3"/>
            <a:endCxn id="44038" idx="1"/>
          </p:cNvCxnSpPr>
          <p:nvPr/>
        </p:nvCxnSpPr>
        <p:spPr>
          <a:xfrm flipV="1">
            <a:off x="6929579" y="2651889"/>
            <a:ext cx="1224280" cy="824230"/>
          </a:xfrm>
          <a:prstGeom prst="line">
            <a:avLst/>
          </a:prstGeom>
          <a:ln w="19050">
            <a:solidFill>
              <a:srgbClr val="92D05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直接连接符 683"/>
          <p:cNvCxnSpPr>
            <a:stCxn id="44037" idx="3"/>
            <a:endCxn id="44039" idx="1"/>
          </p:cNvCxnSpPr>
          <p:nvPr/>
        </p:nvCxnSpPr>
        <p:spPr>
          <a:xfrm>
            <a:off x="6929579" y="3476119"/>
            <a:ext cx="1278890" cy="48641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直接连接符 686"/>
          <p:cNvCxnSpPr>
            <a:stCxn id="44037" idx="3"/>
            <a:endCxn id="44043" idx="1"/>
          </p:cNvCxnSpPr>
          <p:nvPr/>
        </p:nvCxnSpPr>
        <p:spPr>
          <a:xfrm>
            <a:off x="6929579" y="3476120"/>
            <a:ext cx="1297940" cy="1285875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52" name="文本框 691"/>
          <p:cNvSpPr txBox="1"/>
          <p:nvPr/>
        </p:nvSpPr>
        <p:spPr>
          <a:xfrm>
            <a:off x="4366084" y="3893314"/>
            <a:ext cx="89027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</a:p>
        </p:txBody>
      </p:sp>
      <p:sp>
        <p:nvSpPr>
          <p:cNvPr id="44053" name="文本框 692"/>
          <p:cNvSpPr txBox="1"/>
          <p:nvPr/>
        </p:nvSpPr>
        <p:spPr>
          <a:xfrm>
            <a:off x="1997535" y="2760475"/>
            <a:ext cx="10991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SDS</a:t>
            </a:r>
            <a:r>
              <a:rPr lang="zh-CN" altLang="en-US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  <p:sp>
        <p:nvSpPr>
          <p:cNvPr id="44056" name="文本框 695"/>
          <p:cNvSpPr txBox="1"/>
          <p:nvPr/>
        </p:nvSpPr>
        <p:spPr>
          <a:xfrm>
            <a:off x="9212405" y="2798574"/>
            <a:ext cx="111696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</a:t>
            </a: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  <p:sp>
        <p:nvSpPr>
          <p:cNvPr id="44057" name="文本框 696"/>
          <p:cNvSpPr txBox="1"/>
          <p:nvPr/>
        </p:nvSpPr>
        <p:spPr>
          <a:xfrm>
            <a:off x="9246059" y="4186049"/>
            <a:ext cx="105410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lang="zh-CN" altLang="en-US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  <p:sp>
        <p:nvSpPr>
          <p:cNvPr id="44058" name="文本框 697"/>
          <p:cNvSpPr txBox="1"/>
          <p:nvPr/>
        </p:nvSpPr>
        <p:spPr>
          <a:xfrm>
            <a:off x="9246060" y="4761994"/>
            <a:ext cx="104965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lang="zh-CN" altLang="en-US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  <p:sp>
        <p:nvSpPr>
          <p:cNvPr id="656" name="圆角矩形 655"/>
          <p:cNvSpPr/>
          <p:nvPr/>
        </p:nvSpPr>
        <p:spPr>
          <a:xfrm>
            <a:off x="1997535" y="2072770"/>
            <a:ext cx="5172075" cy="3054985"/>
          </a:xfrm>
          <a:prstGeom prst="roundRect">
            <a:avLst>
              <a:gd name="adj" fmla="val 5896"/>
            </a:avLst>
          </a:prstGeom>
          <a:noFill/>
          <a:ln>
            <a:solidFill>
              <a:srgbClr val="FD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noProof="1"/>
          </a:p>
        </p:txBody>
      </p:sp>
      <p:sp>
        <p:nvSpPr>
          <p:cNvPr id="44060" name="文本框 703"/>
          <p:cNvSpPr txBox="1"/>
          <p:nvPr/>
        </p:nvSpPr>
        <p:spPr>
          <a:xfrm>
            <a:off x="3904439" y="4705479"/>
            <a:ext cx="312801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D0000"/>
                </a:solidFill>
                <a:latin typeface="Verdana" panose="020B0604030504040204" pitchFamily="34" charset="0"/>
              </a:rPr>
              <a:t>SDS </a:t>
            </a:r>
            <a:r>
              <a:rPr lang="zh-CN" altLang="en-US" sz="1200" b="1" dirty="0">
                <a:solidFill>
                  <a:srgbClr val="FD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  <a:r>
              <a:rPr lang="en-US" altLang="zh-CN" sz="1200" b="1" dirty="0">
                <a:solidFill>
                  <a:srgbClr val="FD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 Disk</a:t>
            </a:r>
            <a:r>
              <a:rPr lang="zh-CN" altLang="en-US" sz="1200" b="1" dirty="0">
                <a:solidFill>
                  <a:srgbClr val="FD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</a:p>
        </p:txBody>
      </p:sp>
      <p:sp>
        <p:nvSpPr>
          <p:cNvPr id="44061" name="文本框 704"/>
          <p:cNvSpPr txBox="1"/>
          <p:nvPr/>
        </p:nvSpPr>
        <p:spPr>
          <a:xfrm>
            <a:off x="6929579" y="2509650"/>
            <a:ext cx="11557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D0000"/>
                </a:solidFill>
                <a:latin typeface="Verdana" panose="020B0604030504040204" pitchFamily="34" charset="0"/>
              </a:rPr>
              <a:t>HDR</a:t>
            </a:r>
          </a:p>
          <a:p>
            <a:pPr algn="ctr"/>
            <a:r>
              <a:rPr lang="zh-CN" altLang="zh-CN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LAN</a:t>
            </a:r>
            <a:r>
              <a:rPr lang="zh-CN" altLang="en-US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4062" name="文本框 705"/>
          <p:cNvSpPr txBox="1"/>
          <p:nvPr/>
        </p:nvSpPr>
        <p:spPr>
          <a:xfrm>
            <a:off x="6825439" y="3781555"/>
            <a:ext cx="12598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D0000"/>
                </a:solidFill>
                <a:latin typeface="Verdana" panose="020B0604030504040204" pitchFamily="34" charset="0"/>
              </a:rPr>
              <a:t>RSS</a:t>
            </a:r>
          </a:p>
          <a:p>
            <a:pPr algn="ctr"/>
            <a:r>
              <a:rPr lang="zh-CN" altLang="zh-CN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WAN</a:t>
            </a:r>
            <a:r>
              <a:rPr lang="zh-CN" altLang="en-US" sz="1200" dirty="0">
                <a:solidFill>
                  <a:srgbClr val="2F82B7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674" name="直接连接符 673"/>
          <p:cNvCxnSpPr>
            <a:stCxn id="44037" idx="3"/>
            <a:endCxn id="44043" idx="1"/>
          </p:cNvCxnSpPr>
          <p:nvPr/>
        </p:nvCxnSpPr>
        <p:spPr>
          <a:xfrm>
            <a:off x="6929579" y="3476120"/>
            <a:ext cx="1297940" cy="128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267660" y="2183895"/>
            <a:ext cx="240220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/>
            <a:r>
              <a:rPr lang="zh-CN" altLang="en-US" sz="1350" noProof="1">
                <a:solidFill>
                  <a:srgbClr val="262626"/>
                </a:solidFill>
                <a:ea typeface="微软雅黑" panose="020B0503020204020204" pitchFamily="34" charset="-122"/>
                <a:cs typeface="Verdana" panose="020B0604030504040204" pitchFamily="34" charset="0"/>
              </a:rPr>
              <a:t>可伸缩的本地高可用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079055" y="2072770"/>
            <a:ext cx="125031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/>
            <a:r>
              <a:rPr lang="zh-CN" altLang="en-US" sz="1350" noProof="1">
                <a:solidFill>
                  <a:srgbClr val="262626"/>
                </a:solidFill>
                <a:ea typeface="微软雅黑" panose="020B0503020204020204" pitchFamily="34" charset="-122"/>
                <a:cs typeface="Verdana" panose="020B0604030504040204" pitchFamily="34" charset="0"/>
              </a:rPr>
              <a:t>同城灾备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9079055" y="3418335"/>
            <a:ext cx="125031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/>
            <a:r>
              <a:rPr lang="zh-CN" altLang="en-US" sz="1350" noProof="1">
                <a:solidFill>
                  <a:srgbClr val="262626"/>
                </a:solidFill>
                <a:ea typeface="微软雅黑" panose="020B0503020204020204" pitchFamily="34" charset="-122"/>
                <a:cs typeface="Verdana" panose="020B0604030504040204" pitchFamily="34" charset="0"/>
              </a:rPr>
              <a:t>异地灾备</a:t>
            </a:r>
          </a:p>
        </p:txBody>
      </p:sp>
      <p:sp>
        <p:nvSpPr>
          <p:cNvPr id="44067" name="圆角矩形 13"/>
          <p:cNvSpPr/>
          <p:nvPr/>
        </p:nvSpPr>
        <p:spPr>
          <a:xfrm>
            <a:off x="7863029" y="3418334"/>
            <a:ext cx="2358390" cy="1722998"/>
          </a:xfrm>
          <a:prstGeom prst="roundRect">
            <a:avLst>
              <a:gd name="adj" fmla="val 575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9056" tIns="34528" rIns="69056" bIns="34528" anchor="t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3600"/>
          </a:p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3600"/>
          </a:p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/>
          </a:p>
        </p:txBody>
      </p:sp>
      <p:sp>
        <p:nvSpPr>
          <p:cNvPr id="44068" name="圆角矩形 54"/>
          <p:cNvSpPr/>
          <p:nvPr/>
        </p:nvSpPr>
        <p:spPr>
          <a:xfrm>
            <a:off x="7863029" y="2072770"/>
            <a:ext cx="2348230" cy="978849"/>
          </a:xfrm>
          <a:prstGeom prst="roundRect">
            <a:avLst>
              <a:gd name="adj" fmla="val 9792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9056" tIns="34528" rIns="69056" bIns="34528" anchor="t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/>
          </a:p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/>
          </a:p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/>
          </a:p>
        </p:txBody>
      </p:sp>
      <p:sp>
        <p:nvSpPr>
          <p:cNvPr id="44069" name="文本框 14"/>
          <p:cNvSpPr txBox="1"/>
          <p:nvPr/>
        </p:nvSpPr>
        <p:spPr>
          <a:xfrm>
            <a:off x="5369146" y="1311472"/>
            <a:ext cx="15341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连接管理器</a:t>
            </a:r>
          </a:p>
        </p:txBody>
      </p:sp>
      <p:cxnSp>
        <p:nvCxnSpPr>
          <p:cNvPr id="64" name="直接连接符 63"/>
          <p:cNvCxnSpPr>
            <a:stCxn id="44037" idx="3"/>
            <a:endCxn id="44043" idx="1"/>
          </p:cNvCxnSpPr>
          <p:nvPr/>
        </p:nvCxnSpPr>
        <p:spPr>
          <a:xfrm>
            <a:off x="6929579" y="3476120"/>
            <a:ext cx="1297940" cy="128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下箭头 26"/>
          <p:cNvSpPr/>
          <p:nvPr/>
        </p:nvSpPr>
        <p:spPr bwMode="auto">
          <a:xfrm>
            <a:off x="3450414" y="1649859"/>
            <a:ext cx="946150" cy="368720"/>
          </a:xfrm>
          <a:prstGeom prst="downArrow">
            <a:avLst/>
          </a:prstGeom>
          <a:solidFill>
            <a:srgbClr val="E5EAFF"/>
          </a:solidFill>
          <a:ln w="63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9056" tIns="34528" rIns="69056" bIns="34528" numCol="1" rtlCol="0" anchor="t" anchorCtr="0" compatLnSpc="1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 b="1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9" name="下箭头 68"/>
          <p:cNvSpPr/>
          <p:nvPr/>
        </p:nvSpPr>
        <p:spPr bwMode="auto">
          <a:xfrm>
            <a:off x="7595060" y="1673989"/>
            <a:ext cx="944245" cy="368720"/>
          </a:xfrm>
          <a:prstGeom prst="downArrow">
            <a:avLst/>
          </a:prstGeom>
          <a:solidFill>
            <a:srgbClr val="E5EAFF"/>
          </a:solidFill>
          <a:ln w="63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9056" tIns="34528" rIns="69056" bIns="34528" numCol="1" rtlCol="0" anchor="t" anchorCtr="0" compatLnSpc="1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 b="1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0" name="下箭头 69"/>
          <p:cNvSpPr/>
          <p:nvPr/>
        </p:nvSpPr>
        <p:spPr bwMode="auto">
          <a:xfrm>
            <a:off x="5564965" y="1678434"/>
            <a:ext cx="948055" cy="368720"/>
          </a:xfrm>
          <a:prstGeom prst="downArrow">
            <a:avLst/>
          </a:prstGeom>
          <a:solidFill>
            <a:srgbClr val="E5EAFF"/>
          </a:solidFill>
          <a:ln w="63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9056" tIns="34528" rIns="69056" bIns="34528" numCol="1" rtlCol="0" anchor="t" anchorCtr="0" compatLnSpc="1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endParaRPr lang="zh-CN" altLang="en-US" sz="1500" b="1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9" name="内容占位符 2"/>
          <p:cNvSpPr txBox="1"/>
          <p:nvPr/>
        </p:nvSpPr>
        <p:spPr>
          <a:xfrm>
            <a:off x="2246631" y="5288281"/>
            <a:ext cx="7629525" cy="901700"/>
          </a:xfrm>
          <a:prstGeom prst="rect">
            <a:avLst/>
          </a:prstGeom>
        </p:spPr>
        <p:txBody>
          <a:bodyPr/>
          <a:lstStyle/>
          <a:p>
            <a:pPr marL="570230" lvl="1" indent="-228600" eaLnBrk="0" hangingPunct="0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lang="zh-CN" altLang="en-US" sz="1400" kern="0" noProof="1">
                <a:latin typeface="+mn-lt"/>
                <a:ea typeface="+mn-lt"/>
              </a:rPr>
              <a:t>连接管理器</a:t>
            </a:r>
            <a:r>
              <a:rPr lang="en-US" altLang="zh-CN" sz="1400" kern="0" noProof="1">
                <a:latin typeface="+mn-lt"/>
                <a:ea typeface="+mn-lt"/>
              </a:rPr>
              <a:t>—</a:t>
            </a:r>
            <a:r>
              <a:rPr lang="zh-CN" altLang="en-US" sz="1600" kern="0" noProof="1">
                <a:latin typeface="+mn-lt"/>
                <a:ea typeface="+mn-lt"/>
              </a:rPr>
              <a:t>业务透明连接</a:t>
            </a:r>
          </a:p>
          <a:p>
            <a:pPr marL="570230" lvl="1" indent="-228600" eaLnBrk="0" hangingPunct="0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lang="en-US" altLang="zh-CN" sz="1400" kern="0" dirty="0">
                <a:latin typeface="+mn-lt"/>
                <a:ea typeface="+mn-lt"/>
              </a:rPr>
              <a:t>SDS—</a:t>
            </a:r>
            <a:r>
              <a:rPr lang="zh-CN" altLang="en-US" sz="1600" kern="0" dirty="0">
                <a:latin typeface="+mn-lt"/>
                <a:ea typeface="+mn-lt"/>
              </a:rPr>
              <a:t>共享存储集群高可用方案</a:t>
            </a:r>
          </a:p>
          <a:p>
            <a:pPr marL="570230" lvl="1" indent="-228600" eaLnBrk="0" hangingPunct="0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lang="en-US" altLang="zh-CN" sz="1400" kern="0" dirty="0">
                <a:latin typeface="+mn-lt"/>
                <a:ea typeface="+mn-lt"/>
              </a:rPr>
              <a:t>HDR—</a:t>
            </a:r>
            <a:r>
              <a:rPr lang="zh-CN" altLang="en-US" sz="1600" kern="0" dirty="0">
                <a:latin typeface="+mn-lt"/>
                <a:ea typeface="+mn-lt"/>
              </a:rPr>
              <a:t>双机高性能实时数据复制</a:t>
            </a:r>
          </a:p>
          <a:p>
            <a:pPr marL="570230" lvl="1" indent="-228600" eaLnBrk="0" hangingPunct="0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lang="en-US" altLang="zh-CN" sz="1400" kern="0" dirty="0">
                <a:latin typeface="+mn-lt"/>
                <a:ea typeface="+mn-lt"/>
              </a:rPr>
              <a:t>RSS—</a:t>
            </a:r>
            <a:r>
              <a:rPr lang="zh-CN" altLang="en-US" sz="1400" kern="0" dirty="0">
                <a:latin typeface="+mn-lt"/>
                <a:ea typeface="+mn-lt"/>
              </a:rPr>
              <a:t>远程数据容灾热备份</a:t>
            </a:r>
          </a:p>
        </p:txBody>
      </p:sp>
      <p:sp>
        <p:nvSpPr>
          <p:cNvPr id="44075" name="TextBox 89"/>
          <p:cNvSpPr txBox="1"/>
          <p:nvPr/>
        </p:nvSpPr>
        <p:spPr>
          <a:xfrm>
            <a:off x="7490143" y="5288281"/>
            <a:ext cx="2438400" cy="9836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多种组合</a:t>
            </a:r>
          </a:p>
          <a:p>
            <a:pPr>
              <a:buClr>
                <a:schemeClr val="accent1"/>
              </a:buClr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SDS+HDR</a:t>
            </a:r>
          </a:p>
          <a:p>
            <a:pPr>
              <a:buClr>
                <a:schemeClr val="accent1"/>
              </a:buClr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HDR+RSS</a:t>
            </a:r>
          </a:p>
          <a:p>
            <a:pPr>
              <a:buClr>
                <a:schemeClr val="accent1"/>
              </a:buClr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SDS+HDR+RSS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高可用方案一览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4076" name="灯片编号占位符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noFill/>
          </a:ln>
        </p:spPr>
        <p:txBody>
          <a:bodyPr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pPr algn="r"/>
              <a:t>3</a:t>
            </a:fld>
            <a:endParaRPr lang="en-US" altLang="zh-CN" sz="1200" b="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文本框 692"/>
          <p:cNvSpPr txBox="1"/>
          <p:nvPr/>
        </p:nvSpPr>
        <p:spPr>
          <a:xfrm>
            <a:off x="2060400" y="3611375"/>
            <a:ext cx="10991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SDS</a:t>
            </a:r>
            <a:r>
              <a:rPr lang="zh-CN" altLang="en-US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  <p:sp>
        <p:nvSpPr>
          <p:cNvPr id="3" name="文本框 692"/>
          <p:cNvSpPr txBox="1"/>
          <p:nvPr/>
        </p:nvSpPr>
        <p:spPr>
          <a:xfrm>
            <a:off x="2088975" y="4542285"/>
            <a:ext cx="10991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SDS</a:t>
            </a:r>
            <a:r>
              <a:rPr lang="zh-CN" altLang="en-US" sz="1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1960880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960880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854960"/>
            <a:ext cx="7223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854960"/>
            <a:ext cx="45704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749040"/>
            <a:ext cx="7223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749040"/>
            <a:ext cx="45704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8639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8s  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高可用概况</a:t>
            </a: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SDS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871208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适用场景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/>
          </p:cNvSpPr>
          <p:nvPr/>
        </p:nvSpPr>
        <p:spPr>
          <a:xfrm>
            <a:off x="1078197" y="1191467"/>
            <a:ext cx="7416800" cy="3638550"/>
          </a:xfrm>
          <a:prstGeom prst="rect">
            <a:avLst/>
          </a:prstGeom>
          <a:noFill/>
          <a:ln w="9525">
            <a:noFill/>
          </a:ln>
        </p:spPr>
        <p:txBody>
          <a:bodyPr wrap="square" lIns="92160" tIns="46080" rIns="92160" bIns="46080" anchor="t"/>
          <a:lstStyle/>
          <a:p>
            <a:pPr marL="228600" indent="-228600" defTabSz="449580" eaLnBrk="0" hangingPunct="0">
              <a:spcBef>
                <a:spcPts val="1000"/>
              </a:spcBef>
              <a:buClr>
                <a:schemeClr val="accent1"/>
              </a:buClr>
              <a:buBlip>
                <a:blip r:embed="rId3"/>
              </a:buBlip>
            </a:pPr>
            <a:r>
              <a:rPr lang="en-US" altLang="zh-CN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SDS</a:t>
            </a: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是一个共享存储设备体系架构的集群数据库</a:t>
            </a:r>
          </a:p>
          <a:p>
            <a:pPr marL="228600" indent="-228600" defTabSz="449580" eaLnBrk="0" hangingPunct="0">
              <a:spcBef>
                <a:spcPts val="1000"/>
              </a:spcBef>
              <a:buClr>
                <a:schemeClr val="accent1"/>
              </a:buClr>
              <a:buBlip>
                <a:blip r:embed="rId3"/>
              </a:buBlip>
            </a:pP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高可用性 </a:t>
            </a:r>
            <a:r>
              <a:rPr lang="en-US" altLang="zh-CN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(High Availability)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当某一节点故障时，其他节点将自动、快速接管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实现系统系统的高可用性。</a:t>
            </a:r>
          </a:p>
          <a:p>
            <a:pPr marL="228600" indent="-228600" defTabSz="449580" eaLnBrk="0" hangingPunct="0">
              <a:spcBef>
                <a:spcPts val="1000"/>
              </a:spcBef>
              <a:buClr>
                <a:schemeClr val="accent1"/>
              </a:buClr>
              <a:buBlip>
                <a:blip r:embed="rId3"/>
              </a:buBlip>
            </a:pP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高可扩展性</a:t>
            </a:r>
            <a:r>
              <a:rPr lang="en-US" altLang="zh-CN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(Scalability)</a:t>
            </a:r>
          </a:p>
          <a:p>
            <a:pPr marL="565150" lvl="1" indent="-223520" defTabSz="449580" eaLnBrk="0" hangingPunct="0"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企业依照数据增长增加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8s Cluster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节点提高数据库处理能力</a:t>
            </a:r>
          </a:p>
          <a:p>
            <a:pPr marL="228600" indent="-228600" defTabSz="449580" eaLnBrk="0" hangingPunct="0">
              <a:spcBef>
                <a:spcPts val="1000"/>
              </a:spcBef>
              <a:buClr>
                <a:schemeClr val="accent1"/>
              </a:buClr>
              <a:buBlip>
                <a:blip r:embed="rId3"/>
              </a:buBlip>
            </a:pP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应用透明性</a:t>
            </a:r>
            <a:r>
              <a:rPr lang="en-US" altLang="zh-CN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(Application Transparency)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无需调整您的应用程序至数据库</a:t>
            </a:r>
          </a:p>
          <a:p>
            <a:pPr marL="228600" indent="-228600" defTabSz="449580" eaLnBrk="0" hangingPunct="0">
              <a:spcBef>
                <a:spcPts val="1000"/>
              </a:spcBef>
              <a:buClr>
                <a:schemeClr val="accent1"/>
              </a:buClr>
              <a:buBlip>
                <a:blip r:embed="rId3"/>
              </a:buBlip>
            </a:pP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操作简单</a:t>
            </a:r>
            <a:r>
              <a:rPr lang="en-US" altLang="zh-CN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、成本低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SDS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无需特殊硬件支持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安装配置简单、快速</a:t>
            </a:r>
          </a:p>
          <a:p>
            <a:pPr marL="565150" lvl="1" indent="-223520" defTabSz="449580" eaLnBrk="0" hangingPunct="0">
              <a:lnSpc>
                <a:spcPct val="150000"/>
              </a:lnSpc>
              <a:spcBef>
                <a:spcPct val="18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可直接建立于共享的存储阵列或者逻辑卷管理器之上的解决方案</a:t>
            </a:r>
          </a:p>
        </p:txBody>
      </p:sp>
      <p:grpSp>
        <p:nvGrpSpPr>
          <p:cNvPr id="46083" name="Group 94"/>
          <p:cNvGrpSpPr>
            <a:grpSpLocks noChangeAspect="1"/>
          </p:cNvGrpSpPr>
          <p:nvPr/>
        </p:nvGrpSpPr>
        <p:grpSpPr>
          <a:xfrm>
            <a:off x="7976284" y="1905680"/>
            <a:ext cx="3506470" cy="3745435"/>
            <a:chOff x="2202" y="3888"/>
            <a:chExt cx="5268" cy="4812"/>
          </a:xfrm>
        </p:grpSpPr>
        <p:sp>
          <p:nvSpPr>
            <p:cNvPr id="46084" name="AutoShape 95"/>
            <p:cNvSpPr>
              <a:spLocks noChangeAspect="1"/>
            </p:cNvSpPr>
            <p:nvPr/>
          </p:nvSpPr>
          <p:spPr>
            <a:xfrm>
              <a:off x="2520" y="3888"/>
              <a:ext cx="4950" cy="48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>
                <a:spcBef>
                  <a:spcPts val="875"/>
                </a:spcBef>
              </a:pPr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6085" name="Group 96"/>
            <p:cNvGrpSpPr/>
            <p:nvPr/>
          </p:nvGrpSpPr>
          <p:grpSpPr>
            <a:xfrm>
              <a:off x="3510" y="6779"/>
              <a:ext cx="1245" cy="1467"/>
              <a:chOff x="1020" y="2667"/>
              <a:chExt cx="602" cy="698"/>
            </a:xfrm>
          </p:grpSpPr>
          <p:sp>
            <p:nvSpPr>
              <p:cNvPr id="46086" name="Freeform 97"/>
              <p:cNvSpPr/>
              <p:nvPr/>
            </p:nvSpPr>
            <p:spPr>
              <a:xfrm>
                <a:off x="1020" y="2779"/>
                <a:ext cx="489" cy="586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586"/>
                  </a:cxn>
                  <a:cxn ang="0">
                    <a:pos x="0" y="586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586">
                    <a:moveTo>
                      <a:pt x="489" y="0"/>
                    </a:moveTo>
                    <a:lnTo>
                      <a:pt x="489" y="586"/>
                    </a:lnTo>
                    <a:lnTo>
                      <a:pt x="0" y="586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87" name="Freeform 98"/>
              <p:cNvSpPr/>
              <p:nvPr/>
            </p:nvSpPr>
            <p:spPr>
              <a:xfrm>
                <a:off x="1020" y="2779"/>
                <a:ext cx="489" cy="586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586"/>
                  </a:cxn>
                  <a:cxn ang="0">
                    <a:pos x="0" y="586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586">
                    <a:moveTo>
                      <a:pt x="489" y="0"/>
                    </a:moveTo>
                    <a:lnTo>
                      <a:pt x="489" y="586"/>
                    </a:lnTo>
                    <a:lnTo>
                      <a:pt x="0" y="586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C7EB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88" name="Freeform 99"/>
              <p:cNvSpPr/>
              <p:nvPr/>
            </p:nvSpPr>
            <p:spPr>
              <a:xfrm>
                <a:off x="1021" y="2667"/>
                <a:ext cx="601" cy="112"/>
              </a:xfrm>
              <a:custGeom>
                <a:avLst/>
                <a:gdLst/>
                <a:ahLst/>
                <a:cxnLst>
                  <a:cxn ang="0">
                    <a:pos x="488" y="112"/>
                  </a:cxn>
                  <a:cxn ang="0">
                    <a:pos x="601" y="0"/>
                  </a:cxn>
                  <a:cxn ang="0">
                    <a:pos x="112" y="0"/>
                  </a:cxn>
                  <a:cxn ang="0">
                    <a:pos x="0" y="112"/>
                  </a:cxn>
                  <a:cxn ang="0">
                    <a:pos x="488" y="112"/>
                  </a:cxn>
                  <a:cxn ang="0">
                    <a:pos x="488" y="112"/>
                  </a:cxn>
                </a:cxnLst>
                <a:rect l="0" t="0" r="0" b="0"/>
                <a:pathLst>
                  <a:path w="601" h="112">
                    <a:moveTo>
                      <a:pt x="488" y="112"/>
                    </a:moveTo>
                    <a:lnTo>
                      <a:pt x="601" y="0"/>
                    </a:lnTo>
                    <a:lnTo>
                      <a:pt x="112" y="0"/>
                    </a:lnTo>
                    <a:lnTo>
                      <a:pt x="0" y="112"/>
                    </a:lnTo>
                    <a:lnTo>
                      <a:pt x="488" y="112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89" name="Freeform 100"/>
              <p:cNvSpPr/>
              <p:nvPr/>
            </p:nvSpPr>
            <p:spPr>
              <a:xfrm>
                <a:off x="1021" y="2667"/>
                <a:ext cx="601" cy="112"/>
              </a:xfrm>
              <a:custGeom>
                <a:avLst/>
                <a:gdLst/>
                <a:ahLst/>
                <a:cxnLst>
                  <a:cxn ang="0">
                    <a:pos x="488" y="112"/>
                  </a:cxn>
                  <a:cxn ang="0">
                    <a:pos x="601" y="0"/>
                  </a:cxn>
                  <a:cxn ang="0">
                    <a:pos x="112" y="0"/>
                  </a:cxn>
                  <a:cxn ang="0">
                    <a:pos x="0" y="112"/>
                  </a:cxn>
                  <a:cxn ang="0">
                    <a:pos x="488" y="112"/>
                  </a:cxn>
                  <a:cxn ang="0">
                    <a:pos x="488" y="112"/>
                  </a:cxn>
                </a:cxnLst>
                <a:rect l="0" t="0" r="0" b="0"/>
                <a:pathLst>
                  <a:path w="601" h="112">
                    <a:moveTo>
                      <a:pt x="488" y="112"/>
                    </a:moveTo>
                    <a:lnTo>
                      <a:pt x="601" y="0"/>
                    </a:lnTo>
                    <a:lnTo>
                      <a:pt x="112" y="0"/>
                    </a:lnTo>
                    <a:lnTo>
                      <a:pt x="0" y="112"/>
                    </a:lnTo>
                    <a:lnTo>
                      <a:pt x="488" y="112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D6B1D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0" name="Freeform 101"/>
              <p:cNvSpPr/>
              <p:nvPr/>
            </p:nvSpPr>
            <p:spPr>
              <a:xfrm>
                <a:off x="1509" y="2667"/>
                <a:ext cx="113" cy="698"/>
              </a:xfrm>
              <a:custGeom>
                <a:avLst/>
                <a:gdLst/>
                <a:ahLst/>
                <a:cxnLst>
                  <a:cxn ang="0">
                    <a:pos x="0" y="112"/>
                  </a:cxn>
                  <a:cxn ang="0">
                    <a:pos x="113" y="0"/>
                  </a:cxn>
                  <a:cxn ang="0">
                    <a:pos x="113" y="585"/>
                  </a:cxn>
                  <a:cxn ang="0">
                    <a:pos x="0" y="698"/>
                  </a:cxn>
                  <a:cxn ang="0">
                    <a:pos x="0" y="112"/>
                  </a:cxn>
                  <a:cxn ang="0">
                    <a:pos x="0" y="112"/>
                  </a:cxn>
                </a:cxnLst>
                <a:rect l="0" t="0" r="0" b="0"/>
                <a:pathLst>
                  <a:path w="113" h="698">
                    <a:moveTo>
                      <a:pt x="0" y="112"/>
                    </a:moveTo>
                    <a:lnTo>
                      <a:pt x="113" y="0"/>
                    </a:lnTo>
                    <a:lnTo>
                      <a:pt x="113" y="585"/>
                    </a:lnTo>
                    <a:lnTo>
                      <a:pt x="0" y="698"/>
                    </a:lnTo>
                    <a:lnTo>
                      <a:pt x="0" y="112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1" name="Freeform 102"/>
              <p:cNvSpPr/>
              <p:nvPr/>
            </p:nvSpPr>
            <p:spPr>
              <a:xfrm>
                <a:off x="1509" y="2667"/>
                <a:ext cx="113" cy="698"/>
              </a:xfrm>
              <a:custGeom>
                <a:avLst/>
                <a:gdLst/>
                <a:ahLst/>
                <a:cxnLst>
                  <a:cxn ang="0">
                    <a:pos x="0" y="112"/>
                  </a:cxn>
                  <a:cxn ang="0">
                    <a:pos x="113" y="0"/>
                  </a:cxn>
                  <a:cxn ang="0">
                    <a:pos x="113" y="585"/>
                  </a:cxn>
                  <a:cxn ang="0">
                    <a:pos x="0" y="698"/>
                  </a:cxn>
                  <a:cxn ang="0">
                    <a:pos x="0" y="112"/>
                  </a:cxn>
                  <a:cxn ang="0">
                    <a:pos x="0" y="112"/>
                  </a:cxn>
                </a:cxnLst>
                <a:rect l="0" t="0" r="0" b="0"/>
                <a:pathLst>
                  <a:path w="113" h="698">
                    <a:moveTo>
                      <a:pt x="0" y="112"/>
                    </a:moveTo>
                    <a:lnTo>
                      <a:pt x="113" y="0"/>
                    </a:lnTo>
                    <a:lnTo>
                      <a:pt x="113" y="585"/>
                    </a:lnTo>
                    <a:lnTo>
                      <a:pt x="0" y="698"/>
                    </a:lnTo>
                    <a:lnTo>
                      <a:pt x="0" y="112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7F007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2" name="Freeform 103"/>
              <p:cNvSpPr/>
              <p:nvPr/>
            </p:nvSpPr>
            <p:spPr>
              <a:xfrm>
                <a:off x="1020" y="2919"/>
                <a:ext cx="489" cy="3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3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3">
                    <a:moveTo>
                      <a:pt x="489" y="0"/>
                    </a:moveTo>
                    <a:lnTo>
                      <a:pt x="489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3" name="Freeform 104"/>
              <p:cNvSpPr/>
              <p:nvPr/>
            </p:nvSpPr>
            <p:spPr>
              <a:xfrm>
                <a:off x="1020" y="2919"/>
                <a:ext cx="489" cy="3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3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3">
                    <a:moveTo>
                      <a:pt x="489" y="0"/>
                    </a:moveTo>
                    <a:lnTo>
                      <a:pt x="489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7F007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4" name="Freeform 105"/>
              <p:cNvSpPr/>
              <p:nvPr/>
            </p:nvSpPr>
            <p:spPr>
              <a:xfrm>
                <a:off x="1354" y="2847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5" name="Freeform 106"/>
              <p:cNvSpPr/>
              <p:nvPr/>
            </p:nvSpPr>
            <p:spPr>
              <a:xfrm>
                <a:off x="1354" y="2847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6" name="Freeform 107"/>
              <p:cNvSpPr/>
              <p:nvPr/>
            </p:nvSpPr>
            <p:spPr>
              <a:xfrm>
                <a:off x="1354" y="2861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7" name="Freeform 108"/>
              <p:cNvSpPr/>
              <p:nvPr/>
            </p:nvSpPr>
            <p:spPr>
              <a:xfrm>
                <a:off x="1354" y="2861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8" name="Freeform 109"/>
              <p:cNvSpPr/>
              <p:nvPr/>
            </p:nvSpPr>
            <p:spPr>
              <a:xfrm>
                <a:off x="1354" y="2994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9" name="Freeform 110"/>
              <p:cNvSpPr/>
              <p:nvPr/>
            </p:nvSpPr>
            <p:spPr>
              <a:xfrm>
                <a:off x="1354" y="2994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0" name="Freeform 111"/>
              <p:cNvSpPr/>
              <p:nvPr/>
            </p:nvSpPr>
            <p:spPr>
              <a:xfrm>
                <a:off x="1354" y="3008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1" name="Freeform 112"/>
              <p:cNvSpPr/>
              <p:nvPr/>
            </p:nvSpPr>
            <p:spPr>
              <a:xfrm>
                <a:off x="1354" y="3008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2" name="Freeform 113"/>
              <p:cNvSpPr/>
              <p:nvPr/>
            </p:nvSpPr>
            <p:spPr>
              <a:xfrm>
                <a:off x="1354" y="3142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3" name="Freeform 114"/>
              <p:cNvSpPr/>
              <p:nvPr/>
            </p:nvSpPr>
            <p:spPr>
              <a:xfrm>
                <a:off x="1354" y="3142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4" name="Freeform 115"/>
              <p:cNvSpPr/>
              <p:nvPr/>
            </p:nvSpPr>
            <p:spPr>
              <a:xfrm>
                <a:off x="1354" y="3156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5" name="Freeform 116"/>
              <p:cNvSpPr/>
              <p:nvPr/>
            </p:nvSpPr>
            <p:spPr>
              <a:xfrm>
                <a:off x="1354" y="3156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6" name="Freeform 117"/>
              <p:cNvSpPr/>
              <p:nvPr/>
            </p:nvSpPr>
            <p:spPr>
              <a:xfrm>
                <a:off x="1354" y="3289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7" name="Freeform 118"/>
              <p:cNvSpPr/>
              <p:nvPr/>
            </p:nvSpPr>
            <p:spPr>
              <a:xfrm>
                <a:off x="1354" y="3289"/>
                <a:ext cx="110" cy="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10" y="14"/>
                  </a:cxn>
                  <a:cxn ang="0">
                    <a:pos x="0" y="14"/>
                  </a:cxn>
                  <a:cxn ang="0">
                    <a:pos x="0" y="0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0" b="0"/>
                <a:pathLst>
                  <a:path w="110" h="14">
                    <a:moveTo>
                      <a:pt x="110" y="0"/>
                    </a:moveTo>
                    <a:lnTo>
                      <a:pt x="110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8" name="Freeform 119"/>
              <p:cNvSpPr/>
              <p:nvPr/>
            </p:nvSpPr>
            <p:spPr>
              <a:xfrm>
                <a:off x="1354" y="3303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9" name="Freeform 120"/>
              <p:cNvSpPr/>
              <p:nvPr/>
            </p:nvSpPr>
            <p:spPr>
              <a:xfrm>
                <a:off x="1354" y="3303"/>
                <a:ext cx="110" cy="3"/>
              </a:xfrm>
              <a:custGeom>
                <a:avLst/>
                <a:gdLst/>
                <a:ahLst/>
                <a:cxnLst>
                  <a:cxn ang="0">
                    <a:pos x="110" y="3"/>
                  </a:cxn>
                  <a:cxn ang="0">
                    <a:pos x="110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10" y="3"/>
                  </a:cxn>
                  <a:cxn ang="0">
                    <a:pos x="110" y="3"/>
                  </a:cxn>
                </a:cxnLst>
                <a:rect l="0" t="0" r="0" b="0"/>
                <a:pathLst>
                  <a:path w="110" h="3">
                    <a:moveTo>
                      <a:pt x="110" y="3"/>
                    </a:moveTo>
                    <a:lnTo>
                      <a:pt x="11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0" name="Freeform 121"/>
              <p:cNvSpPr/>
              <p:nvPr/>
            </p:nvSpPr>
            <p:spPr>
              <a:xfrm>
                <a:off x="1020" y="2922"/>
                <a:ext cx="489" cy="4"/>
              </a:xfrm>
              <a:custGeom>
                <a:avLst/>
                <a:gdLst/>
                <a:ahLst/>
                <a:cxnLst>
                  <a:cxn ang="0">
                    <a:pos x="489" y="4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489" y="4"/>
                  </a:cxn>
                  <a:cxn ang="0">
                    <a:pos x="489" y="4"/>
                  </a:cxn>
                </a:cxnLst>
                <a:rect l="0" t="0" r="0" b="0"/>
                <a:pathLst>
                  <a:path w="489" h="4">
                    <a:moveTo>
                      <a:pt x="489" y="4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489" y="4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1" name="Freeform 122"/>
              <p:cNvSpPr/>
              <p:nvPr/>
            </p:nvSpPr>
            <p:spPr>
              <a:xfrm>
                <a:off x="1020" y="2922"/>
                <a:ext cx="489" cy="4"/>
              </a:xfrm>
              <a:custGeom>
                <a:avLst/>
                <a:gdLst/>
                <a:ahLst/>
                <a:cxnLst>
                  <a:cxn ang="0">
                    <a:pos x="489" y="4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489" y="4"/>
                  </a:cxn>
                  <a:cxn ang="0">
                    <a:pos x="489" y="4"/>
                  </a:cxn>
                </a:cxnLst>
                <a:rect l="0" t="0" r="0" b="0"/>
                <a:pathLst>
                  <a:path w="489" h="4">
                    <a:moveTo>
                      <a:pt x="489" y="4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489" y="4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2" name="Freeform 123"/>
              <p:cNvSpPr/>
              <p:nvPr/>
            </p:nvSpPr>
            <p:spPr>
              <a:xfrm>
                <a:off x="1020" y="3069"/>
                <a:ext cx="489" cy="2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2">
                    <a:moveTo>
                      <a:pt x="489" y="0"/>
                    </a:moveTo>
                    <a:lnTo>
                      <a:pt x="489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3" name="Freeform 124"/>
              <p:cNvSpPr/>
              <p:nvPr/>
            </p:nvSpPr>
            <p:spPr>
              <a:xfrm>
                <a:off x="1020" y="3069"/>
                <a:ext cx="489" cy="2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2">
                    <a:moveTo>
                      <a:pt x="489" y="0"/>
                    </a:moveTo>
                    <a:lnTo>
                      <a:pt x="489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7F007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4" name="Freeform 125"/>
              <p:cNvSpPr/>
              <p:nvPr/>
            </p:nvSpPr>
            <p:spPr>
              <a:xfrm>
                <a:off x="1020" y="3071"/>
                <a:ext cx="489" cy="4"/>
              </a:xfrm>
              <a:custGeom>
                <a:avLst/>
                <a:gdLst/>
                <a:ahLst/>
                <a:cxnLst>
                  <a:cxn ang="0">
                    <a:pos x="489" y="4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489" y="4"/>
                  </a:cxn>
                  <a:cxn ang="0">
                    <a:pos x="489" y="4"/>
                  </a:cxn>
                </a:cxnLst>
                <a:rect l="0" t="0" r="0" b="0"/>
                <a:pathLst>
                  <a:path w="489" h="4">
                    <a:moveTo>
                      <a:pt x="489" y="4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489" y="4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5" name="Freeform 126"/>
              <p:cNvSpPr/>
              <p:nvPr/>
            </p:nvSpPr>
            <p:spPr>
              <a:xfrm>
                <a:off x="1020" y="3071"/>
                <a:ext cx="489" cy="4"/>
              </a:xfrm>
              <a:custGeom>
                <a:avLst/>
                <a:gdLst/>
                <a:ahLst/>
                <a:cxnLst>
                  <a:cxn ang="0">
                    <a:pos x="489" y="4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489" y="4"/>
                  </a:cxn>
                  <a:cxn ang="0">
                    <a:pos x="489" y="4"/>
                  </a:cxn>
                </a:cxnLst>
                <a:rect l="0" t="0" r="0" b="0"/>
                <a:pathLst>
                  <a:path w="489" h="4">
                    <a:moveTo>
                      <a:pt x="489" y="4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489" y="4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6" name="Freeform 127"/>
              <p:cNvSpPr/>
              <p:nvPr/>
            </p:nvSpPr>
            <p:spPr>
              <a:xfrm>
                <a:off x="1020" y="3218"/>
                <a:ext cx="489" cy="2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2">
                    <a:moveTo>
                      <a:pt x="489" y="0"/>
                    </a:moveTo>
                    <a:lnTo>
                      <a:pt x="489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7" name="Freeform 128"/>
              <p:cNvSpPr/>
              <p:nvPr/>
            </p:nvSpPr>
            <p:spPr>
              <a:xfrm>
                <a:off x="1020" y="3218"/>
                <a:ext cx="489" cy="2"/>
              </a:xfrm>
              <a:custGeom>
                <a:avLst/>
                <a:gdLst/>
                <a:ahLst/>
                <a:cxnLst>
                  <a:cxn ang="0">
                    <a:pos x="489" y="0"/>
                  </a:cxn>
                  <a:cxn ang="0">
                    <a:pos x="489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489" y="0"/>
                  </a:cxn>
                  <a:cxn ang="0">
                    <a:pos x="489" y="0"/>
                  </a:cxn>
                </a:cxnLst>
                <a:rect l="0" t="0" r="0" b="0"/>
                <a:pathLst>
                  <a:path w="489" h="2">
                    <a:moveTo>
                      <a:pt x="489" y="0"/>
                    </a:moveTo>
                    <a:lnTo>
                      <a:pt x="489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7F007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8" name="Freeform 129"/>
              <p:cNvSpPr/>
              <p:nvPr/>
            </p:nvSpPr>
            <p:spPr>
              <a:xfrm>
                <a:off x="1020" y="3220"/>
                <a:ext cx="489" cy="5"/>
              </a:xfrm>
              <a:custGeom>
                <a:avLst/>
                <a:gdLst/>
                <a:ahLst/>
                <a:cxnLst>
                  <a:cxn ang="0">
                    <a:pos x="489" y="5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489" y="5"/>
                  </a:cxn>
                  <a:cxn ang="0">
                    <a:pos x="489" y="5"/>
                  </a:cxn>
                </a:cxnLst>
                <a:rect l="0" t="0" r="0" b="0"/>
                <a:pathLst>
                  <a:path w="489" h="5">
                    <a:moveTo>
                      <a:pt x="489" y="5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489" y="5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9" name="Freeform 130"/>
              <p:cNvSpPr/>
              <p:nvPr/>
            </p:nvSpPr>
            <p:spPr>
              <a:xfrm>
                <a:off x="1020" y="3220"/>
                <a:ext cx="489" cy="5"/>
              </a:xfrm>
              <a:custGeom>
                <a:avLst/>
                <a:gdLst/>
                <a:ahLst/>
                <a:cxnLst>
                  <a:cxn ang="0">
                    <a:pos x="489" y="5"/>
                  </a:cxn>
                  <a:cxn ang="0">
                    <a:pos x="489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489" y="5"/>
                  </a:cxn>
                  <a:cxn ang="0">
                    <a:pos x="489" y="5"/>
                  </a:cxn>
                </a:cxnLst>
                <a:rect l="0" t="0" r="0" b="0"/>
                <a:pathLst>
                  <a:path w="489" h="5">
                    <a:moveTo>
                      <a:pt x="489" y="5"/>
                    </a:moveTo>
                    <a:lnTo>
                      <a:pt x="489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489" y="5"/>
                    </a:lnTo>
                    <a:close/>
                  </a:path>
                </a:pathLst>
              </a:custGeom>
              <a:solidFill>
                <a:srgbClr val="FF6600"/>
              </a:solidFill>
              <a:ln w="1588" cap="flat" cmpd="sng">
                <a:solidFill>
                  <a:srgbClr val="BFBFB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20" name="Rectangle 131"/>
            <p:cNvSpPr/>
            <p:nvPr/>
          </p:nvSpPr>
          <p:spPr>
            <a:xfrm>
              <a:off x="3764" y="8344"/>
              <a:ext cx="608" cy="3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875"/>
                </a:spcBef>
              </a:pPr>
              <a:r>
                <a:rPr lang="en-US" altLang="zh-CN" sz="900">
                  <a:solidFill>
                    <a:srgbClr val="3E421A"/>
                  </a:solidFill>
                  <a:latin typeface="Verdana" panose="020B0604030504040204" pitchFamily="34" charset="0"/>
                </a:rPr>
                <a:t>Server B</a:t>
              </a:r>
              <a:endParaRPr lang="en-US" altLang="zh-CN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6121" name="Group 133"/>
            <p:cNvGrpSpPr/>
            <p:nvPr/>
          </p:nvGrpSpPr>
          <p:grpSpPr>
            <a:xfrm>
              <a:off x="3520" y="4197"/>
              <a:ext cx="1408" cy="1733"/>
              <a:chOff x="1002" y="1346"/>
              <a:chExt cx="603" cy="821"/>
            </a:xfrm>
          </p:grpSpPr>
          <p:sp>
            <p:nvSpPr>
              <p:cNvPr id="46122" name="Rectangle 134"/>
              <p:cNvSpPr/>
              <p:nvPr/>
            </p:nvSpPr>
            <p:spPr>
              <a:xfrm>
                <a:off x="1024" y="2079"/>
                <a:ext cx="504" cy="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/>
              <a:lstStyle/>
              <a:p>
                <a:pPr algn="ctr">
                  <a:spcBef>
                    <a:spcPts val="875"/>
                  </a:spcBef>
                </a:pPr>
                <a:r>
                  <a:rPr lang="en-US" altLang="zh-CN" sz="900">
                    <a:solidFill>
                      <a:srgbClr val="3E421A"/>
                    </a:solidFill>
                    <a:latin typeface="Verdana" panose="020B0604030504040204" pitchFamily="34" charset="0"/>
                  </a:rPr>
                  <a:t>Server A </a:t>
                </a:r>
                <a:endParaRPr lang="en-US" altLang="zh-CN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6123" name="Group 136"/>
              <p:cNvGrpSpPr/>
              <p:nvPr/>
            </p:nvGrpSpPr>
            <p:grpSpPr>
              <a:xfrm>
                <a:off x="1002" y="1346"/>
                <a:ext cx="603" cy="698"/>
                <a:chOff x="1002" y="1451"/>
                <a:chExt cx="603" cy="698"/>
              </a:xfrm>
            </p:grpSpPr>
            <p:sp>
              <p:nvSpPr>
                <p:cNvPr id="46124" name="Freeform 137"/>
                <p:cNvSpPr/>
                <p:nvPr/>
              </p:nvSpPr>
              <p:spPr>
                <a:xfrm>
                  <a:off x="1002" y="1564"/>
                  <a:ext cx="490" cy="585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585"/>
                    </a:cxn>
                    <a:cxn ang="0">
                      <a:pos x="0" y="585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585">
                      <a:moveTo>
                        <a:pt x="490" y="0"/>
                      </a:moveTo>
                      <a:lnTo>
                        <a:pt x="490" y="585"/>
                      </a:lnTo>
                      <a:lnTo>
                        <a:pt x="0" y="585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solidFill>
                  <a:srgbClr val="BC7EBC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25" name="Freeform 138"/>
                <p:cNvSpPr/>
                <p:nvPr/>
              </p:nvSpPr>
              <p:spPr>
                <a:xfrm>
                  <a:off x="1002" y="1564"/>
                  <a:ext cx="490" cy="585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585"/>
                    </a:cxn>
                    <a:cxn ang="0">
                      <a:pos x="0" y="585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585">
                      <a:moveTo>
                        <a:pt x="490" y="0"/>
                      </a:moveTo>
                      <a:lnTo>
                        <a:pt x="490" y="585"/>
                      </a:lnTo>
                      <a:lnTo>
                        <a:pt x="0" y="585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C7EB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26" name="Freeform 139"/>
                <p:cNvSpPr/>
                <p:nvPr/>
              </p:nvSpPr>
              <p:spPr>
                <a:xfrm>
                  <a:off x="1003" y="1451"/>
                  <a:ext cx="602" cy="113"/>
                </a:xfrm>
                <a:custGeom>
                  <a:avLst/>
                  <a:gdLst/>
                  <a:ahLst/>
                  <a:cxnLst>
                    <a:cxn ang="0">
                      <a:pos x="489" y="113"/>
                    </a:cxn>
                    <a:cxn ang="0">
                      <a:pos x="602" y="0"/>
                    </a:cxn>
                    <a:cxn ang="0">
                      <a:pos x="113" y="0"/>
                    </a:cxn>
                    <a:cxn ang="0">
                      <a:pos x="0" y="113"/>
                    </a:cxn>
                    <a:cxn ang="0">
                      <a:pos x="489" y="113"/>
                    </a:cxn>
                    <a:cxn ang="0">
                      <a:pos x="489" y="113"/>
                    </a:cxn>
                  </a:cxnLst>
                  <a:rect l="0" t="0" r="0" b="0"/>
                  <a:pathLst>
                    <a:path w="602" h="113">
                      <a:moveTo>
                        <a:pt x="489" y="113"/>
                      </a:moveTo>
                      <a:lnTo>
                        <a:pt x="602" y="0"/>
                      </a:lnTo>
                      <a:lnTo>
                        <a:pt x="113" y="0"/>
                      </a:lnTo>
                      <a:lnTo>
                        <a:pt x="0" y="113"/>
                      </a:lnTo>
                      <a:lnTo>
                        <a:pt x="489" y="113"/>
                      </a:lnTo>
                      <a:close/>
                    </a:path>
                  </a:pathLst>
                </a:custGeom>
                <a:solidFill>
                  <a:srgbClr val="D6B1D6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27" name="Freeform 140"/>
                <p:cNvSpPr/>
                <p:nvPr/>
              </p:nvSpPr>
              <p:spPr>
                <a:xfrm>
                  <a:off x="1003" y="1451"/>
                  <a:ext cx="602" cy="113"/>
                </a:xfrm>
                <a:custGeom>
                  <a:avLst/>
                  <a:gdLst/>
                  <a:ahLst/>
                  <a:cxnLst>
                    <a:cxn ang="0">
                      <a:pos x="489" y="113"/>
                    </a:cxn>
                    <a:cxn ang="0">
                      <a:pos x="602" y="0"/>
                    </a:cxn>
                    <a:cxn ang="0">
                      <a:pos x="113" y="0"/>
                    </a:cxn>
                    <a:cxn ang="0">
                      <a:pos x="0" y="113"/>
                    </a:cxn>
                    <a:cxn ang="0">
                      <a:pos x="489" y="113"/>
                    </a:cxn>
                    <a:cxn ang="0">
                      <a:pos x="489" y="113"/>
                    </a:cxn>
                  </a:cxnLst>
                  <a:rect l="0" t="0" r="0" b="0"/>
                  <a:pathLst>
                    <a:path w="602" h="113">
                      <a:moveTo>
                        <a:pt x="489" y="113"/>
                      </a:moveTo>
                      <a:lnTo>
                        <a:pt x="602" y="0"/>
                      </a:lnTo>
                      <a:lnTo>
                        <a:pt x="113" y="0"/>
                      </a:lnTo>
                      <a:lnTo>
                        <a:pt x="0" y="113"/>
                      </a:lnTo>
                      <a:lnTo>
                        <a:pt x="489" y="11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D6B1D6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28" name="Freeform 141"/>
                <p:cNvSpPr/>
                <p:nvPr/>
              </p:nvSpPr>
              <p:spPr>
                <a:xfrm>
                  <a:off x="1492" y="1451"/>
                  <a:ext cx="113" cy="698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113" y="0"/>
                    </a:cxn>
                    <a:cxn ang="0">
                      <a:pos x="113" y="586"/>
                    </a:cxn>
                    <a:cxn ang="0">
                      <a:pos x="0" y="698"/>
                    </a:cxn>
                    <a:cxn ang="0">
                      <a:pos x="0" y="113"/>
                    </a:cxn>
                    <a:cxn ang="0">
                      <a:pos x="0" y="113"/>
                    </a:cxn>
                  </a:cxnLst>
                  <a:rect l="0" t="0" r="0" b="0"/>
                  <a:pathLst>
                    <a:path w="113" h="698">
                      <a:moveTo>
                        <a:pt x="0" y="113"/>
                      </a:moveTo>
                      <a:lnTo>
                        <a:pt x="113" y="0"/>
                      </a:lnTo>
                      <a:lnTo>
                        <a:pt x="113" y="586"/>
                      </a:lnTo>
                      <a:lnTo>
                        <a:pt x="0" y="698"/>
                      </a:lnTo>
                      <a:lnTo>
                        <a:pt x="0" y="113"/>
                      </a:lnTo>
                      <a:close/>
                    </a:path>
                  </a:pathLst>
                </a:custGeom>
                <a:solidFill>
                  <a:srgbClr val="7F007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29" name="Freeform 142"/>
                <p:cNvSpPr/>
                <p:nvPr/>
              </p:nvSpPr>
              <p:spPr>
                <a:xfrm>
                  <a:off x="1492" y="1451"/>
                  <a:ext cx="113" cy="698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113" y="0"/>
                    </a:cxn>
                    <a:cxn ang="0">
                      <a:pos x="113" y="586"/>
                    </a:cxn>
                    <a:cxn ang="0">
                      <a:pos x="0" y="698"/>
                    </a:cxn>
                    <a:cxn ang="0">
                      <a:pos x="0" y="113"/>
                    </a:cxn>
                    <a:cxn ang="0">
                      <a:pos x="0" y="113"/>
                    </a:cxn>
                  </a:cxnLst>
                  <a:rect l="0" t="0" r="0" b="0"/>
                  <a:pathLst>
                    <a:path w="113" h="698">
                      <a:moveTo>
                        <a:pt x="0" y="113"/>
                      </a:moveTo>
                      <a:lnTo>
                        <a:pt x="113" y="0"/>
                      </a:lnTo>
                      <a:lnTo>
                        <a:pt x="113" y="586"/>
                      </a:lnTo>
                      <a:lnTo>
                        <a:pt x="0" y="698"/>
                      </a:lnTo>
                      <a:lnTo>
                        <a:pt x="0" y="11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7F007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0" name="Freeform 143"/>
                <p:cNvSpPr/>
                <p:nvPr/>
              </p:nvSpPr>
              <p:spPr>
                <a:xfrm>
                  <a:off x="1002" y="1703"/>
                  <a:ext cx="490" cy="3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3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3">
                      <a:moveTo>
                        <a:pt x="490" y="0"/>
                      </a:moveTo>
                      <a:lnTo>
                        <a:pt x="49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solidFill>
                  <a:srgbClr val="7F007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1" name="Freeform 144"/>
                <p:cNvSpPr/>
                <p:nvPr/>
              </p:nvSpPr>
              <p:spPr>
                <a:xfrm>
                  <a:off x="1002" y="1703"/>
                  <a:ext cx="490" cy="3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3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3">
                      <a:moveTo>
                        <a:pt x="490" y="0"/>
                      </a:moveTo>
                      <a:lnTo>
                        <a:pt x="49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7F007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2" name="Freeform 145"/>
                <p:cNvSpPr/>
                <p:nvPr/>
              </p:nvSpPr>
              <p:spPr>
                <a:xfrm>
                  <a:off x="1337" y="1631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3" name="Freeform 146"/>
                <p:cNvSpPr/>
                <p:nvPr/>
              </p:nvSpPr>
              <p:spPr>
                <a:xfrm>
                  <a:off x="1337" y="1631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4" name="Freeform 147"/>
                <p:cNvSpPr/>
                <p:nvPr/>
              </p:nvSpPr>
              <p:spPr>
                <a:xfrm>
                  <a:off x="1337" y="1645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5" name="Freeform 148"/>
                <p:cNvSpPr/>
                <p:nvPr/>
              </p:nvSpPr>
              <p:spPr>
                <a:xfrm>
                  <a:off x="1337" y="1645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6" name="Freeform 149"/>
                <p:cNvSpPr/>
                <p:nvPr/>
              </p:nvSpPr>
              <p:spPr>
                <a:xfrm>
                  <a:off x="1337" y="1779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7" name="Freeform 150"/>
                <p:cNvSpPr/>
                <p:nvPr/>
              </p:nvSpPr>
              <p:spPr>
                <a:xfrm>
                  <a:off x="1337" y="1779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8" name="Freeform 151"/>
                <p:cNvSpPr/>
                <p:nvPr/>
              </p:nvSpPr>
              <p:spPr>
                <a:xfrm>
                  <a:off x="1337" y="1793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39" name="Freeform 152"/>
                <p:cNvSpPr/>
                <p:nvPr/>
              </p:nvSpPr>
              <p:spPr>
                <a:xfrm>
                  <a:off x="1337" y="1793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0" name="Freeform 153"/>
                <p:cNvSpPr/>
                <p:nvPr/>
              </p:nvSpPr>
              <p:spPr>
                <a:xfrm>
                  <a:off x="1337" y="1926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1" name="Freeform 154"/>
                <p:cNvSpPr/>
                <p:nvPr/>
              </p:nvSpPr>
              <p:spPr>
                <a:xfrm>
                  <a:off x="1337" y="1926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2" name="Freeform 155"/>
                <p:cNvSpPr/>
                <p:nvPr/>
              </p:nvSpPr>
              <p:spPr>
                <a:xfrm>
                  <a:off x="1337" y="1940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3" name="Freeform 156"/>
                <p:cNvSpPr/>
                <p:nvPr/>
              </p:nvSpPr>
              <p:spPr>
                <a:xfrm>
                  <a:off x="1337" y="1940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4" name="Freeform 157"/>
                <p:cNvSpPr/>
                <p:nvPr/>
              </p:nvSpPr>
              <p:spPr>
                <a:xfrm>
                  <a:off x="1337" y="2073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5" name="Freeform 158"/>
                <p:cNvSpPr/>
                <p:nvPr/>
              </p:nvSpPr>
              <p:spPr>
                <a:xfrm>
                  <a:off x="1337" y="2073"/>
                  <a:ext cx="109" cy="14"/>
                </a:xfrm>
                <a:custGeom>
                  <a:avLst/>
                  <a:gdLst/>
                  <a:ahLst/>
                  <a:cxnLst>
                    <a:cxn ang="0">
                      <a:pos x="109" y="0"/>
                    </a:cxn>
                    <a:cxn ang="0">
                      <a:pos x="109" y="14"/>
                    </a:cxn>
                    <a:cxn ang="0">
                      <a:pos x="0" y="14"/>
                    </a:cxn>
                    <a:cxn ang="0">
                      <a:pos x="0" y="0"/>
                    </a:cxn>
                    <a:cxn ang="0">
                      <a:pos x="109" y="0"/>
                    </a:cxn>
                    <a:cxn ang="0">
                      <a:pos x="109" y="0"/>
                    </a:cxn>
                  </a:cxnLst>
                  <a:rect l="0" t="0" r="0" b="0"/>
                  <a:pathLst>
                    <a:path w="109" h="14">
                      <a:moveTo>
                        <a:pt x="109" y="0"/>
                      </a:moveTo>
                      <a:lnTo>
                        <a:pt x="109" y="14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6" name="Freeform 159"/>
                <p:cNvSpPr/>
                <p:nvPr/>
              </p:nvSpPr>
              <p:spPr>
                <a:xfrm>
                  <a:off x="1337" y="2087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7" name="Freeform 160"/>
                <p:cNvSpPr/>
                <p:nvPr/>
              </p:nvSpPr>
              <p:spPr>
                <a:xfrm>
                  <a:off x="1337" y="2087"/>
                  <a:ext cx="109" cy="3"/>
                </a:xfrm>
                <a:custGeom>
                  <a:avLst/>
                  <a:gdLst/>
                  <a:ahLst/>
                  <a:cxnLst>
                    <a:cxn ang="0">
                      <a:pos x="109" y="3"/>
                    </a:cxn>
                    <a:cxn ang="0">
                      <a:pos x="109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9" y="3"/>
                    </a:cxn>
                    <a:cxn ang="0">
                      <a:pos x="109" y="3"/>
                    </a:cxn>
                  </a:cxnLst>
                  <a:rect l="0" t="0" r="0" b="0"/>
                  <a:pathLst>
                    <a:path w="109" h="3">
                      <a:moveTo>
                        <a:pt x="109" y="3"/>
                      </a:moveTo>
                      <a:lnTo>
                        <a:pt x="109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09" y="3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8" name="Freeform 161"/>
                <p:cNvSpPr/>
                <p:nvPr/>
              </p:nvSpPr>
              <p:spPr>
                <a:xfrm>
                  <a:off x="1002" y="1706"/>
                  <a:ext cx="490" cy="4"/>
                </a:xfrm>
                <a:custGeom>
                  <a:avLst/>
                  <a:gdLst/>
                  <a:ahLst/>
                  <a:cxnLst>
                    <a:cxn ang="0">
                      <a:pos x="490" y="4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490" y="4"/>
                    </a:cxn>
                    <a:cxn ang="0">
                      <a:pos x="490" y="4"/>
                    </a:cxn>
                  </a:cxnLst>
                  <a:rect l="0" t="0" r="0" b="0"/>
                  <a:pathLst>
                    <a:path w="490" h="4">
                      <a:moveTo>
                        <a:pt x="490" y="4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490" y="4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9" name="Freeform 162"/>
                <p:cNvSpPr/>
                <p:nvPr/>
              </p:nvSpPr>
              <p:spPr>
                <a:xfrm>
                  <a:off x="1002" y="1706"/>
                  <a:ext cx="490" cy="4"/>
                </a:xfrm>
                <a:custGeom>
                  <a:avLst/>
                  <a:gdLst/>
                  <a:ahLst/>
                  <a:cxnLst>
                    <a:cxn ang="0">
                      <a:pos x="490" y="4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490" y="4"/>
                    </a:cxn>
                    <a:cxn ang="0">
                      <a:pos x="490" y="4"/>
                    </a:cxn>
                  </a:cxnLst>
                  <a:rect l="0" t="0" r="0" b="0"/>
                  <a:pathLst>
                    <a:path w="490" h="4">
                      <a:moveTo>
                        <a:pt x="490" y="4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490" y="4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0" name="Freeform 163"/>
                <p:cNvSpPr/>
                <p:nvPr/>
              </p:nvSpPr>
              <p:spPr>
                <a:xfrm>
                  <a:off x="1002" y="1853"/>
                  <a:ext cx="490" cy="2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2">
                      <a:moveTo>
                        <a:pt x="490" y="0"/>
                      </a:moveTo>
                      <a:lnTo>
                        <a:pt x="49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solidFill>
                  <a:srgbClr val="7F007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1" name="Freeform 164"/>
                <p:cNvSpPr/>
                <p:nvPr/>
              </p:nvSpPr>
              <p:spPr>
                <a:xfrm>
                  <a:off x="1002" y="1853"/>
                  <a:ext cx="490" cy="2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2">
                      <a:moveTo>
                        <a:pt x="490" y="0"/>
                      </a:moveTo>
                      <a:lnTo>
                        <a:pt x="49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7F007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2" name="Freeform 165"/>
                <p:cNvSpPr/>
                <p:nvPr/>
              </p:nvSpPr>
              <p:spPr>
                <a:xfrm>
                  <a:off x="1002" y="1855"/>
                  <a:ext cx="490" cy="4"/>
                </a:xfrm>
                <a:custGeom>
                  <a:avLst/>
                  <a:gdLst/>
                  <a:ahLst/>
                  <a:cxnLst>
                    <a:cxn ang="0">
                      <a:pos x="490" y="4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490" y="4"/>
                    </a:cxn>
                    <a:cxn ang="0">
                      <a:pos x="490" y="4"/>
                    </a:cxn>
                  </a:cxnLst>
                  <a:rect l="0" t="0" r="0" b="0"/>
                  <a:pathLst>
                    <a:path w="490" h="4">
                      <a:moveTo>
                        <a:pt x="490" y="4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490" y="4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3" name="Freeform 166"/>
                <p:cNvSpPr/>
                <p:nvPr/>
              </p:nvSpPr>
              <p:spPr>
                <a:xfrm>
                  <a:off x="1002" y="1855"/>
                  <a:ext cx="490" cy="4"/>
                </a:xfrm>
                <a:custGeom>
                  <a:avLst/>
                  <a:gdLst/>
                  <a:ahLst/>
                  <a:cxnLst>
                    <a:cxn ang="0">
                      <a:pos x="490" y="4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490" y="4"/>
                    </a:cxn>
                    <a:cxn ang="0">
                      <a:pos x="490" y="4"/>
                    </a:cxn>
                  </a:cxnLst>
                  <a:rect l="0" t="0" r="0" b="0"/>
                  <a:pathLst>
                    <a:path w="490" h="4">
                      <a:moveTo>
                        <a:pt x="490" y="4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490" y="4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4" name="Freeform 167"/>
                <p:cNvSpPr/>
                <p:nvPr/>
              </p:nvSpPr>
              <p:spPr>
                <a:xfrm>
                  <a:off x="1002" y="2003"/>
                  <a:ext cx="490" cy="2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2">
                      <a:moveTo>
                        <a:pt x="490" y="0"/>
                      </a:moveTo>
                      <a:lnTo>
                        <a:pt x="49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solidFill>
                  <a:srgbClr val="7F007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5" name="Freeform 168"/>
                <p:cNvSpPr/>
                <p:nvPr/>
              </p:nvSpPr>
              <p:spPr>
                <a:xfrm>
                  <a:off x="1002" y="2003"/>
                  <a:ext cx="490" cy="2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49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rect l="0" t="0" r="0" b="0"/>
                  <a:pathLst>
                    <a:path w="490" h="2">
                      <a:moveTo>
                        <a:pt x="490" y="0"/>
                      </a:moveTo>
                      <a:lnTo>
                        <a:pt x="49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90" y="0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7F007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6" name="Freeform 169"/>
                <p:cNvSpPr/>
                <p:nvPr/>
              </p:nvSpPr>
              <p:spPr>
                <a:xfrm>
                  <a:off x="1002" y="2005"/>
                  <a:ext cx="490" cy="5"/>
                </a:xfrm>
                <a:custGeom>
                  <a:avLst/>
                  <a:gdLst/>
                  <a:ahLst/>
                  <a:cxnLst>
                    <a:cxn ang="0">
                      <a:pos x="490" y="5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5"/>
                    </a:cxn>
                    <a:cxn ang="0">
                      <a:pos x="490" y="5"/>
                    </a:cxn>
                    <a:cxn ang="0">
                      <a:pos x="490" y="5"/>
                    </a:cxn>
                  </a:cxnLst>
                  <a:rect l="0" t="0" r="0" b="0"/>
                  <a:pathLst>
                    <a:path w="490" h="5">
                      <a:moveTo>
                        <a:pt x="490" y="5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90" y="5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7" name="Freeform 170"/>
                <p:cNvSpPr/>
                <p:nvPr/>
              </p:nvSpPr>
              <p:spPr>
                <a:xfrm>
                  <a:off x="1002" y="2005"/>
                  <a:ext cx="490" cy="5"/>
                </a:xfrm>
                <a:custGeom>
                  <a:avLst/>
                  <a:gdLst/>
                  <a:ahLst/>
                  <a:cxnLst>
                    <a:cxn ang="0">
                      <a:pos x="490" y="5"/>
                    </a:cxn>
                    <a:cxn ang="0">
                      <a:pos x="490" y="0"/>
                    </a:cxn>
                    <a:cxn ang="0">
                      <a:pos x="0" y="0"/>
                    </a:cxn>
                    <a:cxn ang="0">
                      <a:pos x="0" y="5"/>
                    </a:cxn>
                    <a:cxn ang="0">
                      <a:pos x="490" y="5"/>
                    </a:cxn>
                    <a:cxn ang="0">
                      <a:pos x="490" y="5"/>
                    </a:cxn>
                  </a:cxnLst>
                  <a:rect l="0" t="0" r="0" b="0"/>
                  <a:pathLst>
                    <a:path w="490" h="5">
                      <a:moveTo>
                        <a:pt x="490" y="5"/>
                      </a:moveTo>
                      <a:lnTo>
                        <a:pt x="490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90" y="5"/>
                      </a:lnTo>
                      <a:close/>
                    </a:path>
                  </a:pathLst>
                </a:custGeom>
                <a:noFill/>
                <a:ln w="1588" cap="flat" cmpd="sng">
                  <a:solidFill>
                    <a:srgbClr val="BFBFB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6158" name="Freeform 172"/>
            <p:cNvSpPr/>
            <p:nvPr/>
          </p:nvSpPr>
          <p:spPr>
            <a:xfrm>
              <a:off x="4920" y="4711"/>
              <a:ext cx="900" cy="6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63" y="0"/>
                </a:cxn>
                <a:cxn ang="0">
                  <a:pos x="3963" y="47530"/>
                </a:cxn>
              </a:cxnLst>
              <a:rect l="0" t="0" r="0" b="0"/>
              <a:pathLst>
                <a:path w="549" h="145">
                  <a:moveTo>
                    <a:pt x="0" y="0"/>
                  </a:moveTo>
                  <a:lnTo>
                    <a:pt x="549" y="0"/>
                  </a:lnTo>
                  <a:lnTo>
                    <a:pt x="549" y="145"/>
                  </a:lnTo>
                </a:path>
              </a:pathLst>
            </a:custGeom>
            <a:noFill/>
            <a:ln w="11176" cap="flat" cmpd="sng">
              <a:solidFill>
                <a:srgbClr val="000000"/>
              </a:solidFill>
              <a:prstDash val="solid"/>
              <a:miter/>
              <a:headEnd type="triangle" w="med" len="lg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59" name="Group 173"/>
            <p:cNvGrpSpPr/>
            <p:nvPr/>
          </p:nvGrpSpPr>
          <p:grpSpPr>
            <a:xfrm>
              <a:off x="5220" y="5328"/>
              <a:ext cx="1600" cy="1234"/>
              <a:chOff x="1981" y="1659"/>
              <a:chExt cx="669" cy="338"/>
            </a:xfrm>
          </p:grpSpPr>
          <p:sp>
            <p:nvSpPr>
              <p:cNvPr id="46160" name="Rectangle 174"/>
              <p:cNvSpPr/>
              <p:nvPr/>
            </p:nvSpPr>
            <p:spPr>
              <a:xfrm>
                <a:off x="2376" y="1765"/>
                <a:ext cx="274" cy="1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/>
              <a:lstStyle/>
              <a:p>
                <a:pPr algn="ctr">
                  <a:spcBef>
                    <a:spcPts val="875"/>
                  </a:spcBef>
                </a:pPr>
                <a:r>
                  <a:rPr lang="en-US" altLang="zh-CN" sz="900">
                    <a:solidFill>
                      <a:srgbClr val="3E421A"/>
                    </a:solidFill>
                    <a:latin typeface="Verdana" panose="020B0604030504040204" pitchFamily="34" charset="0"/>
                  </a:rPr>
                  <a:t>Shared Disk</a:t>
                </a:r>
                <a:endParaRPr lang="en-US" altLang="zh-CN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46161" name="Picture 175" descr="database-128x12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981" y="1659"/>
                <a:ext cx="445" cy="33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6162" name="Text Box 176"/>
            <p:cNvSpPr txBox="1"/>
            <p:nvPr/>
          </p:nvSpPr>
          <p:spPr>
            <a:xfrm>
              <a:off x="2202" y="6562"/>
              <a:ext cx="1617" cy="354"/>
            </a:xfrm>
            <a:prstGeom prst="rect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875"/>
                </a:spcBef>
              </a:pPr>
              <a:r>
                <a:rPr lang="en-US" altLang="zh-CN" sz="1200">
                  <a:solidFill>
                    <a:srgbClr val="FFFFFF"/>
                  </a:solidFill>
                  <a:latin typeface="Verdana" panose="020B0604030504040204" pitchFamily="34" charset="0"/>
                </a:rPr>
                <a:t>Secondary</a:t>
              </a:r>
              <a:endParaRPr lang="en-US" altLang="zh-CN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63" name="Line 177"/>
            <p:cNvSpPr/>
            <p:nvPr/>
          </p:nvSpPr>
          <p:spPr>
            <a:xfrm flipH="1" flipV="1">
              <a:off x="4620" y="5636"/>
              <a:ext cx="0" cy="1132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rot="10800000" lIns="92075" tIns="46038" rIns="92075" bIns="46038" anchor="ctr"/>
            <a:lstStyle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64" name="Text Box 178"/>
            <p:cNvSpPr txBox="1"/>
            <p:nvPr/>
          </p:nvSpPr>
          <p:spPr>
            <a:xfrm>
              <a:off x="4320" y="6088"/>
              <a:ext cx="592" cy="157"/>
            </a:xfrm>
            <a:prstGeom prst="rect">
              <a:avLst/>
            </a:prstGeom>
            <a:solidFill>
              <a:srgbClr val="808080"/>
            </a:solidFill>
            <a:ln w="9525">
              <a:noFill/>
            </a:ln>
          </p:spPr>
          <p:txBody>
            <a:bodyPr lIns="0" tIns="0" rIns="92075" bIns="0" anchor="t">
              <a:spAutoFit/>
            </a:bodyPr>
            <a:lstStyle/>
            <a:p>
              <a:pPr algn="ctr">
                <a:spcBef>
                  <a:spcPts val="875"/>
                </a:spcBef>
              </a:pPr>
              <a:r>
                <a:rPr lang="en-US" altLang="zh-CN" sz="800">
                  <a:solidFill>
                    <a:srgbClr val="FFFFFF"/>
                  </a:solidFill>
                  <a:latin typeface="Verdana" panose="020B0604030504040204" pitchFamily="34" charset="0"/>
                </a:rPr>
                <a:t> LSN</a:t>
              </a:r>
              <a:endParaRPr lang="en-US" altLang="zh-CN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6165" name="Group 179"/>
            <p:cNvGrpSpPr/>
            <p:nvPr/>
          </p:nvGrpSpPr>
          <p:grpSpPr>
            <a:xfrm>
              <a:off x="4755" y="6562"/>
              <a:ext cx="1065" cy="877"/>
              <a:chOff x="1622" y="2281"/>
              <a:chExt cx="490" cy="608"/>
            </a:xfrm>
          </p:grpSpPr>
          <p:sp>
            <p:nvSpPr>
              <p:cNvPr id="46166" name="Line 180"/>
              <p:cNvSpPr/>
              <p:nvPr/>
            </p:nvSpPr>
            <p:spPr>
              <a:xfrm>
                <a:off x="2112" y="2281"/>
                <a:ext cx="0" cy="608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lIns="92075" tIns="46038" rIns="92075" bIns="46038" anchor="ctr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67" name="Line 181"/>
              <p:cNvSpPr/>
              <p:nvPr/>
            </p:nvSpPr>
            <p:spPr>
              <a:xfrm flipH="1">
                <a:off x="1622" y="2889"/>
                <a:ext cx="490" cy="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rot="10800000" lIns="92075" tIns="46038" rIns="92075" bIns="46038" anchor="ctr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6168" name="Text Box 182"/>
            <p:cNvSpPr txBox="1"/>
            <p:nvPr/>
          </p:nvSpPr>
          <p:spPr>
            <a:xfrm>
              <a:off x="2660" y="3888"/>
              <a:ext cx="1365" cy="354"/>
            </a:xfrm>
            <a:prstGeom prst="rect">
              <a:avLst/>
            </a:prstGeom>
            <a:solidFill>
              <a:srgbClr val="CC00FF"/>
            </a:solidFill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875"/>
                </a:spcBef>
              </a:pPr>
              <a:r>
                <a:rPr lang="en-US" altLang="zh-CN" sz="1200">
                  <a:solidFill>
                    <a:srgbClr val="FFFFFF"/>
                  </a:solidFill>
                  <a:latin typeface="Verdana" panose="020B0604030504040204" pitchFamily="34" charset="0"/>
                </a:rPr>
                <a:t>Primary</a:t>
              </a:r>
              <a:endParaRPr lang="en-US" altLang="zh-CN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 SDS</a:t>
            </a:r>
            <a:r>
              <a:rPr lang="zh-CN" altLang="en-US" dirty="0"/>
              <a:t>介绍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6169" name="灯片编号占位符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noFill/>
          </a:ln>
        </p:spPr>
        <p:txBody>
          <a:bodyPr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pPr algn="r"/>
              <a:t>5</a:t>
            </a:fld>
            <a:endParaRPr lang="en-US" altLang="zh-CN" sz="1200" b="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GBase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8s SDS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工作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原理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61480789"/>
              </p:ext>
            </p:extLst>
          </p:nvPr>
        </p:nvGraphicFramePr>
        <p:xfrm>
          <a:off x="2457701" y="1160549"/>
          <a:ext cx="7015162" cy="329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位图图像" r:id="rId4" imgW="8647619" imgH="5257143" progId="PBrush">
                  <p:embed/>
                </p:oleObj>
              </mc:Choice>
              <mc:Fallback>
                <p:oleObj name="位图图像" r:id="rId4" imgW="8647619" imgH="5257143" progId="PBrush">
                  <p:embed/>
                  <p:pic>
                    <p:nvPicPr>
                      <p:cNvPr id="0" name="Picture 3" descr="image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701" y="1160549"/>
                        <a:ext cx="7015162" cy="329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3"/>
          <p:cNvSpPr>
            <a:spLocks noChangeArrowheads="1"/>
          </p:cNvSpPr>
          <p:nvPr/>
        </p:nvSpPr>
        <p:spPr bwMode="auto">
          <a:xfrm>
            <a:off x="2133600" y="1519238"/>
            <a:ext cx="7851775" cy="49530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00000"/>
              </a:lnSpc>
              <a:buClr>
                <a:schemeClr val="accent2"/>
              </a:buClr>
              <a:buFont typeface="Wingdings" panose="05000000000000000000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58758" name="Text Box 6"/>
          <p:cNvSpPr txBox="1">
            <a:spLocks noChangeArrowheads="1"/>
          </p:cNvSpPr>
          <p:nvPr/>
        </p:nvSpPr>
        <p:spPr bwMode="auto">
          <a:xfrm>
            <a:off x="1905000" y="4596765"/>
            <a:ext cx="8382000" cy="1517015"/>
          </a:xfrm>
          <a:prstGeom prst="rect">
            <a:avLst/>
          </a:prstGeom>
          <a:solidFill>
            <a:srgbClr val="CCFFFF">
              <a:alpha val="22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1.Primary :</a:t>
            </a:r>
            <a:r>
              <a:rPr lang="en-US" altLang="zh-CN" sz="1600" b="0" dirty="0">
                <a:solidFill>
                  <a:schemeClr val="tx1"/>
                </a:solidFill>
              </a:rPr>
              <a:t>    </a:t>
            </a:r>
            <a:r>
              <a:rPr lang="zh-CN" altLang="en-US" sz="1600" b="0" dirty="0">
                <a:solidFill>
                  <a:schemeClr val="tx1"/>
                </a:solidFill>
              </a:rPr>
              <a:t>写逻辑日志</a:t>
            </a:r>
            <a:endParaRPr lang="en-US" altLang="zh-CN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2.Primary :</a:t>
            </a:r>
            <a:r>
              <a:rPr lang="en-US" altLang="zh-CN" sz="1200" dirty="0">
                <a:solidFill>
                  <a:schemeClr val="tx1"/>
                </a:solidFill>
              </a:rPr>
              <a:t>     </a:t>
            </a:r>
            <a:r>
              <a:rPr lang="zh-CN" altLang="en-US" sz="1600" b="0" dirty="0">
                <a:solidFill>
                  <a:schemeClr val="tx1"/>
                </a:solidFill>
              </a:rPr>
              <a:t>将</a:t>
            </a:r>
            <a:r>
              <a:rPr lang="en-US" altLang="zh-CN" sz="1600" b="0" dirty="0">
                <a:solidFill>
                  <a:schemeClr val="tx1"/>
                </a:solidFill>
              </a:rPr>
              <a:t>Log Sequence Number (LSN) </a:t>
            </a:r>
            <a:r>
              <a:rPr lang="zh-CN" altLang="en-US" sz="1600" b="0" dirty="0">
                <a:solidFill>
                  <a:schemeClr val="tx1"/>
                </a:solidFill>
              </a:rPr>
              <a:t>发送到 </a:t>
            </a:r>
            <a:r>
              <a:rPr lang="en-US" altLang="zh-CN" sz="1600" b="0" dirty="0">
                <a:solidFill>
                  <a:schemeClr val="tx1"/>
                </a:solidFill>
              </a:rPr>
              <a:t>secondary servers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3.SDS_1,2,3 :</a:t>
            </a:r>
            <a:r>
              <a:rPr lang="en-US" altLang="zh-CN" sz="1600" b="0" dirty="0">
                <a:solidFill>
                  <a:schemeClr val="tx1"/>
                </a:solidFill>
              </a:rPr>
              <a:t> </a:t>
            </a:r>
            <a:r>
              <a:rPr lang="zh-CN" altLang="en-US" sz="1600" b="0" dirty="0">
                <a:solidFill>
                  <a:schemeClr val="tx1"/>
                </a:solidFill>
              </a:rPr>
              <a:t>根据接收到的</a:t>
            </a:r>
            <a:r>
              <a:rPr lang="en-US" altLang="zh-CN" sz="1600" b="0" dirty="0">
                <a:solidFill>
                  <a:schemeClr val="tx1"/>
                </a:solidFill>
              </a:rPr>
              <a:t>LSN</a:t>
            </a:r>
            <a:r>
              <a:rPr lang="zh-CN" altLang="en-US" sz="1600" b="0" dirty="0">
                <a:solidFill>
                  <a:schemeClr val="tx1"/>
                </a:solidFill>
              </a:rPr>
              <a:t>从磁盘读取相应的</a:t>
            </a:r>
            <a:r>
              <a:rPr lang="en-US" altLang="zh-CN" sz="1600" b="0" dirty="0">
                <a:solidFill>
                  <a:schemeClr val="tx1"/>
                </a:solidFill>
              </a:rPr>
              <a:t>log</a:t>
            </a:r>
            <a:r>
              <a:rPr lang="zh-CN" altLang="en-US" sz="1600" b="0" dirty="0">
                <a:solidFill>
                  <a:schemeClr val="tx1"/>
                </a:solidFill>
              </a:rPr>
              <a:t>并在</a:t>
            </a:r>
            <a:r>
              <a:rPr lang="en-US" altLang="zh-CN" sz="1600" b="0" dirty="0">
                <a:solidFill>
                  <a:schemeClr val="tx1"/>
                </a:solidFill>
              </a:rPr>
              <a:t>buffer</a:t>
            </a:r>
            <a:r>
              <a:rPr lang="zh-CN" altLang="en-US" sz="1600" b="0" dirty="0">
                <a:solidFill>
                  <a:schemeClr val="tx1"/>
                </a:solidFill>
              </a:rPr>
              <a:t>中重做</a:t>
            </a:r>
            <a:r>
              <a:rPr lang="en-US" altLang="zh-CN" sz="1600" b="0" dirty="0">
                <a:solidFill>
                  <a:schemeClr val="tx1"/>
                </a:solidFill>
              </a:rPr>
              <a:t>,</a:t>
            </a:r>
            <a:r>
              <a:rPr lang="zh-CN" altLang="en-US" sz="1600" b="0" dirty="0">
                <a:solidFill>
                  <a:schemeClr val="tx1"/>
                </a:solidFill>
              </a:rPr>
              <a:t>但不写回到磁盘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4. SDS_1,2,3:</a:t>
            </a:r>
            <a:r>
              <a:rPr lang="en-US" altLang="zh-CN" sz="1200" b="0" dirty="0">
                <a:solidFill>
                  <a:schemeClr val="tx1"/>
                </a:solidFill>
              </a:rPr>
              <a:t> </a:t>
            </a:r>
            <a:r>
              <a:rPr lang="zh-CN" altLang="en-US" sz="1600" b="0" dirty="0">
                <a:solidFill>
                  <a:schemeClr val="tx1"/>
                </a:solidFill>
              </a:rPr>
              <a:t>重做后发送</a:t>
            </a:r>
            <a:r>
              <a:rPr lang="en-US" altLang="zh-CN" sz="1600" b="0" dirty="0">
                <a:solidFill>
                  <a:schemeClr val="tx1"/>
                </a:solidFill>
              </a:rPr>
              <a:t>ACK</a:t>
            </a:r>
            <a:r>
              <a:rPr lang="zh-CN" altLang="en-US" sz="1600" b="0" dirty="0">
                <a:solidFill>
                  <a:schemeClr val="tx1"/>
                </a:solidFill>
              </a:rPr>
              <a:t>回</a:t>
            </a:r>
            <a:r>
              <a:rPr lang="en-US" altLang="zh-CN" sz="1600" b="0" dirty="0">
                <a:solidFill>
                  <a:schemeClr val="tx1"/>
                </a:solidFill>
              </a:rPr>
              <a:t>primary server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5.Primary :     </a:t>
            </a:r>
            <a:r>
              <a:rPr lang="zh-CN" altLang="en-US" sz="1600" b="0" dirty="0">
                <a:solidFill>
                  <a:schemeClr val="tx1"/>
                </a:solidFill>
              </a:rPr>
              <a:t>确认</a:t>
            </a:r>
            <a:r>
              <a:rPr lang="en-US" altLang="zh-CN" sz="1600" b="0" dirty="0" smtClean="0">
                <a:solidFill>
                  <a:schemeClr val="tx1"/>
                </a:solidFill>
              </a:rPr>
              <a:t>ACK</a:t>
            </a:r>
            <a:endParaRPr lang="en-US" altLang="zh-CN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GBase</a:t>
            </a:r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8s SDS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工作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原理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续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12293" name="Rectangle 3"/>
          <p:cNvSpPr>
            <a:spLocks noChangeArrowheads="1"/>
          </p:cNvSpPr>
          <p:nvPr/>
        </p:nvSpPr>
        <p:spPr bwMode="auto">
          <a:xfrm>
            <a:off x="2133600" y="1519238"/>
            <a:ext cx="7851775" cy="49530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00000"/>
              </a:lnSpc>
              <a:buClr>
                <a:schemeClr val="accent2"/>
              </a:buClr>
              <a:buFont typeface="Wingdings" panose="05000000000000000000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92549" name="Text Box 5"/>
          <p:cNvSpPr txBox="1">
            <a:spLocks noChangeArrowheads="1"/>
          </p:cNvSpPr>
          <p:nvPr/>
        </p:nvSpPr>
        <p:spPr bwMode="auto">
          <a:xfrm>
            <a:off x="838835" y="1179513"/>
            <a:ext cx="4800600" cy="50615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latin typeface="Bookman Old Style" panose="0205060405050502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</a:rPr>
              <a:t>Threads</a:t>
            </a:r>
            <a:endParaRPr lang="en-US" altLang="zh-CN" sz="24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endParaRPr lang="en-US" altLang="zh-CN" sz="1800">
              <a:solidFill>
                <a:schemeClr val="tx1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80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Primary: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– SDS_send_&lt;secondary&gt;</a:t>
            </a:r>
            <a:br>
              <a:rPr lang="en-US" altLang="zh-CN" sz="1600">
                <a:solidFill>
                  <a:schemeClr val="tx1"/>
                </a:solidFill>
              </a:rPr>
            </a:br>
            <a:r>
              <a:rPr lang="en-US" altLang="zh-CN" sz="1600" b="0">
                <a:solidFill>
                  <a:schemeClr val="tx1"/>
                </a:solidFill>
              </a:rPr>
              <a:t>   </a:t>
            </a:r>
            <a:r>
              <a:rPr lang="zh-CN" altLang="en-US" sz="1600" b="0">
                <a:solidFill>
                  <a:schemeClr val="tx1"/>
                </a:solidFill>
              </a:rPr>
              <a:t>发送所有的数据</a:t>
            </a:r>
            <a:r>
              <a:rPr lang="en-US" altLang="zh-CN" sz="1600" b="0">
                <a:solidFill>
                  <a:schemeClr val="tx1"/>
                </a:solidFill>
              </a:rPr>
              <a:t>, </a:t>
            </a:r>
            <a:r>
              <a:rPr lang="zh-CN" altLang="en-US" sz="1600" b="0">
                <a:solidFill>
                  <a:schemeClr val="tx1"/>
                </a:solidFill>
              </a:rPr>
              <a:t>如 </a:t>
            </a:r>
            <a:r>
              <a:rPr lang="en-US" altLang="zh-CN" sz="1600" b="0">
                <a:solidFill>
                  <a:schemeClr val="tx1"/>
                </a:solidFill>
              </a:rPr>
              <a:t>LSN</a:t>
            </a:r>
            <a:r>
              <a:rPr lang="zh-CN" altLang="en-US" sz="1600" b="0">
                <a:solidFill>
                  <a:schemeClr val="tx1"/>
                </a:solidFill>
              </a:rPr>
              <a:t>或者心跳</a:t>
            </a:r>
          </a:p>
          <a:p>
            <a:pPr eaLnBrk="1" hangingPunct="1">
              <a:lnSpc>
                <a:spcPct val="100000"/>
              </a:lnSpc>
            </a:pPr>
            <a:endParaRPr lang="en-US" altLang="zh-CN" sz="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–</a:t>
            </a:r>
            <a:r>
              <a:rPr lang="en-US" altLang="zh-CN" sz="1600" i="1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SDS_recv_&lt;secondary&gt;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   接收消息</a:t>
            </a:r>
            <a:r>
              <a:rPr lang="en-US" altLang="zh-CN" sz="1600" b="0">
                <a:solidFill>
                  <a:schemeClr val="tx1"/>
                </a:solidFill>
              </a:rPr>
              <a:t>,</a:t>
            </a:r>
            <a:r>
              <a:rPr lang="zh-CN" altLang="en-US" sz="1600" b="0">
                <a:solidFill>
                  <a:schemeClr val="tx1"/>
                </a:solidFill>
              </a:rPr>
              <a:t>如</a:t>
            </a:r>
            <a:r>
              <a:rPr lang="en-US" altLang="zh-CN" sz="1600" b="0">
                <a:solidFill>
                  <a:schemeClr val="tx1"/>
                </a:solidFill>
              </a:rPr>
              <a:t>ACKs</a:t>
            </a:r>
          </a:p>
          <a:p>
            <a:pPr eaLnBrk="1" hangingPunct="1">
              <a:lnSpc>
                <a:spcPct val="100000"/>
              </a:lnSpc>
            </a:pPr>
            <a:endParaRPr lang="en-US" altLang="zh-CN" sz="12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80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Secondary: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– SDS_Network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  当收到消息时，激活 </a:t>
            </a:r>
            <a:r>
              <a:rPr lang="en-US" altLang="zh-CN" sz="1600" b="0">
                <a:solidFill>
                  <a:schemeClr val="tx1"/>
                </a:solidFill>
              </a:rPr>
              <a:t>smxrcv thread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  验证消息的有效性 </a:t>
            </a:r>
            <a:endParaRPr lang="en-US" altLang="zh-CN" sz="16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</a:rPr>
              <a:t>  </a:t>
            </a:r>
            <a:r>
              <a:rPr lang="zh-CN" altLang="en-US" sz="1600" b="0">
                <a:solidFill>
                  <a:schemeClr val="tx1"/>
                </a:solidFill>
              </a:rPr>
              <a:t>发送 </a:t>
            </a:r>
            <a:r>
              <a:rPr lang="en-US" altLang="zh-CN" sz="1600" b="0">
                <a:solidFill>
                  <a:schemeClr val="tx1"/>
                </a:solidFill>
              </a:rPr>
              <a:t>ACKs</a:t>
            </a:r>
          </a:p>
          <a:p>
            <a:pPr eaLnBrk="1" hangingPunct="1">
              <a:lnSpc>
                <a:spcPct val="100000"/>
              </a:lnSpc>
            </a:pPr>
            <a:endParaRPr lang="en-US" altLang="zh-CN" sz="9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– SDS_LogReader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  当新的 </a:t>
            </a:r>
            <a:r>
              <a:rPr lang="en-US" altLang="zh-CN" sz="1600" b="0">
                <a:solidFill>
                  <a:schemeClr val="tx1"/>
                </a:solidFill>
              </a:rPr>
              <a:t>LSN </a:t>
            </a:r>
            <a:r>
              <a:rPr lang="zh-CN" altLang="en-US" sz="1600" b="0">
                <a:solidFill>
                  <a:schemeClr val="tx1"/>
                </a:solidFill>
              </a:rPr>
              <a:t>到达时</a:t>
            </a:r>
            <a:r>
              <a:rPr lang="en-US" altLang="zh-CN" sz="1600" b="0">
                <a:solidFill>
                  <a:schemeClr val="tx1"/>
                </a:solidFill>
              </a:rPr>
              <a:t>, </a:t>
            </a:r>
            <a:r>
              <a:rPr lang="zh-CN" altLang="en-US" sz="1600" b="0">
                <a:solidFill>
                  <a:schemeClr val="tx1"/>
                </a:solidFill>
              </a:rPr>
              <a:t>从</a:t>
            </a:r>
            <a:r>
              <a:rPr lang="en-US" altLang="zh-CN" sz="1600" b="0">
                <a:solidFill>
                  <a:schemeClr val="tx1"/>
                </a:solidFill>
              </a:rPr>
              <a:t>disk</a:t>
            </a:r>
            <a:r>
              <a:rPr lang="zh-CN" altLang="en-US" sz="1600" b="0">
                <a:solidFill>
                  <a:schemeClr val="tx1"/>
                </a:solidFill>
              </a:rPr>
              <a:t>读取相应的</a:t>
            </a:r>
            <a:r>
              <a:rPr lang="en-US" altLang="zh-CN" sz="1600" b="0">
                <a:solidFill>
                  <a:schemeClr val="tx1"/>
                </a:solidFill>
              </a:rPr>
              <a:t>log</a:t>
            </a:r>
          </a:p>
          <a:p>
            <a:pPr eaLnBrk="1" hangingPunct="1">
              <a:lnSpc>
                <a:spcPct val="100000"/>
              </a:lnSpc>
            </a:pPr>
            <a:endParaRPr lang="en-US" altLang="zh-CN" sz="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– SDS_apply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  将</a:t>
            </a:r>
            <a:r>
              <a:rPr lang="en-US" altLang="zh-CN" sz="1600" b="0">
                <a:solidFill>
                  <a:schemeClr val="tx1"/>
                </a:solidFill>
              </a:rPr>
              <a:t>log</a:t>
            </a:r>
            <a:r>
              <a:rPr lang="zh-CN" altLang="en-US" sz="1600" b="0">
                <a:solidFill>
                  <a:schemeClr val="tx1"/>
                </a:solidFill>
              </a:rPr>
              <a:t>转换为</a:t>
            </a:r>
            <a:r>
              <a:rPr lang="en-US" altLang="zh-CN" sz="1600" b="0">
                <a:solidFill>
                  <a:schemeClr val="tx1"/>
                </a:solidFill>
              </a:rPr>
              <a:t>fast recovery threads</a:t>
            </a:r>
            <a:r>
              <a:rPr lang="zh-CN" altLang="en-US" sz="1600" b="0">
                <a:solidFill>
                  <a:schemeClr val="tx1"/>
                </a:solidFill>
              </a:rPr>
              <a:t>可理解的格式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</a:rPr>
              <a:t>  fast recovery threads</a:t>
            </a:r>
            <a:r>
              <a:rPr lang="zh-CN" altLang="en-US" sz="1600" b="0" i="1">
                <a:solidFill>
                  <a:schemeClr val="tx1"/>
                </a:solidFill>
              </a:rPr>
              <a:t> </a:t>
            </a:r>
            <a:r>
              <a:rPr lang="zh-CN" altLang="en-US" sz="1600" b="0">
                <a:solidFill>
                  <a:schemeClr val="tx1"/>
                </a:solidFill>
              </a:rPr>
              <a:t>将在</a:t>
            </a:r>
            <a:r>
              <a:rPr lang="en-US" altLang="zh-CN" sz="1600" b="0">
                <a:solidFill>
                  <a:schemeClr val="tx1"/>
                </a:solidFill>
              </a:rPr>
              <a:t>buffer pool</a:t>
            </a:r>
            <a:r>
              <a:rPr lang="zh-CN" altLang="en-US" sz="1600" b="0">
                <a:solidFill>
                  <a:schemeClr val="tx1"/>
                </a:solidFill>
              </a:rPr>
              <a:t>中播放</a:t>
            </a:r>
            <a:endParaRPr lang="en-US" altLang="zh-CN" sz="1600" b="0">
              <a:solidFill>
                <a:schemeClr val="tx1"/>
              </a:solidFill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6096000" y="1295400"/>
            <a:ext cx="4572000" cy="3875088"/>
            <a:chOff x="2880" y="816"/>
            <a:chExt cx="2880" cy="2441"/>
          </a:xfrm>
        </p:grpSpPr>
        <p:sp>
          <p:nvSpPr>
            <p:cNvPr id="12296" name="Text Box 7"/>
            <p:cNvSpPr txBox="1">
              <a:spLocks noChangeArrowheads="1"/>
            </p:cNvSpPr>
            <p:nvPr/>
          </p:nvSpPr>
          <p:spPr bwMode="auto">
            <a:xfrm>
              <a:off x="2880" y="816"/>
              <a:ext cx="1248" cy="23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onstat -g ath</a:t>
              </a: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2976" y="1152"/>
              <a:ext cx="2784" cy="872"/>
            </a:xfrm>
            <a:prstGeom prst="rect">
              <a:avLst/>
            </a:prstGeom>
            <a:solidFill>
              <a:srgbClr val="CCECFF">
                <a:alpha val="30196"/>
              </a:srgbClr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en-US" altLang="zh-CN" sz="1200" i="1">
                  <a:solidFill>
                    <a:schemeClr val="tx1"/>
                  </a:solidFill>
                </a:rPr>
                <a:t>SDS related threads on a primary server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43 11881198 10d6bd00 3 cond wait netnorm 3cpu smxrcv sds_sec_11_0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44 11881ad8 10d6d9e8 1 cond wait smx pipe1 3cpu smxsnd sds_sec_11_0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45 11a83320 10d6dfb0 1 sleeping secs: 1 1cpu SDS_Send_sds_sec_11_0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47 11c9edb0 10d6eb40 3 sleeping secs: 1 1cpu SDS_Recv_sds_sec_11_0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48 11cbe080 10d6e578 3 cond wait netnorm 3cpu smxrcv sds_sec_11_1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49 11c9e9f0 10d6f108 1 cond wait smx pipe1 1cpu smxsnd sds_sec_11_1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50 11c90018 10d6f6d0 1 sleeping secs: 1 1cpu SDS_Send_sds_sec_11_1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51 11c90898 10d6fc98 3 sleeping secs: 1 1cpu SDS_Recv_sds_sec_11_1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2976" y="2211"/>
              <a:ext cx="2784" cy="1046"/>
            </a:xfrm>
            <a:prstGeom prst="rect">
              <a:avLst/>
            </a:prstGeom>
            <a:solidFill>
              <a:srgbClr val="FFCC00">
                <a:alpha val="16862"/>
              </a:srgbClr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hlink"/>
                  </a:solidFill>
                  <a:latin typeface="Bookman Old Style" panose="0205060405050502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en-US" altLang="zh-CN" sz="1200" i="1">
                  <a:solidFill>
                    <a:schemeClr val="tx1"/>
                  </a:solidFill>
                </a:rPr>
                <a:t>SDS related threads on a secondary server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14 11592018 10d6aba8 1 cond wait smx pipe1 3cpu smxsnd sds_prim_11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15 115923a8 10d6b170 3 cond wait netnorm 4cpu smxrcv sds_prim_11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17 115ffd80 10d6bd00 2 cond wait SDS_clcond 4cpu SDS_LogReader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18 11776428 10d6c2c8 2 cond wait drcb_bqf 4cpu SDS_apply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19 117767b8 10d6c890 3 sleeping secs: 1 1cpu SDS_Network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23 118a9ea8 10d6d420 2 sleeping secs: 1 1cpu logrecover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24 117f3b18 10d6dfb0 2 sleeping secs: 1 1cpu bld_logrecs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25 11f23068 10d6e578 2 cond wait packet_con 1cpu logredo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26 11f23528 10d6eb40 2 cond wait packet_con 3cpu xchg_1.0</a:t>
              </a:r>
            </a:p>
            <a:p>
              <a:pPr eaLnBrk="1" hangingPunct="1">
                <a:lnSpc>
                  <a:spcPct val="100000"/>
                </a:lnSpc>
              </a:pPr>
              <a:r>
                <a:rPr lang="en-US" altLang="zh-CN" sz="900" b="0">
                  <a:solidFill>
                    <a:schemeClr val="tx1"/>
                  </a:solidFill>
                </a:rPr>
                <a:t>27 11f23718 10d6f108 2 cond wait packet_con 4cpu xchg_1.1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  </a:t>
            </a:r>
            <a:r>
              <a:rPr lang="en-US" altLang="zh-CN" dirty="0"/>
              <a:t>HDR </a:t>
            </a:r>
            <a:r>
              <a:rPr lang="zh-CN" altLang="en-US" dirty="0"/>
              <a:t>？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8130" name="内容占位符 2"/>
          <p:cNvSpPr>
            <a:spLocks noGrp="1"/>
          </p:cNvSpPr>
          <p:nvPr>
            <p:ph type="body" sz="quarter" idx="10"/>
          </p:nvPr>
        </p:nvSpPr>
        <p:spPr>
          <a:noFill/>
          <a:ln>
            <a:noFill/>
          </a:ln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altLang="zh-CN" sz="1800" dirty="0" err="1"/>
              <a:t>HDR</a:t>
            </a:r>
            <a:r>
              <a:rPr lang="zh-CN" altLang="en-US" sz="1800" dirty="0"/>
              <a:t>是一种将数据从主服务器复制到备服务器的方法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dirty="0"/>
              <a:t>实例级别的复制 </a:t>
            </a:r>
            <a:r>
              <a:rPr lang="en-US" altLang="zh-CN" sz="1800" dirty="0"/>
              <a:t>(</a:t>
            </a:r>
            <a:r>
              <a:rPr lang="zh-CN" altLang="en-US" sz="1800" dirty="0"/>
              <a:t>所有启用日志记录功能的数据库</a:t>
            </a:r>
            <a:r>
              <a:rPr lang="en-US" altLang="zh-CN" sz="1800" dirty="0"/>
              <a:t>)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b="1" dirty="0">
                <a:solidFill>
                  <a:srgbClr val="1E3AF8"/>
                </a:solidFill>
              </a:rPr>
              <a:t>基于逻辑日志的复制技术</a:t>
            </a:r>
            <a:r>
              <a:rPr lang="zh-CN" altLang="en-US" sz="1800" dirty="0">
                <a:solidFill>
                  <a:srgbClr val="1E3AF8"/>
                </a:solidFill>
              </a:rPr>
              <a:t>，</a:t>
            </a:r>
            <a:r>
              <a:rPr lang="zh-CN" altLang="en-US" sz="1800" dirty="0"/>
              <a:t>需要传输大量的逻辑日志</a:t>
            </a:r>
            <a:endParaRPr lang="zh-CN" altLang="en-US" sz="2000" dirty="0">
              <a:solidFill>
                <a:srgbClr val="1E3AF8"/>
              </a:solidFill>
            </a:endParaRPr>
          </a:p>
          <a:p>
            <a:pPr lvl="2">
              <a:lnSpc>
                <a:spcPct val="125000"/>
              </a:lnSpc>
              <a:buClr>
                <a:srgbClr val="FF0000"/>
              </a:buClr>
            </a:pPr>
            <a:r>
              <a:rPr lang="zh-CN" altLang="en-US" sz="1600" dirty="0"/>
              <a:t>数据库需启用日志模式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dirty="0"/>
              <a:t>通过网络持续将数据复制到备节点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en-US" altLang="zh-CN" sz="1800" dirty="0" err="1"/>
              <a:t>HDR</a:t>
            </a:r>
            <a:r>
              <a:rPr lang="en-US" altLang="zh-CN" sz="1800" dirty="0"/>
              <a:t> </a:t>
            </a:r>
            <a:r>
              <a:rPr lang="zh-CN" altLang="en-US" sz="1800" dirty="0"/>
              <a:t>确保从服务器总是与主服务器保持同步。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dirty="0"/>
              <a:t>如果主服务器发生故障，那么备用服务器可以接管，直到主服务器恢复运行为止。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/>
              <a:t>HDR</a:t>
            </a:r>
            <a:r>
              <a:rPr lang="zh-CN" altLang="en-US" sz="1800" dirty="0"/>
              <a:t>特点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dirty="0"/>
              <a:t>仅有一个</a:t>
            </a:r>
            <a:r>
              <a:rPr lang="en-US" altLang="zh-CN" sz="1800" dirty="0" err="1"/>
              <a:t>HDR</a:t>
            </a:r>
            <a:r>
              <a:rPr lang="zh-CN" altLang="en-US" sz="1800" dirty="0"/>
              <a:t>备节点，备节点可读写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宋体" panose="02010600030101010101" pitchFamily="2" charset="-122"/>
              <a:buChar char="·"/>
            </a:pPr>
            <a:r>
              <a:rPr lang="zh-CN" altLang="en-US" sz="1800" dirty="0"/>
              <a:t>高带宽、主备节点距离近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宋体" panose="02010600030101010101" pitchFamily="2" charset="-122"/>
              <a:buChar char="·"/>
            </a:pPr>
            <a:r>
              <a:rPr lang="zh-CN" altLang="en-US" sz="1800" dirty="0"/>
              <a:t>每个节点拥有它自己的存储设备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Char char="•"/>
            </a:pPr>
            <a:r>
              <a:rPr lang="zh-CN" altLang="en-US" sz="1800" dirty="0"/>
              <a:t>能承受服务器软硬件故障</a:t>
            </a:r>
          </a:p>
        </p:txBody>
      </p:sp>
      <p:sp>
        <p:nvSpPr>
          <p:cNvPr id="48144" name="灯片编号占位符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noFill/>
          </a:ln>
        </p:spPr>
        <p:txBody>
          <a:bodyPr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pPr algn="r"/>
              <a:t>8</a:t>
            </a:fld>
            <a:endParaRPr lang="en-US" altLang="zh-CN" sz="1200" b="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8131" name="Object 3"/>
          <p:cNvGraphicFramePr>
            <a:graphicFrameLocks/>
          </p:cNvGraphicFramePr>
          <p:nvPr/>
        </p:nvGraphicFramePr>
        <p:xfrm>
          <a:off x="7967346" y="4746624"/>
          <a:ext cx="922020" cy="906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r:id="rId4" imgW="1295238" imgH="676369" progId="PBrush">
                  <p:embed/>
                </p:oleObj>
              </mc:Choice>
              <mc:Fallback>
                <p:oleObj r:id="rId4" imgW="1295238" imgH="676369" progId="PBrush">
                  <p:embed/>
                  <p:pic>
                    <p:nvPicPr>
                      <p:cNvPr id="0" name="Object 3" descr="image2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7346" y="4746624"/>
                        <a:ext cx="922020" cy="906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AutoShape 4"/>
          <p:cNvSpPr/>
          <p:nvPr/>
        </p:nvSpPr>
        <p:spPr>
          <a:xfrm>
            <a:off x="8583296" y="5381624"/>
            <a:ext cx="368300" cy="148590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33" name="AutoShape 5"/>
          <p:cNvSpPr/>
          <p:nvPr/>
        </p:nvSpPr>
        <p:spPr>
          <a:xfrm>
            <a:off x="8583296" y="5283199"/>
            <a:ext cx="368300" cy="148590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34" name="AutoShape 6"/>
          <p:cNvSpPr/>
          <p:nvPr/>
        </p:nvSpPr>
        <p:spPr>
          <a:xfrm>
            <a:off x="8583296" y="5184774"/>
            <a:ext cx="368300" cy="148590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graphicFrame>
        <p:nvGraphicFramePr>
          <p:cNvPr id="48135" name="Object 7"/>
          <p:cNvGraphicFramePr>
            <a:graphicFrameLocks/>
          </p:cNvGraphicFramePr>
          <p:nvPr/>
        </p:nvGraphicFramePr>
        <p:xfrm>
          <a:off x="9865996" y="4730749"/>
          <a:ext cx="922020" cy="906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r:id="rId6" imgW="1295238" imgH="676369" progId="PBrush">
                  <p:embed/>
                </p:oleObj>
              </mc:Choice>
              <mc:Fallback>
                <p:oleObj r:id="rId6" imgW="1295238" imgH="676369" progId="PBrush">
                  <p:embed/>
                  <p:pic>
                    <p:nvPicPr>
                      <p:cNvPr id="0" name="Object 7" descr="image2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5996" y="4730749"/>
                        <a:ext cx="922020" cy="906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AutoShape 8"/>
          <p:cNvSpPr/>
          <p:nvPr/>
        </p:nvSpPr>
        <p:spPr>
          <a:xfrm>
            <a:off x="10481946" y="5365749"/>
            <a:ext cx="368300" cy="148590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37" name="AutoShape 9"/>
          <p:cNvSpPr/>
          <p:nvPr/>
        </p:nvSpPr>
        <p:spPr>
          <a:xfrm>
            <a:off x="10481946" y="5267325"/>
            <a:ext cx="368300" cy="150495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38" name="AutoShape 10"/>
          <p:cNvSpPr/>
          <p:nvPr/>
        </p:nvSpPr>
        <p:spPr>
          <a:xfrm>
            <a:off x="10481946" y="5168899"/>
            <a:ext cx="368300" cy="148590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39" name="Text Box 14"/>
          <p:cNvSpPr txBox="1"/>
          <p:nvPr/>
        </p:nvSpPr>
        <p:spPr>
          <a:xfrm>
            <a:off x="8016877" y="5653405"/>
            <a:ext cx="823595" cy="437515"/>
          </a:xfrm>
          <a:prstGeom prst="rect">
            <a:avLst/>
          </a:prstGeom>
          <a:noFill/>
          <a:ln w="9525">
            <a:noFill/>
          </a:ln>
        </p:spPr>
        <p:txBody>
          <a:bodyPr wrap="square" lIns="69056" tIns="34528" rIns="69056" bIns="34528" anchor="t">
            <a:spAutoFit/>
          </a:bodyPr>
          <a:lstStyle/>
          <a:p>
            <a:pPr algn="ctr"/>
            <a:r>
              <a:rPr lang="en-US" altLang="zh-CN" sz="1200" dirty="0"/>
              <a:t>Instance1</a:t>
            </a:r>
          </a:p>
          <a:p>
            <a:pPr algn="ctr"/>
            <a:r>
              <a:rPr lang="zh-CN" altLang="en-US" sz="1200" dirty="0"/>
              <a:t>（主节点）</a:t>
            </a:r>
          </a:p>
        </p:txBody>
      </p:sp>
      <p:sp>
        <p:nvSpPr>
          <p:cNvPr id="48140" name="Text Box 15"/>
          <p:cNvSpPr txBox="1"/>
          <p:nvPr/>
        </p:nvSpPr>
        <p:spPr>
          <a:xfrm>
            <a:off x="9895206" y="5699760"/>
            <a:ext cx="1215390" cy="437515"/>
          </a:xfrm>
          <a:prstGeom prst="rect">
            <a:avLst/>
          </a:prstGeom>
          <a:noFill/>
          <a:ln w="9525">
            <a:noFill/>
          </a:ln>
        </p:spPr>
        <p:txBody>
          <a:bodyPr wrap="square" lIns="69056" tIns="34528" rIns="69056" bIns="34528" anchor="t">
            <a:spAutoFit/>
          </a:bodyPr>
          <a:lstStyle/>
          <a:p>
            <a:pPr algn="ctr"/>
            <a:r>
              <a:rPr lang="en-US" altLang="zh-CN" sz="1200" dirty="0" err="1"/>
              <a:t>Instance2</a:t>
            </a:r>
            <a:r>
              <a:rPr lang="zh-CN" altLang="en-US" sz="1200" dirty="0"/>
              <a:t>（</a:t>
            </a:r>
            <a:r>
              <a:rPr lang="en-US" altLang="zh-CN" sz="1200" dirty="0" err="1"/>
              <a:t>HDR</a:t>
            </a:r>
            <a:r>
              <a:rPr lang="zh-CN" altLang="en-US" sz="1200" dirty="0"/>
              <a:t>备节点）</a:t>
            </a:r>
          </a:p>
        </p:txBody>
      </p:sp>
      <p:sp>
        <p:nvSpPr>
          <p:cNvPr id="48141" name="AutoShape 16"/>
          <p:cNvSpPr/>
          <p:nvPr/>
        </p:nvSpPr>
        <p:spPr>
          <a:xfrm>
            <a:off x="8730617" y="4989195"/>
            <a:ext cx="1382395" cy="80645"/>
          </a:xfrm>
          <a:prstGeom prst="leftRightArrow">
            <a:avLst>
              <a:gd name="adj1" fmla="val 50000"/>
              <a:gd name="adj2" fmla="val 236599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69056" tIns="34528" rIns="69056" bIns="34528" anchor="ctr"/>
          <a:lstStyle/>
          <a:p>
            <a:pPr>
              <a:spcBef>
                <a:spcPct val="50000"/>
              </a:spcBef>
            </a:pPr>
            <a:endParaRPr lang="zh-CN" altLang="en-US" sz="3000"/>
          </a:p>
        </p:txBody>
      </p:sp>
      <p:sp>
        <p:nvSpPr>
          <p:cNvPr id="48142" name="Text Box 17"/>
          <p:cNvSpPr txBox="1"/>
          <p:nvPr/>
        </p:nvSpPr>
        <p:spPr>
          <a:xfrm>
            <a:off x="9091824" y="4443518"/>
            <a:ext cx="862965" cy="530225"/>
          </a:xfrm>
          <a:prstGeom prst="rect">
            <a:avLst/>
          </a:prstGeom>
          <a:noFill/>
          <a:ln w="9525">
            <a:noFill/>
          </a:ln>
        </p:spPr>
        <p:txBody>
          <a:bodyPr wrap="square" lIns="69056" tIns="34528" rIns="69056" bIns="34528" anchor="t">
            <a:spAutoFit/>
          </a:bodyPr>
          <a:lstStyle/>
          <a:p>
            <a:r>
              <a:rPr lang="zh-CN" altLang="en-US" sz="1000" dirty="0"/>
              <a:t>光纤网络，</a:t>
            </a:r>
          </a:p>
          <a:p>
            <a:r>
              <a:rPr lang="zh-CN" altLang="en-US" sz="1000" dirty="0"/>
              <a:t>高带宽，</a:t>
            </a:r>
          </a:p>
          <a:p>
            <a:r>
              <a:rPr lang="zh-CN" altLang="en-US" sz="1000" dirty="0"/>
              <a:t>距离近</a:t>
            </a:r>
          </a:p>
        </p:txBody>
      </p:sp>
      <p:sp>
        <p:nvSpPr>
          <p:cNvPr id="48143" name="Text Box 18"/>
          <p:cNvSpPr txBox="1"/>
          <p:nvPr/>
        </p:nvSpPr>
        <p:spPr>
          <a:xfrm>
            <a:off x="9084946" y="5071745"/>
            <a:ext cx="670560" cy="299085"/>
          </a:xfrm>
          <a:prstGeom prst="rect">
            <a:avLst/>
          </a:prstGeom>
          <a:noFill/>
          <a:ln w="9525">
            <a:noFill/>
          </a:ln>
        </p:spPr>
        <p:txBody>
          <a:bodyPr wrap="square" lIns="69056" tIns="34528" rIns="69056" bIns="34528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500" dirty="0"/>
              <a:t>HDR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HDR</a:t>
            </a:r>
            <a:r>
              <a:rPr lang="zh-CN" altLang="en-US" dirty="0">
                <a:sym typeface="+mn-ea"/>
              </a:rPr>
              <a:t>工作原理</a:t>
            </a:r>
            <a:r>
              <a:rPr lang="en-US" altLang="zh-CN" dirty="0">
                <a:sym typeface="+mn-ea"/>
              </a:rPr>
              <a:t>-- </a:t>
            </a:r>
            <a:r>
              <a:rPr lang="zh-CN" altLang="en-US" dirty="0">
                <a:sym typeface="+mn-ea"/>
              </a:rPr>
              <a:t>逻辑日志传输过程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  <a:sym typeface="+mn-ea"/>
              </a:rPr>
              <a:t>HDR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是一种基于逻辑日志的集群技术，逻辑日志传输过程如下：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1800" dirty="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①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主实例的逻辑日志缓冲区 </a:t>
            </a:r>
            <a:r>
              <a:rPr lang="en-US" altLang="zh-CN" sz="1800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HDR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缓冲区 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lvl="1"/>
            <a:r>
              <a:rPr lang="en-US" altLang="zh-CN" sz="1800" dirty="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②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主实例的逻辑日志缓冲区 </a:t>
            </a:r>
            <a:r>
              <a:rPr lang="en-US" altLang="zh-CN" sz="1800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磁盘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lvl="1"/>
            <a:r>
              <a:rPr lang="en-US" altLang="zh-CN" sz="1800" dirty="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③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主实例的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HDR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缓冲区的内容 </a:t>
            </a:r>
            <a:r>
              <a:rPr lang="en-US" altLang="zh-CN" sz="1800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1800" dirty="0">
                <a:ea typeface="宋体" panose="02010600030101010101" pitchFamily="2" charset="-122"/>
                <a:sym typeface="Wingdings" panose="05000000000000000000" pitchFamily="2" charset="2"/>
              </a:rPr>
              <a:t>备实例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的接收缓冲区 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(drprsend, drsecrcv)</a:t>
            </a:r>
            <a:endParaRPr lang="en-US" altLang="zh-CN" dirty="0"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lvl="1"/>
            <a:r>
              <a:rPr lang="en-US" altLang="zh-CN" sz="1800" dirty="0">
                <a:latin typeface="Arial Unicode MS" panose="020B0604020202020204" charset="-122"/>
                <a:ea typeface="Arial Unicode MS" panose="020B0604020202020204" charset="-122"/>
                <a:sym typeface="Wingdings" panose="05000000000000000000" pitchFamily="2" charset="2"/>
              </a:rPr>
              <a:t>④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备</a:t>
            </a:r>
            <a:r>
              <a:rPr lang="zh-CN" altLang="en-US" sz="1800" dirty="0">
                <a:ea typeface="宋体" panose="02010600030101010101" pitchFamily="2" charset="-122"/>
                <a:sym typeface="Wingdings" panose="05000000000000000000" pitchFamily="2" charset="2"/>
              </a:rPr>
              <a:t>实例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的接收缓冲区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800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恢复缓冲区 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(drsecapply)</a:t>
            </a:r>
            <a:endParaRPr lang="en-US" altLang="zh-CN" dirty="0"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lvl="1"/>
            <a:r>
              <a:rPr lang="en-US" altLang="zh-CN" sz="1800" dirty="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⑤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备实例将逻辑日志记录应用到磁盘上的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dbspace (logrecvr)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drprping 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drsecping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线程发送接收消息以监控两个实例之间的连接</a:t>
            </a:r>
            <a:endParaRPr kumimoji="1" lang="zh-CN" altLang="en-US" dirty="0">
              <a:cs typeface="微软雅黑" panose="020B0503020204020204" pitchFamily="34" charset="-122"/>
            </a:endParaRPr>
          </a:p>
        </p:txBody>
      </p:sp>
      <p:pic>
        <p:nvPicPr>
          <p:cNvPr id="9220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40331" y="3782239"/>
            <a:ext cx="4746625" cy="26320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21" name="Group 11"/>
          <p:cNvGrpSpPr/>
          <p:nvPr/>
        </p:nvGrpSpPr>
        <p:grpSpPr>
          <a:xfrm>
            <a:off x="1364944" y="3786642"/>
            <a:ext cx="4326407" cy="2597700"/>
            <a:chOff x="129237" y="3835104"/>
            <a:chExt cx="4442196" cy="2667000"/>
          </a:xfrm>
        </p:grpSpPr>
        <p:pic>
          <p:nvPicPr>
            <p:cNvPr id="9226" name="Picture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237" y="3835104"/>
              <a:ext cx="4442196" cy="2667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7" name="TextBox 6"/>
            <p:cNvSpPr txBox="1"/>
            <p:nvPr/>
          </p:nvSpPr>
          <p:spPr>
            <a:xfrm>
              <a:off x="660400" y="5067300"/>
              <a:ext cx="3937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FF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①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  <p:sp>
          <p:nvSpPr>
            <p:cNvPr id="9228" name="TextBox 7"/>
            <p:cNvSpPr txBox="1"/>
            <p:nvPr/>
          </p:nvSpPr>
          <p:spPr>
            <a:xfrm>
              <a:off x="3568700" y="5016500"/>
              <a:ext cx="3937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FF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④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  <p:sp>
          <p:nvSpPr>
            <p:cNvPr id="9229" name="TextBox 8"/>
            <p:cNvSpPr txBox="1"/>
            <p:nvPr/>
          </p:nvSpPr>
          <p:spPr>
            <a:xfrm>
              <a:off x="2184400" y="5118100"/>
              <a:ext cx="3937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FF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③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  <p:sp>
          <p:nvSpPr>
            <p:cNvPr id="9230" name="TextBox 9"/>
            <p:cNvSpPr txBox="1"/>
            <p:nvPr/>
          </p:nvSpPr>
          <p:spPr>
            <a:xfrm>
              <a:off x="431800" y="5410200"/>
              <a:ext cx="3937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FF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②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  <p:sp>
          <p:nvSpPr>
            <p:cNvPr id="9231" name="TextBox 10"/>
            <p:cNvSpPr txBox="1"/>
            <p:nvPr/>
          </p:nvSpPr>
          <p:spPr>
            <a:xfrm>
              <a:off x="3949700" y="5321300"/>
              <a:ext cx="3937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FF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⑤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HDR</a:t>
            </a:r>
            <a:r>
              <a:rPr lang="zh-CN" altLang="en-US" dirty="0"/>
              <a:t>同步模式</a:t>
            </a:r>
          </a:p>
        </p:txBody>
      </p:sp>
      <p:sp>
        <p:nvSpPr>
          <p:cNvPr id="93187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HDR</a:t>
            </a:r>
            <a:r>
              <a:rPr lang="zh-CN" altLang="en-US" dirty="0"/>
              <a:t>备实例使用来自主实例的逻辑日志与主实例进行同步，主备实例之间有三种同步模式</a:t>
            </a:r>
            <a:endParaRPr lang="en-US" altLang="zh-CN" sz="2000" dirty="0"/>
          </a:p>
          <a:p>
            <a:pPr lvl="1" indent="-342900">
              <a:spcAft>
                <a:spcPts val="300"/>
              </a:spcAft>
              <a:buFont typeface="Arial" panose="020B0604020202020204" pitchFamily="34" charset="0"/>
              <a:buAutoNum type="arabicParenR"/>
            </a:pPr>
            <a:r>
              <a:rPr lang="zh-CN" altLang="en-US" sz="1900" dirty="0"/>
              <a:t>完全同步模式</a:t>
            </a:r>
            <a:r>
              <a:rPr lang="en-US" altLang="zh-CN" sz="1900" dirty="0"/>
              <a:t>(Fully synchronous mode)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主实例上的事务需要得到</a:t>
            </a:r>
            <a:r>
              <a:rPr lang="en-US" altLang="zh-CN" sz="1900" dirty="0" err="1"/>
              <a:t>HDR</a:t>
            </a:r>
            <a:r>
              <a:rPr lang="zh-CN" altLang="en-US" sz="1900" dirty="0"/>
              <a:t>备实例的</a:t>
            </a:r>
            <a:r>
              <a:rPr lang="zh-CN" altLang="en-US" sz="1900" b="1" dirty="0">
                <a:solidFill>
                  <a:srgbClr val="3333FF"/>
                </a:solidFill>
              </a:rPr>
              <a:t>事务完成的确认信息</a:t>
            </a:r>
            <a:r>
              <a:rPr lang="zh-CN" altLang="en-US" sz="1900" dirty="0"/>
              <a:t>才会完成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数据完整性最优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若客户端应用使用无缓冲日志，有许多小事务，系统性能会受到影响</a:t>
            </a:r>
            <a:endParaRPr lang="en-US" altLang="zh-CN" sz="1900" dirty="0"/>
          </a:p>
          <a:p>
            <a:pPr lvl="1" indent="-342900">
              <a:spcAft>
                <a:spcPts val="300"/>
              </a:spcAft>
              <a:buFont typeface="Arial" panose="020B0604020202020204" pitchFamily="34" charset="0"/>
              <a:buAutoNum type="arabicParenR"/>
            </a:pPr>
            <a:r>
              <a:rPr lang="zh-CN" altLang="en-US" sz="1900" dirty="0"/>
              <a:t>近同步模式</a:t>
            </a:r>
            <a:r>
              <a:rPr lang="en-US" altLang="zh-CN" sz="1900" dirty="0"/>
              <a:t>(Nearly synchronous mode)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主实例上的事务需要得到</a:t>
            </a:r>
            <a:r>
              <a:rPr lang="en-US" altLang="zh-CN" sz="1900" dirty="0" err="1"/>
              <a:t>HDR</a:t>
            </a:r>
            <a:r>
              <a:rPr lang="zh-CN" altLang="en-US" sz="1900" dirty="0"/>
              <a:t>备实例的</a:t>
            </a:r>
            <a:r>
              <a:rPr lang="zh-CN" altLang="en-US" sz="1900" b="1" dirty="0">
                <a:solidFill>
                  <a:srgbClr val="3333FF"/>
                </a:solidFill>
              </a:rPr>
              <a:t>收到事务的确认信息</a:t>
            </a:r>
            <a:r>
              <a:rPr lang="zh-CN" altLang="en-US" sz="1900" dirty="0"/>
              <a:t>才会完成</a:t>
            </a:r>
          </a:p>
          <a:p>
            <a:pPr lvl="1" indent="-342900">
              <a:spcAft>
                <a:spcPts val="300"/>
              </a:spcAft>
              <a:buFont typeface="Arial" panose="020B0604020202020204" pitchFamily="34" charset="0"/>
              <a:buAutoNum type="arabicParenR"/>
            </a:pPr>
            <a:r>
              <a:rPr lang="zh-CN" altLang="en-US" sz="1900" dirty="0"/>
              <a:t>异步模式</a:t>
            </a:r>
            <a:r>
              <a:rPr lang="en-US" altLang="zh-CN" sz="1900" dirty="0"/>
              <a:t>(Asynchronous mode)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事务在完成前</a:t>
            </a:r>
            <a:r>
              <a:rPr lang="zh-CN" altLang="en-US" sz="1900" b="1" dirty="0">
                <a:solidFill>
                  <a:srgbClr val="3333FF"/>
                </a:solidFill>
              </a:rPr>
              <a:t>不需要</a:t>
            </a:r>
            <a:r>
              <a:rPr lang="en-US" altLang="zh-CN" sz="1900" dirty="0" err="1"/>
              <a:t>HDR</a:t>
            </a:r>
            <a:r>
              <a:rPr lang="zh-CN" altLang="en-US" sz="1900" dirty="0"/>
              <a:t>备实例的确认信息</a:t>
            </a:r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系统性能较好</a:t>
            </a:r>
            <a:endParaRPr lang="en-US" altLang="zh-CN" sz="1900" dirty="0"/>
          </a:p>
          <a:p>
            <a:pPr lvl="2">
              <a:spcAft>
                <a:spcPts val="300"/>
              </a:spcAft>
            </a:pPr>
            <a:r>
              <a:rPr lang="zh-CN" altLang="en-US" sz="1900" dirty="0"/>
              <a:t>若发生服务器故障，数据可能会丢失</a:t>
            </a:r>
          </a:p>
          <a:p>
            <a:pPr lvl="2">
              <a:lnSpc>
                <a:spcPct val="120000"/>
              </a:lnSpc>
              <a:spcAft>
                <a:spcPts val="300"/>
              </a:spcAft>
            </a:pPr>
            <a:endParaRPr lang="zh-CN" altLang="en-US" sz="1600" dirty="0"/>
          </a:p>
          <a:p>
            <a:pPr marL="226695" lvl="1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注</a:t>
            </a:r>
            <a:r>
              <a:rPr lang="zh-CN" altLang="en-US" sz="1800" dirty="0"/>
              <a:t>：主备实例间的</a:t>
            </a:r>
            <a:r>
              <a:rPr lang="zh-CN" altLang="en-US" sz="1800" b="1" dirty="0">
                <a:solidFill>
                  <a:srgbClr val="FF0000"/>
                </a:solidFill>
              </a:rPr>
              <a:t>检查点是同步的</a:t>
            </a:r>
            <a:r>
              <a:rPr lang="zh-CN" altLang="en-US" sz="1800" dirty="0"/>
              <a:t>，主实例等待备实例确认其接收到检查点日志记录才完成检查点。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sym typeface="+mn-ea"/>
              </a:rPr>
              <a:t>GBase 8s  RSS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介绍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>
              <a:lnSpc>
                <a:spcPct val="140000"/>
              </a:lnSpc>
            </a:pPr>
            <a:r>
              <a:rPr lang="en-US" altLang="zh-CN" b="1" dirty="0">
                <a:sym typeface="+mn-ea"/>
              </a:rPr>
              <a:t>RSS</a:t>
            </a:r>
            <a:r>
              <a:rPr lang="zh-CN" altLang="en-US" b="1" dirty="0">
                <a:sym typeface="+mn-ea"/>
              </a:rPr>
              <a:t>备用服务器的主要作用是提供灾难恢复解决方案。</a:t>
            </a:r>
            <a:endParaRPr lang="zh-CN" altLang="en-US" b="1" strike="noStrike" noProof="1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ym typeface="+mn-ea"/>
              </a:rPr>
              <a:t>将日志发送到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的方式与主服务器将日志发送到</a:t>
            </a:r>
            <a:r>
              <a:rPr lang="en-US" altLang="zh-CN" dirty="0">
                <a:sym typeface="+mn-ea"/>
              </a:rPr>
              <a:t>HDR</a:t>
            </a:r>
            <a:r>
              <a:rPr lang="zh-CN" altLang="en-US" dirty="0">
                <a:sym typeface="+mn-ea"/>
              </a:rPr>
              <a:t>辅助服务器的方式很相似。但是，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采用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SMX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异步通信框架</a:t>
            </a:r>
            <a:r>
              <a:rPr lang="zh-CN" altLang="en-US" dirty="0">
                <a:sym typeface="+mn-ea"/>
              </a:rPr>
              <a:t>，因此其对主服务器的影响达到最小。出于该原因，主服务器和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辅助服务器之间事务落实或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检查点均不是同步进行的</a:t>
            </a:r>
            <a:r>
              <a:rPr lang="zh-CN" altLang="en-US" dirty="0">
                <a:sym typeface="+mn-ea"/>
              </a:rPr>
              <a:t>。换句话说，不保证主服务器上落实的任何事务也在同一时间在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辅助服务器上得到落实。因为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辅助服务器是异步进行更新的，所以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RSS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辅助服务器不能直接提升为主服务器。相反，它可以提升为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HDR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辅助服务器，然后提升为主服务器。</a:t>
            </a:r>
            <a:r>
              <a:rPr lang="zh-CN" altLang="en-US" dirty="0">
                <a:sym typeface="+mn-ea"/>
              </a:rPr>
              <a:t>另外，</a:t>
            </a:r>
            <a:r>
              <a:rPr lang="en-US" altLang="zh-CN" dirty="0">
                <a:sym typeface="+mn-ea"/>
              </a:rPr>
              <a:t>HDR</a:t>
            </a:r>
            <a:r>
              <a:rPr lang="zh-CN" altLang="en-US" dirty="0">
                <a:sym typeface="+mn-ea"/>
              </a:rPr>
              <a:t>辅助服务器可降级为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辅助服务器。</a:t>
            </a:r>
            <a:endParaRPr kumimoji="1" lang="zh-CN" altLang="en-US" sz="1800" dirty="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sym typeface="+mn-ea"/>
              </a:rPr>
              <a:t>GBase 8s  RSS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介绍</a:t>
            </a:r>
            <a:endParaRPr kumimoji="1" lang="zh-CN" altLang="en-US" dirty="0"/>
          </a:p>
        </p:txBody>
      </p:sp>
      <p:sp>
        <p:nvSpPr>
          <p:cNvPr id="20482" name="圆角矩形 260"/>
          <p:cNvSpPr/>
          <p:nvPr/>
        </p:nvSpPr>
        <p:spPr>
          <a:xfrm>
            <a:off x="2168568" y="4071337"/>
            <a:ext cx="7924800" cy="1509713"/>
          </a:xfrm>
          <a:prstGeom prst="roundRect">
            <a:avLst>
              <a:gd name="adj" fmla="val 16667"/>
            </a:avLst>
          </a:prstGeom>
          <a:solidFill>
            <a:srgbClr val="D9FE86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485" name="Group 9"/>
          <p:cNvGrpSpPr/>
          <p:nvPr/>
        </p:nvGrpSpPr>
        <p:grpSpPr>
          <a:xfrm>
            <a:off x="2771818" y="4209449"/>
            <a:ext cx="852488" cy="895350"/>
            <a:chOff x="1268" y="1000"/>
            <a:chExt cx="331" cy="484"/>
          </a:xfrm>
        </p:grpSpPr>
        <p:pic>
          <p:nvPicPr>
            <p:cNvPr id="20923" name="Picture 1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924" name="Picture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925" name="Freeform 12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26" name="Freeform 13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27" name="Freeform 14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28" name="Line 15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29" name="Line 16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30" name="Line 17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31" name="Freeform 18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2" name="Freeform 19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3" name="Freeform 20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4" name="Freeform 21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5" name="Freeform 22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6" name="Freeform 23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7" name="Freeform 24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8" name="Freeform 25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39" name="Freeform 26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0" name="Freeform 27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1" name="Freeform 28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2" name="Freeform 29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3" name="Freeform 30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4" name="Freeform 31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5" name="Line 32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46" name="Line 33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47" name="Line 34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48" name="Freeform 35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49" name="Freeform 36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0" name="Line 37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51" name="Freeform 38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2" name="Freeform 39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3" name="Freeform 40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4" name="Freeform 41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5" name="Freeform 42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6" name="Freeform 43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7" name="Freeform 44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8" name="Freeform 45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59" name="Freeform 46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0" name="Freeform 47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1" name="Freeform 48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2" name="Freeform 49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3" name="Freeform 50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4" name="Freeform 51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5" name="Freeform 52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66" name="Line 53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67" name="Line 54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0486" name="Group 101"/>
          <p:cNvGrpSpPr/>
          <p:nvPr/>
        </p:nvGrpSpPr>
        <p:grpSpPr>
          <a:xfrm>
            <a:off x="2840082" y="1683736"/>
            <a:ext cx="852487" cy="895350"/>
            <a:chOff x="1268" y="1000"/>
            <a:chExt cx="331" cy="484"/>
          </a:xfrm>
        </p:grpSpPr>
        <p:pic>
          <p:nvPicPr>
            <p:cNvPr id="20878" name="Picture 10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879" name="Picture 10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880" name="Freeform 104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1" name="Freeform 105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2" name="Freeform 106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3" name="Line 107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84" name="Line 108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85" name="Line 109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86" name="Freeform 110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7" name="Freeform 111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8" name="Freeform 112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89" name="Freeform 113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0" name="Freeform 114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1" name="Freeform 115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2" name="Freeform 116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3" name="Freeform 117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4" name="Freeform 118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5" name="Freeform 119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6" name="Freeform 120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7" name="Freeform 121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8" name="Freeform 122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99" name="Freeform 123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0" name="Line 124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01" name="Line 125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02" name="Line 126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03" name="Freeform 127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4" name="Freeform 128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5" name="Line 129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06" name="Freeform 130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7" name="Freeform 131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8" name="Freeform 132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09" name="Freeform 133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0" name="Freeform 134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1" name="Freeform 135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2" name="Freeform 136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3" name="Freeform 137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4" name="Freeform 138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5" name="Freeform 139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6" name="Freeform 140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7" name="Freeform 141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8" name="Freeform 142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19" name="Freeform 143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20" name="Freeform 144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921" name="Line 145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922" name="Line 146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487" name="Text Box 242"/>
          <p:cNvSpPr txBox="1"/>
          <p:nvPr/>
        </p:nvSpPr>
        <p:spPr>
          <a:xfrm>
            <a:off x="2725781" y="2636237"/>
            <a:ext cx="963612" cy="2841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Arial" panose="020B0604020202020204" pitchFamily="34" charset="0"/>
              </a:rPr>
              <a:t>江苏省</a:t>
            </a:r>
            <a:r>
              <a:rPr lang="en-US" altLang="zh-CN" sz="1200" dirty="0">
                <a:cs typeface="Arial" panose="020B0604020202020204" pitchFamily="34" charset="0"/>
              </a:rPr>
              <a:t>RSS</a:t>
            </a:r>
            <a:endParaRPr lang="en-US" altLang="zh-CN" sz="1200" dirty="0">
              <a:ea typeface="Arial" panose="020B0604020202020204" pitchFamily="34" charset="0"/>
            </a:endParaRPr>
          </a:p>
        </p:txBody>
      </p:sp>
      <p:sp>
        <p:nvSpPr>
          <p:cNvPr id="23560" name="Text Box 243"/>
          <p:cNvSpPr txBox="1">
            <a:spLocks noChangeArrowheads="1"/>
          </p:cNvSpPr>
          <p:nvPr/>
        </p:nvSpPr>
        <p:spPr bwMode="auto">
          <a:xfrm>
            <a:off x="2771818" y="5123849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江苏服务器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广东 佛山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489" name="直接箭头连接符 256"/>
          <p:cNvCxnSpPr>
            <a:endCxn id="20487" idx="2"/>
          </p:cNvCxnSpPr>
          <p:nvPr/>
        </p:nvCxnSpPr>
        <p:spPr>
          <a:xfrm flipH="1" flipV="1">
            <a:off x="3279501" y="2920399"/>
            <a:ext cx="0" cy="130651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490" name="Oval 245"/>
          <p:cNvSpPr/>
          <p:nvPr/>
        </p:nvSpPr>
        <p:spPr>
          <a:xfrm>
            <a:off x="2930568" y="1923449"/>
            <a:ext cx="152400" cy="152400"/>
          </a:xfrm>
          <a:prstGeom prst="ellipse">
            <a:avLst/>
          </a:prstGeom>
          <a:solidFill>
            <a:srgbClr val="99CC00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491" name="Group 9"/>
          <p:cNvGrpSpPr/>
          <p:nvPr/>
        </p:nvGrpSpPr>
        <p:grpSpPr>
          <a:xfrm>
            <a:off x="4262482" y="4218974"/>
            <a:ext cx="852487" cy="895350"/>
            <a:chOff x="1268" y="1000"/>
            <a:chExt cx="331" cy="484"/>
          </a:xfrm>
        </p:grpSpPr>
        <p:pic>
          <p:nvPicPr>
            <p:cNvPr id="20833" name="Picture 1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834" name="Picture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835" name="Freeform 12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36" name="Freeform 13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37" name="Freeform 14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38" name="Line 15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39" name="Line 16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40" name="Line 17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41" name="Freeform 18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2" name="Freeform 19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3" name="Freeform 20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4" name="Freeform 21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5" name="Freeform 22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6" name="Freeform 23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7" name="Freeform 24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8" name="Freeform 25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49" name="Freeform 26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0" name="Freeform 27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1" name="Freeform 28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2" name="Freeform 29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3" name="Freeform 30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4" name="Freeform 31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5" name="Line 32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56" name="Line 33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57" name="Line 34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58" name="Freeform 35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59" name="Freeform 36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0" name="Line 37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61" name="Freeform 38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2" name="Freeform 39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3" name="Freeform 40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4" name="Freeform 41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5" name="Freeform 42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6" name="Freeform 43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7" name="Freeform 44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8" name="Freeform 45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69" name="Freeform 46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0" name="Freeform 47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1" name="Freeform 48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2" name="Freeform 49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3" name="Freeform 50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4" name="Freeform 51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5" name="Freeform 52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76" name="Line 53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77" name="Line 54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0492" name="Group 101"/>
          <p:cNvGrpSpPr/>
          <p:nvPr/>
        </p:nvGrpSpPr>
        <p:grpSpPr>
          <a:xfrm>
            <a:off x="4330743" y="1694849"/>
            <a:ext cx="852488" cy="895350"/>
            <a:chOff x="1268" y="1000"/>
            <a:chExt cx="331" cy="484"/>
          </a:xfrm>
        </p:grpSpPr>
        <p:pic>
          <p:nvPicPr>
            <p:cNvPr id="20788" name="Picture 10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89" name="Picture 10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790" name="Freeform 104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1" name="Freeform 105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2" name="Freeform 106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3" name="Line 107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94" name="Line 108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95" name="Line 109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96" name="Freeform 110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7" name="Freeform 111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8" name="Freeform 112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99" name="Freeform 113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0" name="Freeform 114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1" name="Freeform 115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2" name="Freeform 116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3" name="Freeform 117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4" name="Freeform 118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5" name="Freeform 119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6" name="Freeform 120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7" name="Freeform 121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8" name="Freeform 122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09" name="Freeform 123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0" name="Line 124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11" name="Line 125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12" name="Line 126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13" name="Freeform 127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4" name="Freeform 128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5" name="Line 129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16" name="Freeform 130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7" name="Freeform 131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8" name="Freeform 132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19" name="Freeform 133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0" name="Freeform 134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1" name="Freeform 135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2" name="Freeform 136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3" name="Freeform 137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4" name="Freeform 138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5" name="Freeform 139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6" name="Freeform 140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7" name="Freeform 141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8" name="Freeform 142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29" name="Freeform 143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30" name="Freeform 144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831" name="Line 145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832" name="Line 146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493" name="Text Box 242"/>
          <p:cNvSpPr txBox="1"/>
          <p:nvPr/>
        </p:nvSpPr>
        <p:spPr>
          <a:xfrm>
            <a:off x="4216444" y="2647349"/>
            <a:ext cx="963613" cy="284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Arial" panose="020B0604020202020204" pitchFamily="34" charset="0"/>
              </a:rPr>
              <a:t>浙江省</a:t>
            </a:r>
            <a:r>
              <a:rPr lang="en-US" altLang="zh-CN" sz="1200" dirty="0">
                <a:cs typeface="Arial" panose="020B0604020202020204" pitchFamily="34" charset="0"/>
              </a:rPr>
              <a:t>RSS</a:t>
            </a:r>
            <a:endParaRPr lang="en-US" altLang="zh-CN" sz="1200" dirty="0">
              <a:ea typeface="Arial" panose="020B0604020202020204" pitchFamily="34" charset="0"/>
            </a:endParaRPr>
          </a:p>
        </p:txBody>
      </p:sp>
      <p:sp>
        <p:nvSpPr>
          <p:cNvPr id="23566" name="Text Box 243"/>
          <p:cNvSpPr txBox="1">
            <a:spLocks noChangeArrowheads="1"/>
          </p:cNvSpPr>
          <p:nvPr/>
        </p:nvSpPr>
        <p:spPr bwMode="auto">
          <a:xfrm>
            <a:off x="4262481" y="5133374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浙江服务器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广东 佛山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495" name="直接箭头连接符 451"/>
          <p:cNvCxnSpPr>
            <a:endCxn id="20493" idx="2"/>
          </p:cNvCxnSpPr>
          <p:nvPr/>
        </p:nvCxnSpPr>
        <p:spPr>
          <a:xfrm flipH="1" flipV="1">
            <a:off x="4770163" y="2931512"/>
            <a:ext cx="0" cy="130651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496" name="Oval 245"/>
          <p:cNvSpPr/>
          <p:nvPr/>
        </p:nvSpPr>
        <p:spPr>
          <a:xfrm>
            <a:off x="4421231" y="1932974"/>
            <a:ext cx="152400" cy="152400"/>
          </a:xfrm>
          <a:prstGeom prst="ellipse">
            <a:avLst/>
          </a:prstGeom>
          <a:solidFill>
            <a:srgbClr val="99CC00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497" name="Group 9"/>
          <p:cNvGrpSpPr/>
          <p:nvPr/>
        </p:nvGrpSpPr>
        <p:grpSpPr>
          <a:xfrm>
            <a:off x="5710282" y="4218974"/>
            <a:ext cx="852487" cy="895350"/>
            <a:chOff x="1268" y="1000"/>
            <a:chExt cx="331" cy="484"/>
          </a:xfrm>
        </p:grpSpPr>
        <p:pic>
          <p:nvPicPr>
            <p:cNvPr id="20743" name="Picture 1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4" name="Picture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745" name="Freeform 12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46" name="Freeform 13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47" name="Freeform 14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48" name="Line 15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49" name="Line 16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50" name="Line 17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51" name="Freeform 18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2" name="Freeform 19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3" name="Freeform 20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4" name="Freeform 21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5" name="Freeform 22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6" name="Freeform 23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7" name="Freeform 24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8" name="Freeform 25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59" name="Freeform 26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0" name="Freeform 27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1" name="Freeform 28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2" name="Freeform 29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3" name="Freeform 30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4" name="Freeform 31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5" name="Line 32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66" name="Line 33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67" name="Line 34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68" name="Freeform 35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69" name="Freeform 36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0" name="Line 37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71" name="Freeform 38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2" name="Freeform 39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3" name="Freeform 40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4" name="Freeform 41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5" name="Freeform 42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6" name="Freeform 43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7" name="Freeform 44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8" name="Freeform 45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79" name="Freeform 46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0" name="Freeform 47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1" name="Freeform 48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2" name="Freeform 49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3" name="Freeform 50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4" name="Freeform 51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5" name="Freeform 52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86" name="Line 53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87" name="Line 54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0498" name="Group 101"/>
          <p:cNvGrpSpPr/>
          <p:nvPr/>
        </p:nvGrpSpPr>
        <p:grpSpPr>
          <a:xfrm>
            <a:off x="5778543" y="1694849"/>
            <a:ext cx="852488" cy="895350"/>
            <a:chOff x="1268" y="1000"/>
            <a:chExt cx="331" cy="484"/>
          </a:xfrm>
        </p:grpSpPr>
        <p:pic>
          <p:nvPicPr>
            <p:cNvPr id="20698" name="Picture 10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99" name="Picture 10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700" name="Freeform 104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1" name="Freeform 105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2" name="Freeform 106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3" name="Line 107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04" name="Line 108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05" name="Line 109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06" name="Freeform 110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7" name="Freeform 111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8" name="Freeform 112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09" name="Freeform 113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0" name="Freeform 114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1" name="Freeform 115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2" name="Freeform 116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3" name="Freeform 117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4" name="Freeform 118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5" name="Freeform 119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6" name="Freeform 120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7" name="Freeform 121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8" name="Freeform 122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19" name="Freeform 123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0" name="Line 124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21" name="Line 125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22" name="Line 126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23" name="Freeform 127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4" name="Freeform 128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5" name="Line 129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26" name="Freeform 130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7" name="Freeform 131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8" name="Freeform 132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29" name="Freeform 133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0" name="Freeform 134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1" name="Freeform 135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2" name="Freeform 136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3" name="Freeform 137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4" name="Freeform 138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5" name="Freeform 139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6" name="Freeform 140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7" name="Freeform 141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8" name="Freeform 142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39" name="Freeform 143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40" name="Freeform 144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741" name="Line 145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742" name="Line 146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499" name="Text Box 242"/>
          <p:cNvSpPr txBox="1"/>
          <p:nvPr/>
        </p:nvSpPr>
        <p:spPr>
          <a:xfrm>
            <a:off x="5664244" y="2647349"/>
            <a:ext cx="963613" cy="284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Arial" panose="020B0604020202020204" pitchFamily="34" charset="0"/>
              </a:rPr>
              <a:t>福建省</a:t>
            </a:r>
            <a:r>
              <a:rPr lang="en-US" altLang="zh-CN" sz="1200" dirty="0">
                <a:cs typeface="Arial" panose="020B0604020202020204" pitchFamily="34" charset="0"/>
              </a:rPr>
              <a:t>RSS</a:t>
            </a:r>
            <a:endParaRPr lang="en-US" altLang="zh-CN" sz="1200" dirty="0">
              <a:ea typeface="Arial" panose="020B0604020202020204" pitchFamily="34" charset="0"/>
            </a:endParaRPr>
          </a:p>
        </p:txBody>
      </p:sp>
      <p:sp>
        <p:nvSpPr>
          <p:cNvPr id="23572" name="Text Box 243"/>
          <p:cNvSpPr txBox="1">
            <a:spLocks noChangeArrowheads="1"/>
          </p:cNvSpPr>
          <p:nvPr/>
        </p:nvSpPr>
        <p:spPr bwMode="auto">
          <a:xfrm>
            <a:off x="5710281" y="5133374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福建服务器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广东 佛山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501" name="直接箭头连接符 547"/>
          <p:cNvCxnSpPr>
            <a:endCxn id="20499" idx="2"/>
          </p:cNvCxnSpPr>
          <p:nvPr/>
        </p:nvCxnSpPr>
        <p:spPr>
          <a:xfrm flipH="1" flipV="1">
            <a:off x="6217963" y="2931512"/>
            <a:ext cx="0" cy="130651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502" name="Oval 245"/>
          <p:cNvSpPr/>
          <p:nvPr/>
        </p:nvSpPr>
        <p:spPr>
          <a:xfrm>
            <a:off x="5869031" y="1932974"/>
            <a:ext cx="152400" cy="152400"/>
          </a:xfrm>
          <a:prstGeom prst="ellipse">
            <a:avLst/>
          </a:prstGeom>
          <a:solidFill>
            <a:srgbClr val="99CC00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503" name="Group 9"/>
          <p:cNvGrpSpPr/>
          <p:nvPr/>
        </p:nvGrpSpPr>
        <p:grpSpPr>
          <a:xfrm>
            <a:off x="7158082" y="4218974"/>
            <a:ext cx="852487" cy="895350"/>
            <a:chOff x="1268" y="1000"/>
            <a:chExt cx="331" cy="484"/>
          </a:xfrm>
        </p:grpSpPr>
        <p:pic>
          <p:nvPicPr>
            <p:cNvPr id="20653" name="Picture 1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54" name="Picture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55" name="Freeform 12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56" name="Freeform 13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57" name="Freeform 14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58" name="Line 15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59" name="Line 16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60" name="Line 17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61" name="Freeform 18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2" name="Freeform 19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3" name="Freeform 20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4" name="Freeform 21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5" name="Freeform 22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6" name="Freeform 23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7" name="Freeform 24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8" name="Freeform 25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69" name="Freeform 26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0" name="Freeform 27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1" name="Freeform 28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2" name="Freeform 29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3" name="Freeform 30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4" name="Freeform 31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5" name="Line 32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76" name="Line 33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77" name="Line 34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78" name="Freeform 35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79" name="Freeform 36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0" name="Line 37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81" name="Freeform 38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2" name="Freeform 39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3" name="Freeform 40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4" name="Freeform 41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5" name="Freeform 42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6" name="Freeform 43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7" name="Freeform 44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8" name="Freeform 45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89" name="Freeform 46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0" name="Freeform 47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1" name="Freeform 48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2" name="Freeform 49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3" name="Freeform 50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4" name="Freeform 51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5" name="Freeform 52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96" name="Line 53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97" name="Line 54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0504" name="Group 101"/>
          <p:cNvGrpSpPr/>
          <p:nvPr/>
        </p:nvGrpSpPr>
        <p:grpSpPr>
          <a:xfrm>
            <a:off x="7226343" y="1694849"/>
            <a:ext cx="852488" cy="895350"/>
            <a:chOff x="1268" y="1000"/>
            <a:chExt cx="331" cy="484"/>
          </a:xfrm>
        </p:grpSpPr>
        <p:pic>
          <p:nvPicPr>
            <p:cNvPr id="20608" name="Picture 10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09" name="Picture 10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10" name="Freeform 104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1" name="Freeform 105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2" name="Freeform 106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3" name="Line 107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14" name="Line 108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15" name="Line 109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16" name="Freeform 110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7" name="Freeform 111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8" name="Freeform 112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19" name="Freeform 113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0" name="Freeform 114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1" name="Freeform 115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2" name="Freeform 116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3" name="Freeform 117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4" name="Freeform 118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5" name="Freeform 119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6" name="Freeform 120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7" name="Freeform 121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8" name="Freeform 122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29" name="Freeform 123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0" name="Line 124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31" name="Line 125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32" name="Line 126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33" name="Freeform 127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4" name="Freeform 128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5" name="Line 129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36" name="Freeform 130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7" name="Freeform 131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8" name="Freeform 132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39" name="Freeform 133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0" name="Freeform 134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1" name="Freeform 135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2" name="Freeform 136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3" name="Freeform 137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4" name="Freeform 138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5" name="Freeform 139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6" name="Freeform 140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7" name="Freeform 141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8" name="Freeform 142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49" name="Freeform 143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50" name="Freeform 144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51" name="Line 145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52" name="Line 146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05" name="Text Box 242"/>
          <p:cNvSpPr txBox="1"/>
          <p:nvPr/>
        </p:nvSpPr>
        <p:spPr>
          <a:xfrm>
            <a:off x="6959644" y="2647349"/>
            <a:ext cx="963613" cy="284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Arial" panose="020B0604020202020204" pitchFamily="34" charset="0"/>
              </a:rPr>
              <a:t>湖北省</a:t>
            </a:r>
            <a:r>
              <a:rPr lang="en-US" altLang="zh-CN" sz="1200" dirty="0">
                <a:cs typeface="Arial" panose="020B0604020202020204" pitchFamily="34" charset="0"/>
              </a:rPr>
              <a:t>RSS</a:t>
            </a:r>
            <a:endParaRPr lang="en-US" altLang="zh-CN" sz="1200" dirty="0">
              <a:ea typeface="Arial" panose="020B0604020202020204" pitchFamily="34" charset="0"/>
            </a:endParaRPr>
          </a:p>
        </p:txBody>
      </p:sp>
      <p:sp>
        <p:nvSpPr>
          <p:cNvPr id="23578" name="Text Box 243"/>
          <p:cNvSpPr txBox="1">
            <a:spLocks noChangeArrowheads="1"/>
          </p:cNvSpPr>
          <p:nvPr/>
        </p:nvSpPr>
        <p:spPr bwMode="auto">
          <a:xfrm>
            <a:off x="7158081" y="5133374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湖北服务器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广东 佛山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507" name="直接箭头连接符 643"/>
          <p:cNvCxnSpPr/>
          <p:nvPr/>
        </p:nvCxnSpPr>
        <p:spPr>
          <a:xfrm flipH="1" flipV="1">
            <a:off x="7590516" y="2903254"/>
            <a:ext cx="0" cy="130651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508" name="Oval 245"/>
          <p:cNvSpPr/>
          <p:nvPr/>
        </p:nvSpPr>
        <p:spPr>
          <a:xfrm>
            <a:off x="7316831" y="1932974"/>
            <a:ext cx="152400" cy="152400"/>
          </a:xfrm>
          <a:prstGeom prst="ellipse">
            <a:avLst/>
          </a:prstGeom>
          <a:solidFill>
            <a:srgbClr val="99CC00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509" name="Group 9"/>
          <p:cNvGrpSpPr/>
          <p:nvPr/>
        </p:nvGrpSpPr>
        <p:grpSpPr>
          <a:xfrm>
            <a:off x="8645568" y="4218974"/>
            <a:ext cx="852488" cy="895350"/>
            <a:chOff x="1268" y="1000"/>
            <a:chExt cx="331" cy="484"/>
          </a:xfrm>
        </p:grpSpPr>
        <p:pic>
          <p:nvPicPr>
            <p:cNvPr id="20563" name="Picture 1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64" name="Picture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65" name="Freeform 12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6" name="Freeform 13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7" name="Freeform 14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8" name="Line 15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69" name="Line 16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70" name="Line 17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71" name="Freeform 18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2" name="Freeform 19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3" name="Freeform 20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4" name="Freeform 21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5" name="Freeform 22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6" name="Freeform 23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7" name="Freeform 24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8" name="Freeform 25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79" name="Freeform 26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0" name="Freeform 27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1" name="Freeform 28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2" name="Freeform 29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3" name="Freeform 30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4" name="Freeform 31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5" name="Line 32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6" name="Line 33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7" name="Line 34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8" name="Freeform 35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89" name="Freeform 36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0" name="Line 37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91" name="Freeform 38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2" name="Freeform 39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3" name="Freeform 40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4" name="Freeform 41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5" name="Freeform 42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6" name="Freeform 43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7" name="Freeform 44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8" name="Freeform 45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99" name="Freeform 46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0" name="Freeform 47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1" name="Freeform 48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2" name="Freeform 49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3" name="Freeform 50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4" name="Freeform 51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5" name="Freeform 52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606" name="Line 53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607" name="Line 54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0510" name="Group 101"/>
          <p:cNvGrpSpPr/>
          <p:nvPr/>
        </p:nvGrpSpPr>
        <p:grpSpPr>
          <a:xfrm>
            <a:off x="8713832" y="1694849"/>
            <a:ext cx="852487" cy="895350"/>
            <a:chOff x="1268" y="1000"/>
            <a:chExt cx="331" cy="484"/>
          </a:xfrm>
        </p:grpSpPr>
        <p:pic>
          <p:nvPicPr>
            <p:cNvPr id="20518" name="Picture 10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8" y="1161"/>
              <a:ext cx="128" cy="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19" name="Picture 10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" y="1180"/>
              <a:ext cx="27" cy="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0" name="Freeform 104"/>
            <p:cNvSpPr/>
            <p:nvPr/>
          </p:nvSpPr>
          <p:spPr>
            <a:xfrm>
              <a:off x="1452" y="1165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0"/>
                </a:cxn>
                <a:cxn ang="0">
                  <a:pos x="119" y="0"/>
                </a:cxn>
                <a:cxn ang="0">
                  <a:pos x="0" y="20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0"/>
                  </a:lnTo>
                  <a:lnTo>
                    <a:pt x="119" y="0"/>
                  </a:lnTo>
                  <a:lnTo>
                    <a:pt x="0" y="20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1" name="Freeform 105"/>
            <p:cNvSpPr/>
            <p:nvPr/>
          </p:nvSpPr>
          <p:spPr>
            <a:xfrm>
              <a:off x="1455" y="1165"/>
              <a:ext cx="113" cy="31"/>
            </a:xfrm>
            <a:custGeom>
              <a:avLst/>
              <a:gdLst>
                <a:gd name="txL" fmla="*/ 0 w 113"/>
                <a:gd name="txT" fmla="*/ 0 h 31"/>
                <a:gd name="txR" fmla="*/ 113 w 11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113" y="11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113" h="31">
                  <a:moveTo>
                    <a:pt x="0" y="31"/>
                  </a:moveTo>
                  <a:lnTo>
                    <a:pt x="113" y="11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2" name="Freeform 106"/>
            <p:cNvSpPr/>
            <p:nvPr/>
          </p:nvSpPr>
          <p:spPr>
            <a:xfrm>
              <a:off x="1453" y="1182"/>
              <a:ext cx="118" cy="23"/>
            </a:xfrm>
            <a:custGeom>
              <a:avLst/>
              <a:gdLst>
                <a:gd name="txL" fmla="*/ 0 w 118"/>
                <a:gd name="txT" fmla="*/ 0 h 23"/>
                <a:gd name="txR" fmla="*/ 118 w 118"/>
                <a:gd name="txB" fmla="*/ 23 h 23"/>
              </a:gdLst>
              <a:ahLst/>
              <a:cxnLst>
                <a:cxn ang="0">
                  <a:pos x="0" y="23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1"/>
                </a:cxn>
                <a:cxn ang="0">
                  <a:pos x="0" y="23"/>
                </a:cxn>
                <a:cxn ang="0">
                  <a:pos x="0" y="23"/>
                </a:cxn>
              </a:cxnLst>
              <a:rect l="txL" t="txT" r="txR" b="txB"/>
              <a:pathLst>
                <a:path w="118" h="23">
                  <a:moveTo>
                    <a:pt x="0" y="23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1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3" name="Line 107"/>
            <p:cNvSpPr/>
            <p:nvPr/>
          </p:nvSpPr>
          <p:spPr>
            <a:xfrm flipV="1">
              <a:off x="1449" y="1217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24" name="Line 108"/>
            <p:cNvSpPr/>
            <p:nvPr/>
          </p:nvSpPr>
          <p:spPr>
            <a:xfrm flipH="1">
              <a:off x="1449" y="1128"/>
              <a:ext cx="127" cy="22"/>
            </a:xfrm>
            <a:prstGeom prst="line">
              <a:avLst/>
            </a:prstGeom>
            <a:ln w="1588" cap="flat" cmpd="sng">
              <a:solidFill>
                <a:srgbClr val="B3B3B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25" name="Line 109"/>
            <p:cNvSpPr/>
            <p:nvPr/>
          </p:nvSpPr>
          <p:spPr>
            <a:xfrm>
              <a:off x="1449" y="1149"/>
              <a:ext cx="1" cy="90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26" name="Freeform 110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7" name="Freeform 111"/>
            <p:cNvSpPr/>
            <p:nvPr/>
          </p:nvSpPr>
          <p:spPr>
            <a:xfrm>
              <a:off x="1268" y="1000"/>
              <a:ext cx="318" cy="483"/>
            </a:xfrm>
            <a:custGeom>
              <a:avLst/>
              <a:gdLst>
                <a:gd name="txL" fmla="*/ 0 w 318"/>
                <a:gd name="txT" fmla="*/ 0 h 483"/>
                <a:gd name="txR" fmla="*/ 318 w 318"/>
                <a:gd name="txB" fmla="*/ 483 h 483"/>
              </a:gdLst>
              <a:ahLst/>
              <a:cxnLst>
                <a:cxn ang="0">
                  <a:pos x="174" y="93"/>
                </a:cxn>
                <a:cxn ang="0">
                  <a:pos x="178" y="483"/>
                </a:cxn>
                <a:cxn ang="0">
                  <a:pos x="178" y="483"/>
                </a:cxn>
                <a:cxn ang="0">
                  <a:pos x="96" y="453"/>
                </a:cxn>
                <a:cxn ang="0">
                  <a:pos x="11" y="423"/>
                </a:cxn>
                <a:cxn ang="0">
                  <a:pos x="11" y="423"/>
                </a:cxn>
                <a:cxn ang="0">
                  <a:pos x="7" y="420"/>
                </a:cxn>
                <a:cxn ang="0">
                  <a:pos x="5" y="418"/>
                </a:cxn>
                <a:cxn ang="0">
                  <a:pos x="3" y="415"/>
                </a:cxn>
                <a:cxn ang="0">
                  <a:pos x="3" y="415"/>
                </a:cxn>
                <a:cxn ang="0">
                  <a:pos x="2" y="414"/>
                </a:cxn>
                <a:cxn ang="0">
                  <a:pos x="1" y="411"/>
                </a:cxn>
                <a:cxn ang="0">
                  <a:pos x="0" y="408"/>
                </a:cxn>
                <a:cxn ang="0">
                  <a:pos x="0" y="404"/>
                </a:cxn>
                <a:cxn ang="0">
                  <a:pos x="0" y="404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5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8" y="29"/>
                </a:cxn>
                <a:cxn ang="0">
                  <a:pos x="10" y="26"/>
                </a:cxn>
                <a:cxn ang="0">
                  <a:pos x="14" y="24"/>
                </a:cxn>
                <a:cxn ang="0">
                  <a:pos x="18" y="21"/>
                </a:cxn>
                <a:cxn ang="0">
                  <a:pos x="18" y="21"/>
                </a:cxn>
                <a:cxn ang="0">
                  <a:pos x="25" y="20"/>
                </a:cxn>
                <a:cxn ang="0">
                  <a:pos x="38" y="18"/>
                </a:cxn>
                <a:cxn ang="0">
                  <a:pos x="73" y="11"/>
                </a:cxn>
                <a:cxn ang="0">
                  <a:pos x="138" y="1"/>
                </a:cxn>
                <a:cxn ang="0">
                  <a:pos x="138" y="1"/>
                </a:cxn>
                <a:cxn ang="0">
                  <a:pos x="144" y="0"/>
                </a:cxn>
                <a:cxn ang="0">
                  <a:pos x="151" y="1"/>
                </a:cxn>
                <a:cxn ang="0">
                  <a:pos x="159" y="3"/>
                </a:cxn>
                <a:cxn ang="0">
                  <a:pos x="169" y="6"/>
                </a:cxn>
                <a:cxn ang="0">
                  <a:pos x="169" y="6"/>
                </a:cxn>
                <a:cxn ang="0">
                  <a:pos x="318" y="60"/>
                </a:cxn>
                <a:cxn ang="0">
                  <a:pos x="174" y="93"/>
                </a:cxn>
                <a:cxn ang="0">
                  <a:pos x="174" y="93"/>
                </a:cxn>
              </a:cxnLst>
              <a:rect l="txL" t="txT" r="txR" b="txB"/>
              <a:pathLst>
                <a:path w="318" h="483">
                  <a:moveTo>
                    <a:pt x="174" y="93"/>
                  </a:moveTo>
                  <a:lnTo>
                    <a:pt x="178" y="483"/>
                  </a:lnTo>
                  <a:lnTo>
                    <a:pt x="96" y="453"/>
                  </a:lnTo>
                  <a:lnTo>
                    <a:pt x="11" y="423"/>
                  </a:lnTo>
                  <a:lnTo>
                    <a:pt x="7" y="420"/>
                  </a:lnTo>
                  <a:lnTo>
                    <a:pt x="5" y="418"/>
                  </a:lnTo>
                  <a:lnTo>
                    <a:pt x="3" y="415"/>
                  </a:lnTo>
                  <a:lnTo>
                    <a:pt x="2" y="414"/>
                  </a:lnTo>
                  <a:lnTo>
                    <a:pt x="1" y="411"/>
                  </a:lnTo>
                  <a:lnTo>
                    <a:pt x="0" y="408"/>
                  </a:lnTo>
                  <a:lnTo>
                    <a:pt x="0" y="404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3" y="35"/>
                  </a:lnTo>
                  <a:lnTo>
                    <a:pt x="6" y="30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4" y="24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8" y="18"/>
                  </a:lnTo>
                  <a:lnTo>
                    <a:pt x="73" y="11"/>
                  </a:lnTo>
                  <a:lnTo>
                    <a:pt x="138" y="1"/>
                  </a:lnTo>
                  <a:lnTo>
                    <a:pt x="144" y="0"/>
                  </a:lnTo>
                  <a:lnTo>
                    <a:pt x="151" y="1"/>
                  </a:lnTo>
                  <a:lnTo>
                    <a:pt x="159" y="3"/>
                  </a:lnTo>
                  <a:lnTo>
                    <a:pt x="169" y="6"/>
                  </a:lnTo>
                  <a:lnTo>
                    <a:pt x="318" y="60"/>
                  </a:lnTo>
                  <a:lnTo>
                    <a:pt x="174" y="93"/>
                  </a:lnTo>
                  <a:close/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8" name="Freeform 112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solidFill>
              <a:srgbClr val="F7F7F7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29" name="Freeform 113"/>
            <p:cNvSpPr/>
            <p:nvPr/>
          </p:nvSpPr>
          <p:spPr>
            <a:xfrm>
              <a:off x="1433" y="1060"/>
              <a:ext cx="166" cy="423"/>
            </a:xfrm>
            <a:custGeom>
              <a:avLst/>
              <a:gdLst>
                <a:gd name="txL" fmla="*/ 0 w 166"/>
                <a:gd name="txT" fmla="*/ 0 h 423"/>
                <a:gd name="txR" fmla="*/ 166 w 166"/>
                <a:gd name="txB" fmla="*/ 423 h 423"/>
              </a:gdLst>
              <a:ahLst/>
              <a:cxnLst>
                <a:cxn ang="0">
                  <a:pos x="0" y="404"/>
                </a:cxn>
                <a:cxn ang="0">
                  <a:pos x="0" y="404"/>
                </a:cxn>
                <a:cxn ang="0">
                  <a:pos x="1" y="409"/>
                </a:cxn>
                <a:cxn ang="0">
                  <a:pos x="2" y="413"/>
                </a:cxn>
                <a:cxn ang="0">
                  <a:pos x="4" y="416"/>
                </a:cxn>
                <a:cxn ang="0">
                  <a:pos x="6" y="420"/>
                </a:cxn>
                <a:cxn ang="0">
                  <a:pos x="10" y="422"/>
                </a:cxn>
                <a:cxn ang="0">
                  <a:pos x="14" y="423"/>
                </a:cxn>
                <a:cxn ang="0">
                  <a:pos x="18" y="423"/>
                </a:cxn>
                <a:cxn ang="0">
                  <a:pos x="23" y="423"/>
                </a:cxn>
                <a:cxn ang="0">
                  <a:pos x="143" y="402"/>
                </a:cxn>
                <a:cxn ang="0">
                  <a:pos x="143" y="402"/>
                </a:cxn>
                <a:cxn ang="0">
                  <a:pos x="148" y="401"/>
                </a:cxn>
                <a:cxn ang="0">
                  <a:pos x="153" y="399"/>
                </a:cxn>
                <a:cxn ang="0">
                  <a:pos x="156" y="396"/>
                </a:cxn>
                <a:cxn ang="0">
                  <a:pos x="160" y="393"/>
                </a:cxn>
                <a:cxn ang="0">
                  <a:pos x="162" y="388"/>
                </a:cxn>
                <a:cxn ang="0">
                  <a:pos x="165" y="384"/>
                </a:cxn>
                <a:cxn ang="0">
                  <a:pos x="166" y="380"/>
                </a:cxn>
                <a:cxn ang="0">
                  <a:pos x="166" y="375"/>
                </a:cxn>
                <a:cxn ang="0">
                  <a:pos x="166" y="19"/>
                </a:cxn>
                <a:cxn ang="0">
                  <a:pos x="166" y="19"/>
                </a:cxn>
                <a:cxn ang="0">
                  <a:pos x="166" y="14"/>
                </a:cxn>
                <a:cxn ang="0">
                  <a:pos x="165" y="10"/>
                </a:cxn>
                <a:cxn ang="0">
                  <a:pos x="162" y="6"/>
                </a:cxn>
                <a:cxn ang="0">
                  <a:pos x="160" y="4"/>
                </a:cxn>
                <a:cxn ang="0">
                  <a:pos x="156" y="1"/>
                </a:cxn>
                <a:cxn ang="0">
                  <a:pos x="153" y="0"/>
                </a:cxn>
                <a:cxn ang="0">
                  <a:pos x="148" y="0"/>
                </a:cxn>
                <a:cxn ang="0">
                  <a:pos x="143" y="0"/>
                </a:cxn>
                <a:cxn ang="0">
                  <a:pos x="23" y="21"/>
                </a:cxn>
                <a:cxn ang="0">
                  <a:pos x="23" y="21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0" y="27"/>
                </a:cxn>
                <a:cxn ang="0">
                  <a:pos x="6" y="30"/>
                </a:cxn>
                <a:cxn ang="0">
                  <a:pos x="4" y="35"/>
                </a:cxn>
                <a:cxn ang="0">
                  <a:pos x="2" y="39"/>
                </a:cxn>
                <a:cxn ang="0">
                  <a:pos x="1" y="43"/>
                </a:cxn>
                <a:cxn ang="0">
                  <a:pos x="0" y="48"/>
                </a:cxn>
                <a:cxn ang="0">
                  <a:pos x="0" y="404"/>
                </a:cxn>
                <a:cxn ang="0">
                  <a:pos x="0" y="404"/>
                </a:cxn>
              </a:cxnLst>
              <a:rect l="txL" t="txT" r="txR" b="txB"/>
              <a:pathLst>
                <a:path w="166" h="423">
                  <a:moveTo>
                    <a:pt x="0" y="404"/>
                  </a:moveTo>
                  <a:lnTo>
                    <a:pt x="0" y="404"/>
                  </a:lnTo>
                  <a:lnTo>
                    <a:pt x="1" y="409"/>
                  </a:lnTo>
                  <a:lnTo>
                    <a:pt x="2" y="413"/>
                  </a:lnTo>
                  <a:lnTo>
                    <a:pt x="4" y="416"/>
                  </a:lnTo>
                  <a:lnTo>
                    <a:pt x="6" y="420"/>
                  </a:lnTo>
                  <a:lnTo>
                    <a:pt x="10" y="422"/>
                  </a:lnTo>
                  <a:lnTo>
                    <a:pt x="14" y="423"/>
                  </a:lnTo>
                  <a:lnTo>
                    <a:pt x="18" y="423"/>
                  </a:lnTo>
                  <a:lnTo>
                    <a:pt x="23" y="423"/>
                  </a:lnTo>
                  <a:lnTo>
                    <a:pt x="143" y="402"/>
                  </a:lnTo>
                  <a:lnTo>
                    <a:pt x="148" y="401"/>
                  </a:lnTo>
                  <a:lnTo>
                    <a:pt x="153" y="399"/>
                  </a:lnTo>
                  <a:lnTo>
                    <a:pt x="156" y="396"/>
                  </a:lnTo>
                  <a:lnTo>
                    <a:pt x="160" y="393"/>
                  </a:lnTo>
                  <a:lnTo>
                    <a:pt x="162" y="388"/>
                  </a:lnTo>
                  <a:lnTo>
                    <a:pt x="165" y="384"/>
                  </a:lnTo>
                  <a:lnTo>
                    <a:pt x="166" y="380"/>
                  </a:lnTo>
                  <a:lnTo>
                    <a:pt x="166" y="375"/>
                  </a:lnTo>
                  <a:lnTo>
                    <a:pt x="166" y="19"/>
                  </a:lnTo>
                  <a:lnTo>
                    <a:pt x="166" y="14"/>
                  </a:lnTo>
                  <a:lnTo>
                    <a:pt x="165" y="10"/>
                  </a:lnTo>
                  <a:lnTo>
                    <a:pt x="162" y="6"/>
                  </a:lnTo>
                  <a:lnTo>
                    <a:pt x="160" y="4"/>
                  </a:lnTo>
                  <a:lnTo>
                    <a:pt x="156" y="1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23" y="21"/>
                  </a:lnTo>
                  <a:lnTo>
                    <a:pt x="18" y="22"/>
                  </a:lnTo>
                  <a:lnTo>
                    <a:pt x="14" y="24"/>
                  </a:lnTo>
                  <a:lnTo>
                    <a:pt x="10" y="27"/>
                  </a:lnTo>
                  <a:lnTo>
                    <a:pt x="6" y="30"/>
                  </a:lnTo>
                  <a:lnTo>
                    <a:pt x="4" y="35"/>
                  </a:lnTo>
                  <a:lnTo>
                    <a:pt x="2" y="39"/>
                  </a:lnTo>
                  <a:lnTo>
                    <a:pt x="1" y="43"/>
                  </a:lnTo>
                  <a:lnTo>
                    <a:pt x="0" y="48"/>
                  </a:lnTo>
                  <a:lnTo>
                    <a:pt x="0" y="404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0" name="Freeform 114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solidFill>
              <a:srgbClr val="EDEDED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1" name="Freeform 115"/>
            <p:cNvSpPr/>
            <p:nvPr/>
          </p:nvSpPr>
          <p:spPr>
            <a:xfrm>
              <a:off x="1446" y="1116"/>
              <a:ext cx="144" cy="364"/>
            </a:xfrm>
            <a:custGeom>
              <a:avLst/>
              <a:gdLst>
                <a:gd name="txL" fmla="*/ 0 w 144"/>
                <a:gd name="txT" fmla="*/ 0 h 364"/>
                <a:gd name="txR" fmla="*/ 144 w 144"/>
                <a:gd name="txB" fmla="*/ 364 h 364"/>
              </a:gdLst>
              <a:ahLst/>
              <a:cxnLst>
                <a:cxn ang="0">
                  <a:pos x="0" y="348"/>
                </a:cxn>
                <a:cxn ang="0">
                  <a:pos x="0" y="348"/>
                </a:cxn>
                <a:cxn ang="0">
                  <a:pos x="1" y="351"/>
                </a:cxn>
                <a:cxn ang="0">
                  <a:pos x="2" y="355"/>
                </a:cxn>
                <a:cxn ang="0">
                  <a:pos x="4" y="358"/>
                </a:cxn>
                <a:cxn ang="0">
                  <a:pos x="6" y="360"/>
                </a:cxn>
                <a:cxn ang="0">
                  <a:pos x="9" y="363"/>
                </a:cxn>
                <a:cxn ang="0">
                  <a:pos x="13" y="364"/>
                </a:cxn>
                <a:cxn ang="0">
                  <a:pos x="17" y="364"/>
                </a:cxn>
                <a:cxn ang="0">
                  <a:pos x="21" y="364"/>
                </a:cxn>
                <a:cxn ang="0">
                  <a:pos x="124" y="346"/>
                </a:cxn>
                <a:cxn ang="0">
                  <a:pos x="124" y="346"/>
                </a:cxn>
                <a:cxn ang="0">
                  <a:pos x="127" y="345"/>
                </a:cxn>
                <a:cxn ang="0">
                  <a:pos x="131" y="344"/>
                </a:cxn>
                <a:cxn ang="0">
                  <a:pos x="135" y="340"/>
                </a:cxn>
                <a:cxn ang="0">
                  <a:pos x="138" y="337"/>
                </a:cxn>
                <a:cxn ang="0">
                  <a:pos x="140" y="335"/>
                </a:cxn>
                <a:cxn ang="0">
                  <a:pos x="142" y="331"/>
                </a:cxn>
                <a:cxn ang="0">
                  <a:pos x="143" y="327"/>
                </a:cxn>
                <a:cxn ang="0">
                  <a:pos x="144" y="322"/>
                </a:cxn>
                <a:cxn ang="0">
                  <a:pos x="144" y="16"/>
                </a:cxn>
                <a:cxn ang="0">
                  <a:pos x="144" y="16"/>
                </a:cxn>
                <a:cxn ang="0">
                  <a:pos x="143" y="13"/>
                </a:cxn>
                <a:cxn ang="0">
                  <a:pos x="142" y="9"/>
                </a:cxn>
                <a:cxn ang="0">
                  <a:pos x="140" y="6"/>
                </a:cxn>
                <a:cxn ang="0">
                  <a:pos x="138" y="3"/>
                </a:cxn>
                <a:cxn ang="0">
                  <a:pos x="135" y="1"/>
                </a:cxn>
                <a:cxn ang="0">
                  <a:pos x="131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17" y="19"/>
                </a:cxn>
                <a:cxn ang="0">
                  <a:pos x="13" y="21"/>
                </a:cxn>
                <a:cxn ang="0">
                  <a:pos x="9" y="24"/>
                </a:cxn>
                <a:cxn ang="0">
                  <a:pos x="6" y="26"/>
                </a:cxn>
                <a:cxn ang="0">
                  <a:pos x="4" y="30"/>
                </a:cxn>
                <a:cxn ang="0">
                  <a:pos x="2" y="33"/>
                </a:cxn>
                <a:cxn ang="0">
                  <a:pos x="1" y="37"/>
                </a:cxn>
                <a:cxn ang="0">
                  <a:pos x="0" y="42"/>
                </a:cxn>
                <a:cxn ang="0">
                  <a:pos x="0" y="348"/>
                </a:cxn>
                <a:cxn ang="0">
                  <a:pos x="0" y="348"/>
                </a:cxn>
              </a:cxnLst>
              <a:rect l="txL" t="txT" r="txR" b="txB"/>
              <a:pathLst>
                <a:path w="144" h="364">
                  <a:moveTo>
                    <a:pt x="0" y="348"/>
                  </a:moveTo>
                  <a:lnTo>
                    <a:pt x="0" y="348"/>
                  </a:lnTo>
                  <a:lnTo>
                    <a:pt x="1" y="351"/>
                  </a:lnTo>
                  <a:lnTo>
                    <a:pt x="2" y="355"/>
                  </a:lnTo>
                  <a:lnTo>
                    <a:pt x="4" y="358"/>
                  </a:lnTo>
                  <a:lnTo>
                    <a:pt x="6" y="360"/>
                  </a:lnTo>
                  <a:lnTo>
                    <a:pt x="9" y="363"/>
                  </a:lnTo>
                  <a:lnTo>
                    <a:pt x="13" y="364"/>
                  </a:lnTo>
                  <a:lnTo>
                    <a:pt x="17" y="364"/>
                  </a:lnTo>
                  <a:lnTo>
                    <a:pt x="21" y="364"/>
                  </a:lnTo>
                  <a:lnTo>
                    <a:pt x="124" y="346"/>
                  </a:lnTo>
                  <a:lnTo>
                    <a:pt x="127" y="345"/>
                  </a:lnTo>
                  <a:lnTo>
                    <a:pt x="131" y="344"/>
                  </a:lnTo>
                  <a:lnTo>
                    <a:pt x="135" y="340"/>
                  </a:lnTo>
                  <a:lnTo>
                    <a:pt x="138" y="337"/>
                  </a:lnTo>
                  <a:lnTo>
                    <a:pt x="140" y="335"/>
                  </a:lnTo>
                  <a:lnTo>
                    <a:pt x="142" y="331"/>
                  </a:lnTo>
                  <a:lnTo>
                    <a:pt x="143" y="327"/>
                  </a:lnTo>
                  <a:lnTo>
                    <a:pt x="144" y="322"/>
                  </a:lnTo>
                  <a:lnTo>
                    <a:pt x="144" y="16"/>
                  </a:lnTo>
                  <a:lnTo>
                    <a:pt x="143" y="13"/>
                  </a:lnTo>
                  <a:lnTo>
                    <a:pt x="142" y="9"/>
                  </a:lnTo>
                  <a:lnTo>
                    <a:pt x="140" y="6"/>
                  </a:lnTo>
                  <a:lnTo>
                    <a:pt x="138" y="3"/>
                  </a:lnTo>
                  <a:lnTo>
                    <a:pt x="135" y="1"/>
                  </a:lnTo>
                  <a:lnTo>
                    <a:pt x="131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21" y="18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4" y="30"/>
                  </a:lnTo>
                  <a:lnTo>
                    <a:pt x="2" y="33"/>
                  </a:lnTo>
                  <a:lnTo>
                    <a:pt x="1" y="37"/>
                  </a:lnTo>
                  <a:lnTo>
                    <a:pt x="0" y="42"/>
                  </a:lnTo>
                  <a:lnTo>
                    <a:pt x="0" y="348"/>
                  </a:lnTo>
                  <a:close/>
                </a:path>
              </a:pathLst>
            </a:custGeom>
            <a:noFill/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2" name="Freeform 116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3" name="Freeform 117"/>
            <p:cNvSpPr/>
            <p:nvPr/>
          </p:nvSpPr>
          <p:spPr>
            <a:xfrm>
              <a:off x="1459" y="1132"/>
              <a:ext cx="119" cy="41"/>
            </a:xfrm>
            <a:custGeom>
              <a:avLst/>
              <a:gdLst>
                <a:gd name="txL" fmla="*/ 0 w 119"/>
                <a:gd name="txT" fmla="*/ 0 h 41"/>
                <a:gd name="txR" fmla="*/ 119 w 119"/>
                <a:gd name="txB" fmla="*/ 41 h 41"/>
              </a:gdLst>
              <a:ahLst/>
              <a:cxnLst>
                <a:cxn ang="0">
                  <a:pos x="0" y="41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1"/>
                </a:cxn>
                <a:cxn ang="0">
                  <a:pos x="0" y="41"/>
                </a:cxn>
                <a:cxn ang="0">
                  <a:pos x="0" y="41"/>
                </a:cxn>
              </a:cxnLst>
              <a:rect l="txL" t="txT" r="txR" b="txB"/>
              <a:pathLst>
                <a:path w="119" h="41">
                  <a:moveTo>
                    <a:pt x="0" y="41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1"/>
                  </a:lnTo>
                  <a:lnTo>
                    <a:pt x="0" y="41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4" name="Freeform 118"/>
            <p:cNvSpPr/>
            <p:nvPr/>
          </p:nvSpPr>
          <p:spPr>
            <a:xfrm>
              <a:off x="1462" y="1134"/>
              <a:ext cx="113" cy="33"/>
            </a:xfrm>
            <a:custGeom>
              <a:avLst/>
              <a:gdLst>
                <a:gd name="txL" fmla="*/ 0 w 113"/>
                <a:gd name="txT" fmla="*/ 0 h 33"/>
                <a:gd name="txR" fmla="*/ 113 w 113"/>
                <a:gd name="txB" fmla="*/ 33 h 33"/>
              </a:gdLst>
              <a:ahLst/>
              <a:cxnLst>
                <a:cxn ang="0">
                  <a:pos x="0" y="33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3"/>
                </a:cxn>
                <a:cxn ang="0">
                  <a:pos x="0" y="33"/>
                </a:cxn>
              </a:cxnLst>
              <a:rect l="txL" t="txT" r="txR" b="txB"/>
              <a:pathLst>
                <a:path w="113" h="33">
                  <a:moveTo>
                    <a:pt x="0" y="33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5" name="Freeform 119"/>
            <p:cNvSpPr/>
            <p:nvPr/>
          </p:nvSpPr>
          <p:spPr>
            <a:xfrm>
              <a:off x="1460" y="1151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6" name="Freeform 120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7" name="Freeform 121"/>
            <p:cNvSpPr/>
            <p:nvPr/>
          </p:nvSpPr>
          <p:spPr>
            <a:xfrm>
              <a:off x="1459" y="1186"/>
              <a:ext cx="119" cy="42"/>
            </a:xfrm>
            <a:custGeom>
              <a:avLst/>
              <a:gdLst>
                <a:gd name="txL" fmla="*/ 0 w 119"/>
                <a:gd name="txT" fmla="*/ 0 h 42"/>
                <a:gd name="txR" fmla="*/ 119 w 119"/>
                <a:gd name="txB" fmla="*/ 42 h 42"/>
              </a:gdLst>
              <a:ahLst/>
              <a:cxnLst>
                <a:cxn ang="0">
                  <a:pos x="0" y="42"/>
                </a:cxn>
                <a:cxn ang="0">
                  <a:pos x="119" y="21"/>
                </a:cxn>
                <a:cxn ang="0">
                  <a:pos x="119" y="0"/>
                </a:cxn>
                <a:cxn ang="0">
                  <a:pos x="0" y="22"/>
                </a:cxn>
                <a:cxn ang="0">
                  <a:pos x="0" y="42"/>
                </a:cxn>
                <a:cxn ang="0">
                  <a:pos x="0" y="42"/>
                </a:cxn>
              </a:cxnLst>
              <a:rect l="txL" t="txT" r="txR" b="txB"/>
              <a:pathLst>
                <a:path w="119" h="42">
                  <a:moveTo>
                    <a:pt x="0" y="42"/>
                  </a:moveTo>
                  <a:lnTo>
                    <a:pt x="119" y="21"/>
                  </a:lnTo>
                  <a:lnTo>
                    <a:pt x="119" y="0"/>
                  </a:lnTo>
                  <a:lnTo>
                    <a:pt x="0" y="22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1588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8" name="Freeform 122"/>
            <p:cNvSpPr/>
            <p:nvPr/>
          </p:nvSpPr>
          <p:spPr>
            <a:xfrm>
              <a:off x="1462" y="1188"/>
              <a:ext cx="113" cy="34"/>
            </a:xfrm>
            <a:custGeom>
              <a:avLst/>
              <a:gdLst>
                <a:gd name="txL" fmla="*/ 0 w 113"/>
                <a:gd name="txT" fmla="*/ 0 h 34"/>
                <a:gd name="txR" fmla="*/ 113 w 11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113" y="14"/>
                </a:cxn>
                <a:cxn ang="0">
                  <a:pos x="113" y="0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0" y="34"/>
                </a:cxn>
              </a:cxnLst>
              <a:rect l="txL" t="txT" r="txR" b="txB"/>
              <a:pathLst>
                <a:path w="113" h="34">
                  <a:moveTo>
                    <a:pt x="0" y="34"/>
                  </a:moveTo>
                  <a:lnTo>
                    <a:pt x="113" y="14"/>
                  </a:lnTo>
                  <a:lnTo>
                    <a:pt x="113" y="0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39" name="Freeform 123"/>
            <p:cNvSpPr/>
            <p:nvPr/>
          </p:nvSpPr>
          <p:spPr>
            <a:xfrm>
              <a:off x="1460" y="1205"/>
              <a:ext cx="118" cy="22"/>
            </a:xfrm>
            <a:custGeom>
              <a:avLst/>
              <a:gdLst>
                <a:gd name="txL" fmla="*/ 0 w 118"/>
                <a:gd name="txT" fmla="*/ 0 h 22"/>
                <a:gd name="txR" fmla="*/ 118 w 118"/>
                <a:gd name="txB" fmla="*/ 22 h 22"/>
              </a:gdLst>
              <a:ahLst/>
              <a:cxnLst>
                <a:cxn ang="0">
                  <a:pos x="0" y="22"/>
                </a:cxn>
                <a:cxn ang="0">
                  <a:pos x="118" y="2"/>
                </a:cxn>
                <a:cxn ang="0">
                  <a:pos x="116" y="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0" y="22"/>
                </a:cxn>
              </a:cxnLst>
              <a:rect l="txL" t="txT" r="txR" b="txB"/>
              <a:pathLst>
                <a:path w="118" h="22">
                  <a:moveTo>
                    <a:pt x="0" y="22"/>
                  </a:moveTo>
                  <a:lnTo>
                    <a:pt x="118" y="2"/>
                  </a:lnTo>
                  <a:lnTo>
                    <a:pt x="116" y="0"/>
                  </a:lnTo>
                  <a:lnTo>
                    <a:pt x="0" y="2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0" name="Line 124"/>
            <p:cNvSpPr/>
            <p:nvPr/>
          </p:nvSpPr>
          <p:spPr>
            <a:xfrm flipH="1">
              <a:off x="1447" y="1166"/>
              <a:ext cx="142" cy="25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41" name="Line 125"/>
            <p:cNvSpPr/>
            <p:nvPr/>
          </p:nvSpPr>
          <p:spPr>
            <a:xfrm flipH="1">
              <a:off x="1447" y="1218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42" name="Line 126"/>
            <p:cNvSpPr/>
            <p:nvPr/>
          </p:nvSpPr>
          <p:spPr>
            <a:xfrm flipH="1">
              <a:off x="1447" y="1410"/>
              <a:ext cx="142" cy="26"/>
            </a:xfrm>
            <a:prstGeom prst="line">
              <a:avLst/>
            </a:prstGeom>
            <a:ln w="1588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43" name="Freeform 127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4" name="Freeform 128"/>
            <p:cNvSpPr/>
            <p:nvPr/>
          </p:nvSpPr>
          <p:spPr>
            <a:xfrm>
              <a:off x="1478" y="1237"/>
              <a:ext cx="86" cy="23"/>
            </a:xfrm>
            <a:custGeom>
              <a:avLst/>
              <a:gdLst>
                <a:gd name="txL" fmla="*/ 0 w 86"/>
                <a:gd name="txT" fmla="*/ 0 h 23"/>
                <a:gd name="txR" fmla="*/ 86 w 86"/>
                <a:gd name="txB" fmla="*/ 23 h 23"/>
              </a:gdLst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3"/>
                </a:cxn>
                <a:cxn ang="0">
                  <a:pos x="5" y="23"/>
                </a:cxn>
                <a:cxn ang="0">
                  <a:pos x="81" y="10"/>
                </a:cxn>
                <a:cxn ang="0">
                  <a:pos x="81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5" y="6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3" y="0"/>
                </a:cxn>
                <a:cxn ang="0">
                  <a:pos x="81" y="0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3" y="14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86" h="23">
                  <a:moveTo>
                    <a:pt x="0" y="20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81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5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5" y="13"/>
                  </a:lnTo>
                  <a:lnTo>
                    <a:pt x="3" y="14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5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5" name="Line 129"/>
            <p:cNvSpPr/>
            <p:nvPr/>
          </p:nvSpPr>
          <p:spPr>
            <a:xfrm flipH="1">
              <a:off x="1482" y="1245"/>
              <a:ext cx="77" cy="14"/>
            </a:xfrm>
            <a:prstGeom prst="line">
              <a:avLst/>
            </a:prstGeom>
            <a:ln w="4763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46" name="Freeform 130"/>
            <p:cNvSpPr/>
            <p:nvPr/>
          </p:nvSpPr>
          <p:spPr>
            <a:xfrm>
              <a:off x="1453" y="1438"/>
              <a:ext cx="131" cy="36"/>
            </a:xfrm>
            <a:custGeom>
              <a:avLst/>
              <a:gdLst>
                <a:gd name="txL" fmla="*/ 0 w 131"/>
                <a:gd name="txT" fmla="*/ 0 h 36"/>
                <a:gd name="txR" fmla="*/ 131 w 131"/>
                <a:gd name="txB" fmla="*/ 36 h 36"/>
              </a:gdLst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32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7" y="36"/>
                </a:cxn>
                <a:cxn ang="0">
                  <a:pos x="11" y="36"/>
                </a:cxn>
                <a:cxn ang="0">
                  <a:pos x="14" y="36"/>
                </a:cxn>
                <a:cxn ang="0">
                  <a:pos x="14" y="36"/>
                </a:cxn>
                <a:cxn ang="0">
                  <a:pos x="64" y="27"/>
                </a:cxn>
                <a:cxn ang="0">
                  <a:pos x="100" y="22"/>
                </a:cxn>
                <a:cxn ang="0">
                  <a:pos x="118" y="18"/>
                </a:cxn>
                <a:cxn ang="0">
                  <a:pos x="118" y="18"/>
                </a:cxn>
                <a:cxn ang="0">
                  <a:pos x="123" y="15"/>
                </a:cxn>
                <a:cxn ang="0">
                  <a:pos x="125" y="13"/>
                </a:cxn>
                <a:cxn ang="0">
                  <a:pos x="127" y="11"/>
                </a:cxn>
                <a:cxn ang="0">
                  <a:pos x="127" y="11"/>
                </a:cxn>
                <a:cxn ang="0">
                  <a:pos x="131" y="6"/>
                </a:cxn>
                <a:cxn ang="0">
                  <a:pos x="131" y="3"/>
                </a:cxn>
                <a:cxn ang="0">
                  <a:pos x="131" y="3"/>
                </a:cxn>
                <a:cxn ang="0">
                  <a:pos x="131" y="0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0" y="26"/>
                </a:cxn>
              </a:cxnLst>
              <a:rect l="txL" t="txT" r="txR" b="txB"/>
              <a:pathLst>
                <a:path w="131" h="36">
                  <a:moveTo>
                    <a:pt x="0" y="26"/>
                  </a:moveTo>
                  <a:lnTo>
                    <a:pt x="0" y="26"/>
                  </a:lnTo>
                  <a:lnTo>
                    <a:pt x="1" y="28"/>
                  </a:lnTo>
                  <a:lnTo>
                    <a:pt x="2" y="32"/>
                  </a:lnTo>
                  <a:lnTo>
                    <a:pt x="4" y="35"/>
                  </a:lnTo>
                  <a:lnTo>
                    <a:pt x="7" y="36"/>
                  </a:lnTo>
                  <a:lnTo>
                    <a:pt x="11" y="36"/>
                  </a:lnTo>
                  <a:lnTo>
                    <a:pt x="14" y="36"/>
                  </a:lnTo>
                  <a:lnTo>
                    <a:pt x="64" y="27"/>
                  </a:lnTo>
                  <a:lnTo>
                    <a:pt x="100" y="22"/>
                  </a:lnTo>
                  <a:lnTo>
                    <a:pt x="118" y="18"/>
                  </a:lnTo>
                  <a:lnTo>
                    <a:pt x="123" y="15"/>
                  </a:lnTo>
                  <a:lnTo>
                    <a:pt x="125" y="13"/>
                  </a:lnTo>
                  <a:lnTo>
                    <a:pt x="127" y="11"/>
                  </a:lnTo>
                  <a:lnTo>
                    <a:pt x="131" y="6"/>
                  </a:lnTo>
                  <a:lnTo>
                    <a:pt x="131" y="3"/>
                  </a:lnTo>
                  <a:lnTo>
                    <a:pt x="131" y="0"/>
                  </a:lnTo>
                  <a:lnTo>
                    <a:pt x="0" y="2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7" name="Freeform 131"/>
            <p:cNvSpPr/>
            <p:nvPr/>
          </p:nvSpPr>
          <p:spPr>
            <a:xfrm>
              <a:off x="1436" y="1057"/>
              <a:ext cx="163" cy="427"/>
            </a:xfrm>
            <a:custGeom>
              <a:avLst/>
              <a:gdLst>
                <a:gd name="txL" fmla="*/ 0 w 163"/>
                <a:gd name="txT" fmla="*/ 0 h 427"/>
                <a:gd name="txR" fmla="*/ 163 w 163"/>
                <a:gd name="txB" fmla="*/ 427 h 427"/>
              </a:gdLst>
              <a:ahLst/>
              <a:cxnLst>
                <a:cxn ang="0">
                  <a:pos x="0" y="423"/>
                </a:cxn>
                <a:cxn ang="0">
                  <a:pos x="0" y="423"/>
                </a:cxn>
                <a:cxn ang="0">
                  <a:pos x="6" y="425"/>
                </a:cxn>
                <a:cxn ang="0">
                  <a:pos x="10" y="426"/>
                </a:cxn>
                <a:cxn ang="0">
                  <a:pos x="13" y="427"/>
                </a:cxn>
                <a:cxn ang="0">
                  <a:pos x="13" y="427"/>
                </a:cxn>
                <a:cxn ang="0">
                  <a:pos x="31" y="425"/>
                </a:cxn>
                <a:cxn ang="0">
                  <a:pos x="67" y="418"/>
                </a:cxn>
                <a:cxn ang="0">
                  <a:pos x="144" y="405"/>
                </a:cxn>
                <a:cxn ang="0">
                  <a:pos x="144" y="405"/>
                </a:cxn>
                <a:cxn ang="0">
                  <a:pos x="150" y="403"/>
                </a:cxn>
                <a:cxn ang="0">
                  <a:pos x="153" y="400"/>
                </a:cxn>
                <a:cxn ang="0">
                  <a:pos x="155" y="398"/>
                </a:cxn>
                <a:cxn ang="0">
                  <a:pos x="159" y="395"/>
                </a:cxn>
                <a:cxn ang="0">
                  <a:pos x="161" y="391"/>
                </a:cxn>
                <a:cxn ang="0">
                  <a:pos x="162" y="387"/>
                </a:cxn>
                <a:cxn ang="0">
                  <a:pos x="163" y="383"/>
                </a:cxn>
                <a:cxn ang="0">
                  <a:pos x="163" y="383"/>
                </a:cxn>
                <a:cxn ang="0">
                  <a:pos x="163" y="19"/>
                </a:cxn>
                <a:cxn ang="0">
                  <a:pos x="163" y="19"/>
                </a:cxn>
                <a:cxn ang="0">
                  <a:pos x="162" y="15"/>
                </a:cxn>
                <a:cxn ang="0">
                  <a:pos x="162" y="12"/>
                </a:cxn>
                <a:cxn ang="0">
                  <a:pos x="159" y="8"/>
                </a:cxn>
                <a:cxn ang="0">
                  <a:pos x="159" y="8"/>
                </a:cxn>
                <a:cxn ang="0">
                  <a:pos x="155" y="6"/>
                </a:cxn>
                <a:cxn ang="0">
                  <a:pos x="151" y="4"/>
                </a:cxn>
                <a:cxn ang="0">
                  <a:pos x="142" y="0"/>
                </a:cxn>
              </a:cxnLst>
              <a:rect l="txL" t="txT" r="txR" b="txB"/>
              <a:pathLst>
                <a:path w="163" h="427">
                  <a:moveTo>
                    <a:pt x="0" y="423"/>
                  </a:moveTo>
                  <a:lnTo>
                    <a:pt x="0" y="423"/>
                  </a:lnTo>
                  <a:lnTo>
                    <a:pt x="6" y="425"/>
                  </a:lnTo>
                  <a:lnTo>
                    <a:pt x="10" y="426"/>
                  </a:lnTo>
                  <a:lnTo>
                    <a:pt x="13" y="427"/>
                  </a:lnTo>
                  <a:lnTo>
                    <a:pt x="31" y="425"/>
                  </a:lnTo>
                  <a:lnTo>
                    <a:pt x="67" y="418"/>
                  </a:lnTo>
                  <a:lnTo>
                    <a:pt x="144" y="405"/>
                  </a:lnTo>
                  <a:lnTo>
                    <a:pt x="150" y="403"/>
                  </a:lnTo>
                  <a:lnTo>
                    <a:pt x="153" y="400"/>
                  </a:lnTo>
                  <a:lnTo>
                    <a:pt x="155" y="398"/>
                  </a:lnTo>
                  <a:lnTo>
                    <a:pt x="159" y="395"/>
                  </a:lnTo>
                  <a:lnTo>
                    <a:pt x="161" y="391"/>
                  </a:lnTo>
                  <a:lnTo>
                    <a:pt x="162" y="387"/>
                  </a:lnTo>
                  <a:lnTo>
                    <a:pt x="163" y="383"/>
                  </a:lnTo>
                  <a:lnTo>
                    <a:pt x="163" y="19"/>
                  </a:lnTo>
                  <a:lnTo>
                    <a:pt x="162" y="15"/>
                  </a:lnTo>
                  <a:lnTo>
                    <a:pt x="162" y="12"/>
                  </a:lnTo>
                  <a:lnTo>
                    <a:pt x="159" y="8"/>
                  </a:lnTo>
                  <a:lnTo>
                    <a:pt x="155" y="6"/>
                  </a:lnTo>
                  <a:lnTo>
                    <a:pt x="151" y="4"/>
                  </a:lnTo>
                  <a:lnTo>
                    <a:pt x="142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8" name="Freeform 132"/>
            <p:cNvSpPr/>
            <p:nvPr/>
          </p:nvSpPr>
          <p:spPr>
            <a:xfrm>
              <a:off x="1290" y="1441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0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9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5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5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9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5"/>
                </a:cxn>
                <a:cxn ang="0">
                  <a:pos x="1" y="28"/>
                </a:cxn>
                <a:cxn ang="0">
                  <a:pos x="4" y="30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2"/>
                </a:cxn>
                <a:cxn ang="0">
                  <a:pos x="110" y="28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9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5"/>
                  </a:lnTo>
                  <a:lnTo>
                    <a:pt x="56" y="16"/>
                  </a:lnTo>
                  <a:lnTo>
                    <a:pt x="38" y="15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" y="28"/>
                  </a:lnTo>
                  <a:lnTo>
                    <a:pt x="4" y="30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2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2"/>
                  </a:lnTo>
                  <a:lnTo>
                    <a:pt x="110" y="28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49" name="Freeform 133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0" name="Freeform 134"/>
            <p:cNvSpPr/>
            <p:nvPr/>
          </p:nvSpPr>
          <p:spPr>
            <a:xfrm>
              <a:off x="1290" y="141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6"/>
                </a:cxn>
                <a:cxn ang="0">
                  <a:pos x="103" y="9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7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7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9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4" y="32"/>
                </a:cxn>
                <a:cxn ang="0">
                  <a:pos x="9" y="35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2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6"/>
                  </a:lnTo>
                  <a:lnTo>
                    <a:pt x="103" y="9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7"/>
                  </a:lnTo>
                  <a:lnTo>
                    <a:pt x="56" y="17"/>
                  </a:lnTo>
                  <a:lnTo>
                    <a:pt x="38" y="17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9"/>
                  </a:lnTo>
                  <a:lnTo>
                    <a:pt x="3" y="6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4" y="32"/>
                  </a:lnTo>
                  <a:lnTo>
                    <a:pt x="9" y="35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1" name="Freeform 135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rgbClr val="4573B3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2" name="Freeform 136"/>
            <p:cNvSpPr/>
            <p:nvPr/>
          </p:nvSpPr>
          <p:spPr>
            <a:xfrm>
              <a:off x="1290" y="1390"/>
              <a:ext cx="111" cy="43"/>
            </a:xfrm>
            <a:custGeom>
              <a:avLst/>
              <a:gdLst>
                <a:gd name="txL" fmla="*/ 0 w 111"/>
                <a:gd name="txT" fmla="*/ 0 h 43"/>
                <a:gd name="txR" fmla="*/ 111 w 111"/>
                <a:gd name="txB" fmla="*/ 43 h 43"/>
              </a:gdLst>
              <a:ahLst/>
              <a:cxnLst>
                <a:cxn ang="0">
                  <a:pos x="111" y="27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3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1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6"/>
                </a:cxn>
                <a:cxn ang="0">
                  <a:pos x="56" y="16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1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9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39"/>
                </a:cxn>
                <a:cxn ang="0">
                  <a:pos x="39" y="42"/>
                </a:cxn>
                <a:cxn ang="0">
                  <a:pos x="56" y="43"/>
                </a:cxn>
                <a:cxn ang="0">
                  <a:pos x="56" y="43"/>
                </a:cxn>
                <a:cxn ang="0">
                  <a:pos x="73" y="42"/>
                </a:cxn>
                <a:cxn ang="0">
                  <a:pos x="85" y="39"/>
                </a:cxn>
                <a:cxn ang="0">
                  <a:pos x="95" y="37"/>
                </a:cxn>
                <a:cxn ang="0">
                  <a:pos x="102" y="34"/>
                </a:cxn>
                <a:cxn ang="0">
                  <a:pos x="107" y="33"/>
                </a:cxn>
                <a:cxn ang="0">
                  <a:pos x="110" y="29"/>
                </a:cxn>
                <a:cxn ang="0">
                  <a:pos x="111" y="27"/>
                </a:cxn>
                <a:cxn ang="0">
                  <a:pos x="111" y="27"/>
                </a:cxn>
                <a:cxn ang="0">
                  <a:pos x="111" y="27"/>
                </a:cxn>
              </a:cxnLst>
              <a:rect l="txL" t="txT" r="txR" b="txB"/>
              <a:pathLst>
                <a:path w="111" h="43">
                  <a:moveTo>
                    <a:pt x="111" y="27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3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1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6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1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39"/>
                  </a:lnTo>
                  <a:lnTo>
                    <a:pt x="39" y="42"/>
                  </a:lnTo>
                  <a:lnTo>
                    <a:pt x="56" y="43"/>
                  </a:lnTo>
                  <a:lnTo>
                    <a:pt x="73" y="42"/>
                  </a:lnTo>
                  <a:lnTo>
                    <a:pt x="85" y="39"/>
                  </a:lnTo>
                  <a:lnTo>
                    <a:pt x="95" y="37"/>
                  </a:lnTo>
                  <a:lnTo>
                    <a:pt x="102" y="34"/>
                  </a:lnTo>
                  <a:lnTo>
                    <a:pt x="107" y="33"/>
                  </a:lnTo>
                  <a:lnTo>
                    <a:pt x="110" y="29"/>
                  </a:lnTo>
                  <a:lnTo>
                    <a:pt x="111" y="27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3" name="Freeform 137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solidFill>
              <a:srgbClr val="809CC9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4" name="Freeform 138"/>
            <p:cNvSpPr/>
            <p:nvPr/>
          </p:nvSpPr>
          <p:spPr>
            <a:xfrm>
              <a:off x="1290" y="1365"/>
              <a:ext cx="111" cy="42"/>
            </a:xfrm>
            <a:custGeom>
              <a:avLst/>
              <a:gdLst>
                <a:gd name="txL" fmla="*/ 0 w 111"/>
                <a:gd name="txT" fmla="*/ 0 h 42"/>
                <a:gd name="txR" fmla="*/ 111 w 111"/>
                <a:gd name="txB" fmla="*/ 42 h 42"/>
              </a:gdLst>
              <a:ahLst/>
              <a:cxnLst>
                <a:cxn ang="0">
                  <a:pos x="111" y="26"/>
                </a:cxn>
                <a:cxn ang="0">
                  <a:pos x="111" y="0"/>
                </a:cxn>
                <a:cxn ang="0">
                  <a:pos x="111" y="1"/>
                </a:cxn>
                <a:cxn ang="0">
                  <a:pos x="110" y="2"/>
                </a:cxn>
                <a:cxn ang="0">
                  <a:pos x="107" y="5"/>
                </a:cxn>
                <a:cxn ang="0">
                  <a:pos x="103" y="8"/>
                </a:cxn>
                <a:cxn ang="0">
                  <a:pos x="97" y="12"/>
                </a:cxn>
                <a:cxn ang="0">
                  <a:pos x="88" y="14"/>
                </a:cxn>
                <a:cxn ang="0">
                  <a:pos x="74" y="16"/>
                </a:cxn>
                <a:cxn ang="0">
                  <a:pos x="56" y="17"/>
                </a:cxn>
                <a:cxn ang="0">
                  <a:pos x="56" y="17"/>
                </a:cxn>
                <a:cxn ang="0">
                  <a:pos x="38" y="16"/>
                </a:cxn>
                <a:cxn ang="0">
                  <a:pos x="24" y="14"/>
                </a:cxn>
                <a:cxn ang="0">
                  <a:pos x="14" y="12"/>
                </a:cxn>
                <a:cxn ang="0">
                  <a:pos x="7" y="8"/>
                </a:cxn>
                <a:cxn ang="0">
                  <a:pos x="3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4" y="31"/>
                </a:cxn>
                <a:cxn ang="0">
                  <a:pos x="9" y="34"/>
                </a:cxn>
                <a:cxn ang="0">
                  <a:pos x="16" y="37"/>
                </a:cxn>
                <a:cxn ang="0">
                  <a:pos x="25" y="40"/>
                </a:cxn>
                <a:cxn ang="0">
                  <a:pos x="39" y="41"/>
                </a:cxn>
                <a:cxn ang="0">
                  <a:pos x="56" y="42"/>
                </a:cxn>
                <a:cxn ang="0">
                  <a:pos x="56" y="42"/>
                </a:cxn>
                <a:cxn ang="0">
                  <a:pos x="73" y="41"/>
                </a:cxn>
                <a:cxn ang="0">
                  <a:pos x="85" y="40"/>
                </a:cxn>
                <a:cxn ang="0">
                  <a:pos x="95" y="38"/>
                </a:cxn>
                <a:cxn ang="0">
                  <a:pos x="102" y="35"/>
                </a:cxn>
                <a:cxn ang="0">
                  <a:pos x="107" y="32"/>
                </a:cxn>
                <a:cxn ang="0">
                  <a:pos x="110" y="30"/>
                </a:cxn>
                <a:cxn ang="0">
                  <a:pos x="111" y="26"/>
                </a:cxn>
                <a:cxn ang="0">
                  <a:pos x="111" y="26"/>
                </a:cxn>
                <a:cxn ang="0">
                  <a:pos x="111" y="26"/>
                </a:cxn>
              </a:cxnLst>
              <a:rect l="txL" t="txT" r="txR" b="txB"/>
              <a:pathLst>
                <a:path w="111" h="42">
                  <a:moveTo>
                    <a:pt x="111" y="26"/>
                  </a:moveTo>
                  <a:lnTo>
                    <a:pt x="111" y="0"/>
                  </a:lnTo>
                  <a:lnTo>
                    <a:pt x="111" y="1"/>
                  </a:lnTo>
                  <a:lnTo>
                    <a:pt x="110" y="2"/>
                  </a:lnTo>
                  <a:lnTo>
                    <a:pt x="107" y="5"/>
                  </a:lnTo>
                  <a:lnTo>
                    <a:pt x="103" y="8"/>
                  </a:lnTo>
                  <a:lnTo>
                    <a:pt x="97" y="12"/>
                  </a:lnTo>
                  <a:lnTo>
                    <a:pt x="88" y="14"/>
                  </a:lnTo>
                  <a:lnTo>
                    <a:pt x="74" y="16"/>
                  </a:lnTo>
                  <a:lnTo>
                    <a:pt x="56" y="17"/>
                  </a:lnTo>
                  <a:lnTo>
                    <a:pt x="38" y="16"/>
                  </a:lnTo>
                  <a:lnTo>
                    <a:pt x="24" y="14"/>
                  </a:lnTo>
                  <a:lnTo>
                    <a:pt x="14" y="12"/>
                  </a:lnTo>
                  <a:lnTo>
                    <a:pt x="7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4" y="31"/>
                  </a:lnTo>
                  <a:lnTo>
                    <a:pt x="9" y="34"/>
                  </a:lnTo>
                  <a:lnTo>
                    <a:pt x="16" y="37"/>
                  </a:lnTo>
                  <a:lnTo>
                    <a:pt x="25" y="40"/>
                  </a:lnTo>
                  <a:lnTo>
                    <a:pt x="39" y="41"/>
                  </a:lnTo>
                  <a:lnTo>
                    <a:pt x="56" y="42"/>
                  </a:lnTo>
                  <a:lnTo>
                    <a:pt x="73" y="41"/>
                  </a:lnTo>
                  <a:lnTo>
                    <a:pt x="85" y="40"/>
                  </a:lnTo>
                  <a:lnTo>
                    <a:pt x="95" y="38"/>
                  </a:lnTo>
                  <a:lnTo>
                    <a:pt x="102" y="35"/>
                  </a:lnTo>
                  <a:lnTo>
                    <a:pt x="107" y="32"/>
                  </a:lnTo>
                  <a:lnTo>
                    <a:pt x="110" y="30"/>
                  </a:lnTo>
                  <a:lnTo>
                    <a:pt x="111" y="26"/>
                  </a:lnTo>
                  <a:close/>
                </a:path>
              </a:pathLst>
            </a:custGeom>
            <a:noFill/>
            <a:ln w="1588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5" name="Freeform 139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solidFill>
              <a:srgbClr val="BFCAE2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6" name="Freeform 140"/>
            <p:cNvSpPr/>
            <p:nvPr/>
          </p:nvSpPr>
          <p:spPr>
            <a:xfrm>
              <a:off x="1290" y="1348"/>
              <a:ext cx="111" cy="34"/>
            </a:xfrm>
            <a:custGeom>
              <a:avLst/>
              <a:gdLst>
                <a:gd name="txL" fmla="*/ 0 w 111"/>
                <a:gd name="txT" fmla="*/ 0 h 34"/>
                <a:gd name="txR" fmla="*/ 111 w 111"/>
                <a:gd name="txB" fmla="*/ 34 h 34"/>
              </a:gdLst>
              <a:ahLst/>
              <a:cxnLst>
                <a:cxn ang="0">
                  <a:pos x="111" y="16"/>
                </a:cxn>
                <a:cxn ang="0">
                  <a:pos x="111" y="16"/>
                </a:cxn>
                <a:cxn ang="0">
                  <a:pos x="111" y="15"/>
                </a:cxn>
                <a:cxn ang="0">
                  <a:pos x="111" y="13"/>
                </a:cxn>
                <a:cxn ang="0">
                  <a:pos x="107" y="11"/>
                </a:cxn>
                <a:cxn ang="0">
                  <a:pos x="102" y="7"/>
                </a:cxn>
                <a:cxn ang="0">
                  <a:pos x="95" y="4"/>
                </a:cxn>
                <a:cxn ang="0">
                  <a:pos x="86" y="3"/>
                </a:cxn>
                <a:cxn ang="0">
                  <a:pos x="77" y="1"/>
                </a:cxn>
                <a:cxn ang="0">
                  <a:pos x="67" y="0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4"/>
                </a:cxn>
                <a:cxn ang="0">
                  <a:pos x="9" y="7"/>
                </a:cxn>
                <a:cxn ang="0">
                  <a:pos x="4" y="11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20"/>
                </a:cxn>
                <a:cxn ang="0">
                  <a:pos x="4" y="24"/>
                </a:cxn>
                <a:cxn ang="0">
                  <a:pos x="9" y="26"/>
                </a:cxn>
                <a:cxn ang="0">
                  <a:pos x="16" y="29"/>
                </a:cxn>
                <a:cxn ang="0">
                  <a:pos x="24" y="31"/>
                </a:cxn>
                <a:cxn ang="0">
                  <a:pos x="34" y="33"/>
                </a:cxn>
                <a:cxn ang="0">
                  <a:pos x="44" y="33"/>
                </a:cxn>
                <a:cxn ang="0">
                  <a:pos x="56" y="34"/>
                </a:cxn>
                <a:cxn ang="0">
                  <a:pos x="56" y="34"/>
                </a:cxn>
                <a:cxn ang="0">
                  <a:pos x="67" y="33"/>
                </a:cxn>
                <a:cxn ang="0">
                  <a:pos x="77" y="33"/>
                </a:cxn>
                <a:cxn ang="0">
                  <a:pos x="86" y="31"/>
                </a:cxn>
                <a:cxn ang="0">
                  <a:pos x="95" y="29"/>
                </a:cxn>
                <a:cxn ang="0">
                  <a:pos x="102" y="26"/>
                </a:cxn>
                <a:cxn ang="0">
                  <a:pos x="107" y="24"/>
                </a:cxn>
                <a:cxn ang="0">
                  <a:pos x="111" y="20"/>
                </a:cxn>
                <a:cxn ang="0">
                  <a:pos x="111" y="18"/>
                </a:cxn>
                <a:cxn ang="0">
                  <a:pos x="111" y="16"/>
                </a:cxn>
                <a:cxn ang="0">
                  <a:pos x="111" y="16"/>
                </a:cxn>
                <a:cxn ang="0">
                  <a:pos x="111" y="16"/>
                </a:cxn>
              </a:cxnLst>
              <a:rect l="txL" t="txT" r="txR" b="txB"/>
              <a:pathLst>
                <a:path w="111" h="34">
                  <a:moveTo>
                    <a:pt x="111" y="16"/>
                  </a:moveTo>
                  <a:lnTo>
                    <a:pt x="111" y="16"/>
                  </a:lnTo>
                  <a:lnTo>
                    <a:pt x="111" y="15"/>
                  </a:lnTo>
                  <a:lnTo>
                    <a:pt x="111" y="13"/>
                  </a:lnTo>
                  <a:lnTo>
                    <a:pt x="107" y="11"/>
                  </a:lnTo>
                  <a:lnTo>
                    <a:pt x="102" y="7"/>
                  </a:lnTo>
                  <a:lnTo>
                    <a:pt x="95" y="4"/>
                  </a:lnTo>
                  <a:lnTo>
                    <a:pt x="86" y="3"/>
                  </a:lnTo>
                  <a:lnTo>
                    <a:pt x="77" y="1"/>
                  </a:lnTo>
                  <a:lnTo>
                    <a:pt x="67" y="0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4" y="1"/>
                  </a:lnTo>
                  <a:lnTo>
                    <a:pt x="24" y="3"/>
                  </a:lnTo>
                  <a:lnTo>
                    <a:pt x="16" y="4"/>
                  </a:lnTo>
                  <a:lnTo>
                    <a:pt x="9" y="7"/>
                  </a:lnTo>
                  <a:lnTo>
                    <a:pt x="4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4" y="24"/>
                  </a:lnTo>
                  <a:lnTo>
                    <a:pt x="9" y="26"/>
                  </a:lnTo>
                  <a:lnTo>
                    <a:pt x="16" y="29"/>
                  </a:lnTo>
                  <a:lnTo>
                    <a:pt x="24" y="31"/>
                  </a:lnTo>
                  <a:lnTo>
                    <a:pt x="34" y="33"/>
                  </a:lnTo>
                  <a:lnTo>
                    <a:pt x="44" y="33"/>
                  </a:lnTo>
                  <a:lnTo>
                    <a:pt x="56" y="34"/>
                  </a:lnTo>
                  <a:lnTo>
                    <a:pt x="67" y="33"/>
                  </a:lnTo>
                  <a:lnTo>
                    <a:pt x="77" y="33"/>
                  </a:lnTo>
                  <a:lnTo>
                    <a:pt x="86" y="31"/>
                  </a:lnTo>
                  <a:lnTo>
                    <a:pt x="95" y="29"/>
                  </a:lnTo>
                  <a:lnTo>
                    <a:pt x="102" y="26"/>
                  </a:lnTo>
                  <a:lnTo>
                    <a:pt x="107" y="24"/>
                  </a:lnTo>
                  <a:lnTo>
                    <a:pt x="111" y="20"/>
                  </a:lnTo>
                  <a:lnTo>
                    <a:pt x="111" y="18"/>
                  </a:lnTo>
                  <a:lnTo>
                    <a:pt x="111" y="16"/>
                  </a:lnTo>
                  <a:close/>
                </a:path>
              </a:pathLst>
            </a:custGeom>
            <a:noFill/>
            <a:ln w="4763" cap="flat" cmpd="sng">
              <a:solidFill>
                <a:srgbClr val="4573B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7" name="Freeform 141"/>
            <p:cNvSpPr/>
            <p:nvPr/>
          </p:nvSpPr>
          <p:spPr>
            <a:xfrm>
              <a:off x="1289" y="1466"/>
              <a:ext cx="57" cy="17"/>
            </a:xfrm>
            <a:custGeom>
              <a:avLst/>
              <a:gdLst>
                <a:gd name="txL" fmla="*/ 0 w 57"/>
                <a:gd name="txT" fmla="*/ 0 h 17"/>
                <a:gd name="txR" fmla="*/ 57 w 57"/>
                <a:gd name="txB" fmla="*/ 17 h 17"/>
              </a:gdLst>
              <a:ahLst/>
              <a:cxnLst>
                <a:cxn ang="0">
                  <a:pos x="57" y="17"/>
                </a:cxn>
                <a:cxn ang="0">
                  <a:pos x="55" y="17"/>
                </a:cxn>
                <a:cxn ang="0">
                  <a:pos x="53" y="17"/>
                </a:cxn>
                <a:cxn ang="0">
                  <a:pos x="51" y="17"/>
                </a:cxn>
                <a:cxn ang="0">
                  <a:pos x="49" y="17"/>
                </a:cxn>
                <a:cxn ang="0">
                  <a:pos x="48" y="17"/>
                </a:cxn>
                <a:cxn ang="0">
                  <a:pos x="46" y="17"/>
                </a:cxn>
                <a:cxn ang="0">
                  <a:pos x="44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39" y="17"/>
                </a:cxn>
                <a:cxn ang="0">
                  <a:pos x="37" y="17"/>
                </a:cxn>
                <a:cxn ang="0">
                  <a:pos x="36" y="16"/>
                </a:cxn>
                <a:cxn ang="0">
                  <a:pos x="34" y="16"/>
                </a:cxn>
                <a:cxn ang="0">
                  <a:pos x="32" y="16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2" y="13"/>
                </a:cxn>
                <a:cxn ang="0">
                  <a:pos x="21" y="13"/>
                </a:cxn>
                <a:cxn ang="0">
                  <a:pos x="19" y="13"/>
                </a:cxn>
                <a:cxn ang="0">
                  <a:pos x="18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5" y="12"/>
                </a:cxn>
                <a:cxn ang="0">
                  <a:pos x="14" y="12"/>
                </a:cxn>
                <a:cxn ang="0">
                  <a:pos x="13" y="11"/>
                </a:cxn>
                <a:cxn ang="0">
                  <a:pos x="12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6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17">
                  <a:moveTo>
                    <a:pt x="57" y="17"/>
                  </a:moveTo>
                  <a:lnTo>
                    <a:pt x="55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1" y="17"/>
                  </a:lnTo>
                  <a:lnTo>
                    <a:pt x="39" y="17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2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5" y="12"/>
                  </a:lnTo>
                  <a:lnTo>
                    <a:pt x="14" y="12"/>
                  </a:lnTo>
                  <a:lnTo>
                    <a:pt x="13" y="11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8" name="Freeform 142"/>
            <p:cNvSpPr/>
            <p:nvPr/>
          </p:nvSpPr>
          <p:spPr>
            <a:xfrm>
              <a:off x="1346" y="1466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56" y="0"/>
                </a:cxn>
                <a:cxn ang="0">
                  <a:pos x="56" y="0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6" y="3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4"/>
                </a:cxn>
                <a:cxn ang="0">
                  <a:pos x="55" y="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3" y="6"/>
                </a:cxn>
                <a:cxn ang="0">
                  <a:pos x="52" y="7"/>
                </a:cxn>
                <a:cxn ang="0">
                  <a:pos x="52" y="7"/>
                </a:cxn>
                <a:cxn ang="0">
                  <a:pos x="51" y="8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8" y="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6" y="10"/>
                </a:cxn>
                <a:cxn ang="0">
                  <a:pos x="45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1" y="12"/>
                </a:cxn>
                <a:cxn ang="0">
                  <a:pos x="41" y="12"/>
                </a:cxn>
                <a:cxn ang="0">
                  <a:pos x="39" y="12"/>
                </a:cxn>
                <a:cxn ang="0">
                  <a:pos x="38" y="13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4" y="13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0" y="14"/>
                </a:cxn>
                <a:cxn ang="0">
                  <a:pos x="28" y="15"/>
                </a:cxn>
                <a:cxn ang="0">
                  <a:pos x="27" y="16"/>
                </a:cxn>
                <a:cxn ang="0">
                  <a:pos x="25" y="16"/>
                </a:cxn>
                <a:cxn ang="0">
                  <a:pos x="24" y="16"/>
                </a:cxn>
                <a:cxn ang="0">
                  <a:pos x="22" y="16"/>
                </a:cxn>
                <a:cxn ang="0">
                  <a:pos x="20" y="16"/>
                </a:cxn>
                <a:cxn ang="0">
                  <a:pos x="19" y="17"/>
                </a:cxn>
                <a:cxn ang="0">
                  <a:pos x="18" y="17"/>
                </a:cxn>
                <a:cxn ang="0">
                  <a:pos x="16" y="17"/>
                </a:cxn>
                <a:cxn ang="0">
                  <a:pos x="14" y="17"/>
                </a:cxn>
                <a:cxn ang="0">
                  <a:pos x="12" y="17"/>
                </a:cxn>
                <a:cxn ang="0">
                  <a:pos x="10" y="17"/>
                </a:cxn>
                <a:cxn ang="0">
                  <a:pos x="9" y="17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3" y="17"/>
                </a:cxn>
                <a:cxn ang="0">
                  <a:pos x="1" y="17"/>
                </a:cxn>
                <a:cxn ang="0">
                  <a:pos x="0" y="17"/>
                </a:cxn>
              </a:cxnLst>
              <a:rect l="txL" t="txT" r="txR" b="txB"/>
              <a:pathLst>
                <a:path w="56" h="17">
                  <a:moveTo>
                    <a:pt x="56" y="0"/>
                  </a:moveTo>
                  <a:lnTo>
                    <a:pt x="56" y="0"/>
                  </a:lnTo>
                  <a:lnTo>
                    <a:pt x="56" y="1"/>
                  </a:lnTo>
                  <a:lnTo>
                    <a:pt x="56" y="3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3" y="6"/>
                  </a:lnTo>
                  <a:lnTo>
                    <a:pt x="52" y="7"/>
                  </a:lnTo>
                  <a:lnTo>
                    <a:pt x="51" y="8"/>
                  </a:lnTo>
                  <a:lnTo>
                    <a:pt x="50" y="8"/>
                  </a:lnTo>
                  <a:lnTo>
                    <a:pt x="48" y="9"/>
                  </a:lnTo>
                  <a:lnTo>
                    <a:pt x="47" y="9"/>
                  </a:lnTo>
                  <a:lnTo>
                    <a:pt x="46" y="10"/>
                  </a:lnTo>
                  <a:lnTo>
                    <a:pt x="45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32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19" y="17"/>
                  </a:lnTo>
                  <a:lnTo>
                    <a:pt x="18" y="17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10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59" name="Freeform 143"/>
            <p:cNvSpPr/>
            <p:nvPr/>
          </p:nvSpPr>
          <p:spPr>
            <a:xfrm>
              <a:off x="1345" y="1347"/>
              <a:ext cx="57" cy="18"/>
            </a:xfrm>
            <a:custGeom>
              <a:avLst/>
              <a:gdLst>
                <a:gd name="txL" fmla="*/ 0 w 57"/>
                <a:gd name="txT" fmla="*/ 0 h 18"/>
                <a:gd name="txR" fmla="*/ 57 w 57"/>
                <a:gd name="txB" fmla="*/ 18 h 18"/>
              </a:gdLst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1"/>
                </a:cxn>
                <a:cxn ang="0">
                  <a:pos x="11" y="1"/>
                </a:cxn>
                <a:cxn ang="0">
                  <a:pos x="13" y="1"/>
                </a:cxn>
                <a:cxn ang="0">
                  <a:pos x="15" y="2"/>
                </a:cxn>
                <a:cxn ang="0">
                  <a:pos x="16" y="2"/>
                </a:cxn>
                <a:cxn ang="0">
                  <a:pos x="18" y="2"/>
                </a:cxn>
                <a:cxn ang="0">
                  <a:pos x="20" y="2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3"/>
                </a:cxn>
                <a:cxn ang="0">
                  <a:pos x="30" y="3"/>
                </a:cxn>
                <a:cxn ang="0">
                  <a:pos x="32" y="4"/>
                </a:cxn>
                <a:cxn ang="0">
                  <a:pos x="33" y="4"/>
                </a:cxn>
                <a:cxn ang="0">
                  <a:pos x="35" y="4"/>
                </a:cxn>
                <a:cxn ang="0">
                  <a:pos x="36" y="4"/>
                </a:cxn>
                <a:cxn ang="0">
                  <a:pos x="37" y="5"/>
                </a:cxn>
                <a:cxn ang="0">
                  <a:pos x="39" y="5"/>
                </a:cxn>
                <a:cxn ang="0">
                  <a:pos x="40" y="5"/>
                </a:cxn>
                <a:cxn ang="0">
                  <a:pos x="41" y="6"/>
                </a:cxn>
                <a:cxn ang="0">
                  <a:pos x="42" y="6"/>
                </a:cxn>
                <a:cxn ang="0">
                  <a:pos x="43" y="7"/>
                </a:cxn>
                <a:cxn ang="0">
                  <a:pos x="44" y="7"/>
                </a:cxn>
                <a:cxn ang="0">
                  <a:pos x="46" y="7"/>
                </a:cxn>
                <a:cxn ang="0">
                  <a:pos x="47" y="8"/>
                </a:cxn>
                <a:cxn ang="0">
                  <a:pos x="47" y="8"/>
                </a:cxn>
                <a:cxn ang="0">
                  <a:pos x="48" y="9"/>
                </a:cxn>
                <a:cxn ang="0">
                  <a:pos x="49" y="9"/>
                </a:cxn>
                <a:cxn ang="0">
                  <a:pos x="51" y="10"/>
                </a:cxn>
                <a:cxn ang="0">
                  <a:pos x="51" y="11"/>
                </a:cxn>
                <a:cxn ang="0">
                  <a:pos x="52" y="11"/>
                </a:cxn>
                <a:cxn ang="0">
                  <a:pos x="52" y="11"/>
                </a:cxn>
                <a:cxn ang="0">
                  <a:pos x="53" y="12"/>
                </a:cxn>
                <a:cxn ang="0">
                  <a:pos x="54" y="12"/>
                </a:cxn>
                <a:cxn ang="0">
                  <a:pos x="55" y="12"/>
                </a:cxn>
                <a:cxn ang="0">
                  <a:pos x="55" y="13"/>
                </a:cxn>
                <a:cxn ang="0">
                  <a:pos x="56" y="13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6"/>
                </a:cxn>
                <a:cxn ang="0">
                  <a:pos x="57" y="16"/>
                </a:cxn>
                <a:cxn ang="0">
                  <a:pos x="57" y="16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8"/>
                </a:cxn>
              </a:cxnLst>
              <a:rect l="txL" t="txT" r="txR" b="txB"/>
              <a:pathLst>
                <a:path w="57" h="18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6"/>
                  </a:lnTo>
                  <a:lnTo>
                    <a:pt x="42" y="6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6" y="7"/>
                  </a:lnTo>
                  <a:lnTo>
                    <a:pt x="47" y="8"/>
                  </a:lnTo>
                  <a:lnTo>
                    <a:pt x="48" y="9"/>
                  </a:lnTo>
                  <a:lnTo>
                    <a:pt x="49" y="9"/>
                  </a:lnTo>
                  <a:lnTo>
                    <a:pt x="51" y="10"/>
                  </a:lnTo>
                  <a:lnTo>
                    <a:pt x="51" y="11"/>
                  </a:lnTo>
                  <a:lnTo>
                    <a:pt x="52" y="11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4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7" y="17"/>
                  </a:lnTo>
                  <a:lnTo>
                    <a:pt x="57" y="18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0" name="Freeform 144"/>
            <p:cNvSpPr/>
            <p:nvPr/>
          </p:nvSpPr>
          <p:spPr>
            <a:xfrm>
              <a:off x="1289" y="1347"/>
              <a:ext cx="56" cy="17"/>
            </a:xfrm>
            <a:custGeom>
              <a:avLst/>
              <a:gdLst>
                <a:gd name="txL" fmla="*/ 0 w 56"/>
                <a:gd name="txT" fmla="*/ 0 h 17"/>
                <a:gd name="txR" fmla="*/ 56 w 56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0" y="17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5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6" y="10"/>
                </a:cxn>
                <a:cxn ang="0">
                  <a:pos x="6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1" y="7"/>
                </a:cxn>
                <a:cxn ang="0">
                  <a:pos x="12" y="7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21" y="4"/>
                </a:cxn>
                <a:cxn ang="0">
                  <a:pos x="22" y="4"/>
                </a:cxn>
                <a:cxn ang="0">
                  <a:pos x="23" y="3"/>
                </a:cxn>
                <a:cxn ang="0">
                  <a:pos x="25" y="3"/>
                </a:cxn>
                <a:cxn ang="0">
                  <a:pos x="26" y="3"/>
                </a:cxn>
                <a:cxn ang="0">
                  <a:pos x="28" y="3"/>
                </a:cxn>
                <a:cxn ang="0">
                  <a:pos x="29" y="2"/>
                </a:cxn>
                <a:cxn ang="0">
                  <a:pos x="31" y="2"/>
                </a:cxn>
                <a:cxn ang="0">
                  <a:pos x="32" y="2"/>
                </a:cxn>
                <a:cxn ang="0">
                  <a:pos x="34" y="2"/>
                </a:cxn>
                <a:cxn ang="0">
                  <a:pos x="36" y="2"/>
                </a:cxn>
                <a:cxn ang="0">
                  <a:pos x="37" y="2"/>
                </a:cxn>
                <a:cxn ang="0">
                  <a:pos x="39" y="2"/>
                </a:cxn>
                <a:cxn ang="0">
                  <a:pos x="40" y="2"/>
                </a:cxn>
                <a:cxn ang="0">
                  <a:pos x="42" y="2"/>
                </a:cxn>
                <a:cxn ang="0">
                  <a:pos x="44" y="1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49" y="0"/>
                </a:cxn>
                <a:cxn ang="0">
                  <a:pos x="51" y="0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6" y="0"/>
                </a:cxn>
              </a:cxnLst>
              <a:rect l="txL" t="txT" r="txR" b="txB"/>
              <a:pathLst>
                <a:path w="56" h="17">
                  <a:moveTo>
                    <a:pt x="0" y="17"/>
                  </a:move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</a:path>
              </a:pathLst>
            </a:custGeom>
            <a:noFill/>
            <a:ln w="47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1" name="Line 145"/>
            <p:cNvSpPr/>
            <p:nvPr/>
          </p:nvSpPr>
          <p:spPr>
            <a:xfrm>
              <a:off x="1289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62" name="Line 146"/>
            <p:cNvSpPr/>
            <p:nvPr/>
          </p:nvSpPr>
          <p:spPr>
            <a:xfrm>
              <a:off x="1402" y="1364"/>
              <a:ext cx="1" cy="103"/>
            </a:xfrm>
            <a:prstGeom prst="line">
              <a:avLst/>
            </a:prstGeom>
            <a:ln w="31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11" name="Text Box 242"/>
          <p:cNvSpPr txBox="1"/>
          <p:nvPr/>
        </p:nvSpPr>
        <p:spPr>
          <a:xfrm>
            <a:off x="8559844" y="2647349"/>
            <a:ext cx="963613" cy="284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Arial" panose="020B0604020202020204" pitchFamily="34" charset="0"/>
              </a:rPr>
              <a:t>内蒙省</a:t>
            </a:r>
            <a:r>
              <a:rPr lang="en-US" altLang="zh-CN" sz="1200" dirty="0">
                <a:cs typeface="Arial" panose="020B0604020202020204" pitchFamily="34" charset="0"/>
              </a:rPr>
              <a:t>RSS</a:t>
            </a:r>
            <a:endParaRPr lang="en-US" altLang="zh-CN" sz="1200" dirty="0">
              <a:ea typeface="Arial" panose="020B0604020202020204" pitchFamily="34" charset="0"/>
            </a:endParaRPr>
          </a:p>
        </p:txBody>
      </p:sp>
      <p:sp>
        <p:nvSpPr>
          <p:cNvPr id="23584" name="Text Box 243"/>
          <p:cNvSpPr txBox="1">
            <a:spLocks noChangeArrowheads="1"/>
          </p:cNvSpPr>
          <p:nvPr/>
        </p:nvSpPr>
        <p:spPr bwMode="auto">
          <a:xfrm>
            <a:off x="8605881" y="5133374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内蒙服务器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广东 佛山</a:t>
            </a:r>
            <a:endParaRPr lang="en-US" altLang="zh-CN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513" name="直接箭头连接符 739"/>
          <p:cNvCxnSpPr/>
          <p:nvPr/>
        </p:nvCxnSpPr>
        <p:spPr>
          <a:xfrm flipH="1" flipV="1">
            <a:off x="9080543" y="2923574"/>
            <a:ext cx="0" cy="130651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514" name="Oval 245"/>
          <p:cNvSpPr/>
          <p:nvPr/>
        </p:nvSpPr>
        <p:spPr>
          <a:xfrm>
            <a:off x="8804318" y="1932974"/>
            <a:ext cx="152400" cy="152400"/>
          </a:xfrm>
          <a:prstGeom prst="ellipse">
            <a:avLst/>
          </a:prstGeom>
          <a:solidFill>
            <a:srgbClr val="99CC00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42" name="TextBox 741"/>
          <p:cNvSpPr txBox="1"/>
          <p:nvPr/>
        </p:nvSpPr>
        <p:spPr>
          <a:xfrm>
            <a:off x="4064044" y="5673102"/>
            <a:ext cx="4212853" cy="369332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defTabSz="448945">
              <a:buClr>
                <a:srgbClr val="000000"/>
              </a:buClr>
              <a:buSzPct val="100000"/>
              <a:defRPr/>
            </a:pPr>
            <a:r>
              <a:rPr lang="zh-CN" altLang="en-US" dirty="0"/>
              <a:t>服务器的物理大集中与管理于广东佛山</a:t>
            </a:r>
          </a:p>
        </p:txBody>
      </p:sp>
      <p:sp>
        <p:nvSpPr>
          <p:cNvPr id="743" name="云形 742"/>
          <p:cNvSpPr/>
          <p:nvPr/>
        </p:nvSpPr>
        <p:spPr bwMode="auto">
          <a:xfrm>
            <a:off x="2092368" y="3233136"/>
            <a:ext cx="7696200" cy="5334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448945">
              <a:buClr>
                <a:srgbClr val="000000"/>
              </a:buClr>
              <a:buSzPct val="100000"/>
              <a:defRPr/>
            </a:pPr>
            <a:endParaRPr lang="zh-CN" altLang="en-US" sz="2000" b="1">
              <a:solidFill>
                <a:srgbClr val="3333FF"/>
              </a:solidFill>
            </a:endParaRPr>
          </a:p>
        </p:txBody>
      </p:sp>
      <p:sp>
        <p:nvSpPr>
          <p:cNvPr id="20517" name="TextBox 743"/>
          <p:cNvSpPr txBox="1"/>
          <p:nvPr/>
        </p:nvSpPr>
        <p:spPr>
          <a:xfrm>
            <a:off x="4203743" y="3314100"/>
            <a:ext cx="36576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互联网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数百、千公里外</a:t>
            </a:r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sym typeface="+mn-ea"/>
              </a:rPr>
              <a:t>GBase 8s  RSS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介绍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>
              <a:lnSpc>
                <a:spcPct val="220000"/>
              </a:lnSpc>
            </a:pPr>
            <a:r>
              <a:rPr lang="zh-CN" altLang="en-US" b="1" strike="noStrike" noProof="1"/>
              <a:t>某些操作是</a:t>
            </a:r>
            <a:r>
              <a:rPr lang="en-US" altLang="zh-CN" b="1" strike="noStrike" noProof="1"/>
              <a:t>HDR</a:t>
            </a:r>
            <a:r>
              <a:rPr lang="zh-CN" altLang="en-US" b="1" strike="noStrike" noProof="1"/>
              <a:t>备服务器可执行，但</a:t>
            </a:r>
            <a:r>
              <a:rPr lang="en-US" altLang="zh-CN" b="1" strike="noStrike" noProof="1"/>
              <a:t>RSS</a:t>
            </a:r>
            <a:r>
              <a:rPr lang="zh-CN" altLang="en-US" b="1" strike="noStrike" noProof="1"/>
              <a:t>备服务器不可执行的，例如：</a:t>
            </a:r>
          </a:p>
          <a:p>
            <a:pPr lvl="1" fontAlgn="base">
              <a:lnSpc>
                <a:spcPct val="220000"/>
              </a:lnSpc>
            </a:pPr>
            <a:r>
              <a:rPr lang="en-US" altLang="zh-CN" b="1" strike="noStrike" noProof="1"/>
              <a:t>RSS</a:t>
            </a:r>
            <a:r>
              <a:rPr lang="zh-CN" altLang="en-US" b="1" strike="noStrike" noProof="1"/>
              <a:t>备服务器不支持</a:t>
            </a:r>
            <a:r>
              <a:rPr lang="en-US" altLang="zh-CN" b="1" strike="noStrike" noProof="1"/>
              <a:t>SYNC</a:t>
            </a:r>
            <a:r>
              <a:rPr lang="zh-CN" altLang="en-US" b="1" strike="noStrike" noProof="1"/>
              <a:t>方式</a:t>
            </a:r>
          </a:p>
          <a:p>
            <a:pPr lvl="1" fontAlgn="base">
              <a:lnSpc>
                <a:spcPct val="220000"/>
              </a:lnSpc>
            </a:pPr>
            <a:r>
              <a:rPr lang="en-US" altLang="zh-CN" b="1" dirty="0">
                <a:sym typeface="+mn-ea"/>
              </a:rPr>
              <a:t>RSS</a:t>
            </a:r>
            <a:r>
              <a:rPr lang="zh-CN" altLang="en-US" b="1" dirty="0">
                <a:sym typeface="+mn-ea"/>
              </a:rPr>
              <a:t>备服务器不支持</a:t>
            </a:r>
            <a:r>
              <a:rPr lang="en-US" altLang="zh-CN" b="1" dirty="0">
                <a:sym typeface="+mn-ea"/>
              </a:rPr>
              <a:t>DRAUTO</a:t>
            </a:r>
          </a:p>
          <a:p>
            <a:pPr lvl="1" fontAlgn="base">
              <a:lnSpc>
                <a:spcPct val="220000"/>
              </a:lnSpc>
            </a:pPr>
            <a:r>
              <a:rPr lang="en-US" altLang="zh-CN" b="1" dirty="0">
                <a:sym typeface="+mn-ea"/>
              </a:rPr>
              <a:t>RSS</a:t>
            </a:r>
            <a:r>
              <a:rPr lang="zh-CN" altLang="en-US" b="1" dirty="0">
                <a:sym typeface="+mn-ea"/>
              </a:rPr>
              <a:t>备服务器不具有同步检查点</a:t>
            </a:r>
          </a:p>
          <a:p>
            <a:pPr lvl="1" fontAlgn="base">
              <a:lnSpc>
                <a:spcPct val="220000"/>
              </a:lnSpc>
            </a:pPr>
            <a:r>
              <a:rPr lang="en-US" altLang="zh-CN" b="1" dirty="0">
                <a:sym typeface="+mn-ea"/>
              </a:rPr>
              <a:t>RSS</a:t>
            </a:r>
            <a:r>
              <a:rPr lang="zh-CN" altLang="en-US" b="1" dirty="0">
                <a:sym typeface="+mn-ea"/>
              </a:rPr>
              <a:t>备服务器不能直接转换为主服务器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00"/>
                </a:solidFill>
                <a:sym typeface="+mn-ea"/>
              </a:rPr>
              <a:t>GBase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 8s  RSS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介绍</a:t>
            </a:r>
            <a:endParaRPr lang="zh-CN" altLang="en-US" dirty="0">
              <a:solidFill>
                <a:srgbClr val="3333FF"/>
              </a:solidFill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 smtClean="0">
                <a:latin typeface="Arial" panose="020B0604020202020204" pitchFamily="34" charset="0"/>
                <a:cs typeface="宋体" panose="02010600030101010101" pitchFamily="2" charset="-122"/>
              </a:rPr>
              <a:t>RSS </a:t>
            </a:r>
            <a:r>
              <a:rPr lang="zh-CN" altLang="en-US" sz="2400" b="1" dirty="0" smtClean="0">
                <a:latin typeface="Arial" panose="020B0604020202020204" pitchFamily="34" charset="0"/>
                <a:cs typeface="宋体" panose="02010600030101010101" pitchFamily="2" charset="-122"/>
              </a:rPr>
              <a:t>特点总结： </a:t>
            </a:r>
            <a:endParaRPr lang="en-US" altLang="zh-CN" sz="2400" b="1" dirty="0" smtClean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 smtClean="0">
                <a:latin typeface="Arial" panose="020B0604020202020204" pitchFamily="34" charset="0"/>
                <a:cs typeface="宋体" panose="02010600030101010101" pitchFamily="2" charset="-122"/>
              </a:rPr>
              <a:t>一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个集群中可以有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0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到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N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个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RSS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辅节点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RSS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辅节点可读写，承担部分业务，并和主节点相互备份；在某个节点发生故障时，该节点上的业务被转移到其它节点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主节点和辅节点之间的距离较远，一般相距几百公里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RSS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对带宽的要求较低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主节点和辅节点间的通信只支持异步模式，不支持同步模式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在容灾备份方面，可以承受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服务器软件故障、服务器硬件故障、火灾、地震、海啸</a:t>
            </a:r>
            <a:r>
              <a:rPr lang="zh-CN" altLang="en-US" sz="1800" dirty="0" smtClean="0">
                <a:latin typeface="Arial" panose="020B0604020202020204" pitchFamily="34" charset="0"/>
                <a:cs typeface="宋体" panose="02010600030101010101" pitchFamily="2" charset="-122"/>
              </a:rPr>
              <a:t>等</a:t>
            </a:r>
            <a:endParaRPr lang="zh-CN" altLang="en-US" sz="1800" dirty="0"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</a:pPr>
            <a:r>
              <a:rPr lang="en-US" altLang="zh-CN" dirty="0" err="1" smtClean="0">
                <a:solidFill>
                  <a:schemeClr val="tx2"/>
                </a:solidFill>
                <a:cs typeface="宋体" panose="02010600030101010101" pitchFamily="2" charset="-122"/>
              </a:rPr>
              <a:t>GBase</a:t>
            </a:r>
            <a:r>
              <a:rPr lang="zh-CN" altLang="en-US" dirty="0" smtClean="0">
                <a:solidFill>
                  <a:schemeClr val="tx2"/>
                </a:solidFill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chemeClr val="tx2"/>
                </a:solidFill>
                <a:cs typeface="宋体" panose="02010600030101010101" pitchFamily="2" charset="-122"/>
              </a:rPr>
              <a:t>8s RSS </a:t>
            </a:r>
            <a:r>
              <a:rPr lang="zh-CN" altLang="en-US" dirty="0" smtClean="0">
                <a:solidFill>
                  <a:schemeClr val="tx2"/>
                </a:solidFill>
                <a:cs typeface="宋体" panose="02010600030101010101" pitchFamily="2" charset="-122"/>
              </a:rPr>
              <a:t>工作原理 </a:t>
            </a:r>
            <a:endParaRPr lang="zh-CN" altLang="en-US" dirty="0">
              <a:solidFill>
                <a:schemeClr val="tx2"/>
              </a:solidFill>
              <a:cs typeface="宋体" panose="02010600030101010101" pitchFamily="2" charset="-122"/>
            </a:endParaRPr>
          </a:p>
        </p:txBody>
      </p:sp>
      <p:grpSp>
        <p:nvGrpSpPr>
          <p:cNvPr id="17411" name="Group 245"/>
          <p:cNvGrpSpPr/>
          <p:nvPr/>
        </p:nvGrpSpPr>
        <p:grpSpPr bwMode="auto">
          <a:xfrm>
            <a:off x="5519738" y="1184865"/>
            <a:ext cx="4495800" cy="4545792"/>
            <a:chOff x="0" y="288"/>
            <a:chExt cx="2928" cy="3841"/>
          </a:xfrm>
        </p:grpSpPr>
        <p:sp>
          <p:nvSpPr>
            <p:cNvPr id="17414" name="Rectangle 246"/>
            <p:cNvSpPr>
              <a:spLocks noChangeArrowheads="1"/>
            </p:cNvSpPr>
            <p:nvPr/>
          </p:nvSpPr>
          <p:spPr bwMode="auto">
            <a:xfrm>
              <a:off x="96" y="288"/>
              <a:ext cx="480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15" name="Rectangle 247"/>
            <p:cNvSpPr>
              <a:spLocks noChangeArrowheads="1"/>
            </p:cNvSpPr>
            <p:nvPr/>
          </p:nvSpPr>
          <p:spPr bwMode="auto">
            <a:xfrm>
              <a:off x="96" y="1248"/>
              <a:ext cx="48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Secondary 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List</a:t>
              </a:r>
            </a:p>
          </p:txBody>
        </p:sp>
        <p:sp>
          <p:nvSpPr>
            <p:cNvPr id="17416" name="Text Box 248"/>
            <p:cNvSpPr txBox="1">
              <a:spLocks noChangeArrowheads="1"/>
            </p:cNvSpPr>
            <p:nvPr/>
          </p:nvSpPr>
          <p:spPr bwMode="auto">
            <a:xfrm>
              <a:off x="0" y="1440"/>
              <a:ext cx="384" cy="20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rhead</a:t>
              </a:r>
            </a:p>
          </p:txBody>
        </p:sp>
        <p:sp>
          <p:nvSpPr>
            <p:cNvPr id="17417" name="AutoShape 249"/>
            <p:cNvSpPr>
              <a:spLocks noChangeArrowheads="1"/>
            </p:cNvSpPr>
            <p:nvPr/>
          </p:nvSpPr>
          <p:spPr bwMode="auto">
            <a:xfrm>
              <a:off x="768" y="1056"/>
              <a:ext cx="432" cy="96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18" name="Rectangle 250"/>
            <p:cNvSpPr>
              <a:spLocks noChangeArrowheads="1"/>
            </p:cNvSpPr>
            <p:nvPr/>
          </p:nvSpPr>
          <p:spPr bwMode="auto">
            <a:xfrm>
              <a:off x="768" y="1296"/>
              <a:ext cx="43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Send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Thread</a:t>
              </a:r>
            </a:p>
          </p:txBody>
        </p:sp>
        <p:sp>
          <p:nvSpPr>
            <p:cNvPr id="17419" name="Rectangle 251"/>
            <p:cNvSpPr>
              <a:spLocks noChangeArrowheads="1"/>
            </p:cNvSpPr>
            <p:nvPr/>
          </p:nvSpPr>
          <p:spPr bwMode="auto">
            <a:xfrm>
              <a:off x="768" y="1776"/>
              <a:ext cx="432" cy="2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Log 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Cache</a:t>
              </a:r>
            </a:p>
          </p:txBody>
        </p:sp>
        <p:sp>
          <p:nvSpPr>
            <p:cNvPr id="17420" name="AutoShape 252"/>
            <p:cNvSpPr>
              <a:spLocks noChangeArrowheads="1"/>
            </p:cNvSpPr>
            <p:nvPr/>
          </p:nvSpPr>
          <p:spPr bwMode="auto">
            <a:xfrm>
              <a:off x="1488" y="1056"/>
              <a:ext cx="432" cy="96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21" name="Rectangle 253"/>
            <p:cNvSpPr>
              <a:spLocks noChangeArrowheads="1"/>
            </p:cNvSpPr>
            <p:nvPr/>
          </p:nvSpPr>
          <p:spPr bwMode="auto">
            <a:xfrm>
              <a:off x="1488" y="1296"/>
              <a:ext cx="43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Send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Thread</a:t>
              </a:r>
            </a:p>
          </p:txBody>
        </p:sp>
        <p:sp>
          <p:nvSpPr>
            <p:cNvPr id="17422" name="Rectangle 254"/>
            <p:cNvSpPr>
              <a:spLocks noChangeArrowheads="1"/>
            </p:cNvSpPr>
            <p:nvPr/>
          </p:nvSpPr>
          <p:spPr bwMode="auto">
            <a:xfrm>
              <a:off x="1488" y="1776"/>
              <a:ext cx="432" cy="2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Log 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Cache</a:t>
              </a:r>
            </a:p>
          </p:txBody>
        </p:sp>
        <p:sp>
          <p:nvSpPr>
            <p:cNvPr id="17423" name="AutoShape 255"/>
            <p:cNvSpPr>
              <a:spLocks noChangeArrowheads="1"/>
            </p:cNvSpPr>
            <p:nvPr/>
          </p:nvSpPr>
          <p:spPr bwMode="auto">
            <a:xfrm>
              <a:off x="2208" y="1056"/>
              <a:ext cx="432" cy="96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24" name="Rectangle 256"/>
            <p:cNvSpPr>
              <a:spLocks noChangeArrowheads="1"/>
            </p:cNvSpPr>
            <p:nvPr/>
          </p:nvSpPr>
          <p:spPr bwMode="auto">
            <a:xfrm>
              <a:off x="2208" y="1296"/>
              <a:ext cx="43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Send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Thread</a:t>
              </a:r>
            </a:p>
          </p:txBody>
        </p:sp>
        <p:sp>
          <p:nvSpPr>
            <p:cNvPr id="17425" name="Rectangle 257"/>
            <p:cNvSpPr>
              <a:spLocks noChangeArrowheads="1"/>
            </p:cNvSpPr>
            <p:nvPr/>
          </p:nvSpPr>
          <p:spPr bwMode="auto">
            <a:xfrm>
              <a:off x="2208" y="1776"/>
              <a:ext cx="432" cy="2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Log </a:t>
              </a:r>
              <a:b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Cache</a:t>
              </a:r>
            </a:p>
          </p:txBody>
        </p:sp>
        <p:sp>
          <p:nvSpPr>
            <p:cNvPr id="17426" name="AutoShape 258"/>
            <p:cNvSpPr>
              <a:spLocks noChangeArrowheads="1"/>
            </p:cNvSpPr>
            <p:nvPr/>
          </p:nvSpPr>
          <p:spPr bwMode="auto">
            <a:xfrm>
              <a:off x="1056" y="432"/>
              <a:ext cx="576" cy="240"/>
            </a:xfrm>
            <a:prstGeom prst="flowChartPunchedTap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Log Buffer</a:t>
              </a:r>
            </a:p>
          </p:txBody>
        </p:sp>
        <p:sp>
          <p:nvSpPr>
            <p:cNvPr id="17427" name="AutoShape 259"/>
            <p:cNvSpPr>
              <a:spLocks noChangeArrowheads="1"/>
            </p:cNvSpPr>
            <p:nvPr/>
          </p:nvSpPr>
          <p:spPr bwMode="auto">
            <a:xfrm>
              <a:off x="1920" y="384"/>
              <a:ext cx="384" cy="336"/>
            </a:xfrm>
            <a:prstGeom prst="can">
              <a:avLst>
                <a:gd name="adj" fmla="val 250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28" name="AutoShape 260"/>
            <p:cNvSpPr>
              <a:spLocks noChangeArrowheads="1"/>
            </p:cNvSpPr>
            <p:nvPr/>
          </p:nvSpPr>
          <p:spPr bwMode="auto">
            <a:xfrm>
              <a:off x="96" y="2448"/>
              <a:ext cx="2832" cy="480"/>
            </a:xfrm>
            <a:prstGeom prst="flowChartPredefinedProcess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buClrTx/>
                <a:buSzTx/>
              </a:pPr>
              <a:r>
                <a:rPr lang="en-US" altLang="zh-CN" b="0">
                  <a:solidFill>
                    <a:schemeClr val="tx1"/>
                  </a:solidFill>
                  <a:cs typeface="Arial" panose="020B0604020202020204" pitchFamily="34" charset="0"/>
                </a:rPr>
                <a:t>SMX</a:t>
              </a:r>
            </a:p>
          </p:txBody>
        </p:sp>
        <p:sp>
          <p:nvSpPr>
            <p:cNvPr id="17429" name="AutoShape 261"/>
            <p:cNvSpPr>
              <a:spLocks noChangeArrowheads="1"/>
            </p:cNvSpPr>
            <p:nvPr/>
          </p:nvSpPr>
          <p:spPr bwMode="auto">
            <a:xfrm>
              <a:off x="864" y="2256"/>
              <a:ext cx="240" cy="1008"/>
            </a:xfrm>
            <a:prstGeom prst="downArrow">
              <a:avLst>
                <a:gd name="adj1" fmla="val 50000"/>
                <a:gd name="adj2" fmla="val 10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cxnSp>
          <p:nvCxnSpPr>
            <p:cNvPr id="17430" name="AutoShape 262"/>
            <p:cNvCxnSpPr>
              <a:cxnSpLocks noChangeShapeType="1"/>
              <a:stCxn id="17418" idx="1"/>
              <a:endCxn id="17429" idx="0"/>
            </p:cNvCxnSpPr>
            <p:nvPr/>
          </p:nvCxnSpPr>
          <p:spPr bwMode="auto">
            <a:xfrm rot="10800000" flipH="1" flipV="1">
              <a:off x="768" y="1416"/>
              <a:ext cx="216" cy="840"/>
            </a:xfrm>
            <a:prstGeom prst="curvedConnector4">
              <a:avLst>
                <a:gd name="adj1" fmla="val -66667"/>
                <a:gd name="adj2" fmla="val 83569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17431" name="AutoShape 263"/>
            <p:cNvSpPr>
              <a:spLocks noChangeArrowheads="1"/>
            </p:cNvSpPr>
            <p:nvPr/>
          </p:nvSpPr>
          <p:spPr bwMode="auto">
            <a:xfrm>
              <a:off x="1584" y="2256"/>
              <a:ext cx="240" cy="1008"/>
            </a:xfrm>
            <a:prstGeom prst="downArrow">
              <a:avLst>
                <a:gd name="adj1" fmla="val 50000"/>
                <a:gd name="adj2" fmla="val 10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sp>
          <p:nvSpPr>
            <p:cNvPr id="17432" name="AutoShape 264"/>
            <p:cNvSpPr>
              <a:spLocks noChangeArrowheads="1"/>
            </p:cNvSpPr>
            <p:nvPr/>
          </p:nvSpPr>
          <p:spPr bwMode="auto">
            <a:xfrm>
              <a:off x="2304" y="2256"/>
              <a:ext cx="240" cy="1008"/>
            </a:xfrm>
            <a:prstGeom prst="downArrow">
              <a:avLst>
                <a:gd name="adj1" fmla="val 50000"/>
                <a:gd name="adj2" fmla="val 10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  <p:cxnSp>
          <p:nvCxnSpPr>
            <p:cNvPr id="17433" name="AutoShape 265"/>
            <p:cNvCxnSpPr>
              <a:cxnSpLocks noChangeShapeType="1"/>
              <a:stCxn id="17421" idx="3"/>
              <a:endCxn id="17431" idx="0"/>
            </p:cNvCxnSpPr>
            <p:nvPr/>
          </p:nvCxnSpPr>
          <p:spPr bwMode="auto">
            <a:xfrm flipH="1">
              <a:off x="1704" y="1416"/>
              <a:ext cx="216" cy="840"/>
            </a:xfrm>
            <a:prstGeom prst="curvedConnector4">
              <a:avLst>
                <a:gd name="adj1" fmla="val -27778"/>
                <a:gd name="adj2" fmla="val 87139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4" name="AutoShape 266"/>
            <p:cNvCxnSpPr>
              <a:cxnSpLocks noChangeShapeType="1"/>
              <a:stCxn id="17424" idx="3"/>
              <a:endCxn id="17432" idx="0"/>
            </p:cNvCxnSpPr>
            <p:nvPr/>
          </p:nvCxnSpPr>
          <p:spPr bwMode="auto">
            <a:xfrm flipH="1">
              <a:off x="2424" y="1416"/>
              <a:ext cx="216" cy="840"/>
            </a:xfrm>
            <a:prstGeom prst="curvedConnector4">
              <a:avLst>
                <a:gd name="adj1" fmla="val -66667"/>
                <a:gd name="adj2" fmla="val 86426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pic>
          <p:nvPicPr>
            <p:cNvPr id="17435" name="Picture 267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3312"/>
              <a:ext cx="480" cy="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36" name="Picture 268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3312"/>
              <a:ext cx="480" cy="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37" name="Picture 269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312"/>
              <a:ext cx="480" cy="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38" name="Text Box 270"/>
            <p:cNvSpPr txBox="1">
              <a:spLocks noChangeArrowheads="1"/>
            </p:cNvSpPr>
            <p:nvPr/>
          </p:nvSpPr>
          <p:spPr bwMode="auto">
            <a:xfrm>
              <a:off x="768" y="3792"/>
              <a:ext cx="480" cy="33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RSS Node 1</a:t>
              </a:r>
            </a:p>
          </p:txBody>
        </p:sp>
        <p:sp>
          <p:nvSpPr>
            <p:cNvPr id="17439" name="Text Box 271"/>
            <p:cNvSpPr txBox="1">
              <a:spLocks noChangeArrowheads="1"/>
            </p:cNvSpPr>
            <p:nvPr/>
          </p:nvSpPr>
          <p:spPr bwMode="auto">
            <a:xfrm>
              <a:off x="1488" y="3792"/>
              <a:ext cx="480" cy="33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RSS Node 2</a:t>
              </a:r>
            </a:p>
          </p:txBody>
        </p:sp>
        <p:sp>
          <p:nvSpPr>
            <p:cNvPr id="17440" name="Text Box 272"/>
            <p:cNvSpPr txBox="1">
              <a:spLocks noChangeArrowheads="1"/>
            </p:cNvSpPr>
            <p:nvPr/>
          </p:nvSpPr>
          <p:spPr bwMode="auto">
            <a:xfrm>
              <a:off x="2208" y="3792"/>
              <a:ext cx="480" cy="33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</a:pPr>
              <a:r>
                <a:rPr lang="en-US" altLang="zh-CN" sz="1000" b="0">
                  <a:solidFill>
                    <a:schemeClr val="tx1"/>
                  </a:solidFill>
                  <a:cs typeface="Arial" panose="020B0604020202020204" pitchFamily="34" charset="0"/>
                </a:rPr>
                <a:t>RSS Node 3</a:t>
              </a:r>
            </a:p>
          </p:txBody>
        </p:sp>
        <p:cxnSp>
          <p:nvCxnSpPr>
            <p:cNvPr id="17441" name="AutoShape 273"/>
            <p:cNvCxnSpPr>
              <a:cxnSpLocks noChangeShapeType="1"/>
              <a:stCxn id="17426" idx="3"/>
              <a:endCxn id="17427" idx="2"/>
            </p:cNvCxnSpPr>
            <p:nvPr/>
          </p:nvCxnSpPr>
          <p:spPr bwMode="auto">
            <a:xfrm>
              <a:off x="1632" y="552"/>
              <a:ext cx="28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2" name="AutoShape 274"/>
            <p:cNvCxnSpPr>
              <a:cxnSpLocks noChangeShapeType="1"/>
              <a:stCxn id="17419" idx="3"/>
              <a:endCxn id="17422" idx="1"/>
            </p:cNvCxnSpPr>
            <p:nvPr/>
          </p:nvCxnSpPr>
          <p:spPr bwMode="auto">
            <a:xfrm>
              <a:off x="1200" y="1896"/>
              <a:ext cx="28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17443" name="AutoShape 275"/>
            <p:cNvCxnSpPr>
              <a:cxnSpLocks noChangeShapeType="1"/>
              <a:stCxn id="17426" idx="2"/>
            </p:cNvCxnSpPr>
            <p:nvPr/>
          </p:nvCxnSpPr>
          <p:spPr bwMode="auto">
            <a:xfrm>
              <a:off x="1344" y="648"/>
              <a:ext cx="0" cy="12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sp>
          <p:nvSpPr>
            <p:cNvPr id="17444" name="Line 276"/>
            <p:cNvSpPr>
              <a:spLocks noChangeShapeType="1"/>
            </p:cNvSpPr>
            <p:nvPr/>
          </p:nvSpPr>
          <p:spPr bwMode="auto">
            <a:xfrm flipV="1">
              <a:off x="576" y="1200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277"/>
            <p:cNvSpPr>
              <a:spLocks noChangeShapeType="1"/>
            </p:cNvSpPr>
            <p:nvPr/>
          </p:nvSpPr>
          <p:spPr bwMode="auto">
            <a:xfrm>
              <a:off x="1200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Line 278"/>
            <p:cNvSpPr>
              <a:spLocks noChangeShapeType="1"/>
            </p:cNvSpPr>
            <p:nvPr/>
          </p:nvSpPr>
          <p:spPr bwMode="auto">
            <a:xfrm>
              <a:off x="1920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Line 279"/>
            <p:cNvSpPr>
              <a:spLocks noChangeShapeType="1"/>
            </p:cNvSpPr>
            <p:nvPr/>
          </p:nvSpPr>
          <p:spPr bwMode="auto">
            <a:xfrm>
              <a:off x="1536" y="6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Line 280"/>
            <p:cNvSpPr>
              <a:spLocks noChangeShapeType="1"/>
            </p:cNvSpPr>
            <p:nvPr/>
          </p:nvSpPr>
          <p:spPr bwMode="auto">
            <a:xfrm>
              <a:off x="1536" y="86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Line 281"/>
            <p:cNvSpPr>
              <a:spLocks noChangeShapeType="1"/>
            </p:cNvSpPr>
            <p:nvPr/>
          </p:nvSpPr>
          <p:spPr bwMode="auto">
            <a:xfrm>
              <a:off x="2016" y="86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Line 282"/>
            <p:cNvSpPr>
              <a:spLocks noChangeShapeType="1"/>
            </p:cNvSpPr>
            <p:nvPr/>
          </p:nvSpPr>
          <p:spPr bwMode="auto">
            <a:xfrm>
              <a:off x="2016" y="19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7451" name="AutoShape 283"/>
            <p:cNvCxnSpPr>
              <a:cxnSpLocks noChangeShapeType="1"/>
              <a:stCxn id="17427" idx="3"/>
              <a:endCxn id="17424" idx="1"/>
            </p:cNvCxnSpPr>
            <p:nvPr/>
          </p:nvCxnSpPr>
          <p:spPr bwMode="auto">
            <a:xfrm rot="16200000" flipH="1">
              <a:off x="1812" y="1020"/>
              <a:ext cx="696" cy="9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</p:spPr>
        </p:cxnSp>
      </p:grpSp>
      <p:sp>
        <p:nvSpPr>
          <p:cNvPr id="17412" name="Rectangle 284"/>
          <p:cNvSpPr>
            <a:spLocks noChangeArrowheads="1"/>
          </p:cNvSpPr>
          <p:nvPr/>
        </p:nvSpPr>
        <p:spPr bwMode="auto">
          <a:xfrm>
            <a:off x="6464300" y="5965145"/>
            <a:ext cx="3240088" cy="36957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b">
            <a:spAutoFit/>
          </a:bodyPr>
          <a:lstStyle/>
          <a:p>
            <a:pPr marL="742950" indent="-285750">
              <a:buClrTx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</a:pP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Primary 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工作过程</a:t>
            </a:r>
          </a:p>
        </p:txBody>
      </p:sp>
      <p:sp>
        <p:nvSpPr>
          <p:cNvPr id="17413" name="TextBox 42"/>
          <p:cNvSpPr txBox="1">
            <a:spLocks noChangeArrowheads="1"/>
          </p:cNvSpPr>
          <p:nvPr/>
        </p:nvSpPr>
        <p:spPr bwMode="auto">
          <a:xfrm>
            <a:off x="1160777" y="1203915"/>
            <a:ext cx="3643312" cy="501586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对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目前的IDS引擎，当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把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日志缓冲区刷新到磁盘上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时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，</a:t>
            </a:r>
            <a:r>
              <a:rPr lang="zh-CN" altLang="en-US" sz="1600" dirty="0">
                <a:solidFill>
                  <a:schemeClr val="accent2"/>
                </a:solidFill>
                <a:cs typeface="Arial" panose="020B0604020202020204" pitchFamily="34" charset="0"/>
              </a:rPr>
              <a:t>同时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也会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复制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日志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到HDR日志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缓冲区和</a:t>
            </a:r>
            <a:r>
              <a:rPr 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ER缓冲区高速缓存。</a:t>
            </a:r>
            <a:endParaRPr lang="zh-CN" altLang="en-US" sz="1600" dirty="0">
              <a:solidFill>
                <a:srgbClr val="262699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endParaRPr lang="en-US" altLang="zh-CN" sz="1600" dirty="0">
              <a:solidFill>
                <a:srgbClr val="262699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主机如果检查到存在</a:t>
            </a:r>
            <a:r>
              <a:rPr lang="en-US" alt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RSS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备机实例，则将该页拷贝到一个用于把页送到远端实例的日志缓存中 。如果发送线程处于休眠状态，则唤醒</a:t>
            </a:r>
            <a:r>
              <a:rPr lang="en-US" altLang="zh-CN" sz="1600" dirty="0" err="1">
                <a:solidFill>
                  <a:srgbClr val="262699"/>
                </a:solidFill>
                <a:cs typeface="Arial" panose="020B0604020202020204" pitchFamily="34" charset="0"/>
              </a:rPr>
              <a:t>RSS_Send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的线程会传输到远程实例的日志页。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endParaRPr lang="en-US" altLang="zh-CN" sz="1600" dirty="0">
              <a:solidFill>
                <a:srgbClr val="262699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当需要被发送的下一页不在日志缓存内，在这种情况下，在</a:t>
            </a:r>
            <a:r>
              <a:rPr lang="en-US" altLang="zh-CN" sz="1600" dirty="0" err="1">
                <a:solidFill>
                  <a:srgbClr val="262699"/>
                </a:solidFill>
                <a:cs typeface="Arial" panose="020B0604020202020204" pitchFamily="34" charset="0"/>
              </a:rPr>
              <a:t>RSS_Send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线程将直接从磁盘读取日志页。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endParaRPr lang="en-US" altLang="zh-CN" sz="1600" dirty="0">
              <a:solidFill>
                <a:srgbClr val="262699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zh-CN" sz="1600" dirty="0" err="1">
                <a:solidFill>
                  <a:srgbClr val="262699"/>
                </a:solidFill>
                <a:cs typeface="Arial" panose="020B0604020202020204" pitchFamily="34" charset="0"/>
              </a:rPr>
              <a:t>RSS_Send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线程工作在全双工网络模型下。这意味着，线程不等待上一个</a:t>
            </a:r>
            <a:r>
              <a:rPr lang="en-US" altLang="zh-CN" sz="1600" dirty="0">
                <a:solidFill>
                  <a:srgbClr val="262699"/>
                </a:solidFill>
                <a:cs typeface="Arial" panose="020B0604020202020204" pitchFamily="34" charset="0"/>
              </a:rPr>
              <a:t>ACK</a:t>
            </a:r>
            <a:r>
              <a:rPr lang="zh-CN" altLang="en-US" sz="1600" dirty="0">
                <a:solidFill>
                  <a:srgbClr val="262699"/>
                </a:solidFill>
                <a:cs typeface="Arial" panose="020B0604020202020204" pitchFamily="34" charset="0"/>
              </a:rPr>
              <a:t>而直接发送下一个缓冲区</a:t>
            </a:r>
            <a:r>
              <a:rPr lang="zh-CN" altLang="en-US" sz="1600" dirty="0">
                <a:cs typeface="Arial" panose="020B0604020202020204" pitchFamily="34" charset="0"/>
              </a:rPr>
              <a:t>。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GBase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8s RSS 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工作原理 </a:t>
            </a:r>
            <a:r>
              <a:rPr lang="zh-CN" altLang="en-US" dirty="0" smtClean="0">
                <a:solidFill>
                  <a:schemeClr val="tx2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（续）</a:t>
            </a:r>
            <a:endParaRPr lang="zh-CN" altLang="en-US" dirty="0">
              <a:solidFill>
                <a:srgbClr val="3333FF"/>
              </a:solidFill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  <p:graphicFrame>
        <p:nvGraphicFramePr>
          <p:cNvPr id="7170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22123806"/>
              </p:ext>
            </p:extLst>
          </p:nvPr>
        </p:nvGraphicFramePr>
        <p:xfrm>
          <a:off x="5466577" y="1264858"/>
          <a:ext cx="4422775" cy="482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SmartDraw" r:id="rId4" imgW="3224784" imgH="4588764" progId="">
                  <p:embed/>
                </p:oleObj>
              </mc:Choice>
              <mc:Fallback>
                <p:oleObj name="SmartDraw" r:id="rId4" imgW="3224784" imgH="4588764" progId="">
                  <p:embed/>
                  <p:pic>
                    <p:nvPicPr>
                      <p:cNvPr id="0" name="Picture 1" descr="image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6577" y="1264858"/>
                        <a:ext cx="4422775" cy="482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4"/>
          <p:cNvSpPr/>
          <p:nvPr/>
        </p:nvSpPr>
        <p:spPr bwMode="auto">
          <a:xfrm>
            <a:off x="5917248" y="6047740"/>
            <a:ext cx="4248150" cy="4984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 eaLnBrk="0" hangingPunct="0">
              <a:buFont typeface="Times New Roman" panose="02020603050405020304" pitchFamily="18" charset="0"/>
              <a:buNone/>
            </a:pPr>
            <a:r>
              <a:rPr lang="en-US" altLang="zh-CN" sz="2400">
                <a:solidFill>
                  <a:schemeClr val="tx1"/>
                </a:solidFill>
                <a:cs typeface="Arial" panose="020B0604020202020204" pitchFamily="34" charset="0"/>
              </a:rPr>
              <a:t>Secondary </a:t>
            </a:r>
            <a:r>
              <a:rPr lang="zh-CN" altLang="en-US" sz="2400">
                <a:solidFill>
                  <a:schemeClr val="tx1"/>
                </a:solidFill>
                <a:cs typeface="Arial" panose="020B0604020202020204" pitchFamily="34" charset="0"/>
              </a:rPr>
              <a:t>工作过程         </a:t>
            </a: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807720" y="1524635"/>
            <a:ext cx="3500438" cy="313817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89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000" b="1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/>
            <a:endParaRPr lang="en-US" altLang="zh-CN" sz="1800" dirty="0">
              <a:cs typeface="Arial" panose="020B0604020202020204" pitchFamily="34" charset="0"/>
            </a:endParaRPr>
          </a:p>
          <a:p>
            <a:pPr eaLnBrk="1" hangingPunct="1">
              <a:buFont typeface="+mj-lt"/>
              <a:buAutoNum type="arabicPeriod" startAt="5"/>
            </a:pPr>
            <a:r>
              <a:rPr lang="en-US" altLang="zh-CN" sz="1800" dirty="0" err="1" smtClean="0">
                <a:cs typeface="Arial" panose="020B0604020202020204" pitchFamily="34" charset="0"/>
              </a:rPr>
              <a:t>RSS_Recv</a:t>
            </a:r>
            <a:r>
              <a:rPr lang="en-US" altLang="zh-CN" sz="1800" dirty="0" smtClean="0">
                <a:cs typeface="Arial" panose="020B0604020202020204" pitchFamily="34" charset="0"/>
              </a:rPr>
              <a:t> </a:t>
            </a:r>
            <a:r>
              <a:rPr lang="zh-CN" altLang="en-US" sz="1800" dirty="0">
                <a:cs typeface="Arial" panose="020B0604020202020204" pitchFamily="34" charset="0"/>
              </a:rPr>
              <a:t>以</a:t>
            </a:r>
            <a:r>
              <a:rPr lang="en-US" altLang="zh-CN" sz="1800" dirty="0">
                <a:cs typeface="Arial" panose="020B0604020202020204" pitchFamily="34" charset="0"/>
              </a:rPr>
              <a:t>SMX</a:t>
            </a:r>
            <a:r>
              <a:rPr lang="zh-CN" altLang="en-US" sz="1800" dirty="0">
                <a:cs typeface="Arial" panose="020B0604020202020204" pitchFamily="34" charset="0"/>
              </a:rPr>
              <a:t>为接口从主机接受日志页。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 startAt="5"/>
            </a:pPr>
            <a:endParaRPr lang="en-US" altLang="zh-CN" sz="18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 startAt="5"/>
            </a:pPr>
            <a:r>
              <a:rPr lang="en-US" altLang="zh-CN" sz="1800" dirty="0" err="1">
                <a:cs typeface="Arial" panose="020B0604020202020204" pitchFamily="34" charset="0"/>
              </a:rPr>
              <a:t>RSS_apply</a:t>
            </a:r>
            <a:r>
              <a:rPr lang="zh-CN" altLang="en-US" sz="1800" dirty="0">
                <a:cs typeface="Arial" panose="020B0604020202020204" pitchFamily="34" charset="0"/>
              </a:rPr>
              <a:t>仅对</a:t>
            </a:r>
            <a:r>
              <a:rPr lang="en-US" altLang="zh-CN" sz="1800" dirty="0" err="1">
                <a:cs typeface="Arial" panose="020B0604020202020204" pitchFamily="34" charset="0"/>
              </a:rPr>
              <a:t>dr_secapply</a:t>
            </a:r>
            <a:r>
              <a:rPr lang="en-US" altLang="zh-CN" sz="1800" dirty="0">
                <a:cs typeface="Arial" panose="020B0604020202020204" pitchFamily="34" charset="0"/>
              </a:rPr>
              <a:t> </a:t>
            </a:r>
            <a:r>
              <a:rPr lang="zh-CN" altLang="en-US" sz="1800" dirty="0">
                <a:cs typeface="Arial" panose="020B0604020202020204" pitchFamily="34" charset="0"/>
              </a:rPr>
              <a:t>做了很小的修改且与被</a:t>
            </a:r>
            <a:r>
              <a:rPr lang="en-US" altLang="zh-CN" sz="1800" dirty="0" err="1">
                <a:cs typeface="Arial" panose="020B0604020202020204" pitchFamily="34" charset="0"/>
              </a:rPr>
              <a:t>dr_secapply</a:t>
            </a:r>
            <a:r>
              <a:rPr lang="zh-CN" altLang="en-US" sz="1800" dirty="0">
                <a:cs typeface="Arial" panose="020B0604020202020204" pitchFamily="34" charset="0"/>
              </a:rPr>
              <a:t>使用的</a:t>
            </a:r>
            <a:r>
              <a:rPr lang="en-US" altLang="zh-CN" sz="1800" dirty="0">
                <a:cs typeface="Arial" panose="020B0604020202020204" pitchFamily="34" charset="0"/>
              </a:rPr>
              <a:t>HDR</a:t>
            </a:r>
            <a:r>
              <a:rPr lang="zh-CN" altLang="en-US" sz="1800" dirty="0">
                <a:cs typeface="Arial" panose="020B0604020202020204" pitchFamily="34" charset="0"/>
              </a:rPr>
              <a:t>代码的相似度达</a:t>
            </a:r>
            <a:r>
              <a:rPr lang="en-US" altLang="zh-CN" sz="1800" dirty="0">
                <a:cs typeface="Arial" panose="020B0604020202020204" pitchFamily="34" charset="0"/>
              </a:rPr>
              <a:t>98%</a:t>
            </a:r>
            <a:r>
              <a:rPr lang="zh-CN" altLang="en-US" sz="1800" dirty="0">
                <a:cs typeface="Arial" panose="020B0604020202020204" pitchFamily="34" charset="0"/>
              </a:rPr>
              <a:t>。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 startAt="5"/>
            </a:pPr>
            <a:endParaRPr lang="en-US" altLang="zh-CN" sz="1800" dirty="0"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 startAt="5"/>
            </a:pPr>
            <a:r>
              <a:rPr lang="zh-CN" altLang="en-US" sz="1800" dirty="0">
                <a:cs typeface="Arial" panose="020B0604020202020204" pitchFamily="34" charset="0"/>
              </a:rPr>
              <a:t>恢复逻辑剩下的部分与现存的</a:t>
            </a:r>
            <a:r>
              <a:rPr lang="en-US" altLang="zh-CN" sz="1800" dirty="0">
                <a:cs typeface="Arial" panose="020B0604020202020204" pitchFamily="34" charset="0"/>
              </a:rPr>
              <a:t>HDR</a:t>
            </a:r>
            <a:r>
              <a:rPr lang="zh-CN" altLang="en-US" sz="1800" dirty="0">
                <a:cs typeface="Arial" panose="020B0604020202020204" pitchFamily="34" charset="0"/>
              </a:rPr>
              <a:t>代码相似</a:t>
            </a:r>
          </a:p>
        </p:txBody>
      </p:sp>
      <p:sp>
        <p:nvSpPr>
          <p:cNvPr id="2" name="任意多边形 1"/>
          <p:cNvSpPr/>
          <p:nvPr/>
        </p:nvSpPr>
        <p:spPr bwMode="auto">
          <a:xfrm>
            <a:off x="6279896" y="1192666"/>
            <a:ext cx="4023360" cy="4855210"/>
          </a:xfrm>
          <a:custGeom>
            <a:avLst/>
            <a:gdLst>
              <a:gd name="connsiteX0" fmla="*/ 1709928 w 4023360"/>
              <a:gd name="connsiteY0" fmla="*/ 64126 h 5632822"/>
              <a:gd name="connsiteX1" fmla="*/ 1709928 w 4023360"/>
              <a:gd name="connsiteY1" fmla="*/ 64126 h 5632822"/>
              <a:gd name="connsiteX2" fmla="*/ 1700784 w 4023360"/>
              <a:gd name="connsiteY2" fmla="*/ 164710 h 5632822"/>
              <a:gd name="connsiteX3" fmla="*/ 1691640 w 4023360"/>
              <a:gd name="connsiteY3" fmla="*/ 210430 h 5632822"/>
              <a:gd name="connsiteX4" fmla="*/ 1682496 w 4023360"/>
              <a:gd name="connsiteY4" fmla="*/ 265294 h 5632822"/>
              <a:gd name="connsiteX5" fmla="*/ 1673352 w 4023360"/>
              <a:gd name="connsiteY5" fmla="*/ 329302 h 5632822"/>
              <a:gd name="connsiteX6" fmla="*/ 1645920 w 4023360"/>
              <a:gd name="connsiteY6" fmla="*/ 411598 h 5632822"/>
              <a:gd name="connsiteX7" fmla="*/ 1627632 w 4023360"/>
              <a:gd name="connsiteY7" fmla="*/ 493894 h 5632822"/>
              <a:gd name="connsiteX8" fmla="*/ 1618488 w 4023360"/>
              <a:gd name="connsiteY8" fmla="*/ 1280278 h 5632822"/>
              <a:gd name="connsiteX9" fmla="*/ 1591056 w 4023360"/>
              <a:gd name="connsiteY9" fmla="*/ 1390006 h 5632822"/>
              <a:gd name="connsiteX10" fmla="*/ 1581912 w 4023360"/>
              <a:gd name="connsiteY10" fmla="*/ 1417438 h 5632822"/>
              <a:gd name="connsiteX11" fmla="*/ 1563624 w 4023360"/>
              <a:gd name="connsiteY11" fmla="*/ 1472302 h 5632822"/>
              <a:gd name="connsiteX12" fmla="*/ 1554480 w 4023360"/>
              <a:gd name="connsiteY12" fmla="*/ 1499734 h 5632822"/>
              <a:gd name="connsiteX13" fmla="*/ 1536192 w 4023360"/>
              <a:gd name="connsiteY13" fmla="*/ 1545454 h 5632822"/>
              <a:gd name="connsiteX14" fmla="*/ 1527048 w 4023360"/>
              <a:gd name="connsiteY14" fmla="*/ 1572886 h 5632822"/>
              <a:gd name="connsiteX15" fmla="*/ 1517904 w 4023360"/>
              <a:gd name="connsiteY15" fmla="*/ 1609462 h 5632822"/>
              <a:gd name="connsiteX16" fmla="*/ 1499616 w 4023360"/>
              <a:gd name="connsiteY16" fmla="*/ 1646038 h 5632822"/>
              <a:gd name="connsiteX17" fmla="*/ 1490472 w 4023360"/>
              <a:gd name="connsiteY17" fmla="*/ 1673470 h 5632822"/>
              <a:gd name="connsiteX18" fmla="*/ 1444752 w 4023360"/>
              <a:gd name="connsiteY18" fmla="*/ 1764910 h 5632822"/>
              <a:gd name="connsiteX19" fmla="*/ 1417320 w 4023360"/>
              <a:gd name="connsiteY19" fmla="*/ 1783198 h 5632822"/>
              <a:gd name="connsiteX20" fmla="*/ 1408176 w 4023360"/>
              <a:gd name="connsiteY20" fmla="*/ 1810630 h 5632822"/>
              <a:gd name="connsiteX21" fmla="*/ 1325880 w 4023360"/>
              <a:gd name="connsiteY21" fmla="*/ 1883782 h 5632822"/>
              <a:gd name="connsiteX22" fmla="*/ 1280160 w 4023360"/>
              <a:gd name="connsiteY22" fmla="*/ 1929502 h 5632822"/>
              <a:gd name="connsiteX23" fmla="*/ 1225296 w 4023360"/>
              <a:gd name="connsiteY23" fmla="*/ 1966078 h 5632822"/>
              <a:gd name="connsiteX24" fmla="*/ 1197864 w 4023360"/>
              <a:gd name="connsiteY24" fmla="*/ 1993510 h 5632822"/>
              <a:gd name="connsiteX25" fmla="*/ 1133856 w 4023360"/>
              <a:gd name="connsiteY25" fmla="*/ 2030086 h 5632822"/>
              <a:gd name="connsiteX26" fmla="*/ 1106424 w 4023360"/>
              <a:gd name="connsiteY26" fmla="*/ 2057518 h 5632822"/>
              <a:gd name="connsiteX27" fmla="*/ 1042416 w 4023360"/>
              <a:gd name="connsiteY27" fmla="*/ 2094094 h 5632822"/>
              <a:gd name="connsiteX28" fmla="*/ 1014984 w 4023360"/>
              <a:gd name="connsiteY28" fmla="*/ 2121526 h 5632822"/>
              <a:gd name="connsiteX29" fmla="*/ 914400 w 4023360"/>
              <a:gd name="connsiteY29" fmla="*/ 2203822 h 5632822"/>
              <a:gd name="connsiteX30" fmla="*/ 896112 w 4023360"/>
              <a:gd name="connsiteY30" fmla="*/ 2231254 h 5632822"/>
              <a:gd name="connsiteX31" fmla="*/ 822960 w 4023360"/>
              <a:gd name="connsiteY31" fmla="*/ 2304406 h 5632822"/>
              <a:gd name="connsiteX32" fmla="*/ 786384 w 4023360"/>
              <a:gd name="connsiteY32" fmla="*/ 2359270 h 5632822"/>
              <a:gd name="connsiteX33" fmla="*/ 713232 w 4023360"/>
              <a:gd name="connsiteY33" fmla="*/ 2459854 h 5632822"/>
              <a:gd name="connsiteX34" fmla="*/ 694944 w 4023360"/>
              <a:gd name="connsiteY34" fmla="*/ 2487286 h 5632822"/>
              <a:gd name="connsiteX35" fmla="*/ 640080 w 4023360"/>
              <a:gd name="connsiteY35" fmla="*/ 2560438 h 5632822"/>
              <a:gd name="connsiteX36" fmla="*/ 630936 w 4023360"/>
              <a:gd name="connsiteY36" fmla="*/ 2587870 h 5632822"/>
              <a:gd name="connsiteX37" fmla="*/ 576072 w 4023360"/>
              <a:gd name="connsiteY37" fmla="*/ 2670166 h 5632822"/>
              <a:gd name="connsiteX38" fmla="*/ 557784 w 4023360"/>
              <a:gd name="connsiteY38" fmla="*/ 2697598 h 5632822"/>
              <a:gd name="connsiteX39" fmla="*/ 512064 w 4023360"/>
              <a:gd name="connsiteY39" fmla="*/ 2770750 h 5632822"/>
              <a:gd name="connsiteX40" fmla="*/ 484632 w 4023360"/>
              <a:gd name="connsiteY40" fmla="*/ 2807326 h 5632822"/>
              <a:gd name="connsiteX41" fmla="*/ 429768 w 4023360"/>
              <a:gd name="connsiteY41" fmla="*/ 2935342 h 5632822"/>
              <a:gd name="connsiteX42" fmla="*/ 393192 w 4023360"/>
              <a:gd name="connsiteY42" fmla="*/ 3026782 h 5632822"/>
              <a:gd name="connsiteX43" fmla="*/ 374904 w 4023360"/>
              <a:gd name="connsiteY43" fmla="*/ 3054214 h 5632822"/>
              <a:gd name="connsiteX44" fmla="*/ 301752 w 4023360"/>
              <a:gd name="connsiteY44" fmla="*/ 3264526 h 5632822"/>
              <a:gd name="connsiteX45" fmla="*/ 265176 w 4023360"/>
              <a:gd name="connsiteY45" fmla="*/ 3383398 h 5632822"/>
              <a:gd name="connsiteX46" fmla="*/ 237744 w 4023360"/>
              <a:gd name="connsiteY46" fmla="*/ 3502270 h 5632822"/>
              <a:gd name="connsiteX47" fmla="*/ 228600 w 4023360"/>
              <a:gd name="connsiteY47" fmla="*/ 3538846 h 5632822"/>
              <a:gd name="connsiteX48" fmla="*/ 219456 w 4023360"/>
              <a:gd name="connsiteY48" fmla="*/ 3593710 h 5632822"/>
              <a:gd name="connsiteX49" fmla="*/ 210312 w 4023360"/>
              <a:gd name="connsiteY49" fmla="*/ 3630286 h 5632822"/>
              <a:gd name="connsiteX50" fmla="*/ 173736 w 4023360"/>
              <a:gd name="connsiteY50" fmla="*/ 3767446 h 5632822"/>
              <a:gd name="connsiteX51" fmla="*/ 164592 w 4023360"/>
              <a:gd name="connsiteY51" fmla="*/ 3813166 h 5632822"/>
              <a:gd name="connsiteX52" fmla="*/ 146304 w 4023360"/>
              <a:gd name="connsiteY52" fmla="*/ 3886318 h 5632822"/>
              <a:gd name="connsiteX53" fmla="*/ 137160 w 4023360"/>
              <a:gd name="connsiteY53" fmla="*/ 3941182 h 5632822"/>
              <a:gd name="connsiteX54" fmla="*/ 100584 w 4023360"/>
              <a:gd name="connsiteY54" fmla="*/ 4078342 h 5632822"/>
              <a:gd name="connsiteX55" fmla="*/ 82296 w 4023360"/>
              <a:gd name="connsiteY55" fmla="*/ 4151494 h 5632822"/>
              <a:gd name="connsiteX56" fmla="*/ 64008 w 4023360"/>
              <a:gd name="connsiteY56" fmla="*/ 4197214 h 5632822"/>
              <a:gd name="connsiteX57" fmla="*/ 54864 w 4023360"/>
              <a:gd name="connsiteY57" fmla="*/ 4242934 h 5632822"/>
              <a:gd name="connsiteX58" fmla="*/ 36576 w 4023360"/>
              <a:gd name="connsiteY58" fmla="*/ 4297798 h 5632822"/>
              <a:gd name="connsiteX59" fmla="*/ 27432 w 4023360"/>
              <a:gd name="connsiteY59" fmla="*/ 4389238 h 5632822"/>
              <a:gd name="connsiteX60" fmla="*/ 9144 w 4023360"/>
              <a:gd name="connsiteY60" fmla="*/ 4453246 h 5632822"/>
              <a:gd name="connsiteX61" fmla="*/ 0 w 4023360"/>
              <a:gd name="connsiteY61" fmla="*/ 4553830 h 5632822"/>
              <a:gd name="connsiteX62" fmla="*/ 9144 w 4023360"/>
              <a:gd name="connsiteY62" fmla="*/ 4672702 h 5632822"/>
              <a:gd name="connsiteX63" fmla="*/ 27432 w 4023360"/>
              <a:gd name="connsiteY63" fmla="*/ 4928734 h 5632822"/>
              <a:gd name="connsiteX64" fmla="*/ 45720 w 4023360"/>
              <a:gd name="connsiteY64" fmla="*/ 5075038 h 5632822"/>
              <a:gd name="connsiteX65" fmla="*/ 54864 w 4023360"/>
              <a:gd name="connsiteY65" fmla="*/ 5111614 h 5632822"/>
              <a:gd name="connsiteX66" fmla="*/ 73152 w 4023360"/>
              <a:gd name="connsiteY66" fmla="*/ 5166478 h 5632822"/>
              <a:gd name="connsiteX67" fmla="*/ 82296 w 4023360"/>
              <a:gd name="connsiteY67" fmla="*/ 5230486 h 5632822"/>
              <a:gd name="connsiteX68" fmla="*/ 100584 w 4023360"/>
              <a:gd name="connsiteY68" fmla="*/ 5257918 h 5632822"/>
              <a:gd name="connsiteX69" fmla="*/ 109728 w 4023360"/>
              <a:gd name="connsiteY69" fmla="*/ 5285350 h 5632822"/>
              <a:gd name="connsiteX70" fmla="*/ 137160 w 4023360"/>
              <a:gd name="connsiteY70" fmla="*/ 5376790 h 5632822"/>
              <a:gd name="connsiteX71" fmla="*/ 155448 w 4023360"/>
              <a:gd name="connsiteY71" fmla="*/ 5404222 h 5632822"/>
              <a:gd name="connsiteX72" fmla="*/ 210312 w 4023360"/>
              <a:gd name="connsiteY72" fmla="*/ 5431654 h 5632822"/>
              <a:gd name="connsiteX73" fmla="*/ 237744 w 4023360"/>
              <a:gd name="connsiteY73" fmla="*/ 5449942 h 5632822"/>
              <a:gd name="connsiteX74" fmla="*/ 292608 w 4023360"/>
              <a:gd name="connsiteY74" fmla="*/ 5468230 h 5632822"/>
              <a:gd name="connsiteX75" fmla="*/ 384048 w 4023360"/>
              <a:gd name="connsiteY75" fmla="*/ 5504806 h 5632822"/>
              <a:gd name="connsiteX76" fmla="*/ 429768 w 4023360"/>
              <a:gd name="connsiteY76" fmla="*/ 5513950 h 5632822"/>
              <a:gd name="connsiteX77" fmla="*/ 521208 w 4023360"/>
              <a:gd name="connsiteY77" fmla="*/ 5541382 h 5632822"/>
              <a:gd name="connsiteX78" fmla="*/ 548640 w 4023360"/>
              <a:gd name="connsiteY78" fmla="*/ 5550526 h 5632822"/>
              <a:gd name="connsiteX79" fmla="*/ 621792 w 4023360"/>
              <a:gd name="connsiteY79" fmla="*/ 5568814 h 5632822"/>
              <a:gd name="connsiteX80" fmla="*/ 704088 w 4023360"/>
              <a:gd name="connsiteY80" fmla="*/ 5596246 h 5632822"/>
              <a:gd name="connsiteX81" fmla="*/ 749808 w 4023360"/>
              <a:gd name="connsiteY81" fmla="*/ 5614534 h 5632822"/>
              <a:gd name="connsiteX82" fmla="*/ 932688 w 4023360"/>
              <a:gd name="connsiteY82" fmla="*/ 5632822 h 5632822"/>
              <a:gd name="connsiteX83" fmla="*/ 1636776 w 4023360"/>
              <a:gd name="connsiteY83" fmla="*/ 5614534 h 5632822"/>
              <a:gd name="connsiteX84" fmla="*/ 3026664 w 4023360"/>
              <a:gd name="connsiteY84" fmla="*/ 5605390 h 5632822"/>
              <a:gd name="connsiteX85" fmla="*/ 3172968 w 4023360"/>
              <a:gd name="connsiteY85" fmla="*/ 5596246 h 5632822"/>
              <a:gd name="connsiteX86" fmla="*/ 3255264 w 4023360"/>
              <a:gd name="connsiteY86" fmla="*/ 5577958 h 5632822"/>
              <a:gd name="connsiteX87" fmla="*/ 3328416 w 4023360"/>
              <a:gd name="connsiteY87" fmla="*/ 5568814 h 5632822"/>
              <a:gd name="connsiteX88" fmla="*/ 3383280 w 4023360"/>
              <a:gd name="connsiteY88" fmla="*/ 5541382 h 5632822"/>
              <a:gd name="connsiteX89" fmla="*/ 3429000 w 4023360"/>
              <a:gd name="connsiteY89" fmla="*/ 5468230 h 5632822"/>
              <a:gd name="connsiteX90" fmla="*/ 3465576 w 4023360"/>
              <a:gd name="connsiteY90" fmla="*/ 5413366 h 5632822"/>
              <a:gd name="connsiteX91" fmla="*/ 3474720 w 4023360"/>
              <a:gd name="connsiteY91" fmla="*/ 5385934 h 5632822"/>
              <a:gd name="connsiteX92" fmla="*/ 3502152 w 4023360"/>
              <a:gd name="connsiteY92" fmla="*/ 5367646 h 5632822"/>
              <a:gd name="connsiteX93" fmla="*/ 3520440 w 4023360"/>
              <a:gd name="connsiteY93" fmla="*/ 5340214 h 5632822"/>
              <a:gd name="connsiteX94" fmla="*/ 3593592 w 4023360"/>
              <a:gd name="connsiteY94" fmla="*/ 5248774 h 5632822"/>
              <a:gd name="connsiteX95" fmla="*/ 3666744 w 4023360"/>
              <a:gd name="connsiteY95" fmla="*/ 5148190 h 5632822"/>
              <a:gd name="connsiteX96" fmla="*/ 3730752 w 4023360"/>
              <a:gd name="connsiteY96" fmla="*/ 5075038 h 5632822"/>
              <a:gd name="connsiteX97" fmla="*/ 3767328 w 4023360"/>
              <a:gd name="connsiteY97" fmla="*/ 5011030 h 5632822"/>
              <a:gd name="connsiteX98" fmla="*/ 3785616 w 4023360"/>
              <a:gd name="connsiteY98" fmla="*/ 4983598 h 5632822"/>
              <a:gd name="connsiteX99" fmla="*/ 3813048 w 4023360"/>
              <a:gd name="connsiteY99" fmla="*/ 4937878 h 5632822"/>
              <a:gd name="connsiteX100" fmla="*/ 3831336 w 4023360"/>
              <a:gd name="connsiteY100" fmla="*/ 4846438 h 5632822"/>
              <a:gd name="connsiteX101" fmla="*/ 3867912 w 4023360"/>
              <a:gd name="connsiteY101" fmla="*/ 4764142 h 5632822"/>
              <a:gd name="connsiteX102" fmla="*/ 3895344 w 4023360"/>
              <a:gd name="connsiteY102" fmla="*/ 4626982 h 5632822"/>
              <a:gd name="connsiteX103" fmla="*/ 3922776 w 4023360"/>
              <a:gd name="connsiteY103" fmla="*/ 4535542 h 5632822"/>
              <a:gd name="connsiteX104" fmla="*/ 3931920 w 4023360"/>
              <a:gd name="connsiteY104" fmla="*/ 4489822 h 5632822"/>
              <a:gd name="connsiteX105" fmla="*/ 3941064 w 4023360"/>
              <a:gd name="connsiteY105" fmla="*/ 4425814 h 5632822"/>
              <a:gd name="connsiteX106" fmla="*/ 3959352 w 4023360"/>
              <a:gd name="connsiteY106" fmla="*/ 4380094 h 5632822"/>
              <a:gd name="connsiteX107" fmla="*/ 3968496 w 4023360"/>
              <a:gd name="connsiteY107" fmla="*/ 4352662 h 5632822"/>
              <a:gd name="connsiteX108" fmla="*/ 3986784 w 4023360"/>
              <a:gd name="connsiteY108" fmla="*/ 4215502 h 5632822"/>
              <a:gd name="connsiteX109" fmla="*/ 3995928 w 4023360"/>
              <a:gd name="connsiteY109" fmla="*/ 3264526 h 5632822"/>
              <a:gd name="connsiteX110" fmla="*/ 4014216 w 4023360"/>
              <a:gd name="connsiteY110" fmla="*/ 3017638 h 5632822"/>
              <a:gd name="connsiteX111" fmla="*/ 4023360 w 4023360"/>
              <a:gd name="connsiteY111" fmla="*/ 2816470 h 5632822"/>
              <a:gd name="connsiteX112" fmla="*/ 4005072 w 4023360"/>
              <a:gd name="connsiteY112" fmla="*/ 2121526 h 5632822"/>
              <a:gd name="connsiteX113" fmla="*/ 3995928 w 4023360"/>
              <a:gd name="connsiteY113" fmla="*/ 2039230 h 5632822"/>
              <a:gd name="connsiteX114" fmla="*/ 3986784 w 4023360"/>
              <a:gd name="connsiteY114" fmla="*/ 1838062 h 5632822"/>
              <a:gd name="connsiteX115" fmla="*/ 3977640 w 4023360"/>
              <a:gd name="connsiteY115" fmla="*/ 1664326 h 5632822"/>
              <a:gd name="connsiteX116" fmla="*/ 3968496 w 4023360"/>
              <a:gd name="connsiteY116" fmla="*/ 1390006 h 5632822"/>
              <a:gd name="connsiteX117" fmla="*/ 3959352 w 4023360"/>
              <a:gd name="connsiteY117" fmla="*/ 1298566 h 5632822"/>
              <a:gd name="connsiteX118" fmla="*/ 3941064 w 4023360"/>
              <a:gd name="connsiteY118" fmla="*/ 1033390 h 5632822"/>
              <a:gd name="connsiteX119" fmla="*/ 3922776 w 4023360"/>
              <a:gd name="connsiteY119" fmla="*/ 740782 h 5632822"/>
              <a:gd name="connsiteX120" fmla="*/ 3913632 w 4023360"/>
              <a:gd name="connsiteY120" fmla="*/ 457318 h 5632822"/>
              <a:gd name="connsiteX121" fmla="*/ 3895344 w 4023360"/>
              <a:gd name="connsiteY121" fmla="*/ 393310 h 5632822"/>
              <a:gd name="connsiteX122" fmla="*/ 3867912 w 4023360"/>
              <a:gd name="connsiteY122" fmla="*/ 320158 h 5632822"/>
              <a:gd name="connsiteX123" fmla="*/ 3849624 w 4023360"/>
              <a:gd name="connsiteY123" fmla="*/ 292726 h 5632822"/>
              <a:gd name="connsiteX124" fmla="*/ 3831336 w 4023360"/>
              <a:gd name="connsiteY124" fmla="*/ 228718 h 5632822"/>
              <a:gd name="connsiteX125" fmla="*/ 3767328 w 4023360"/>
              <a:gd name="connsiteY125" fmla="*/ 128134 h 5632822"/>
              <a:gd name="connsiteX126" fmla="*/ 3749040 w 4023360"/>
              <a:gd name="connsiteY126" fmla="*/ 100702 h 5632822"/>
              <a:gd name="connsiteX127" fmla="*/ 3685032 w 4023360"/>
              <a:gd name="connsiteY127" fmla="*/ 64126 h 5632822"/>
              <a:gd name="connsiteX128" fmla="*/ 3611880 w 4023360"/>
              <a:gd name="connsiteY128" fmla="*/ 45838 h 5632822"/>
              <a:gd name="connsiteX129" fmla="*/ 3465576 w 4023360"/>
              <a:gd name="connsiteY129" fmla="*/ 54982 h 5632822"/>
              <a:gd name="connsiteX130" fmla="*/ 3410712 w 4023360"/>
              <a:gd name="connsiteY130" fmla="*/ 64126 h 5632822"/>
              <a:gd name="connsiteX131" fmla="*/ 2980944 w 4023360"/>
              <a:gd name="connsiteY131" fmla="*/ 54982 h 5632822"/>
              <a:gd name="connsiteX132" fmla="*/ 2907792 w 4023360"/>
              <a:gd name="connsiteY132" fmla="*/ 45838 h 5632822"/>
              <a:gd name="connsiteX133" fmla="*/ 2752344 w 4023360"/>
              <a:gd name="connsiteY133" fmla="*/ 36694 h 5632822"/>
              <a:gd name="connsiteX134" fmla="*/ 2724912 w 4023360"/>
              <a:gd name="connsiteY134" fmla="*/ 27550 h 5632822"/>
              <a:gd name="connsiteX135" fmla="*/ 2551176 w 4023360"/>
              <a:gd name="connsiteY135" fmla="*/ 18406 h 5632822"/>
              <a:gd name="connsiteX136" fmla="*/ 2404872 w 4023360"/>
              <a:gd name="connsiteY136" fmla="*/ 118 h 5632822"/>
              <a:gd name="connsiteX137" fmla="*/ 1956816 w 4023360"/>
              <a:gd name="connsiteY137" fmla="*/ 18406 h 5632822"/>
              <a:gd name="connsiteX138" fmla="*/ 1837944 w 4023360"/>
              <a:gd name="connsiteY138" fmla="*/ 45838 h 5632822"/>
              <a:gd name="connsiteX139" fmla="*/ 1783080 w 4023360"/>
              <a:gd name="connsiteY139" fmla="*/ 64126 h 5632822"/>
              <a:gd name="connsiteX140" fmla="*/ 1755648 w 4023360"/>
              <a:gd name="connsiteY140" fmla="*/ 73270 h 5632822"/>
              <a:gd name="connsiteX141" fmla="*/ 1709928 w 4023360"/>
              <a:gd name="connsiteY141" fmla="*/ 82414 h 5632822"/>
              <a:gd name="connsiteX142" fmla="*/ 1709928 w 4023360"/>
              <a:gd name="connsiteY142" fmla="*/ 64126 h 563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4023360" h="5632822">
                <a:moveTo>
                  <a:pt x="1709928" y="64126"/>
                </a:moveTo>
                <a:lnTo>
                  <a:pt x="1709928" y="64126"/>
                </a:lnTo>
                <a:cubicBezTo>
                  <a:pt x="1706880" y="97654"/>
                  <a:pt x="1704960" y="131304"/>
                  <a:pt x="1700784" y="164710"/>
                </a:cubicBezTo>
                <a:cubicBezTo>
                  <a:pt x="1698856" y="180132"/>
                  <a:pt x="1694420" y="195139"/>
                  <a:pt x="1691640" y="210430"/>
                </a:cubicBezTo>
                <a:cubicBezTo>
                  <a:pt x="1688323" y="228671"/>
                  <a:pt x="1685315" y="246969"/>
                  <a:pt x="1682496" y="265294"/>
                </a:cubicBezTo>
                <a:cubicBezTo>
                  <a:pt x="1679219" y="286596"/>
                  <a:pt x="1678198" y="308301"/>
                  <a:pt x="1673352" y="329302"/>
                </a:cubicBezTo>
                <a:cubicBezTo>
                  <a:pt x="1645920" y="448174"/>
                  <a:pt x="1664208" y="338446"/>
                  <a:pt x="1645920" y="411598"/>
                </a:cubicBezTo>
                <a:cubicBezTo>
                  <a:pt x="1633007" y="463252"/>
                  <a:pt x="1639241" y="435851"/>
                  <a:pt x="1627632" y="493894"/>
                </a:cubicBezTo>
                <a:cubicBezTo>
                  <a:pt x="1624584" y="756022"/>
                  <a:pt x="1624185" y="1018194"/>
                  <a:pt x="1618488" y="1280278"/>
                </a:cubicBezTo>
                <a:cubicBezTo>
                  <a:pt x="1617629" y="1319795"/>
                  <a:pt x="1603298" y="1353281"/>
                  <a:pt x="1591056" y="1390006"/>
                </a:cubicBezTo>
                <a:lnTo>
                  <a:pt x="1581912" y="1417438"/>
                </a:lnTo>
                <a:lnTo>
                  <a:pt x="1563624" y="1472302"/>
                </a:lnTo>
                <a:cubicBezTo>
                  <a:pt x="1560576" y="1481446"/>
                  <a:pt x="1558060" y="1490785"/>
                  <a:pt x="1554480" y="1499734"/>
                </a:cubicBezTo>
                <a:cubicBezTo>
                  <a:pt x="1548384" y="1514974"/>
                  <a:pt x="1541955" y="1530085"/>
                  <a:pt x="1536192" y="1545454"/>
                </a:cubicBezTo>
                <a:cubicBezTo>
                  <a:pt x="1532808" y="1554479"/>
                  <a:pt x="1529696" y="1563618"/>
                  <a:pt x="1527048" y="1572886"/>
                </a:cubicBezTo>
                <a:cubicBezTo>
                  <a:pt x="1523596" y="1584970"/>
                  <a:pt x="1522317" y="1597695"/>
                  <a:pt x="1517904" y="1609462"/>
                </a:cubicBezTo>
                <a:cubicBezTo>
                  <a:pt x="1513118" y="1622225"/>
                  <a:pt x="1504986" y="1633509"/>
                  <a:pt x="1499616" y="1646038"/>
                </a:cubicBezTo>
                <a:cubicBezTo>
                  <a:pt x="1495819" y="1654897"/>
                  <a:pt x="1493856" y="1664445"/>
                  <a:pt x="1490472" y="1673470"/>
                </a:cubicBezTo>
                <a:cubicBezTo>
                  <a:pt x="1479393" y="1703013"/>
                  <a:pt x="1465676" y="1740499"/>
                  <a:pt x="1444752" y="1764910"/>
                </a:cubicBezTo>
                <a:cubicBezTo>
                  <a:pt x="1437600" y="1773254"/>
                  <a:pt x="1426464" y="1777102"/>
                  <a:pt x="1417320" y="1783198"/>
                </a:cubicBezTo>
                <a:cubicBezTo>
                  <a:pt x="1414272" y="1792342"/>
                  <a:pt x="1414094" y="1803022"/>
                  <a:pt x="1408176" y="1810630"/>
                </a:cubicBezTo>
                <a:cubicBezTo>
                  <a:pt x="1330677" y="1910271"/>
                  <a:pt x="1381147" y="1835423"/>
                  <a:pt x="1325880" y="1883782"/>
                </a:cubicBezTo>
                <a:cubicBezTo>
                  <a:pt x="1309660" y="1897974"/>
                  <a:pt x="1296841" y="1915854"/>
                  <a:pt x="1280160" y="1929502"/>
                </a:cubicBezTo>
                <a:cubicBezTo>
                  <a:pt x="1263149" y="1943420"/>
                  <a:pt x="1240838" y="1950536"/>
                  <a:pt x="1225296" y="1966078"/>
                </a:cubicBezTo>
                <a:cubicBezTo>
                  <a:pt x="1216152" y="1975222"/>
                  <a:pt x="1207798" y="1985231"/>
                  <a:pt x="1197864" y="1993510"/>
                </a:cubicBezTo>
                <a:cubicBezTo>
                  <a:pt x="1146030" y="2036705"/>
                  <a:pt x="1196461" y="1985368"/>
                  <a:pt x="1133856" y="2030086"/>
                </a:cubicBezTo>
                <a:cubicBezTo>
                  <a:pt x="1123333" y="2037602"/>
                  <a:pt x="1116358" y="2049239"/>
                  <a:pt x="1106424" y="2057518"/>
                </a:cubicBezTo>
                <a:cubicBezTo>
                  <a:pt x="1054590" y="2100713"/>
                  <a:pt x="1105021" y="2049376"/>
                  <a:pt x="1042416" y="2094094"/>
                </a:cubicBezTo>
                <a:cubicBezTo>
                  <a:pt x="1031893" y="2101610"/>
                  <a:pt x="1024992" y="2113337"/>
                  <a:pt x="1014984" y="2121526"/>
                </a:cubicBezTo>
                <a:cubicBezTo>
                  <a:pt x="977054" y="2152559"/>
                  <a:pt x="944052" y="2168240"/>
                  <a:pt x="914400" y="2203822"/>
                </a:cubicBezTo>
                <a:cubicBezTo>
                  <a:pt x="907365" y="2212265"/>
                  <a:pt x="903504" y="2223122"/>
                  <a:pt x="896112" y="2231254"/>
                </a:cubicBezTo>
                <a:cubicBezTo>
                  <a:pt x="872915" y="2256770"/>
                  <a:pt x="842088" y="2275713"/>
                  <a:pt x="822960" y="2304406"/>
                </a:cubicBezTo>
                <a:cubicBezTo>
                  <a:pt x="810768" y="2322694"/>
                  <a:pt x="800114" y="2342107"/>
                  <a:pt x="786384" y="2359270"/>
                </a:cubicBezTo>
                <a:cubicBezTo>
                  <a:pt x="736078" y="2422153"/>
                  <a:pt x="760634" y="2388751"/>
                  <a:pt x="713232" y="2459854"/>
                </a:cubicBezTo>
                <a:cubicBezTo>
                  <a:pt x="707136" y="2468998"/>
                  <a:pt x="701538" y="2478494"/>
                  <a:pt x="694944" y="2487286"/>
                </a:cubicBezTo>
                <a:lnTo>
                  <a:pt x="640080" y="2560438"/>
                </a:lnTo>
                <a:cubicBezTo>
                  <a:pt x="637032" y="2569582"/>
                  <a:pt x="635617" y="2579444"/>
                  <a:pt x="630936" y="2587870"/>
                </a:cubicBezTo>
                <a:lnTo>
                  <a:pt x="576072" y="2670166"/>
                </a:lnTo>
                <a:cubicBezTo>
                  <a:pt x="569976" y="2679310"/>
                  <a:pt x="563438" y="2688174"/>
                  <a:pt x="557784" y="2697598"/>
                </a:cubicBezTo>
                <a:cubicBezTo>
                  <a:pt x="541767" y="2724292"/>
                  <a:pt x="529656" y="2746122"/>
                  <a:pt x="512064" y="2770750"/>
                </a:cubicBezTo>
                <a:cubicBezTo>
                  <a:pt x="503206" y="2783151"/>
                  <a:pt x="491448" y="2793695"/>
                  <a:pt x="484632" y="2807326"/>
                </a:cubicBezTo>
                <a:cubicBezTo>
                  <a:pt x="463870" y="2848850"/>
                  <a:pt x="444449" y="2891299"/>
                  <a:pt x="429768" y="2935342"/>
                </a:cubicBezTo>
                <a:cubicBezTo>
                  <a:pt x="417606" y="2971829"/>
                  <a:pt x="414011" y="2985144"/>
                  <a:pt x="393192" y="3026782"/>
                </a:cubicBezTo>
                <a:cubicBezTo>
                  <a:pt x="388277" y="3036612"/>
                  <a:pt x="381000" y="3045070"/>
                  <a:pt x="374904" y="3054214"/>
                </a:cubicBezTo>
                <a:cubicBezTo>
                  <a:pt x="336481" y="3207906"/>
                  <a:pt x="382000" y="3039831"/>
                  <a:pt x="301752" y="3264526"/>
                </a:cubicBezTo>
                <a:cubicBezTo>
                  <a:pt x="287808" y="3303568"/>
                  <a:pt x="276874" y="3343625"/>
                  <a:pt x="265176" y="3383398"/>
                </a:cubicBezTo>
                <a:cubicBezTo>
                  <a:pt x="257798" y="3408483"/>
                  <a:pt x="239569" y="3494360"/>
                  <a:pt x="237744" y="3502270"/>
                </a:cubicBezTo>
                <a:cubicBezTo>
                  <a:pt x="234918" y="3514515"/>
                  <a:pt x="231065" y="3526523"/>
                  <a:pt x="228600" y="3538846"/>
                </a:cubicBezTo>
                <a:cubicBezTo>
                  <a:pt x="224964" y="3557026"/>
                  <a:pt x="223092" y="3575530"/>
                  <a:pt x="219456" y="3593710"/>
                </a:cubicBezTo>
                <a:cubicBezTo>
                  <a:pt x="216991" y="3606033"/>
                  <a:pt x="213619" y="3618162"/>
                  <a:pt x="210312" y="3630286"/>
                </a:cubicBezTo>
                <a:cubicBezTo>
                  <a:pt x="197642" y="3676741"/>
                  <a:pt x="183220" y="3720024"/>
                  <a:pt x="173736" y="3767446"/>
                </a:cubicBezTo>
                <a:cubicBezTo>
                  <a:pt x="170688" y="3782686"/>
                  <a:pt x="168087" y="3798022"/>
                  <a:pt x="164592" y="3813166"/>
                </a:cubicBezTo>
                <a:cubicBezTo>
                  <a:pt x="158940" y="3837657"/>
                  <a:pt x="150436" y="3861526"/>
                  <a:pt x="146304" y="3886318"/>
                </a:cubicBezTo>
                <a:cubicBezTo>
                  <a:pt x="143256" y="3904606"/>
                  <a:pt x="141045" y="3923053"/>
                  <a:pt x="137160" y="3941182"/>
                </a:cubicBezTo>
                <a:cubicBezTo>
                  <a:pt x="122922" y="4007626"/>
                  <a:pt x="117450" y="4015094"/>
                  <a:pt x="100584" y="4078342"/>
                </a:cubicBezTo>
                <a:cubicBezTo>
                  <a:pt x="94108" y="4102628"/>
                  <a:pt x="91631" y="4128157"/>
                  <a:pt x="82296" y="4151494"/>
                </a:cubicBezTo>
                <a:cubicBezTo>
                  <a:pt x="76200" y="4166734"/>
                  <a:pt x="68725" y="4181492"/>
                  <a:pt x="64008" y="4197214"/>
                </a:cubicBezTo>
                <a:cubicBezTo>
                  <a:pt x="59542" y="4212100"/>
                  <a:pt x="58953" y="4227940"/>
                  <a:pt x="54864" y="4242934"/>
                </a:cubicBezTo>
                <a:cubicBezTo>
                  <a:pt x="49792" y="4261532"/>
                  <a:pt x="42672" y="4279510"/>
                  <a:pt x="36576" y="4297798"/>
                </a:cubicBezTo>
                <a:cubicBezTo>
                  <a:pt x="33528" y="4328278"/>
                  <a:pt x="31764" y="4358914"/>
                  <a:pt x="27432" y="4389238"/>
                </a:cubicBezTo>
                <a:cubicBezTo>
                  <a:pt x="24562" y="4409331"/>
                  <a:pt x="15658" y="4433705"/>
                  <a:pt x="9144" y="4453246"/>
                </a:cubicBezTo>
                <a:cubicBezTo>
                  <a:pt x="6096" y="4486774"/>
                  <a:pt x="0" y="4520164"/>
                  <a:pt x="0" y="4553830"/>
                </a:cubicBezTo>
                <a:cubicBezTo>
                  <a:pt x="0" y="4593571"/>
                  <a:pt x="6740" y="4633034"/>
                  <a:pt x="9144" y="4672702"/>
                </a:cubicBezTo>
                <a:cubicBezTo>
                  <a:pt x="29890" y="5015018"/>
                  <a:pt x="6540" y="4740708"/>
                  <a:pt x="27432" y="4928734"/>
                </a:cubicBezTo>
                <a:cubicBezTo>
                  <a:pt x="35311" y="4999646"/>
                  <a:pt x="33422" y="5013550"/>
                  <a:pt x="45720" y="5075038"/>
                </a:cubicBezTo>
                <a:cubicBezTo>
                  <a:pt x="48185" y="5087361"/>
                  <a:pt x="51253" y="5099577"/>
                  <a:pt x="54864" y="5111614"/>
                </a:cubicBezTo>
                <a:cubicBezTo>
                  <a:pt x="60403" y="5130078"/>
                  <a:pt x="73152" y="5166478"/>
                  <a:pt x="73152" y="5166478"/>
                </a:cubicBezTo>
                <a:cubicBezTo>
                  <a:pt x="76200" y="5187814"/>
                  <a:pt x="76103" y="5209842"/>
                  <a:pt x="82296" y="5230486"/>
                </a:cubicBezTo>
                <a:cubicBezTo>
                  <a:pt x="85454" y="5241012"/>
                  <a:pt x="95669" y="5248088"/>
                  <a:pt x="100584" y="5257918"/>
                </a:cubicBezTo>
                <a:cubicBezTo>
                  <a:pt x="104895" y="5266539"/>
                  <a:pt x="107080" y="5276082"/>
                  <a:pt x="109728" y="5285350"/>
                </a:cubicBezTo>
                <a:cubicBezTo>
                  <a:pt x="116117" y="5307713"/>
                  <a:pt x="126295" y="5360492"/>
                  <a:pt x="137160" y="5376790"/>
                </a:cubicBezTo>
                <a:cubicBezTo>
                  <a:pt x="143256" y="5385934"/>
                  <a:pt x="147677" y="5396451"/>
                  <a:pt x="155448" y="5404222"/>
                </a:cubicBezTo>
                <a:cubicBezTo>
                  <a:pt x="181653" y="5430427"/>
                  <a:pt x="180564" y="5416780"/>
                  <a:pt x="210312" y="5431654"/>
                </a:cubicBezTo>
                <a:cubicBezTo>
                  <a:pt x="220142" y="5436569"/>
                  <a:pt x="227701" y="5445479"/>
                  <a:pt x="237744" y="5449942"/>
                </a:cubicBezTo>
                <a:cubicBezTo>
                  <a:pt x="255360" y="5457771"/>
                  <a:pt x="275366" y="5459609"/>
                  <a:pt x="292608" y="5468230"/>
                </a:cubicBezTo>
                <a:cubicBezTo>
                  <a:pt x="325120" y="5484486"/>
                  <a:pt x="346384" y="5497273"/>
                  <a:pt x="384048" y="5504806"/>
                </a:cubicBezTo>
                <a:cubicBezTo>
                  <a:pt x="399288" y="5507854"/>
                  <a:pt x="414596" y="5510579"/>
                  <a:pt x="429768" y="5513950"/>
                </a:cubicBezTo>
                <a:cubicBezTo>
                  <a:pt x="471226" y="5523163"/>
                  <a:pt x="475620" y="5526186"/>
                  <a:pt x="521208" y="5541382"/>
                </a:cubicBezTo>
                <a:cubicBezTo>
                  <a:pt x="530352" y="5544430"/>
                  <a:pt x="539289" y="5548188"/>
                  <a:pt x="548640" y="5550526"/>
                </a:cubicBezTo>
                <a:cubicBezTo>
                  <a:pt x="573024" y="5556622"/>
                  <a:pt x="597947" y="5560866"/>
                  <a:pt x="621792" y="5568814"/>
                </a:cubicBezTo>
                <a:cubicBezTo>
                  <a:pt x="649224" y="5577958"/>
                  <a:pt x="677240" y="5585507"/>
                  <a:pt x="704088" y="5596246"/>
                </a:cubicBezTo>
                <a:cubicBezTo>
                  <a:pt x="719328" y="5602342"/>
                  <a:pt x="733814" y="5610843"/>
                  <a:pt x="749808" y="5614534"/>
                </a:cubicBezTo>
                <a:cubicBezTo>
                  <a:pt x="780774" y="5621680"/>
                  <a:pt x="915874" y="5631421"/>
                  <a:pt x="932688" y="5632822"/>
                </a:cubicBezTo>
                <a:lnTo>
                  <a:pt x="1636776" y="5614534"/>
                </a:lnTo>
                <a:lnTo>
                  <a:pt x="3026664" y="5605390"/>
                </a:lnTo>
                <a:cubicBezTo>
                  <a:pt x="3075432" y="5602342"/>
                  <a:pt x="3124306" y="5600670"/>
                  <a:pt x="3172968" y="5596246"/>
                </a:cubicBezTo>
                <a:cubicBezTo>
                  <a:pt x="3328029" y="5582150"/>
                  <a:pt x="3163096" y="5594716"/>
                  <a:pt x="3255264" y="5577958"/>
                </a:cubicBezTo>
                <a:cubicBezTo>
                  <a:pt x="3279441" y="5573562"/>
                  <a:pt x="3304032" y="5571862"/>
                  <a:pt x="3328416" y="5568814"/>
                </a:cubicBezTo>
                <a:cubicBezTo>
                  <a:pt x="3350727" y="5561377"/>
                  <a:pt x="3365554" y="5559108"/>
                  <a:pt x="3383280" y="5541382"/>
                </a:cubicBezTo>
                <a:cubicBezTo>
                  <a:pt x="3415119" y="5509543"/>
                  <a:pt x="3407270" y="5504446"/>
                  <a:pt x="3429000" y="5468230"/>
                </a:cubicBezTo>
                <a:cubicBezTo>
                  <a:pt x="3440308" y="5449383"/>
                  <a:pt x="3458625" y="5434218"/>
                  <a:pt x="3465576" y="5413366"/>
                </a:cubicBezTo>
                <a:cubicBezTo>
                  <a:pt x="3468624" y="5404222"/>
                  <a:pt x="3468699" y="5393460"/>
                  <a:pt x="3474720" y="5385934"/>
                </a:cubicBezTo>
                <a:cubicBezTo>
                  <a:pt x="3481585" y="5377352"/>
                  <a:pt x="3493008" y="5373742"/>
                  <a:pt x="3502152" y="5367646"/>
                </a:cubicBezTo>
                <a:cubicBezTo>
                  <a:pt x="3508248" y="5358502"/>
                  <a:pt x="3513739" y="5348925"/>
                  <a:pt x="3520440" y="5340214"/>
                </a:cubicBezTo>
                <a:cubicBezTo>
                  <a:pt x="3544239" y="5309275"/>
                  <a:pt x="3571940" y="5281252"/>
                  <a:pt x="3593592" y="5248774"/>
                </a:cubicBezTo>
                <a:cubicBezTo>
                  <a:pt x="3614015" y="5218140"/>
                  <a:pt x="3646258" y="5168676"/>
                  <a:pt x="3666744" y="5148190"/>
                </a:cubicBezTo>
                <a:cubicBezTo>
                  <a:pt x="3706973" y="5107961"/>
                  <a:pt x="3699271" y="5119111"/>
                  <a:pt x="3730752" y="5075038"/>
                </a:cubicBezTo>
                <a:cubicBezTo>
                  <a:pt x="3762578" y="5030482"/>
                  <a:pt x="3736712" y="5064607"/>
                  <a:pt x="3767328" y="5011030"/>
                </a:cubicBezTo>
                <a:cubicBezTo>
                  <a:pt x="3772780" y="5001488"/>
                  <a:pt x="3779791" y="4992917"/>
                  <a:pt x="3785616" y="4983598"/>
                </a:cubicBezTo>
                <a:cubicBezTo>
                  <a:pt x="3795036" y="4968527"/>
                  <a:pt x="3803904" y="4953118"/>
                  <a:pt x="3813048" y="4937878"/>
                </a:cubicBezTo>
                <a:cubicBezTo>
                  <a:pt x="3819144" y="4907398"/>
                  <a:pt x="3817435" y="4874240"/>
                  <a:pt x="3831336" y="4846438"/>
                </a:cubicBezTo>
                <a:cubicBezTo>
                  <a:pt x="3842421" y="4824268"/>
                  <a:pt x="3862074" y="4787492"/>
                  <a:pt x="3867912" y="4764142"/>
                </a:cubicBezTo>
                <a:cubicBezTo>
                  <a:pt x="3879220" y="4718909"/>
                  <a:pt x="3880600" y="4671215"/>
                  <a:pt x="3895344" y="4626982"/>
                </a:cubicBezTo>
                <a:cubicBezTo>
                  <a:pt x="3910540" y="4581394"/>
                  <a:pt x="3913563" y="4577000"/>
                  <a:pt x="3922776" y="4535542"/>
                </a:cubicBezTo>
                <a:cubicBezTo>
                  <a:pt x="3926147" y="4520370"/>
                  <a:pt x="3929365" y="4505152"/>
                  <a:pt x="3931920" y="4489822"/>
                </a:cubicBezTo>
                <a:cubicBezTo>
                  <a:pt x="3935463" y="4468563"/>
                  <a:pt x="3935837" y="4446723"/>
                  <a:pt x="3941064" y="4425814"/>
                </a:cubicBezTo>
                <a:cubicBezTo>
                  <a:pt x="3945045" y="4409890"/>
                  <a:pt x="3953589" y="4395463"/>
                  <a:pt x="3959352" y="4380094"/>
                </a:cubicBezTo>
                <a:cubicBezTo>
                  <a:pt x="3962736" y="4371069"/>
                  <a:pt x="3966158" y="4362013"/>
                  <a:pt x="3968496" y="4352662"/>
                </a:cubicBezTo>
                <a:cubicBezTo>
                  <a:pt x="3981122" y="4302157"/>
                  <a:pt x="3981071" y="4272636"/>
                  <a:pt x="3986784" y="4215502"/>
                </a:cubicBezTo>
                <a:cubicBezTo>
                  <a:pt x="3989832" y="3898510"/>
                  <a:pt x="3990645" y="3581489"/>
                  <a:pt x="3995928" y="3264526"/>
                </a:cubicBezTo>
                <a:cubicBezTo>
                  <a:pt x="3998289" y="3122890"/>
                  <a:pt x="4006769" y="3140518"/>
                  <a:pt x="4014216" y="3017638"/>
                </a:cubicBezTo>
                <a:cubicBezTo>
                  <a:pt x="4018277" y="2950636"/>
                  <a:pt x="4020312" y="2883526"/>
                  <a:pt x="4023360" y="2816470"/>
                </a:cubicBezTo>
                <a:cubicBezTo>
                  <a:pt x="4019676" y="2610157"/>
                  <a:pt x="4020399" y="2343774"/>
                  <a:pt x="4005072" y="2121526"/>
                </a:cubicBezTo>
                <a:cubicBezTo>
                  <a:pt x="4003173" y="2093991"/>
                  <a:pt x="3998976" y="2066662"/>
                  <a:pt x="3995928" y="2039230"/>
                </a:cubicBezTo>
                <a:cubicBezTo>
                  <a:pt x="3992880" y="1972174"/>
                  <a:pt x="3990055" y="1905108"/>
                  <a:pt x="3986784" y="1838062"/>
                </a:cubicBezTo>
                <a:cubicBezTo>
                  <a:pt x="3983958" y="1780139"/>
                  <a:pt x="3980005" y="1722270"/>
                  <a:pt x="3977640" y="1664326"/>
                </a:cubicBezTo>
                <a:cubicBezTo>
                  <a:pt x="3973909" y="1572911"/>
                  <a:pt x="3973065" y="1481383"/>
                  <a:pt x="3968496" y="1390006"/>
                </a:cubicBezTo>
                <a:cubicBezTo>
                  <a:pt x="3966966" y="1359412"/>
                  <a:pt x="3961701" y="1329108"/>
                  <a:pt x="3959352" y="1298566"/>
                </a:cubicBezTo>
                <a:cubicBezTo>
                  <a:pt x="3952557" y="1210225"/>
                  <a:pt x="3947091" y="1121787"/>
                  <a:pt x="3941064" y="1033390"/>
                </a:cubicBezTo>
                <a:cubicBezTo>
                  <a:pt x="3936753" y="970159"/>
                  <a:pt x="3925225" y="799560"/>
                  <a:pt x="3922776" y="740782"/>
                </a:cubicBezTo>
                <a:cubicBezTo>
                  <a:pt x="3918840" y="646327"/>
                  <a:pt x="3919025" y="551701"/>
                  <a:pt x="3913632" y="457318"/>
                </a:cubicBezTo>
                <a:cubicBezTo>
                  <a:pt x="3912611" y="439452"/>
                  <a:pt x="3900439" y="411143"/>
                  <a:pt x="3895344" y="393310"/>
                </a:cubicBezTo>
                <a:cubicBezTo>
                  <a:pt x="3882486" y="348306"/>
                  <a:pt x="3892263" y="362772"/>
                  <a:pt x="3867912" y="320158"/>
                </a:cubicBezTo>
                <a:cubicBezTo>
                  <a:pt x="3862460" y="310616"/>
                  <a:pt x="3854539" y="302556"/>
                  <a:pt x="3849624" y="292726"/>
                </a:cubicBezTo>
                <a:cubicBezTo>
                  <a:pt x="3838571" y="270620"/>
                  <a:pt x="3840125" y="252156"/>
                  <a:pt x="3831336" y="228718"/>
                </a:cubicBezTo>
                <a:cubicBezTo>
                  <a:pt x="3816990" y="190462"/>
                  <a:pt x="3790650" y="160784"/>
                  <a:pt x="3767328" y="128134"/>
                </a:cubicBezTo>
                <a:cubicBezTo>
                  <a:pt x="3760940" y="119191"/>
                  <a:pt x="3756811" y="108473"/>
                  <a:pt x="3749040" y="100702"/>
                </a:cubicBezTo>
                <a:cubicBezTo>
                  <a:pt x="3739006" y="90668"/>
                  <a:pt x="3695790" y="67712"/>
                  <a:pt x="3685032" y="64126"/>
                </a:cubicBezTo>
                <a:cubicBezTo>
                  <a:pt x="3661187" y="56178"/>
                  <a:pt x="3611880" y="45838"/>
                  <a:pt x="3611880" y="45838"/>
                </a:cubicBezTo>
                <a:cubicBezTo>
                  <a:pt x="3563112" y="48886"/>
                  <a:pt x="3514238" y="50558"/>
                  <a:pt x="3465576" y="54982"/>
                </a:cubicBezTo>
                <a:cubicBezTo>
                  <a:pt x="3447112" y="56661"/>
                  <a:pt x="3429252" y="64126"/>
                  <a:pt x="3410712" y="64126"/>
                </a:cubicBezTo>
                <a:cubicBezTo>
                  <a:pt x="3267424" y="64126"/>
                  <a:pt x="3124200" y="58030"/>
                  <a:pt x="2980944" y="54982"/>
                </a:cubicBezTo>
                <a:cubicBezTo>
                  <a:pt x="2956560" y="51934"/>
                  <a:pt x="2932288" y="47798"/>
                  <a:pt x="2907792" y="45838"/>
                </a:cubicBezTo>
                <a:cubicBezTo>
                  <a:pt x="2856052" y="41699"/>
                  <a:pt x="2803992" y="41859"/>
                  <a:pt x="2752344" y="36694"/>
                </a:cubicBezTo>
                <a:cubicBezTo>
                  <a:pt x="2742753" y="35735"/>
                  <a:pt x="2734511" y="28423"/>
                  <a:pt x="2724912" y="27550"/>
                </a:cubicBezTo>
                <a:cubicBezTo>
                  <a:pt x="2667158" y="22300"/>
                  <a:pt x="2609088" y="21454"/>
                  <a:pt x="2551176" y="18406"/>
                </a:cubicBezTo>
                <a:cubicBezTo>
                  <a:pt x="2502408" y="12310"/>
                  <a:pt x="2453996" y="-1417"/>
                  <a:pt x="2404872" y="118"/>
                </a:cubicBezTo>
                <a:cubicBezTo>
                  <a:pt x="2060384" y="10883"/>
                  <a:pt x="2209679" y="3532"/>
                  <a:pt x="1956816" y="18406"/>
                </a:cubicBezTo>
                <a:cubicBezTo>
                  <a:pt x="1920548" y="25660"/>
                  <a:pt x="1871030" y="34809"/>
                  <a:pt x="1837944" y="45838"/>
                </a:cubicBezTo>
                <a:lnTo>
                  <a:pt x="1783080" y="64126"/>
                </a:lnTo>
                <a:cubicBezTo>
                  <a:pt x="1773936" y="67174"/>
                  <a:pt x="1765099" y="71380"/>
                  <a:pt x="1755648" y="73270"/>
                </a:cubicBezTo>
                <a:cubicBezTo>
                  <a:pt x="1740408" y="76318"/>
                  <a:pt x="1725314" y="80216"/>
                  <a:pt x="1709928" y="82414"/>
                </a:cubicBezTo>
                <a:cubicBezTo>
                  <a:pt x="1703893" y="83276"/>
                  <a:pt x="1709928" y="67174"/>
                  <a:pt x="1709928" y="64126"/>
                </a:cubicBezTo>
                <a:close/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34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连接管理器</a:t>
            </a:r>
            <a:r>
              <a:rPr lang="en-US" altLang="zh-CN" dirty="0"/>
              <a:t>CM</a:t>
            </a:r>
          </a:p>
        </p:txBody>
      </p:sp>
      <p:pic>
        <p:nvPicPr>
          <p:cNvPr id="470020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871913" y="2755900"/>
            <a:ext cx="8320087" cy="3189288"/>
          </a:xfrm>
          <a:noFill/>
        </p:spPr>
      </p:pic>
      <p:sp>
        <p:nvSpPr>
          <p:cNvPr id="470019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541421" y="1259806"/>
            <a:ext cx="10980738" cy="4889500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tx1"/>
              </a:buClr>
            </a:pPr>
            <a:r>
              <a:rPr lang="zh-CN" altLang="en-US" sz="1800" dirty="0"/>
              <a:t>使用如下 </a:t>
            </a:r>
            <a:r>
              <a:rPr lang="en-US" altLang="zh-CN" sz="1800" dirty="0" err="1"/>
              <a:t>SLA </a:t>
            </a:r>
            <a:r>
              <a:rPr lang="zh-CN" altLang="en-US" sz="1800" dirty="0"/>
              <a:t>进行连接</a:t>
            </a:r>
            <a:r>
              <a:rPr lang="en-US" altLang="zh-CN" sz="1800" dirty="0"/>
              <a:t>:</a:t>
            </a:r>
          </a:p>
          <a:p>
            <a:pPr marL="457200" lvl="1" indent="-227330"/>
            <a:r>
              <a:rPr lang="en-US" altLang="zh-CN" dirty="0"/>
              <a:t>SLA </a:t>
            </a:r>
            <a:r>
              <a:rPr lang="en-US" altLang="zh-CN" dirty="0" err="1"/>
              <a:t>oltp</a:t>
            </a:r>
            <a:r>
              <a:rPr lang="en-US" altLang="zh-CN" dirty="0"/>
              <a:t>=primary</a:t>
            </a:r>
          </a:p>
          <a:p>
            <a:pPr marL="457200" lvl="1" indent="-227330"/>
            <a:r>
              <a:rPr lang="en-US" altLang="zh-CN" dirty="0"/>
              <a:t>SLA payroll=</a:t>
            </a:r>
            <a:r>
              <a:rPr lang="en-US" altLang="zh-CN" dirty="0" err="1"/>
              <a:t>HDR+primary</a:t>
            </a:r>
            <a:endParaRPr lang="en-US" altLang="zh-CN" dirty="0"/>
          </a:p>
          <a:p>
            <a:pPr marL="457200" lvl="1" indent="-227330"/>
            <a:r>
              <a:rPr lang="en-US" altLang="zh-CN" dirty="0"/>
              <a:t>SLA report=SDS+HDR</a:t>
            </a:r>
          </a:p>
          <a:p>
            <a:pPr marL="457200" lvl="1" indent="-227330"/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31533" y="1105335"/>
            <a:ext cx="4464496" cy="2082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indent="-228600">
              <a:spcBef>
                <a:spcPts val="1000"/>
              </a:spcBef>
              <a:buClr>
                <a:schemeClr val="tx1"/>
              </a:buClr>
              <a:buBlip>
                <a:blip r:embed="rId4"/>
              </a:buBlip>
            </a:pP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提供客户端与服务器集群的连接。</a:t>
            </a:r>
            <a:endParaRPr lang="en-US" altLang="zh-CN" sz="1600" spc="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spcBef>
                <a:spcPts val="1000"/>
              </a:spcBef>
              <a:buClr>
                <a:schemeClr val="tx1"/>
              </a:buClr>
              <a:buBlip>
                <a:blip r:embed="rId4"/>
              </a:buBlip>
            </a:pP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基于服务层协议（</a:t>
            </a:r>
            <a:r>
              <a:rPr lang="en-US" altLang="zh-CN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SLA</a:t>
            </a: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）的连接管理；</a:t>
            </a:r>
            <a:endParaRPr lang="en-US" altLang="zh-CN" sz="1600" spc="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spcBef>
                <a:spcPts val="1000"/>
              </a:spcBef>
              <a:buClr>
                <a:schemeClr val="tx1"/>
              </a:buClr>
              <a:buBlip>
                <a:blip r:embed="rId4"/>
              </a:buBlip>
            </a:pP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提供应用透明服务；</a:t>
            </a:r>
            <a:endParaRPr lang="en-US" altLang="zh-CN" sz="1600" spc="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spcBef>
                <a:spcPts val="1000"/>
              </a:spcBef>
              <a:buClr>
                <a:schemeClr val="tx1"/>
              </a:buClr>
              <a:buBlip>
                <a:blip r:embed="rId4"/>
              </a:buBlip>
            </a:pP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管理故障切换，且切换对应用透明；</a:t>
            </a:r>
          </a:p>
          <a:p>
            <a:pPr marL="228600" lvl="1" indent="-228600">
              <a:spcBef>
                <a:spcPts val="1000"/>
              </a:spcBef>
              <a:buClr>
                <a:schemeClr val="tx1"/>
              </a:buClr>
              <a:buBlip>
                <a:blip r:embed="rId4"/>
              </a:buBlip>
            </a:pPr>
            <a:r>
              <a:rPr lang="zh-CN" altLang="en-US" sz="16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管理负载均衡。</a:t>
            </a:r>
            <a:endParaRPr lang="en-US" altLang="zh-CN" sz="1600" spc="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967206" y="3289602"/>
            <a:ext cx="7823831" cy="29992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1960880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960880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854960"/>
            <a:ext cx="7223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854960"/>
            <a:ext cx="45704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749040"/>
            <a:ext cx="722312" cy="66548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749040"/>
            <a:ext cx="4570412" cy="66548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 bwMode="auto">
          <a:xfrm>
            <a:off x="3339148" y="4368800"/>
            <a:ext cx="7223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4202748" y="4368800"/>
            <a:ext cx="45704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8639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8s  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高可用概况</a:t>
            </a: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SDS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871208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适用场景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GBase 8s </a:t>
            </a:r>
            <a:r>
              <a:rPr lang="zh-CN" altLang="en-US" dirty="0">
                <a:sym typeface="+mn-ea"/>
              </a:rPr>
              <a:t>两地三中心</a:t>
            </a:r>
            <a:endParaRPr kumimoji="1" lang="zh-CN" altLang="en-US" dirty="0"/>
          </a:p>
        </p:txBody>
      </p:sp>
      <p:grpSp>
        <p:nvGrpSpPr>
          <p:cNvPr id="6" name="画布 33"/>
          <p:cNvGrpSpPr/>
          <p:nvPr/>
        </p:nvGrpSpPr>
        <p:grpSpPr>
          <a:xfrm>
            <a:off x="1429351" y="1866978"/>
            <a:ext cx="6661785" cy="4547870"/>
            <a:chOff x="0" y="0"/>
            <a:chExt cx="6661785" cy="4547870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6661785" cy="4547870"/>
            </a:xfrm>
            <a:prstGeom prst="rect">
              <a:avLst/>
            </a:prstGeom>
          </p:spPr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189" y="0"/>
              <a:ext cx="5530336" cy="4547870"/>
            </a:xfrm>
            <a:prstGeom prst="rect">
              <a:avLst/>
            </a:prstGeom>
          </p:spPr>
        </p:pic>
        <p:sp>
          <p:nvSpPr>
            <p:cNvPr id="9" name="五角星 8"/>
            <p:cNvSpPr/>
            <p:nvPr/>
          </p:nvSpPr>
          <p:spPr>
            <a:xfrm>
              <a:off x="4387755" y="1685498"/>
              <a:ext cx="136478" cy="136478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形标注 9"/>
            <p:cNvSpPr/>
            <p:nvPr/>
          </p:nvSpPr>
          <p:spPr>
            <a:xfrm>
              <a:off x="4301792" y="1201732"/>
              <a:ext cx="746717" cy="323917"/>
            </a:xfrm>
            <a:prstGeom prst="wedgeEllipseCallout">
              <a:avLst>
                <a:gd name="adj1" fmla="val -28575"/>
                <a:gd name="adj2" fmla="val 100918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 </a:t>
              </a:r>
              <a:endParaRPr lang="en-US" altLang="en-US" sz="1200" kern="10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椭圆形标注 10"/>
            <p:cNvSpPr/>
            <p:nvPr/>
          </p:nvSpPr>
          <p:spPr>
            <a:xfrm>
              <a:off x="2939284" y="2069325"/>
              <a:ext cx="1704689" cy="686154"/>
            </a:xfrm>
            <a:prstGeom prst="wedgeEllipseCallout">
              <a:avLst>
                <a:gd name="adj1" fmla="val 35413"/>
                <a:gd name="adj2" fmla="val -85369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 </a:t>
              </a:r>
              <a:endParaRPr lang="en-US" altLang="en-US" sz="1200" kern="10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4338797" y="3863186"/>
              <a:ext cx="70575" cy="705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804251" y="1061168"/>
              <a:ext cx="70575" cy="705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椭圆形标注 13"/>
            <p:cNvSpPr/>
            <p:nvPr/>
          </p:nvSpPr>
          <p:spPr>
            <a:xfrm>
              <a:off x="1008114" y="1251778"/>
              <a:ext cx="755371" cy="357329"/>
            </a:xfrm>
            <a:prstGeom prst="wedgeEllipseCallout">
              <a:avLst>
                <a:gd name="adj1" fmla="val 52084"/>
                <a:gd name="adj2" fmla="val -82821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 </a:t>
              </a:r>
              <a:endParaRPr lang="en-US" altLang="en-US" sz="1200" kern="10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椭圆形标注 14"/>
            <p:cNvSpPr/>
            <p:nvPr/>
          </p:nvSpPr>
          <p:spPr>
            <a:xfrm>
              <a:off x="3461870" y="3390763"/>
              <a:ext cx="736169" cy="379512"/>
            </a:xfrm>
            <a:prstGeom prst="wedgeEllipseCallout">
              <a:avLst>
                <a:gd name="adj1" fmla="val 67437"/>
                <a:gd name="adj2" fmla="val 7673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 </a:t>
              </a:r>
              <a:endParaRPr lang="en-US" altLang="en-US" sz="1200" kern="10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396598" y="724207"/>
              <a:ext cx="1329349" cy="28919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西北容灾中心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8797" y="1131813"/>
              <a:ext cx="666121" cy="41682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8743" y="3389226"/>
              <a:ext cx="673100" cy="413122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049" y="1225525"/>
              <a:ext cx="673100" cy="413122"/>
            </a:xfrm>
            <a:prstGeom prst="rect">
              <a:avLst/>
            </a:prstGeom>
          </p:spPr>
        </p:pic>
        <p:sp>
          <p:nvSpPr>
            <p:cNvPr id="20" name="圆角矩形 19"/>
            <p:cNvSpPr/>
            <p:nvPr/>
          </p:nvSpPr>
          <p:spPr>
            <a:xfrm>
              <a:off x="4301791" y="856533"/>
              <a:ext cx="1495159" cy="28919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北中心东城机房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823810" y="2737397"/>
              <a:ext cx="1481436" cy="28919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北中心西城机房</a:t>
              </a: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9704" y="2169458"/>
              <a:ext cx="677249" cy="399247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3311" y="2261813"/>
              <a:ext cx="691459" cy="40767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3311" y="2111653"/>
              <a:ext cx="691459" cy="407678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3311" y="1965526"/>
              <a:ext cx="691459" cy="407678"/>
            </a:xfrm>
            <a:prstGeom prst="rect">
              <a:avLst/>
            </a:prstGeom>
          </p:spPr>
        </p:pic>
        <p:cxnSp>
          <p:nvCxnSpPr>
            <p:cNvPr id="26" name="直接箭头连接符 25"/>
            <p:cNvCxnSpPr>
              <a:stCxn id="22" idx="3"/>
              <a:endCxn id="25" idx="1"/>
            </p:cNvCxnSpPr>
            <p:nvPr/>
          </p:nvCxnSpPr>
          <p:spPr>
            <a:xfrm flipV="1">
              <a:off x="3636953" y="2169084"/>
              <a:ext cx="296358" cy="19969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2" idx="3"/>
            </p:cNvCxnSpPr>
            <p:nvPr/>
          </p:nvCxnSpPr>
          <p:spPr>
            <a:xfrm flipV="1">
              <a:off x="3636953" y="2334732"/>
              <a:ext cx="296358" cy="3404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22" idx="3"/>
            </p:cNvCxnSpPr>
            <p:nvPr/>
          </p:nvCxnSpPr>
          <p:spPr>
            <a:xfrm>
              <a:off x="3636953" y="2368774"/>
              <a:ext cx="296358" cy="10037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接箭头连接符 227"/>
            <p:cNvCxnSpPr>
              <a:stCxn id="22" idx="2"/>
              <a:endCxn id="18" idx="1"/>
            </p:cNvCxnSpPr>
            <p:nvPr/>
          </p:nvCxnSpPr>
          <p:spPr>
            <a:xfrm rot="16200000" flipH="1">
              <a:off x="2874995" y="2992039"/>
              <a:ext cx="1027082" cy="180414"/>
            </a:xfrm>
            <a:prstGeom prst="curved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圆角矩形 29"/>
            <p:cNvSpPr/>
            <p:nvPr/>
          </p:nvSpPr>
          <p:spPr>
            <a:xfrm>
              <a:off x="3298328" y="2041920"/>
              <a:ext cx="761662" cy="292812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600" b="1" kern="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SDS</a:t>
              </a:r>
              <a:endParaRPr lang="en-US" altLang="en-US" sz="16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cxnSp>
          <p:nvCxnSpPr>
            <p:cNvPr id="31" name="直接箭头连接符 227"/>
            <p:cNvCxnSpPr>
              <a:stCxn id="22" idx="1"/>
              <a:endCxn id="19" idx="2"/>
            </p:cNvCxnSpPr>
            <p:nvPr/>
          </p:nvCxnSpPr>
          <p:spPr>
            <a:xfrm rot="10800000">
              <a:off x="1396600" y="1638648"/>
              <a:ext cx="1563105" cy="730435"/>
            </a:xfrm>
            <a:prstGeom prst="curved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直接箭头连接符 227"/>
            <p:cNvCxnSpPr>
              <a:stCxn id="22" idx="0"/>
              <a:endCxn id="17" idx="1"/>
            </p:cNvCxnSpPr>
            <p:nvPr/>
          </p:nvCxnSpPr>
          <p:spPr>
            <a:xfrm rot="5400000" flipH="1" flipV="1">
              <a:off x="3404000" y="1234379"/>
              <a:ext cx="829127" cy="1040468"/>
            </a:xfrm>
            <a:prstGeom prst="curvedConnector2">
              <a:avLst/>
            </a:prstGeom>
            <a:ln w="38100">
              <a:solidFill>
                <a:schemeClr val="accent5">
                  <a:lumMod val="2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" name="圆角矩形 32"/>
            <p:cNvSpPr/>
            <p:nvPr/>
          </p:nvSpPr>
          <p:spPr>
            <a:xfrm>
              <a:off x="3925180" y="3962790"/>
              <a:ext cx="1380065" cy="28919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南中心容灾机房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2788840" y="3026594"/>
              <a:ext cx="601275" cy="289197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600" b="1" kern="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RSS</a:t>
              </a:r>
              <a:endParaRPr lang="en-US" altLang="en-US" sz="16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 rot="900000">
              <a:off x="1847803" y="2021742"/>
              <a:ext cx="739270" cy="317494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600" b="1" kern="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RSS</a:t>
              </a:r>
              <a:endParaRPr lang="en-US" altLang="en-US" sz="16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 rot="19800000">
              <a:off x="3298161" y="1222402"/>
              <a:ext cx="853144" cy="399806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  <a:buClr>
                  <a:srgbClr val="FD0000"/>
                </a:buClr>
              </a:pPr>
              <a:r>
                <a:rPr lang="en-US" sz="1600" b="1" kern="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HDR</a:t>
              </a:r>
              <a:endParaRPr lang="en-US" altLang="en-US" sz="16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sp>
          <p:nvSpPr>
            <p:cNvPr id="37" name="流程图: 磁盘 36"/>
            <p:cNvSpPr/>
            <p:nvPr/>
          </p:nvSpPr>
          <p:spPr>
            <a:xfrm>
              <a:off x="3601262" y="2651845"/>
              <a:ext cx="332049" cy="76852"/>
            </a:xfrm>
            <a:prstGeom prst="flowChartMagneticDisk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流程图: 磁盘 37"/>
            <p:cNvSpPr/>
            <p:nvPr/>
          </p:nvSpPr>
          <p:spPr>
            <a:xfrm>
              <a:off x="3601262" y="2583980"/>
              <a:ext cx="332049" cy="76852"/>
            </a:xfrm>
            <a:prstGeom prst="flowChartMagneticDisk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流程图: 磁盘 38"/>
            <p:cNvSpPr/>
            <p:nvPr/>
          </p:nvSpPr>
          <p:spPr>
            <a:xfrm>
              <a:off x="3601262" y="2510673"/>
              <a:ext cx="332049" cy="76852"/>
            </a:xfrm>
            <a:prstGeom prst="flowChartMagneticDisk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buClr>
                  <a:srgbClr val="FD0000"/>
                </a:buClr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箭头连接符 39"/>
            <p:cNvCxnSpPr>
              <a:endCxn id="38" idx="2"/>
            </p:cNvCxnSpPr>
            <p:nvPr/>
          </p:nvCxnSpPr>
          <p:spPr>
            <a:xfrm>
              <a:off x="3470635" y="2468830"/>
              <a:ext cx="130627" cy="153235"/>
            </a:xfrm>
            <a:prstGeom prst="straightConnector1">
              <a:avLst/>
            </a:prstGeom>
            <a:ln w="1270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stCxn id="38" idx="4"/>
            </p:cNvCxnSpPr>
            <p:nvPr/>
          </p:nvCxnSpPr>
          <p:spPr>
            <a:xfrm flipV="1">
              <a:off x="3933311" y="2236926"/>
              <a:ext cx="264729" cy="385139"/>
            </a:xfrm>
            <a:prstGeom prst="straightConnector1">
              <a:avLst/>
            </a:prstGeom>
            <a:ln w="1270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V="1">
              <a:off x="3949380" y="2372588"/>
              <a:ext cx="248660" cy="249136"/>
            </a:xfrm>
            <a:prstGeom prst="straightConnector1">
              <a:avLst/>
            </a:prstGeom>
            <a:ln w="1270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8" idx="4"/>
            </p:cNvCxnSpPr>
            <p:nvPr/>
          </p:nvCxnSpPr>
          <p:spPr>
            <a:xfrm flipV="1">
              <a:off x="3933311" y="2519004"/>
              <a:ext cx="264729" cy="103061"/>
            </a:xfrm>
            <a:prstGeom prst="straightConnector1">
              <a:avLst/>
            </a:prstGeom>
            <a:ln w="1270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955" y="2749135"/>
            <a:ext cx="2761975" cy="341612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4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12190" y="1272301"/>
            <a:ext cx="766264" cy="451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extBox 44"/>
          <p:cNvSpPr txBox="1"/>
          <p:nvPr/>
        </p:nvSpPr>
        <p:spPr>
          <a:xfrm>
            <a:off x="2664127" y="1373902"/>
            <a:ext cx="83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D0000"/>
              </a:buClr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曲线连接符 45"/>
          <p:cNvCxnSpPr>
            <a:stCxn id="44" idx="2"/>
            <a:endCxn id="47" idx="3"/>
          </p:cNvCxnSpPr>
          <p:nvPr/>
        </p:nvCxnSpPr>
        <p:spPr bwMode="auto">
          <a:xfrm rot="16200000" flipH="1">
            <a:off x="3457047" y="561820"/>
            <a:ext cx="266789" cy="2590239"/>
          </a:xfrm>
          <a:prstGeom prst="curvedConnector3">
            <a:avLst>
              <a:gd name="adj1" fmla="val 50000"/>
            </a:avLst>
          </a:prstGeom>
          <a:ln w="12700">
            <a:solidFill>
              <a:srgbClr val="2D1DFF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97" name="组合 4096"/>
          <p:cNvGrpSpPr/>
          <p:nvPr/>
        </p:nvGrpSpPr>
        <p:grpSpPr>
          <a:xfrm>
            <a:off x="3064131" y="1958085"/>
            <a:ext cx="3642859" cy="611076"/>
            <a:chOff x="1383854" y="1529458"/>
            <a:chExt cx="3937000" cy="660417"/>
          </a:xfrm>
        </p:grpSpPr>
        <p:sp>
          <p:nvSpPr>
            <p:cNvPr id="47" name="云形标注 46"/>
            <p:cNvSpPr/>
            <p:nvPr/>
          </p:nvSpPr>
          <p:spPr bwMode="auto">
            <a:xfrm>
              <a:off x="1383854" y="1529458"/>
              <a:ext cx="3937000" cy="609600"/>
            </a:xfrm>
            <a:prstGeom prst="cloudCallout">
              <a:avLst/>
            </a:prstGeom>
            <a:solidFill>
              <a:schemeClr val="bg1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spcBef>
                  <a:spcPct val="0"/>
                </a:spcBef>
                <a:buClrTx/>
              </a:pPr>
              <a:r>
                <a:rPr lang="zh-CN" altLang="en-US" sz="1400" i="1" dirty="0">
                  <a:solidFill>
                    <a:srgbClr val="2D1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连接管理器</a:t>
              </a:r>
            </a:p>
          </p:txBody>
        </p:sp>
        <p:sp>
          <p:nvSpPr>
            <p:cNvPr id="48" name="圆角矩形 47"/>
            <p:cNvSpPr/>
            <p:nvPr/>
          </p:nvSpPr>
          <p:spPr bwMode="auto">
            <a:xfrm>
              <a:off x="1974449" y="1923175"/>
              <a:ext cx="495300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spcBef>
                  <a:spcPct val="0"/>
                </a:spcBef>
                <a:buClrTx/>
              </a:pPr>
              <a:r>
                <a:rPr lang="en-US" altLang="zh-CN" sz="1200" i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CM1</a:t>
              </a:r>
            </a:p>
          </p:txBody>
        </p:sp>
        <p:sp>
          <p:nvSpPr>
            <p:cNvPr id="49" name="圆角矩形 48"/>
            <p:cNvSpPr/>
            <p:nvPr/>
          </p:nvSpPr>
          <p:spPr bwMode="auto">
            <a:xfrm>
              <a:off x="4362049" y="1846975"/>
              <a:ext cx="495300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spcBef>
                  <a:spcPct val="0"/>
                </a:spcBef>
                <a:buClrTx/>
              </a:pPr>
              <a:r>
                <a:rPr lang="en-US" altLang="zh-CN" sz="1200" i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CM2</a:t>
              </a:r>
            </a:p>
          </p:txBody>
        </p:sp>
      </p:grpSp>
      <p:pic>
        <p:nvPicPr>
          <p:cNvPr id="50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88590" y="1259601"/>
            <a:ext cx="766264" cy="451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1" name="曲线连接符 50"/>
          <p:cNvCxnSpPr>
            <a:stCxn id="50" idx="2"/>
            <a:endCxn id="47" idx="3"/>
          </p:cNvCxnSpPr>
          <p:nvPr/>
        </p:nvCxnSpPr>
        <p:spPr bwMode="auto">
          <a:xfrm rot="16200000" flipH="1">
            <a:off x="4288897" y="1393670"/>
            <a:ext cx="279489" cy="913839"/>
          </a:xfrm>
          <a:prstGeom prst="curvedConnector3">
            <a:avLst>
              <a:gd name="adj1" fmla="val 50000"/>
            </a:avLst>
          </a:prstGeom>
          <a:ln w="12700">
            <a:solidFill>
              <a:srgbClr val="16E857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02427" y="1323102"/>
            <a:ext cx="83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D0000"/>
              </a:buClr>
            </a:pPr>
            <a:r>
              <a:rPr lang="zh-CN" altLang="en-US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dirty="0">
              <a:solidFill>
                <a:srgbClr val="2D1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04690" y="1259601"/>
            <a:ext cx="766264" cy="451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TextBox 53"/>
          <p:cNvSpPr txBox="1"/>
          <p:nvPr/>
        </p:nvSpPr>
        <p:spPr>
          <a:xfrm>
            <a:off x="6131227" y="1310402"/>
            <a:ext cx="83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D0000"/>
              </a:buClr>
            </a:pPr>
            <a:r>
              <a:rPr lang="zh-CN" altLang="en-US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 dirty="0">
              <a:solidFill>
                <a:srgbClr val="2D1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63590" y="1297701"/>
            <a:ext cx="766264" cy="451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" name="TextBox 55"/>
          <p:cNvSpPr txBox="1"/>
          <p:nvPr/>
        </p:nvSpPr>
        <p:spPr>
          <a:xfrm>
            <a:off x="7490127" y="1348502"/>
            <a:ext cx="83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D0000"/>
              </a:buClr>
            </a:pPr>
            <a:r>
              <a:rPr lang="zh-CN" altLang="en-US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400" dirty="0">
                <a:solidFill>
                  <a:srgbClr val="2D1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400" dirty="0">
              <a:solidFill>
                <a:srgbClr val="2D1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曲线连接符 56"/>
          <p:cNvCxnSpPr>
            <a:stCxn id="53" idx="2"/>
            <a:endCxn id="47" idx="3"/>
          </p:cNvCxnSpPr>
          <p:nvPr/>
        </p:nvCxnSpPr>
        <p:spPr bwMode="auto">
          <a:xfrm rot="5400000">
            <a:off x="5196948" y="1399460"/>
            <a:ext cx="279489" cy="902261"/>
          </a:xfrm>
          <a:prstGeom prst="curvedConnector3">
            <a:avLst>
              <a:gd name="adj1" fmla="val 50000"/>
            </a:avLst>
          </a:prstGeom>
          <a:ln w="12700">
            <a:solidFill>
              <a:srgbClr val="00206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线连接符 57"/>
          <p:cNvCxnSpPr>
            <a:stCxn id="55" idx="2"/>
          </p:cNvCxnSpPr>
          <p:nvPr/>
        </p:nvCxnSpPr>
        <p:spPr bwMode="auto">
          <a:xfrm rot="5400000">
            <a:off x="5969329" y="807617"/>
            <a:ext cx="236065" cy="2118723"/>
          </a:xfrm>
          <a:prstGeom prst="curvedConnector2">
            <a:avLst/>
          </a:prstGeom>
          <a:ln w="12700">
            <a:solidFill>
              <a:srgbClr val="0070C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645" y="1843406"/>
            <a:ext cx="2943077" cy="8384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2" grpId="0"/>
      <p:bldP spid="54" grpId="0"/>
      <p:bldP spid="5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适用场景</a:t>
            </a:r>
            <a:r>
              <a:rPr lang="en-US" altLang="zh-CN" dirty="0">
                <a:sym typeface="+mn-ea"/>
              </a:rPr>
              <a:t>—</a:t>
            </a:r>
            <a:r>
              <a:rPr kumimoji="1" lang="zh-CN" altLang="en-US" dirty="0">
                <a:sym typeface="+mn-ea"/>
              </a:rPr>
              <a:t>单机数据库升级</a:t>
            </a:r>
            <a:r>
              <a:rPr kumimoji="1" lang="en-US" altLang="zh-CN" dirty="0">
                <a:sym typeface="+mn-ea"/>
              </a:rPr>
              <a:t> HDR</a:t>
            </a:r>
            <a:r>
              <a:rPr kumimoji="1" lang="zh-CN" altLang="en-US" dirty="0">
                <a:sym typeface="+mn-ea"/>
              </a:rPr>
              <a:t>高可用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358" y="4774523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692"/>
          <p:cNvSpPr txBox="1">
            <a:spLocks noChangeArrowheads="1"/>
          </p:cNvSpPr>
          <p:nvPr/>
        </p:nvSpPr>
        <p:spPr bwMode="auto">
          <a:xfrm>
            <a:off x="2809581" y="5591157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6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数据库节点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474" y="3060794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692"/>
          <p:cNvSpPr txBox="1">
            <a:spLocks noChangeArrowheads="1"/>
          </p:cNvSpPr>
          <p:nvPr/>
        </p:nvSpPr>
        <p:spPr bwMode="auto">
          <a:xfrm>
            <a:off x="2482586" y="3877429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269" y="3065246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692"/>
          <p:cNvSpPr txBox="1">
            <a:spLocks noChangeArrowheads="1"/>
          </p:cNvSpPr>
          <p:nvPr/>
        </p:nvSpPr>
        <p:spPr bwMode="auto">
          <a:xfrm>
            <a:off x="3584381" y="3881881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cxnSp>
        <p:nvCxnSpPr>
          <p:cNvPr id="11" name="直线箭头连接符 9"/>
          <p:cNvCxnSpPr/>
          <p:nvPr/>
        </p:nvCxnSpPr>
        <p:spPr bwMode="auto">
          <a:xfrm flipH="1">
            <a:off x="3619040" y="4198513"/>
            <a:ext cx="283581" cy="715082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12" name="直线箭头连接符 10"/>
          <p:cNvCxnSpPr/>
          <p:nvPr/>
        </p:nvCxnSpPr>
        <p:spPr bwMode="auto">
          <a:xfrm>
            <a:off x="3113520" y="4223171"/>
            <a:ext cx="123298" cy="64110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1" name="左箭头 50"/>
          <p:cNvSpPr/>
          <p:nvPr/>
        </p:nvSpPr>
        <p:spPr bwMode="auto">
          <a:xfrm rot="10800000">
            <a:off x="7165334" y="5036885"/>
            <a:ext cx="727452" cy="160277"/>
          </a:xfrm>
          <a:prstGeom prst="leftArrow">
            <a:avLst/>
          </a:prstGeom>
          <a:solidFill>
            <a:srgbClr val="D9D9D9"/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6607624" y="3617844"/>
            <a:ext cx="2030412" cy="30777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连接管理器</a:t>
            </a:r>
            <a:r>
              <a:rPr lang="en-US" altLang="zh-CN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235986" y="3056369"/>
            <a:ext cx="2174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数据库集群架构</a:t>
            </a:r>
          </a:p>
        </p:txBody>
      </p:sp>
      <p:cxnSp>
        <p:nvCxnSpPr>
          <p:cNvPr id="56" name="直线箭头连接符 55"/>
          <p:cNvCxnSpPr>
            <a:endCxn id="63" idx="0"/>
          </p:cNvCxnSpPr>
          <p:nvPr/>
        </p:nvCxnSpPr>
        <p:spPr bwMode="auto">
          <a:xfrm flipH="1">
            <a:off x="6701241" y="4055015"/>
            <a:ext cx="456204" cy="69485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7" name="文本框 56"/>
          <p:cNvSpPr txBox="1"/>
          <p:nvPr/>
        </p:nvSpPr>
        <p:spPr>
          <a:xfrm>
            <a:off x="7189994" y="5250928"/>
            <a:ext cx="85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逻辑日志</a:t>
            </a: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538" y="4737535"/>
            <a:ext cx="935037" cy="804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723" y="4749865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文本框 692"/>
          <p:cNvSpPr txBox="1">
            <a:spLocks noChangeArrowheads="1"/>
          </p:cNvSpPr>
          <p:nvPr/>
        </p:nvSpPr>
        <p:spPr bwMode="auto">
          <a:xfrm>
            <a:off x="7919715" y="5455538"/>
            <a:ext cx="11160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HDR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sp>
        <p:nvSpPr>
          <p:cNvPr id="65" name="文本框 692"/>
          <p:cNvSpPr txBox="1">
            <a:spLocks noChangeArrowheads="1"/>
          </p:cNvSpPr>
          <p:nvPr/>
        </p:nvSpPr>
        <p:spPr bwMode="auto">
          <a:xfrm>
            <a:off x="6328274" y="5452897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sp>
        <p:nvSpPr>
          <p:cNvPr id="72" name="AutoShape 24"/>
          <p:cNvSpPr>
            <a:spLocks noChangeArrowheads="1"/>
          </p:cNvSpPr>
          <p:nvPr/>
        </p:nvSpPr>
        <p:spPr bwMode="auto">
          <a:xfrm>
            <a:off x="5809069" y="4358791"/>
            <a:ext cx="3242707" cy="1605851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rgbClr val="000000"/>
            </a:solidFill>
            <a:prstDash val="dash"/>
            <a:miter lim="800000"/>
          </a:ln>
        </p:spPr>
        <p:txBody>
          <a:bodyPr wrap="none" anchor="ctr"/>
          <a:lstStyle/>
          <a:p>
            <a:pPr eaLnBrk="1" hangingPunct="1"/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右箭头 72"/>
          <p:cNvSpPr/>
          <p:nvPr/>
        </p:nvSpPr>
        <p:spPr bwMode="auto">
          <a:xfrm>
            <a:off x="4688280" y="4432764"/>
            <a:ext cx="739781" cy="1331531"/>
          </a:xfrm>
          <a:prstGeom prst="rightArrow">
            <a:avLst/>
          </a:prstGeom>
          <a:noFill/>
          <a:ln>
            <a:solidFill>
              <a:srgbClr val="3366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688175" y="4957658"/>
            <a:ext cx="634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2008757" y="1206863"/>
            <a:ext cx="9197734" cy="897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1000"/>
              </a:spcBef>
              <a:buClr>
                <a:srgbClr val="FD0000"/>
              </a:buClr>
              <a:buSzPct val="50000"/>
              <a:buBlip>
                <a:blip r:embed="rId3"/>
              </a:buBlip>
            </a:pP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主节点故障转移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  30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秒完成；应用高可用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99.5%</a:t>
            </a:r>
          </a:p>
          <a:p>
            <a:pPr marL="228600" indent="-228600">
              <a:spcBef>
                <a:spcPts val="1000"/>
              </a:spcBef>
              <a:buClr>
                <a:srgbClr val="FD0000"/>
              </a:buClr>
              <a:buSzPct val="50000"/>
              <a:buBlip>
                <a:blip r:embed="rId3"/>
              </a:buBlip>
            </a:pP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节点执行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复杂决策分析；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充分利用备份资源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2521695" y="2521772"/>
            <a:ext cx="1935760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 架构</a:t>
            </a:r>
          </a:p>
          <a:p>
            <a:pPr>
              <a:lnSpc>
                <a:spcPct val="100000"/>
              </a:lnSpc>
            </a:pP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(Client/Server)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29" y="2076081"/>
            <a:ext cx="527050" cy="6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可选流程 84"/>
          <p:cNvSpPr/>
          <p:nvPr/>
        </p:nvSpPr>
        <p:spPr bwMode="auto">
          <a:xfrm>
            <a:off x="8620234" y="2793009"/>
            <a:ext cx="1122001" cy="406856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OLAP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</a:p>
        </p:txBody>
      </p:sp>
      <p:cxnSp>
        <p:nvCxnSpPr>
          <p:cNvPr id="97" name="曲线连接符 96"/>
          <p:cNvCxnSpPr/>
          <p:nvPr/>
        </p:nvCxnSpPr>
        <p:spPr bwMode="auto">
          <a:xfrm rot="5400000">
            <a:off x="7726385" y="3662181"/>
            <a:ext cx="1689069" cy="813758"/>
          </a:xfrm>
          <a:prstGeom prst="curvedConnector3">
            <a:avLst>
              <a:gd name="adj1" fmla="val 50000"/>
            </a:avLst>
          </a:prstGeom>
          <a:noFill/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3" name="Cloud"/>
          <p:cNvSpPr>
            <a:spLocks noChangeAspect="1" noEditPoints="1" noChangeArrowheads="1"/>
          </p:cNvSpPr>
          <p:nvPr/>
        </p:nvSpPr>
        <p:spPr bwMode="auto">
          <a:xfrm>
            <a:off x="6363905" y="3428743"/>
            <a:ext cx="2626223" cy="70259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4" name="可选流程 103"/>
          <p:cNvSpPr/>
          <p:nvPr/>
        </p:nvSpPr>
        <p:spPr bwMode="auto">
          <a:xfrm>
            <a:off x="6672146" y="4252282"/>
            <a:ext cx="678134" cy="254456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OLTP</a:t>
            </a: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6743234" y="3605515"/>
            <a:ext cx="2030412" cy="30777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适用场景</a:t>
            </a:r>
            <a:r>
              <a:rPr lang="en-US" altLang="zh-CN" dirty="0">
                <a:sym typeface="+mn-ea"/>
              </a:rPr>
              <a:t>—</a:t>
            </a:r>
            <a:r>
              <a:rPr kumimoji="1" lang="zh-CN" altLang="en-US" dirty="0">
                <a:sym typeface="+mn-ea"/>
              </a:rPr>
              <a:t>单机数据库升级</a:t>
            </a:r>
            <a:r>
              <a:rPr kumimoji="1" lang="en-US" altLang="zh-CN" dirty="0">
                <a:sym typeface="+mn-ea"/>
              </a:rPr>
              <a:t> HDR</a:t>
            </a:r>
            <a:r>
              <a:rPr kumimoji="1" lang="zh-CN" altLang="en-US" dirty="0">
                <a:sym typeface="+mn-ea"/>
              </a:rPr>
              <a:t>＋</a:t>
            </a:r>
            <a:r>
              <a:rPr kumimoji="1" lang="en-US" altLang="zh-CN" dirty="0">
                <a:sym typeface="+mn-ea"/>
              </a:rPr>
              <a:t>RSS </a:t>
            </a:r>
            <a:r>
              <a:rPr kumimoji="1" lang="zh-CN" altLang="en-US" dirty="0">
                <a:sym typeface="+mn-ea"/>
              </a:rPr>
              <a:t>高可用</a:t>
            </a:r>
            <a:endParaRPr kumimoji="1" lang="zh-CN" altLang="en-US" dirty="0"/>
          </a:p>
        </p:txBody>
      </p:sp>
      <p:cxnSp>
        <p:nvCxnSpPr>
          <p:cNvPr id="49" name="曲线连接符 48"/>
          <p:cNvCxnSpPr>
            <a:stCxn id="54" idx="3"/>
            <a:endCxn id="29" idx="0"/>
          </p:cNvCxnSpPr>
          <p:nvPr/>
        </p:nvCxnSpPr>
        <p:spPr bwMode="auto">
          <a:xfrm>
            <a:off x="7654479" y="3946567"/>
            <a:ext cx="1832889" cy="1060835"/>
          </a:xfrm>
          <a:prstGeom prst="curvedConnector2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969" y="5047989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692"/>
          <p:cNvSpPr txBox="1">
            <a:spLocks noChangeArrowheads="1"/>
          </p:cNvSpPr>
          <p:nvPr/>
        </p:nvSpPr>
        <p:spPr bwMode="auto">
          <a:xfrm>
            <a:off x="2468192" y="5864623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6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数据库节点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85" y="3334260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692"/>
          <p:cNvSpPr txBox="1">
            <a:spLocks noChangeArrowheads="1"/>
          </p:cNvSpPr>
          <p:nvPr/>
        </p:nvSpPr>
        <p:spPr bwMode="auto">
          <a:xfrm>
            <a:off x="2141197" y="4150895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80" y="3338712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692"/>
          <p:cNvSpPr txBox="1">
            <a:spLocks noChangeArrowheads="1"/>
          </p:cNvSpPr>
          <p:nvPr/>
        </p:nvSpPr>
        <p:spPr bwMode="auto">
          <a:xfrm>
            <a:off x="3242992" y="4155347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cxnSp>
        <p:nvCxnSpPr>
          <p:cNvPr id="11" name="直线箭头连接符 9"/>
          <p:cNvCxnSpPr/>
          <p:nvPr/>
        </p:nvCxnSpPr>
        <p:spPr bwMode="auto">
          <a:xfrm flipH="1">
            <a:off x="3277651" y="4471979"/>
            <a:ext cx="283581" cy="715082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12" name="直线箭头连接符 10"/>
          <p:cNvCxnSpPr/>
          <p:nvPr/>
        </p:nvCxnSpPr>
        <p:spPr bwMode="auto">
          <a:xfrm>
            <a:off x="2772131" y="4496637"/>
            <a:ext cx="123298" cy="64110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1" name="左箭头 50"/>
          <p:cNvSpPr/>
          <p:nvPr/>
        </p:nvSpPr>
        <p:spPr bwMode="auto">
          <a:xfrm>
            <a:off x="6600985" y="5310351"/>
            <a:ext cx="727452" cy="160277"/>
          </a:xfrm>
          <a:prstGeom prst="leftArrow">
            <a:avLst/>
          </a:prstGeom>
          <a:solidFill>
            <a:srgbClr val="D9D9D9"/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3" name="Cloud"/>
          <p:cNvSpPr>
            <a:spLocks noChangeAspect="1" noEditPoints="1" noChangeArrowheads="1"/>
          </p:cNvSpPr>
          <p:nvPr/>
        </p:nvSpPr>
        <p:spPr bwMode="auto">
          <a:xfrm>
            <a:off x="5589952" y="3591248"/>
            <a:ext cx="2046727" cy="70259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5624066" y="3792678"/>
            <a:ext cx="2030412" cy="30777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5548340" y="3169558"/>
            <a:ext cx="2174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数据库集群</a:t>
            </a:r>
          </a:p>
        </p:txBody>
      </p:sp>
      <p:cxnSp>
        <p:nvCxnSpPr>
          <p:cNvPr id="56" name="直线箭头连接符 55"/>
          <p:cNvCxnSpPr/>
          <p:nvPr/>
        </p:nvCxnSpPr>
        <p:spPr bwMode="auto">
          <a:xfrm>
            <a:off x="6593096" y="4328482"/>
            <a:ext cx="1031252" cy="80926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7" name="文本框 56"/>
          <p:cNvSpPr txBox="1"/>
          <p:nvPr/>
        </p:nvSpPr>
        <p:spPr>
          <a:xfrm>
            <a:off x="6625645" y="5524394"/>
            <a:ext cx="85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逻辑日志</a:t>
            </a: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200" y="4986343"/>
            <a:ext cx="935037" cy="804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374" y="5023331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文本框 692"/>
          <p:cNvSpPr txBox="1">
            <a:spLocks noChangeArrowheads="1"/>
          </p:cNvSpPr>
          <p:nvPr/>
        </p:nvSpPr>
        <p:spPr bwMode="auto">
          <a:xfrm>
            <a:off x="5604551" y="5753662"/>
            <a:ext cx="11160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HDR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sp>
        <p:nvSpPr>
          <p:cNvPr id="65" name="文本框 692"/>
          <p:cNvSpPr txBox="1">
            <a:spLocks noChangeArrowheads="1"/>
          </p:cNvSpPr>
          <p:nvPr/>
        </p:nvSpPr>
        <p:spPr bwMode="auto">
          <a:xfrm>
            <a:off x="7527070" y="5726363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sp>
        <p:nvSpPr>
          <p:cNvPr id="72" name="AutoShape 24"/>
          <p:cNvSpPr>
            <a:spLocks noChangeArrowheads="1"/>
          </p:cNvSpPr>
          <p:nvPr/>
        </p:nvSpPr>
        <p:spPr bwMode="auto">
          <a:xfrm>
            <a:off x="5368016" y="4570612"/>
            <a:ext cx="4783934" cy="1605851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rgbClr val="000000"/>
            </a:solidFill>
            <a:prstDash val="dash"/>
            <a:miter lim="800000"/>
          </a:ln>
        </p:spPr>
        <p:txBody>
          <a:bodyPr wrap="none" anchor="ctr"/>
          <a:lstStyle/>
          <a:p>
            <a:pPr eaLnBrk="1" hangingPunct="1"/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右箭头 72"/>
          <p:cNvSpPr/>
          <p:nvPr/>
        </p:nvSpPr>
        <p:spPr bwMode="auto">
          <a:xfrm>
            <a:off x="4184376" y="4706230"/>
            <a:ext cx="739781" cy="1331531"/>
          </a:xfrm>
          <a:prstGeom prst="rightArrow">
            <a:avLst/>
          </a:prstGeom>
          <a:noFill/>
          <a:ln>
            <a:solidFill>
              <a:srgbClr val="3366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209036" y="5231124"/>
            <a:ext cx="634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1998637" y="1221472"/>
            <a:ext cx="7760970" cy="136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1000"/>
              </a:spcBef>
              <a:buClr>
                <a:srgbClr val="FD0000"/>
              </a:buClr>
              <a:buSzPct val="50000"/>
              <a:buBlip>
                <a:blip r:embed="rId3"/>
              </a:buBlip>
            </a:pP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主节点故障转移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  30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秒完成；应用高可用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99.5%</a:t>
            </a:r>
          </a:p>
          <a:p>
            <a:pPr marL="228600" indent="-228600">
              <a:spcBef>
                <a:spcPts val="1000"/>
              </a:spcBef>
              <a:buClr>
                <a:srgbClr val="FD0000"/>
              </a:buClr>
              <a:buSzPct val="50000"/>
              <a:buBlip>
                <a:blip r:embed="rId3"/>
              </a:buBlip>
            </a:pPr>
            <a:r>
              <a:rPr lang="en-US" altLang="zh-CN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 </a:t>
            </a:r>
            <a:r>
              <a:rPr lang="zh-CN" altLang="en-US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异地远程灾备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</a:p>
          <a:p>
            <a:pPr marL="228600" indent="-228600">
              <a:spcBef>
                <a:spcPts val="1000"/>
              </a:spcBef>
              <a:buClr>
                <a:srgbClr val="FD0000"/>
              </a:buClr>
              <a:buSzPct val="50000"/>
              <a:buBlip>
                <a:blip r:embed="rId3"/>
              </a:buBlip>
            </a:pP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RSS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r>
              <a:rPr lang="zh-CN" altLang="en-US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</a:t>
            </a:r>
            <a:r>
              <a:rPr lang="en-US" altLang="zh-CN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决策分析应在</a:t>
            </a:r>
            <a:r>
              <a:rPr lang="en-US" altLang="zh-CN" sz="2200" spc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异地总部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北京或上海</a:t>
            </a:r>
            <a:r>
              <a:rPr lang="en-US" altLang="zh-CN" sz="2200" spc="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spc="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180306" y="2795238"/>
            <a:ext cx="1935760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 架构</a:t>
            </a:r>
          </a:p>
          <a:p>
            <a:pPr>
              <a:lnSpc>
                <a:spcPct val="100000"/>
              </a:lnSpc>
            </a:pP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(Client/Server)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692"/>
          <p:cNvSpPr txBox="1">
            <a:spLocks noChangeArrowheads="1"/>
          </p:cNvSpPr>
          <p:nvPr/>
        </p:nvSpPr>
        <p:spPr bwMode="auto">
          <a:xfrm>
            <a:off x="8716391" y="5721127"/>
            <a:ext cx="1460656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异地</a:t>
            </a:r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 RSS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pic>
        <p:nvPicPr>
          <p:cNvPr id="29" name="图片 107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849" y="5007401"/>
            <a:ext cx="935037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左箭头 29"/>
          <p:cNvSpPr/>
          <p:nvPr/>
        </p:nvSpPr>
        <p:spPr bwMode="auto">
          <a:xfrm rot="10800000">
            <a:off x="8331585" y="5302474"/>
            <a:ext cx="727452" cy="160277"/>
          </a:xfrm>
          <a:prstGeom prst="leftArrow">
            <a:avLst/>
          </a:prstGeom>
          <a:solidFill>
            <a:srgbClr val="D9D9D9"/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2266" y="5479530"/>
            <a:ext cx="85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逻辑日志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628" y="2953667"/>
            <a:ext cx="527050" cy="6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可选流程 12"/>
          <p:cNvSpPr/>
          <p:nvPr/>
        </p:nvSpPr>
        <p:spPr bwMode="auto">
          <a:xfrm>
            <a:off x="7538056" y="3547306"/>
            <a:ext cx="1122001" cy="406856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OLAP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</a:p>
        </p:txBody>
      </p:sp>
      <p:sp>
        <p:nvSpPr>
          <p:cNvPr id="66" name="可选流程 65"/>
          <p:cNvSpPr/>
          <p:nvPr/>
        </p:nvSpPr>
        <p:spPr bwMode="auto">
          <a:xfrm>
            <a:off x="6761287" y="4525748"/>
            <a:ext cx="678134" cy="254456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OLTP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适用场景</a:t>
            </a:r>
            <a:r>
              <a:rPr lang="en-US" altLang="zh-CN" dirty="0">
                <a:sym typeface="+mn-ea"/>
              </a:rPr>
              <a:t>—</a:t>
            </a:r>
            <a:r>
              <a:rPr kumimoji="1" lang="zh-CN" altLang="en-US" dirty="0">
                <a:sym typeface="+mn-ea"/>
              </a:rPr>
              <a:t>升级</a:t>
            </a:r>
            <a:r>
              <a:rPr kumimoji="1" lang="en-US" altLang="zh-CN" dirty="0">
                <a:sym typeface="+mn-ea"/>
              </a:rPr>
              <a:t> SDS </a:t>
            </a:r>
            <a:r>
              <a:rPr kumimoji="1" lang="zh-CN" altLang="en-US" dirty="0">
                <a:sym typeface="+mn-ea"/>
              </a:rPr>
              <a:t>高可用＋</a:t>
            </a:r>
            <a:r>
              <a:rPr kumimoji="1" lang="zh-CN" altLang="en-US" dirty="0">
                <a:cs typeface="微软雅黑" panose="020B0503020204020204" pitchFamily="34" charset="-122"/>
                <a:sym typeface="+mn-ea"/>
              </a:rPr>
              <a:t>大量查询</a:t>
            </a:r>
            <a:endParaRPr kumimoji="1" lang="zh-CN" altLang="en-US" dirty="0"/>
          </a:p>
        </p:txBody>
      </p:sp>
      <p:cxnSp>
        <p:nvCxnSpPr>
          <p:cNvPr id="19" name="肘形连接符 18"/>
          <p:cNvCxnSpPr/>
          <p:nvPr/>
        </p:nvCxnSpPr>
        <p:spPr bwMode="auto">
          <a:xfrm>
            <a:off x="6655170" y="5477366"/>
            <a:ext cx="403063" cy="355034"/>
          </a:xfrm>
          <a:prstGeom prst="bentConnector3">
            <a:avLst>
              <a:gd name="adj1" fmla="val -2003"/>
            </a:avLst>
          </a:prstGeom>
          <a:noFill/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17" name="肘形连接符 16"/>
          <p:cNvCxnSpPr/>
          <p:nvPr/>
        </p:nvCxnSpPr>
        <p:spPr bwMode="auto">
          <a:xfrm>
            <a:off x="5446860" y="5489696"/>
            <a:ext cx="1586708" cy="355035"/>
          </a:xfrm>
          <a:prstGeom prst="bentConnector3">
            <a:avLst>
              <a:gd name="adj1" fmla="val -509"/>
            </a:avLst>
          </a:prstGeom>
          <a:noFill/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15" name="磁盘 14"/>
          <p:cNvSpPr/>
          <p:nvPr/>
        </p:nvSpPr>
        <p:spPr bwMode="auto">
          <a:xfrm>
            <a:off x="7021240" y="5477223"/>
            <a:ext cx="1012825" cy="679914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01685" y="5864018"/>
            <a:ext cx="1491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600" dirty="0">
                <a:solidFill>
                  <a:srgbClr val="FD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数据库集群</a:t>
            </a:r>
          </a:p>
        </p:txBody>
      </p:sp>
      <p:cxnSp>
        <p:nvCxnSpPr>
          <p:cNvPr id="6" name="直线箭头连接符 4"/>
          <p:cNvCxnSpPr/>
          <p:nvPr/>
        </p:nvCxnSpPr>
        <p:spPr bwMode="auto">
          <a:xfrm flipH="1">
            <a:off x="5508509" y="3681785"/>
            <a:ext cx="1027802" cy="759947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193" y="4450607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692"/>
          <p:cNvSpPr txBox="1">
            <a:spLocks noChangeArrowheads="1"/>
          </p:cNvSpPr>
          <p:nvPr/>
        </p:nvSpPr>
        <p:spPr bwMode="auto">
          <a:xfrm>
            <a:off x="9105423" y="5143952"/>
            <a:ext cx="1250662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SDS-3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sp>
        <p:nvSpPr>
          <p:cNvPr id="9" name="文本框 692"/>
          <p:cNvSpPr txBox="1">
            <a:spLocks noChangeArrowheads="1"/>
          </p:cNvSpPr>
          <p:nvPr/>
        </p:nvSpPr>
        <p:spPr bwMode="auto">
          <a:xfrm>
            <a:off x="5016743" y="5119294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pic>
        <p:nvPicPr>
          <p:cNvPr id="10" name="图片 107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914" y="4454884"/>
            <a:ext cx="935037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692"/>
          <p:cNvSpPr txBox="1">
            <a:spLocks noChangeArrowheads="1"/>
          </p:cNvSpPr>
          <p:nvPr/>
        </p:nvSpPr>
        <p:spPr bwMode="auto">
          <a:xfrm>
            <a:off x="6113768" y="5136076"/>
            <a:ext cx="1250662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SDS-1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pic>
        <p:nvPicPr>
          <p:cNvPr id="12" name="图片 107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929" y="4434679"/>
            <a:ext cx="935037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692"/>
          <p:cNvSpPr txBox="1">
            <a:spLocks noChangeArrowheads="1"/>
          </p:cNvSpPr>
          <p:nvPr/>
        </p:nvSpPr>
        <p:spPr bwMode="auto">
          <a:xfrm>
            <a:off x="7778272" y="5123747"/>
            <a:ext cx="1250662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SDS-2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pic>
        <p:nvPicPr>
          <p:cNvPr id="14" name="图片 107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763" y="4422350"/>
            <a:ext cx="935037" cy="81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肘形连接符 17"/>
          <p:cNvCxnSpPr/>
          <p:nvPr/>
        </p:nvCxnSpPr>
        <p:spPr bwMode="auto">
          <a:xfrm rot="10800000" flipV="1">
            <a:off x="8009405" y="5452708"/>
            <a:ext cx="1691196" cy="392022"/>
          </a:xfrm>
          <a:prstGeom prst="bentConnector3">
            <a:avLst>
              <a:gd name="adj1" fmla="val -305"/>
            </a:avLst>
          </a:prstGeom>
          <a:noFill/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20" name="肘形连接符 19"/>
          <p:cNvCxnSpPr/>
          <p:nvPr/>
        </p:nvCxnSpPr>
        <p:spPr bwMode="auto">
          <a:xfrm rot="10800000" flipV="1">
            <a:off x="8023766" y="5428053"/>
            <a:ext cx="443869" cy="419183"/>
          </a:xfrm>
          <a:prstGeom prst="bentConnector3">
            <a:avLst>
              <a:gd name="adj1" fmla="val 2778"/>
            </a:avLst>
          </a:prstGeom>
          <a:noFill/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23" name="直线箭头连接符 22"/>
          <p:cNvCxnSpPr>
            <a:endCxn id="14" idx="0"/>
          </p:cNvCxnSpPr>
          <p:nvPr/>
        </p:nvCxnSpPr>
        <p:spPr bwMode="auto">
          <a:xfrm>
            <a:off x="7851149" y="3630237"/>
            <a:ext cx="482133" cy="72035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pic>
        <p:nvPicPr>
          <p:cNvPr id="16" name="图片 108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119" y="5670424"/>
            <a:ext cx="792162" cy="6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Cloud"/>
          <p:cNvSpPr>
            <a:spLocks noChangeAspect="1" noEditPoints="1" noChangeArrowheads="1"/>
          </p:cNvSpPr>
          <p:nvPr/>
        </p:nvSpPr>
        <p:spPr bwMode="auto">
          <a:xfrm>
            <a:off x="6272949" y="3104827"/>
            <a:ext cx="2046727" cy="70259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6307063" y="3306257"/>
            <a:ext cx="2030412" cy="30777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231337" y="2683137"/>
            <a:ext cx="2174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数据库集群</a:t>
            </a:r>
          </a:p>
        </p:txBody>
      </p:sp>
      <p:cxnSp>
        <p:nvCxnSpPr>
          <p:cNvPr id="44" name="直线箭头连接符 43"/>
          <p:cNvCxnSpPr>
            <a:endCxn id="12" idx="0"/>
          </p:cNvCxnSpPr>
          <p:nvPr/>
        </p:nvCxnSpPr>
        <p:spPr bwMode="auto">
          <a:xfrm flipH="1">
            <a:off x="6656447" y="3704212"/>
            <a:ext cx="405602" cy="65871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47" name="AutoShape 24"/>
          <p:cNvSpPr>
            <a:spLocks noChangeArrowheads="1"/>
          </p:cNvSpPr>
          <p:nvPr/>
        </p:nvSpPr>
        <p:spPr bwMode="auto">
          <a:xfrm>
            <a:off x="4855036" y="4133507"/>
            <a:ext cx="5474379" cy="212366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rgbClr val="000000"/>
            </a:solidFill>
            <a:prstDash val="dash"/>
            <a:miter lim="800000"/>
          </a:ln>
        </p:spPr>
        <p:txBody>
          <a:bodyPr wrap="none" anchor="ctr"/>
          <a:lstStyle/>
          <a:p>
            <a:pPr eaLnBrk="1" hangingPunct="1"/>
            <a:endParaRPr lang="zh-CN" altLang="zh-CN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31" y="5091715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文本框 692"/>
          <p:cNvSpPr txBox="1">
            <a:spLocks noChangeArrowheads="1"/>
          </p:cNvSpPr>
          <p:nvPr/>
        </p:nvSpPr>
        <p:spPr bwMode="auto">
          <a:xfrm>
            <a:off x="2331754" y="5908349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6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数据库节点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647" y="3377986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文本框 692"/>
          <p:cNvSpPr txBox="1">
            <a:spLocks noChangeArrowheads="1"/>
          </p:cNvSpPr>
          <p:nvPr/>
        </p:nvSpPr>
        <p:spPr bwMode="auto">
          <a:xfrm>
            <a:off x="2004759" y="4194621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442" y="3382438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文本框 692"/>
          <p:cNvSpPr txBox="1">
            <a:spLocks noChangeArrowheads="1"/>
          </p:cNvSpPr>
          <p:nvPr/>
        </p:nvSpPr>
        <p:spPr bwMode="auto">
          <a:xfrm>
            <a:off x="3106554" y="4199073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应用节点</a:t>
            </a:r>
          </a:p>
        </p:txBody>
      </p:sp>
      <p:cxnSp>
        <p:nvCxnSpPr>
          <p:cNvPr id="54" name="直线箭头连接符 53"/>
          <p:cNvCxnSpPr/>
          <p:nvPr/>
        </p:nvCxnSpPr>
        <p:spPr bwMode="auto">
          <a:xfrm flipH="1">
            <a:off x="3141213" y="4515705"/>
            <a:ext cx="283581" cy="715082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55" name="直线箭头连接符 54"/>
          <p:cNvCxnSpPr/>
          <p:nvPr/>
        </p:nvCxnSpPr>
        <p:spPr bwMode="auto">
          <a:xfrm>
            <a:off x="2635693" y="4540363"/>
            <a:ext cx="123298" cy="64110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56" name="右箭头 55"/>
          <p:cNvSpPr/>
          <p:nvPr/>
        </p:nvSpPr>
        <p:spPr bwMode="auto">
          <a:xfrm>
            <a:off x="3967283" y="4491047"/>
            <a:ext cx="739781" cy="1331531"/>
          </a:xfrm>
          <a:prstGeom prst="rightArrow">
            <a:avLst/>
          </a:prstGeom>
          <a:noFill/>
          <a:ln>
            <a:solidFill>
              <a:srgbClr val="3366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91943" y="5015941"/>
            <a:ext cx="634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2043868" y="2838964"/>
            <a:ext cx="1935760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kumimoji="1"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 架构</a:t>
            </a:r>
          </a:p>
          <a:p>
            <a:pPr>
              <a:lnSpc>
                <a:spcPct val="100000"/>
              </a:lnSpc>
            </a:pPr>
            <a:r>
              <a:rPr kumimoji="1"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(Client/Server)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513119" y="1151256"/>
            <a:ext cx="67320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OLTP SDS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故障转移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30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秒完成，应用高可用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99.5%</a:t>
            </a:r>
          </a:p>
          <a:p>
            <a:pPr marL="342900" indent="-34290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弹性扩容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架构，适用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大量查询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</a:t>
            </a:r>
            <a:endParaRPr kumimoji="1"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TW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高容量</a:t>
            </a:r>
            <a:r>
              <a:rPr kumimoji="1" lang="en-US" altLang="zh-TW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OLAP </a:t>
            </a:r>
            <a:r>
              <a:rPr kumimoji="1" lang="zh-TW" altLang="en-US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适用分析操作</a:t>
            </a:r>
            <a:endParaRPr kumimoji="1" lang="zh-CN" altLang="en-US" sz="2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691"/>
          <p:cNvSpPr txBox="1">
            <a:spLocks noChangeArrowheads="1"/>
          </p:cNvSpPr>
          <p:nvPr/>
        </p:nvSpPr>
        <p:spPr bwMode="auto">
          <a:xfrm>
            <a:off x="7164695" y="5439481"/>
            <a:ext cx="800100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2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共享存储</a:t>
            </a:r>
          </a:p>
        </p:txBody>
      </p:sp>
      <p:cxnSp>
        <p:nvCxnSpPr>
          <p:cNvPr id="60" name="曲线连接符 59"/>
          <p:cNvCxnSpPr/>
          <p:nvPr/>
        </p:nvCxnSpPr>
        <p:spPr bwMode="auto">
          <a:xfrm>
            <a:off x="8208709" y="3467741"/>
            <a:ext cx="1530100" cy="1053240"/>
          </a:xfrm>
          <a:prstGeom prst="curvedConnector3">
            <a:avLst>
              <a:gd name="adj1" fmla="val 50000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pic>
        <p:nvPicPr>
          <p:cNvPr id="4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234" y="2457083"/>
            <a:ext cx="527050" cy="6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可选流程 42"/>
          <p:cNvSpPr/>
          <p:nvPr/>
        </p:nvSpPr>
        <p:spPr bwMode="auto">
          <a:xfrm>
            <a:off x="8344356" y="3060885"/>
            <a:ext cx="1122001" cy="406856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OLAP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</a:p>
        </p:txBody>
      </p:sp>
      <p:sp>
        <p:nvSpPr>
          <p:cNvPr id="62" name="可选流程 61"/>
          <p:cNvSpPr/>
          <p:nvPr/>
        </p:nvSpPr>
        <p:spPr bwMode="auto">
          <a:xfrm>
            <a:off x="6396246" y="3990012"/>
            <a:ext cx="863079" cy="217469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0"/>
              </a:spcBef>
              <a:buClrTx/>
            </a:pPr>
            <a:r>
              <a:rPr kumimoji="1"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查询操作</a:t>
            </a:r>
          </a:p>
        </p:txBody>
      </p:sp>
      <p:sp>
        <p:nvSpPr>
          <p:cNvPr id="63" name="可选流程 62"/>
          <p:cNvSpPr/>
          <p:nvPr/>
        </p:nvSpPr>
        <p:spPr bwMode="auto">
          <a:xfrm>
            <a:off x="7616884" y="3928368"/>
            <a:ext cx="789100" cy="229797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0"/>
              </a:spcBef>
              <a:buClrTx/>
            </a:pPr>
            <a:r>
              <a:rPr kumimoji="1"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比较</a:t>
            </a:r>
            <a:r>
              <a:rPr kumimoji="1" lang="en-US" altLang="zh-CN" dirty="0">
                <a:sym typeface="+mn-ea"/>
              </a:rPr>
              <a:t> Oracle RAC </a:t>
            </a:r>
            <a:r>
              <a:rPr kumimoji="1" lang="en-US" altLang="zh-CN" dirty="0" err="1">
                <a:sym typeface="+mn-ea"/>
              </a:rPr>
              <a:t>vs</a:t>
            </a:r>
            <a:r>
              <a:rPr kumimoji="1" lang="en-US" altLang="zh-CN" dirty="0">
                <a:sym typeface="+mn-ea"/>
              </a:rPr>
              <a:t> GBase 8s SDS</a:t>
            </a:r>
            <a:br>
              <a:rPr kumimoji="1" lang="en-US" altLang="zh-CN" dirty="0">
                <a:sym typeface="+mn-ea"/>
              </a:rPr>
            </a:br>
            <a:endParaRPr kumimoji="1" lang="zh-CN" altLang="en-US" dirty="0"/>
          </a:p>
        </p:txBody>
      </p:sp>
      <p:sp>
        <p:nvSpPr>
          <p:cNvPr id="14" name="手杖形箭头 13"/>
          <p:cNvSpPr/>
          <p:nvPr/>
        </p:nvSpPr>
        <p:spPr bwMode="auto">
          <a:xfrm rot="10800000" flipH="1">
            <a:off x="6758449" y="4451362"/>
            <a:ext cx="2170019" cy="1294543"/>
          </a:xfrm>
          <a:prstGeom prst="uturnArrow">
            <a:avLst>
              <a:gd name="adj1" fmla="val 2237"/>
              <a:gd name="adj2" fmla="val 6088"/>
              <a:gd name="adj3" fmla="val 7392"/>
              <a:gd name="adj4" fmla="val 20560"/>
              <a:gd name="adj5" fmla="val 100000"/>
            </a:avLst>
          </a:prstGeom>
          <a:solidFill>
            <a:schemeClr val="accent2"/>
          </a:solidFill>
          <a:ln>
            <a:solidFill>
              <a:srgbClr val="FF99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磁盘 4"/>
          <p:cNvSpPr/>
          <p:nvPr/>
        </p:nvSpPr>
        <p:spPr bwMode="auto">
          <a:xfrm>
            <a:off x="7321812" y="5252604"/>
            <a:ext cx="1012825" cy="679914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692"/>
          <p:cNvSpPr txBox="1">
            <a:spLocks noChangeArrowheads="1"/>
          </p:cNvSpPr>
          <p:nvPr/>
        </p:nvSpPr>
        <p:spPr bwMode="auto">
          <a:xfrm>
            <a:off x="6542406" y="518269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sp>
        <p:nvSpPr>
          <p:cNvPr id="8" name="文本框 692"/>
          <p:cNvSpPr txBox="1">
            <a:spLocks noChangeArrowheads="1"/>
          </p:cNvSpPr>
          <p:nvPr/>
        </p:nvSpPr>
        <p:spPr bwMode="auto">
          <a:xfrm>
            <a:off x="8355164" y="5133379"/>
            <a:ext cx="1067920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en-US" altLang="zh-CN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SDS</a:t>
            </a:r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辅节点</a:t>
            </a:r>
          </a:p>
        </p:txBody>
      </p:sp>
      <p:pic>
        <p:nvPicPr>
          <p:cNvPr id="9" name="图片 107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285" y="4407324"/>
            <a:ext cx="935037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08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333" y="5492902"/>
            <a:ext cx="792162" cy="66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23" y="4423252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691"/>
          <p:cNvSpPr txBox="1">
            <a:spLocks noChangeArrowheads="1"/>
          </p:cNvSpPr>
          <p:nvPr/>
        </p:nvSpPr>
        <p:spPr bwMode="auto">
          <a:xfrm>
            <a:off x="7452937" y="6015262"/>
            <a:ext cx="800100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2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共享存储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15645" y="1226145"/>
            <a:ext cx="4082415" cy="12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主辅节点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同步手段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－逻辑日志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(redo log)</a:t>
            </a: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数据复制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－逻辑日志从作于内存</a:t>
            </a: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特点：简单，辅节点容错。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974534" y="1242826"/>
            <a:ext cx="3674245" cy="12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双主节点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同步手段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－共享内存同步</a:t>
            </a:r>
            <a:endParaRPr kumimoji="1"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数据复制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－共享内存同步</a:t>
            </a:r>
          </a:p>
          <a:p>
            <a:pPr marL="285750" indent="-285750">
              <a:buClr>
                <a:srgbClr val="FD0000"/>
              </a:buClr>
              <a:buSzPct val="50000"/>
              <a:buFont typeface="Wingdings" panose="05000000000000000000" charset="0"/>
              <a:buChar char="l"/>
            </a:pP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特点：复杂；高写入时性能下降</a:t>
            </a:r>
          </a:p>
        </p:txBody>
      </p:sp>
      <p:sp>
        <p:nvSpPr>
          <p:cNvPr id="17" name="圆角矩形 16"/>
          <p:cNvSpPr/>
          <p:nvPr/>
        </p:nvSpPr>
        <p:spPr bwMode="auto">
          <a:xfrm>
            <a:off x="8361311" y="3686966"/>
            <a:ext cx="1035694" cy="727410"/>
          </a:xfrm>
          <a:prstGeom prst="roundRect">
            <a:avLst/>
          </a:prstGeom>
          <a:solidFill>
            <a:schemeClr val="accent3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8496939" y="3859573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8821954" y="3864025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8666113" y="4053412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文本框 692"/>
          <p:cNvSpPr txBox="1">
            <a:spLocks noChangeArrowheads="1"/>
          </p:cNvSpPr>
          <p:nvPr/>
        </p:nvSpPr>
        <p:spPr bwMode="auto">
          <a:xfrm>
            <a:off x="8584711" y="344876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内存</a:t>
            </a:r>
          </a:p>
        </p:txBody>
      </p:sp>
      <p:sp>
        <p:nvSpPr>
          <p:cNvPr id="25" name="圆角矩形 24"/>
          <p:cNvSpPr/>
          <p:nvPr/>
        </p:nvSpPr>
        <p:spPr bwMode="auto">
          <a:xfrm>
            <a:off x="6319021" y="3654431"/>
            <a:ext cx="1035694" cy="727410"/>
          </a:xfrm>
          <a:prstGeom prst="roundRect">
            <a:avLst/>
          </a:prstGeom>
          <a:solidFill>
            <a:schemeClr val="accent3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6454649" y="3827038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6779664" y="3831490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6623823" y="4020877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692"/>
          <p:cNvSpPr txBox="1">
            <a:spLocks noChangeArrowheads="1"/>
          </p:cNvSpPr>
          <p:nvPr/>
        </p:nvSpPr>
        <p:spPr bwMode="auto">
          <a:xfrm>
            <a:off x="6542421" y="341622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内存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116009" y="3021201"/>
            <a:ext cx="1664507" cy="337185"/>
          </a:xfrm>
          <a:prstGeom prst="rect">
            <a:avLst/>
          </a:prstGeom>
          <a:solidFill>
            <a:srgbClr val="E2FCA9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GBase 8s  SDS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磁盘 31"/>
          <p:cNvSpPr/>
          <p:nvPr/>
        </p:nvSpPr>
        <p:spPr bwMode="auto">
          <a:xfrm>
            <a:off x="3371873" y="5343359"/>
            <a:ext cx="1012825" cy="679914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>
            <a:spAutoFit/>
          </a:bodyPr>
          <a:lstStyle/>
          <a:p>
            <a:pPr marL="119380" indent="-119380" algn="ctr">
              <a:lnSpc>
                <a:spcPct val="90000"/>
              </a:lnSpc>
              <a:spcBef>
                <a:spcPct val="50000"/>
              </a:spcBef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文本框 692"/>
          <p:cNvSpPr txBox="1">
            <a:spLocks noChangeArrowheads="1"/>
          </p:cNvSpPr>
          <p:nvPr/>
        </p:nvSpPr>
        <p:spPr bwMode="auto">
          <a:xfrm>
            <a:off x="2592467" y="5150160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84" y="4427704"/>
            <a:ext cx="935037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文本框 691"/>
          <p:cNvSpPr txBox="1">
            <a:spLocks noChangeArrowheads="1"/>
          </p:cNvSpPr>
          <p:nvPr/>
        </p:nvSpPr>
        <p:spPr bwMode="auto">
          <a:xfrm>
            <a:off x="3502998" y="5747242"/>
            <a:ext cx="800100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2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共享存储</a:t>
            </a:r>
          </a:p>
        </p:txBody>
      </p:sp>
      <p:sp>
        <p:nvSpPr>
          <p:cNvPr id="38" name="圆角矩形 37"/>
          <p:cNvSpPr/>
          <p:nvPr/>
        </p:nvSpPr>
        <p:spPr bwMode="auto">
          <a:xfrm>
            <a:off x="4386712" y="3716076"/>
            <a:ext cx="1035694" cy="727410"/>
          </a:xfrm>
          <a:prstGeom prst="roundRect">
            <a:avLst/>
          </a:prstGeom>
          <a:solidFill>
            <a:schemeClr val="accent3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 bwMode="auto">
          <a:xfrm>
            <a:off x="4522340" y="3888683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圆角矩形 39"/>
          <p:cNvSpPr/>
          <p:nvPr/>
        </p:nvSpPr>
        <p:spPr bwMode="auto">
          <a:xfrm>
            <a:off x="4847355" y="3893135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圆角矩形 40"/>
          <p:cNvSpPr/>
          <p:nvPr/>
        </p:nvSpPr>
        <p:spPr bwMode="auto">
          <a:xfrm>
            <a:off x="4691514" y="4082522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文本框 692"/>
          <p:cNvSpPr txBox="1">
            <a:spLocks noChangeArrowheads="1"/>
          </p:cNvSpPr>
          <p:nvPr/>
        </p:nvSpPr>
        <p:spPr bwMode="auto">
          <a:xfrm>
            <a:off x="4610112" y="347787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内存</a:t>
            </a:r>
          </a:p>
        </p:txBody>
      </p:sp>
      <p:sp>
        <p:nvSpPr>
          <p:cNvPr id="43" name="圆角矩形 42"/>
          <p:cNvSpPr/>
          <p:nvPr/>
        </p:nvSpPr>
        <p:spPr bwMode="auto">
          <a:xfrm>
            <a:off x="2406072" y="3683541"/>
            <a:ext cx="1035694" cy="727410"/>
          </a:xfrm>
          <a:prstGeom prst="roundRect">
            <a:avLst/>
          </a:prstGeom>
          <a:solidFill>
            <a:schemeClr val="accent3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 bwMode="auto">
          <a:xfrm>
            <a:off x="2541700" y="3856148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圆角矩形 44"/>
          <p:cNvSpPr/>
          <p:nvPr/>
        </p:nvSpPr>
        <p:spPr bwMode="auto">
          <a:xfrm>
            <a:off x="2866715" y="3860600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2710874" y="4049987"/>
            <a:ext cx="406879" cy="3082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4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" name="文本框 692"/>
          <p:cNvSpPr txBox="1">
            <a:spLocks noChangeArrowheads="1"/>
          </p:cNvSpPr>
          <p:nvPr/>
        </p:nvSpPr>
        <p:spPr bwMode="auto">
          <a:xfrm>
            <a:off x="2629472" y="344533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内存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141410" y="3074968"/>
            <a:ext cx="1664507" cy="338554"/>
          </a:xfrm>
          <a:prstGeom prst="rect">
            <a:avLst/>
          </a:prstGeom>
          <a:solidFill>
            <a:srgbClr val="E2FCA9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Oracle RAC</a:t>
            </a:r>
          </a:p>
        </p:txBody>
      </p:sp>
      <p:cxnSp>
        <p:nvCxnSpPr>
          <p:cNvPr id="50" name="直线箭头连接符 49"/>
          <p:cNvCxnSpPr>
            <a:stCxn id="43" idx="3"/>
          </p:cNvCxnSpPr>
          <p:nvPr/>
        </p:nvCxnSpPr>
        <p:spPr bwMode="auto">
          <a:xfrm flipV="1">
            <a:off x="3513521" y="4044508"/>
            <a:ext cx="915838" cy="2739"/>
          </a:xfrm>
          <a:prstGeom prst="straightConnector1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59" name="直线箭头连接符 58"/>
          <p:cNvCxnSpPr/>
          <p:nvPr/>
        </p:nvCxnSpPr>
        <p:spPr bwMode="auto">
          <a:xfrm flipV="1">
            <a:off x="3470869" y="4246224"/>
            <a:ext cx="915838" cy="2739"/>
          </a:xfrm>
          <a:prstGeom prst="straightConnector1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60" name="文本框 692"/>
          <p:cNvSpPr txBox="1">
            <a:spLocks noChangeArrowheads="1"/>
          </p:cNvSpPr>
          <p:nvPr/>
        </p:nvSpPr>
        <p:spPr bwMode="auto">
          <a:xfrm>
            <a:off x="4495681" y="5142283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kumimoji="1" lang="zh-CN" altLang="en-US" sz="1400" b="0" dirty="0">
                <a:solidFill>
                  <a:srgbClr val="404040"/>
                </a:solidFill>
                <a:latin typeface="微软雅黑" panose="020B0503020204020204" pitchFamily="34" charset="-122"/>
              </a:rPr>
              <a:t>主节点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98" y="4419827"/>
            <a:ext cx="935037" cy="8048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直线箭头连接符 62"/>
          <p:cNvCxnSpPr>
            <a:stCxn id="33" idx="2"/>
            <a:endCxn id="32" idx="2"/>
          </p:cNvCxnSpPr>
          <p:nvPr/>
        </p:nvCxnSpPr>
        <p:spPr bwMode="auto">
          <a:xfrm>
            <a:off x="2954104" y="5457936"/>
            <a:ext cx="417768" cy="22538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cxnSp>
        <p:nvCxnSpPr>
          <p:cNvPr id="64" name="直线箭头连接符 63"/>
          <p:cNvCxnSpPr/>
          <p:nvPr/>
        </p:nvCxnSpPr>
        <p:spPr bwMode="auto">
          <a:xfrm flipH="1">
            <a:off x="4434017" y="5407448"/>
            <a:ext cx="423303" cy="37739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</p:cxnSp>
      <p:sp>
        <p:nvSpPr>
          <p:cNvPr id="75" name="椭圆形标注 74"/>
          <p:cNvSpPr/>
          <p:nvPr/>
        </p:nvSpPr>
        <p:spPr bwMode="auto">
          <a:xfrm>
            <a:off x="9249050" y="2712975"/>
            <a:ext cx="1023365" cy="789056"/>
          </a:xfrm>
          <a:prstGeom prst="wedgeEllipseCallout">
            <a:avLst>
              <a:gd name="adj1" fmla="val -51198"/>
              <a:gd name="adj2" fmla="val 72177"/>
            </a:avLst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Bef>
                <a:spcPct val="0"/>
              </a:spcBef>
              <a:buClrTx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逻辑日志从作在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SDS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</a:t>
            </a:r>
          </a:p>
        </p:txBody>
      </p:sp>
      <p:sp>
        <p:nvSpPr>
          <p:cNvPr id="76" name="椭圆形标注 75"/>
          <p:cNvSpPr/>
          <p:nvPr/>
        </p:nvSpPr>
        <p:spPr bwMode="auto">
          <a:xfrm>
            <a:off x="5040181" y="2606467"/>
            <a:ext cx="1129887" cy="789056"/>
          </a:xfrm>
          <a:prstGeom prst="wedgeEllipseCallout">
            <a:avLst>
              <a:gd name="adj1" fmla="val -50107"/>
              <a:gd name="adj2" fmla="val 61240"/>
            </a:avLst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两节点共享内存双向同步</a:t>
            </a:r>
          </a:p>
        </p:txBody>
      </p:sp>
      <p:sp>
        <p:nvSpPr>
          <p:cNvPr id="77" name="椭圆形标注 76"/>
          <p:cNvSpPr/>
          <p:nvPr/>
        </p:nvSpPr>
        <p:spPr bwMode="auto">
          <a:xfrm>
            <a:off x="1974534" y="2475300"/>
            <a:ext cx="1129887" cy="789056"/>
          </a:xfrm>
          <a:prstGeom prst="wedgeEllipseCallout">
            <a:avLst>
              <a:gd name="adj1" fmla="val 28462"/>
              <a:gd name="adj2" fmla="val 75303"/>
            </a:avLst>
          </a:prstGeom>
          <a:noFill/>
          <a:ln>
            <a:solidFill>
              <a:srgbClr val="0000FF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两节点共享内存双向同步</a:t>
            </a:r>
          </a:p>
        </p:txBody>
      </p:sp>
      <p:sp>
        <p:nvSpPr>
          <p:cNvPr id="78" name="可选流程 77"/>
          <p:cNvSpPr/>
          <p:nvPr/>
        </p:nvSpPr>
        <p:spPr bwMode="auto">
          <a:xfrm>
            <a:off x="8681884" y="5614742"/>
            <a:ext cx="789100" cy="229797"/>
          </a:xfrm>
          <a:prstGeom prst="flowChartAlternateProcess">
            <a:avLst/>
          </a:prstGeom>
          <a:solidFill>
            <a:srgbClr val="E2FCA9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Bef>
                <a:spcPct val="0"/>
              </a:spcBef>
              <a:buClrTx/>
            </a:pPr>
            <a:r>
              <a:rPr kumimoji="1"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逻辑日志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总结</a:t>
            </a:r>
            <a:r>
              <a:rPr kumimoji="1" lang="en-US" altLang="zh-CN" dirty="0">
                <a:sym typeface="+mn-ea"/>
              </a:rPr>
              <a:t>(1)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accent1"/>
              </a:buClr>
              <a:buSzPct val="50000"/>
            </a:pPr>
            <a:r>
              <a:rPr lang="en-US" altLang="zh-CN" dirty="0"/>
              <a:t>CM </a:t>
            </a:r>
            <a:r>
              <a:rPr lang="zh-CN" altLang="en-US" dirty="0"/>
              <a:t>连接管理器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solidFill>
                  <a:srgbClr val="000000"/>
                </a:solidFill>
                <a:cs typeface="微软雅黑" panose="020B0503020204020204" pitchFamily="34" charset="-122"/>
              </a:rPr>
              <a:t>数据库集群的灵魂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solidFill>
                  <a:srgbClr val="000000"/>
                </a:solidFill>
                <a:cs typeface="微软雅黑" panose="020B0503020204020204" pitchFamily="34" charset="-122"/>
              </a:rPr>
              <a:t>提供连接服务；</a:t>
            </a:r>
            <a:r>
              <a:rPr kumimoji="1" lang="zh-CN" altLang="en-US" sz="1600" dirty="0">
                <a:cs typeface="微软雅黑" panose="020B0503020204020204" pitchFamily="34" charset="-122"/>
              </a:rPr>
              <a:t>感应故障，负载均衡。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cs typeface="微软雅黑" panose="020B0503020204020204" pitchFamily="34" charset="-122"/>
              </a:rPr>
              <a:t>主导节点转移，客户端重新连接。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预设应用导向，使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OLTP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OLAP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分流；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accent1"/>
              </a:buClr>
              <a:buSzPct val="50000"/>
            </a:pPr>
            <a:r>
              <a:rPr lang="en-US" altLang="zh-CN" dirty="0"/>
              <a:t>HDR </a:t>
            </a:r>
            <a:r>
              <a:rPr lang="zh-CN" altLang="en-US" dirty="0"/>
              <a:t>故障转移高可用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cs typeface="微软雅黑" panose="020B0503020204020204" pitchFamily="34" charset="-122"/>
              </a:rPr>
              <a:t>故障转移，应用高可用</a:t>
            </a:r>
            <a:r>
              <a:rPr kumimoji="1" lang="en-US" altLang="zh-CN" sz="1600" dirty="0">
                <a:cs typeface="微软雅黑" panose="020B0503020204020204" pitchFamily="34" charset="-122"/>
              </a:rPr>
              <a:t> </a:t>
            </a:r>
            <a:r>
              <a:rPr kumimoji="1" lang="zh-CN" altLang="en-US" sz="1600" dirty="0">
                <a:cs typeface="微软雅黑" panose="020B0503020204020204" pitchFamily="34" charset="-122"/>
              </a:rPr>
              <a:t>至</a:t>
            </a:r>
            <a:r>
              <a:rPr kumimoji="1" lang="en-US" altLang="zh-CN" sz="1600" dirty="0">
                <a:cs typeface="微软雅黑" panose="020B0503020204020204" pitchFamily="34" charset="-122"/>
              </a:rPr>
              <a:t> 99.5%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秒内升级，客户端无感主数据库故障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accent1"/>
              </a:buClr>
              <a:buSzPct val="50000"/>
            </a:pPr>
            <a:r>
              <a:rPr lang="en-US" altLang="zh-CN" dirty="0"/>
              <a:t>RSS  </a:t>
            </a:r>
            <a:r>
              <a:rPr lang="zh-CN" altLang="en-US" dirty="0"/>
              <a:t>异地容灾高可用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异地备份，避免同地的不可抗拒事务，譬如天灾。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云端备份，强化灾备功能。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accent1"/>
              </a:buClr>
              <a:buSzPct val="50000"/>
            </a:pPr>
            <a:r>
              <a:rPr lang="en-US" altLang="zh-CN" dirty="0"/>
              <a:t>SDS  </a:t>
            </a:r>
            <a:r>
              <a:rPr lang="zh-CN" altLang="en-US" dirty="0"/>
              <a:t>共享磁盘高可用</a:t>
            </a:r>
            <a:r>
              <a:rPr lang="en-US" altLang="zh-CN" dirty="0"/>
              <a:t>  </a:t>
            </a: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横向扩展数据库集群的性能，</a:t>
            </a:r>
            <a:r>
              <a:rPr kumimoji="1" lang="zh-CN" altLang="en-US" sz="1600" dirty="0">
                <a:cs typeface="微软雅黑" panose="020B0503020204020204" pitchFamily="34" charset="-122"/>
              </a:rPr>
              <a:t>提高大量查询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27380" lvl="1" indent="-285750">
              <a:buClr>
                <a:schemeClr val="accent1"/>
              </a:buClr>
              <a:buSzPct val="45000"/>
              <a:buFont typeface="Wingdings" panose="05000000000000000000" charset="0"/>
              <a:buChar char="l"/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SDS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辅助节点宕机不影响；主节点宕机，故障转移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总结</a:t>
            </a:r>
            <a:r>
              <a:rPr kumimoji="1" lang="en-US" altLang="zh-CN" dirty="0">
                <a:sym typeface="+mn-ea"/>
              </a:rPr>
              <a:t>(2)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  <a:buClr>
                <a:schemeClr val="accent1"/>
              </a:buClr>
              <a:buSzPct val="50000"/>
              <a:buBlip>
                <a:blip r:embed="rId2"/>
              </a:buBlip>
            </a:pPr>
            <a:r>
              <a:rPr lang="en-US" altLang="zh-CN" sz="2400" dirty="0"/>
              <a:t>GBase 8s </a:t>
            </a:r>
            <a:r>
              <a:rPr lang="zh-CN" altLang="en-US" sz="2400" dirty="0"/>
              <a:t>以数据复制的技术搭建数据库集群。在这个集群中以连接管理器</a:t>
            </a:r>
            <a:r>
              <a:rPr lang="en-US" altLang="zh-CN" sz="2400" dirty="0"/>
              <a:t>(CM)</a:t>
            </a:r>
            <a:r>
              <a:rPr lang="zh-CN" altLang="en-US" sz="2400" dirty="0"/>
              <a:t>为核心提供三种集群场景，</a:t>
            </a:r>
            <a:r>
              <a:rPr lang="en-US" altLang="zh-CN" sz="2400" dirty="0"/>
              <a:t>HDR</a:t>
            </a:r>
            <a:r>
              <a:rPr lang="zh-CN" altLang="en-US" sz="2400" dirty="0"/>
              <a:t>，</a:t>
            </a:r>
            <a:r>
              <a:rPr lang="en-US" altLang="zh-CN" sz="2400" dirty="0"/>
              <a:t>RSS</a:t>
            </a:r>
            <a:r>
              <a:rPr lang="zh-CN" altLang="en-US" sz="2400" dirty="0"/>
              <a:t>，与</a:t>
            </a:r>
            <a:r>
              <a:rPr lang="en-US" altLang="zh-CN" sz="2400" dirty="0"/>
              <a:t>SDS</a:t>
            </a:r>
            <a:r>
              <a:rPr lang="zh-CN" altLang="en-US" sz="2400" dirty="0"/>
              <a:t>。三种集群可以单独存在，也可以共同运作。</a:t>
            </a:r>
          </a:p>
          <a:p>
            <a:pPr marL="684530" lvl="1" indent="-342900">
              <a:lnSpc>
                <a:spcPct val="150000"/>
              </a:lnSpc>
              <a:buClr>
                <a:schemeClr val="accent1"/>
              </a:buClr>
              <a:buSzPct val="50000"/>
              <a:buFont typeface="Wingdings" panose="05000000000000000000" charset="0"/>
              <a:buChar char="l"/>
            </a:pPr>
            <a:endParaRPr lang="zh-CN" altLang="en-US" sz="2000" dirty="0">
              <a:cs typeface="微软雅黑" panose="020B0503020204020204" pitchFamily="34" charset="-122"/>
            </a:endParaRPr>
          </a:p>
          <a:p>
            <a:pPr marL="228600" lvl="1">
              <a:spcBef>
                <a:spcPts val="1000"/>
              </a:spcBef>
              <a:buClr>
                <a:schemeClr val="accent1"/>
              </a:buClr>
              <a:buSzPct val="50000"/>
              <a:buBlip>
                <a:blip r:embed="rId2"/>
              </a:buBlip>
            </a:pPr>
            <a:r>
              <a:rPr lang="en-US" altLang="zh-CN" sz="2400" dirty="0"/>
              <a:t>GBase 8s</a:t>
            </a:r>
            <a:r>
              <a:rPr lang="zh-CN" altLang="en-US" sz="2400" dirty="0"/>
              <a:t>数据库集群的高可用成就上层应用达到</a:t>
            </a:r>
            <a:r>
              <a:rPr lang="en-US" altLang="zh-CN" sz="2400" dirty="0"/>
              <a:t>7*24</a:t>
            </a:r>
            <a:r>
              <a:rPr lang="zh-CN" altLang="en-US" sz="2400" dirty="0"/>
              <a:t>小时业务保障。它也应对不可抗逆灾害提供</a:t>
            </a:r>
            <a:r>
              <a:rPr lang="en-US" altLang="zh-CN" sz="2400" dirty="0"/>
              <a:t> </a:t>
            </a:r>
            <a:r>
              <a:rPr lang="zh-CN" altLang="en-US" sz="2400" dirty="0"/>
              <a:t>异地远程的灾备中心。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SzPct val="50000"/>
              <a:buFont typeface="Wingdings" panose="05000000000000000000" charset="0"/>
              <a:buChar char="l"/>
            </a:pPr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anchor="b"/>
      <a:lstStyle>
        <a:defPPr algn="ctr">
          <a:spcBef>
            <a:spcPct val="20000"/>
          </a:spcBef>
          <a:buClr>
            <a:schemeClr val="hlink"/>
          </a:buClr>
          <a:buFont typeface="Wingdings" panose="05000000000000000000" pitchFamily="2" charset="2"/>
          <a:buNone/>
          <a:defRPr sz="3200" b="1" kern="0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3866</Words>
  <Application>Microsoft Office PowerPoint</Application>
  <PresentationFormat>自定义</PresentationFormat>
  <Paragraphs>456</Paragraphs>
  <Slides>27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Calibri Light</vt:lpstr>
      <vt:lpstr>微软雅黑</vt:lpstr>
      <vt:lpstr>Verdana</vt:lpstr>
      <vt:lpstr>Bookman Old Style</vt:lpstr>
      <vt:lpstr>Wingdings</vt:lpstr>
      <vt:lpstr>Arial Unicode MS</vt:lpstr>
      <vt:lpstr>Times New Roman</vt:lpstr>
      <vt:lpstr>Calibri</vt:lpstr>
      <vt:lpstr>Office 主题</vt:lpstr>
      <vt:lpstr>位图图像</vt:lpstr>
      <vt:lpstr>SmartDraw</vt:lpstr>
      <vt:lpstr>GBase 8s 高可用数据库集群简介</vt:lpstr>
      <vt:lpstr>目录</vt:lpstr>
      <vt:lpstr>GBase 8s 的高可用集群 </vt:lpstr>
      <vt:lpstr>GBase 8s 高可用方案一览  </vt:lpstr>
      <vt:lpstr>目录</vt:lpstr>
      <vt:lpstr>GBase 8s  SDS介绍 </vt:lpstr>
      <vt:lpstr>GBase 8s SDS工作原理</vt:lpstr>
      <vt:lpstr>GBase 8s SDS工作原理(续)</vt:lpstr>
      <vt:lpstr>什么是  HDR ？ </vt:lpstr>
      <vt:lpstr>HDR工作原理-- 逻辑日志传输过程</vt:lpstr>
      <vt:lpstr>HDR同步模式</vt:lpstr>
      <vt:lpstr>GBase 8s  RSS介绍</vt:lpstr>
      <vt:lpstr>GBase 8s  RSS介绍</vt:lpstr>
      <vt:lpstr>GBase 8s  RSS介绍</vt:lpstr>
      <vt:lpstr>GBase 8s  RSS介绍</vt:lpstr>
      <vt:lpstr>GBase 8s RSS 工作原理 </vt:lpstr>
      <vt:lpstr>GBase 8s RSS 工作原理 （续）</vt:lpstr>
      <vt:lpstr>连接管理器CM</vt:lpstr>
      <vt:lpstr>目录</vt:lpstr>
      <vt:lpstr>GBase 8s 两地三中心</vt:lpstr>
      <vt:lpstr>适用场景—单机数据库升级 HDR高可用</vt:lpstr>
      <vt:lpstr>适用场景—单机数据库升级 HDR＋RSS 高可用</vt:lpstr>
      <vt:lpstr>适用场景—升级 SDS 高可用＋大量查询</vt:lpstr>
      <vt:lpstr>比较 Oracle RAC vs GBase 8s SDS </vt:lpstr>
      <vt:lpstr>总结(1)</vt:lpstr>
      <vt:lpstr>总结(2)</vt:lpstr>
      <vt:lpstr>Thank you !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3</cp:lastModifiedBy>
  <dcterms:modified xsi:type="dcterms:W3CDTF">2019-01-08T23:43:36Z</dcterms:modified>
  <cp:revision>1008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