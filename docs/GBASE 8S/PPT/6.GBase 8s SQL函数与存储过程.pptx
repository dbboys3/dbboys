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custom-properties+xml" PartName="/docProps/custom.xml"/>
  <Override ContentType="application/vnd.openxmlformats-officedocument.presentationml.handoutMaster+xml" PartName="/ppt/handoutMasters/handoutMaster1.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notesSlide+xml" PartName="/ppt/notesSlides/notesSlide19.xml"/>
  <Override ContentType="application/vnd.openxmlformats-officedocument.presentationml.notesSlide+xml" PartName="/ppt/notesSlides/notesSlide20.xml"/>
  <Override ContentType="application/vnd.openxmlformats-officedocument.presentationml.notesSlide+xml" PartName="/ppt/notesSlides/notesSlide21.xml"/>
  <Override ContentType="application/vnd.openxmlformats-officedocument.presentationml.notesSlide+xml" PartName="/ppt/notesSlides/notesSlide22.xml"/>
  <Override ContentType="application/vnd.openxmlformats-officedocument.presentationml.notesSlide+xml" PartName="/ppt/notesSlides/notesSlide23.xml"/>
  <Override ContentType="application/vnd.openxmlformats-officedocument.presentationml.notesSlide+xml" PartName="/ppt/notesSlides/notesSlide24.xml"/>
  <Override ContentType="application/vnd.openxmlformats-officedocument.presentationml.notesSlide+xml" PartName="/ppt/notesSlides/notesSlide25.xml"/>
  <Override ContentType="application/vnd.openxmlformats-officedocument.presentationml.notesSlide+xml" PartName="/ppt/notesSlides/notesSlide26.xml"/>
  <Override ContentType="application/vnd.openxmlformats-officedocument.presentationml.notesSlide+xml" PartName="/ppt/notesSlides/notesSlide27.xml"/>
  <Override ContentType="application/vnd.openxmlformats-officedocument.presentationml.notesSlide+xml" PartName="/ppt/notesSlides/notesSlide28.xml"/>
  <Override ContentType="application/vnd.openxmlformats-officedocument.presentationml.notesSlide+xml" PartName="/ppt/notesSlides/notesSlide29.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slide+xml" PartName="/ppt/slides/slide38.xml"/>
  <Override ContentType="application/vnd.openxmlformats-officedocument.presentationml.slide+xml" PartName="/ppt/slides/slide3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 Id="rId5" Target="docProps/custom.xml" Type="http://schemas.openxmlformats.org/officeDocument/2006/relationships/custom-properties"/></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embedTrueTypeFonts="1" saveSubsetFonts="1">
  <p:sldMasterIdLst>
    <p:sldMasterId id="2147483648" r:id="rId1"/>
  </p:sldMasterIdLst>
  <p:notesMasterIdLst>
    <p:notesMasterId r:id="rId41"/>
  </p:notesMasterIdLst>
  <p:handoutMasterIdLst>
    <p:handoutMasterId r:id="rId42"/>
  </p:handoutMasterIdLst>
  <p:sldIdLst>
    <p:sldId id="417" r:id="rId2"/>
    <p:sldId id="418" r:id="rId3"/>
    <p:sldId id="419" r:id="rId4"/>
    <p:sldId id="420" r:id="rId5"/>
    <p:sldId id="455" r:id="rId6"/>
    <p:sldId id="422" r:id="rId7"/>
    <p:sldId id="423" r:id="rId8"/>
    <p:sldId id="424" r:id="rId9"/>
    <p:sldId id="425" r:id="rId10"/>
    <p:sldId id="426" r:id="rId11"/>
    <p:sldId id="427" r:id="rId12"/>
    <p:sldId id="428" r:id="rId13"/>
    <p:sldId id="429" r:id="rId14"/>
    <p:sldId id="430" r:id="rId15"/>
    <p:sldId id="431" r:id="rId16"/>
    <p:sldId id="432" r:id="rId17"/>
    <p:sldId id="433" r:id="rId18"/>
    <p:sldId id="434" r:id="rId19"/>
    <p:sldId id="435" r:id="rId20"/>
    <p:sldId id="436" r:id="rId21"/>
    <p:sldId id="437" r:id="rId22"/>
    <p:sldId id="438" r:id="rId23"/>
    <p:sldId id="439" r:id="rId24"/>
    <p:sldId id="440" r:id="rId25"/>
    <p:sldId id="441" r:id="rId26"/>
    <p:sldId id="456" r:id="rId27"/>
    <p:sldId id="443" r:id="rId28"/>
    <p:sldId id="444" r:id="rId29"/>
    <p:sldId id="445" r:id="rId30"/>
    <p:sldId id="446" r:id="rId31"/>
    <p:sldId id="447" r:id="rId32"/>
    <p:sldId id="448" r:id="rId33"/>
    <p:sldId id="449" r:id="rId34"/>
    <p:sldId id="450" r:id="rId35"/>
    <p:sldId id="451" r:id="rId36"/>
    <p:sldId id="452" r:id="rId37"/>
    <p:sldId id="453" r:id="rId38"/>
    <p:sldId id="454" r:id="rId39"/>
    <p:sldId id="407" r:id="rId40"/>
  </p:sldIdLst>
  <p:sldSz cx="12192000" cy="6858000"/>
  <p:notesSz cx="6858000" cy="9144000"/>
  <p:embeddedFontLst>
    <p:embeddedFont>
      <p:font typeface="Calibri Light" pitchFamily="34" charset="0"/>
      <p:regular r:id="rId43"/>
      <p:italic r:id="rId44"/>
    </p:embeddedFont>
    <p:embeddedFont>
      <p:font typeface="黑体" pitchFamily="49" charset="-122"/>
      <p:regular r:id="rId45"/>
    </p:embeddedFont>
    <p:embeddedFont>
      <p:font typeface="微软雅黑" pitchFamily="34" charset="-122"/>
      <p:regular r:id="rId46"/>
      <p:bold r:id="rId47"/>
    </p:embeddedFont>
    <p:embeddedFont>
      <p:font typeface="Verdana" pitchFamily="34" charset="0"/>
      <p:regular r:id="rId48"/>
      <p:bold r:id="rId49"/>
      <p:italic r:id="rId50"/>
      <p:boldItalic r:id="rId51"/>
    </p:embeddedFont>
    <p:embeddedFont>
      <p:font typeface="Calibri" pitchFamily="34" charset="0"/>
      <p:regular r:id="rId52"/>
      <p:bold r:id="rId53"/>
      <p:italic r:id="rId54"/>
      <p:boldItalic r:id="rId55"/>
    </p:embeddedFont>
  </p:embeddedFontLst>
  <p:defaultTex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A5656"/>
    <a:srgbClr val="B5B5B5"/>
    <a:srgbClr val="DE1208"/>
    <a:srgbClr val="85898F"/>
    <a:srgbClr val="DADEE6"/>
    <a:srgbClr val="494545"/>
    <a:srgbClr val="5A6783"/>
    <a:srgbClr val="F15B67"/>
    <a:srgbClr val="A1A1A1"/>
    <a:srgbClr val="3D485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601" autoAdjust="0"/>
    <p:restoredTop sz="99878" autoAdjust="0"/>
  </p:normalViewPr>
  <p:slideViewPr>
    <p:cSldViewPr snapToGrid="0">
      <p:cViewPr varScale="1">
        <p:scale>
          <a:sx n="67" d="100"/>
          <a:sy n="67" d="100"/>
        </p:scale>
        <p:origin x="-576" y="-102"/>
      </p:cViewPr>
      <p:guideLst>
        <p:guide orient="horz" pos="1094"/>
        <p:guide orient="horz" pos="4065"/>
        <p:guide pos="325"/>
        <p:guide pos="7106"/>
        <p:guide pos="189"/>
        <p:guide pos="3840"/>
      </p:guideLst>
    </p:cSldViewPr>
  </p:slideViewPr>
  <p:notesTextViewPr>
    <p:cViewPr>
      <p:scale>
        <a:sx n="1" d="1"/>
        <a:sy n="1" d="1"/>
      </p:scale>
      <p:origin x="0" y="0"/>
    </p:cViewPr>
  </p:notesTextViewPr>
  <p:sorterViewPr>
    <p:cViewPr>
      <p:scale>
        <a:sx n="87" d="100"/>
        <a:sy n="87" d="100"/>
      </p:scale>
      <p:origin x="0" y="0"/>
    </p:cViewPr>
  </p:sorterViewPr>
  <p:notesViewPr>
    <p:cSldViewPr snapToGrid="0">
      <p:cViewPr varScale="1">
        <p:scale>
          <a:sx n="83" d="100"/>
          <a:sy n="83" d="100"/>
        </p:scale>
        <p:origin x="-3192" y="-78"/>
      </p:cViewPr>
      <p:guideLst>
        <p:guide orient="horz" pos="2880"/>
        <p:guide pos="2160"/>
      </p:guideLst>
    </p:cSldViewPr>
  </p:notesViewPr>
  <p:gridSpacing cx="72008" cy="72008"/>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9.xml" Type="http://schemas.openxmlformats.org/officeDocument/2006/relationships/slide"/><Relationship Id="rId11" Target="slides/slide10.xml" Type="http://schemas.openxmlformats.org/officeDocument/2006/relationships/slide"/><Relationship Id="rId12" Target="slides/slide11.xml" Type="http://schemas.openxmlformats.org/officeDocument/2006/relationships/slide"/><Relationship Id="rId13" Target="slides/slide12.xml" Type="http://schemas.openxmlformats.org/officeDocument/2006/relationships/slide"/><Relationship Id="rId14" Target="slides/slide13.xml" Type="http://schemas.openxmlformats.org/officeDocument/2006/relationships/slide"/><Relationship Id="rId15" Target="slides/slide14.xml" Type="http://schemas.openxmlformats.org/officeDocument/2006/relationships/slide"/><Relationship Id="rId16" Target="slides/slide15.xml" Type="http://schemas.openxmlformats.org/officeDocument/2006/relationships/slide"/><Relationship Id="rId17" Target="slides/slide16.xml" Type="http://schemas.openxmlformats.org/officeDocument/2006/relationships/slide"/><Relationship Id="rId18" Target="slides/slide17.xml" Type="http://schemas.openxmlformats.org/officeDocument/2006/relationships/slide"/><Relationship Id="rId19" Target="slides/slide18.xml" Type="http://schemas.openxmlformats.org/officeDocument/2006/relationships/slide"/><Relationship Id="rId2" Target="slides/slide1.xml" Type="http://schemas.openxmlformats.org/officeDocument/2006/relationships/slide"/><Relationship Id="rId20" Target="slides/slide19.xml" Type="http://schemas.openxmlformats.org/officeDocument/2006/relationships/slide"/><Relationship Id="rId21" Target="slides/slide20.xml" Type="http://schemas.openxmlformats.org/officeDocument/2006/relationships/slide"/><Relationship Id="rId22" Target="slides/slide21.xml" Type="http://schemas.openxmlformats.org/officeDocument/2006/relationships/slide"/><Relationship Id="rId23" Target="slides/slide22.xml" Type="http://schemas.openxmlformats.org/officeDocument/2006/relationships/slide"/><Relationship Id="rId24" Target="slides/slide23.xml" Type="http://schemas.openxmlformats.org/officeDocument/2006/relationships/slide"/><Relationship Id="rId25" Target="slides/slide24.xml" Type="http://schemas.openxmlformats.org/officeDocument/2006/relationships/slide"/><Relationship Id="rId26" Target="slides/slide25.xml" Type="http://schemas.openxmlformats.org/officeDocument/2006/relationships/slide"/><Relationship Id="rId27" Target="slides/slide26.xml" Type="http://schemas.openxmlformats.org/officeDocument/2006/relationships/slide"/><Relationship Id="rId28" Target="slides/slide27.xml" Type="http://schemas.openxmlformats.org/officeDocument/2006/relationships/slide"/><Relationship Id="rId29" Target="slides/slide28.xml" Type="http://schemas.openxmlformats.org/officeDocument/2006/relationships/slide"/><Relationship Id="rId3" Target="slides/slide2.xml" Type="http://schemas.openxmlformats.org/officeDocument/2006/relationships/slide"/><Relationship Id="rId30" Target="slides/slide29.xml" Type="http://schemas.openxmlformats.org/officeDocument/2006/relationships/slide"/><Relationship Id="rId31" Target="slides/slide30.xml" Type="http://schemas.openxmlformats.org/officeDocument/2006/relationships/slide"/><Relationship Id="rId32" Target="slides/slide31.xml" Type="http://schemas.openxmlformats.org/officeDocument/2006/relationships/slide"/><Relationship Id="rId33" Target="slides/slide32.xml" Type="http://schemas.openxmlformats.org/officeDocument/2006/relationships/slide"/><Relationship Id="rId34" Target="slides/slide33.xml" Type="http://schemas.openxmlformats.org/officeDocument/2006/relationships/slide"/><Relationship Id="rId35" Target="slides/slide34.xml" Type="http://schemas.openxmlformats.org/officeDocument/2006/relationships/slide"/><Relationship Id="rId36" Target="slides/slide35.xml" Type="http://schemas.openxmlformats.org/officeDocument/2006/relationships/slide"/><Relationship Id="rId37" Target="slides/slide36.xml" Type="http://schemas.openxmlformats.org/officeDocument/2006/relationships/slide"/><Relationship Id="rId38" Target="slides/slide37.xml" Type="http://schemas.openxmlformats.org/officeDocument/2006/relationships/slide"/><Relationship Id="rId39" Target="slides/slide38.xml" Type="http://schemas.openxmlformats.org/officeDocument/2006/relationships/slide"/><Relationship Id="rId4" Target="slides/slide3.xml" Type="http://schemas.openxmlformats.org/officeDocument/2006/relationships/slide"/><Relationship Id="rId40" Target="slides/slide39.xml" Type="http://schemas.openxmlformats.org/officeDocument/2006/relationships/slide"/><Relationship Id="rId41" Target="notesMasters/notesMaster1.xml" Type="http://schemas.openxmlformats.org/officeDocument/2006/relationships/notesMaster"/><Relationship Id="rId42" Target="handoutMasters/handoutMaster1.xml" Type="http://schemas.openxmlformats.org/officeDocument/2006/relationships/handoutMaster"/><Relationship Id="rId43" Target="fonts/font1.fntdata" Type="http://schemas.openxmlformats.org/officeDocument/2006/relationships/font"/><Relationship Id="rId44" Target="fonts/font2.fntdata" Type="http://schemas.openxmlformats.org/officeDocument/2006/relationships/font"/><Relationship Id="rId45" Target="fonts/font3.fntdata" Type="http://schemas.openxmlformats.org/officeDocument/2006/relationships/font"/><Relationship Id="rId46" Target="fonts/font4.fntdata" Type="http://schemas.openxmlformats.org/officeDocument/2006/relationships/font"/><Relationship Id="rId47" Target="fonts/font5.fntdata" Type="http://schemas.openxmlformats.org/officeDocument/2006/relationships/font"/><Relationship Id="rId48" Target="fonts/font6.fntdata" Type="http://schemas.openxmlformats.org/officeDocument/2006/relationships/font"/><Relationship Id="rId49" Target="fonts/font7.fntdata" Type="http://schemas.openxmlformats.org/officeDocument/2006/relationships/font"/><Relationship Id="rId5" Target="slides/slide4.xml" Type="http://schemas.openxmlformats.org/officeDocument/2006/relationships/slide"/><Relationship Id="rId50" Target="fonts/font8.fntdata" Type="http://schemas.openxmlformats.org/officeDocument/2006/relationships/font"/><Relationship Id="rId51" Target="fonts/font9.fntdata" Type="http://schemas.openxmlformats.org/officeDocument/2006/relationships/font"/><Relationship Id="rId52" Target="fonts/font10.fntdata" Type="http://schemas.openxmlformats.org/officeDocument/2006/relationships/font"/><Relationship Id="rId53" Target="fonts/font11.fntdata" Type="http://schemas.openxmlformats.org/officeDocument/2006/relationships/font"/><Relationship Id="rId54" Target="fonts/font12.fntdata" Type="http://schemas.openxmlformats.org/officeDocument/2006/relationships/font"/><Relationship Id="rId55" Target="fonts/font13.fntdata" Type="http://schemas.openxmlformats.org/officeDocument/2006/relationships/font"/><Relationship Id="rId56" Target="presProps.xml" Type="http://schemas.openxmlformats.org/officeDocument/2006/relationships/presProps"/><Relationship Id="rId57" Target="viewProps.xml" Type="http://schemas.openxmlformats.org/officeDocument/2006/relationships/viewProps"/><Relationship Id="rId58" Target="theme/theme1.xml" Type="http://schemas.openxmlformats.org/officeDocument/2006/relationships/theme"/><Relationship Id="rId59" Target="tableStyles.xml" Type="http://schemas.openxmlformats.org/officeDocument/2006/relationships/tableStyles"/><Relationship Id="rId6" Target="slides/slide5.xml" Type="http://schemas.openxmlformats.org/officeDocument/2006/relationships/slide"/><Relationship Id="rId7" Target="slides/slide6.xml" Type="http://schemas.openxmlformats.org/officeDocument/2006/relationships/slide"/><Relationship Id="rId8" Target="slides/slide7.xml" Type="http://schemas.openxmlformats.org/officeDocument/2006/relationships/slide"/><Relationship Id="rId9" Target="slides/slide8.xml" Type="http://schemas.openxmlformats.org/officeDocument/2006/relationships/slide"/></Relationships>
</file>

<file path=ppt/handoutMasters/_rels/handoutMaster1.xml.rels><?xml version="1.0" encoding="UTF-8" standalone="yes"?><Relationships xmlns="http://schemas.openxmlformats.org/package/2006/relationships"><Relationship Id="rId1" Target="../theme/theme3.xml" Type="http://schemas.openxmlformats.org/officeDocument/2006/relationships/theme"/></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t>2019-01-04</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t>‹#›</a:t>
            </a:fld>
            <a:endParaRPr lang="zh-CN" altLang="en-US"/>
          </a:p>
        </p:txBody>
      </p:sp>
    </p:spTree>
    <p:extLst>
      <p:ext uri="{BB962C8B-B14F-4D97-AF65-F5344CB8AC3E}">
        <p14:creationId xmlns:p14="http://schemas.microsoft.com/office/powerpoint/2010/main" val="2308477879"/>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fontAlgn="auto">
              <a:spcBef>
                <a:spcPts val="0"/>
              </a:spcBef>
              <a:spcAft>
                <a:spcPts val="0"/>
              </a:spcAft>
              <a:defRPr sz="1200">
                <a:latin typeface="+mn-lt"/>
                <a:ea typeface="+mn-ea"/>
              </a:defRPr>
            </a:lvl1pPr>
          </a:lstStyle>
          <a:p>
            <a:pPr>
              <a:defRPr/>
            </a:pPr>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fontAlgn="auto">
              <a:spcBef>
                <a:spcPts val="0"/>
              </a:spcBef>
              <a:spcAft>
                <a:spcPts val="0"/>
              </a:spcAft>
              <a:defRPr sz="1200" smtClean="0">
                <a:latin typeface="+mn-lt"/>
                <a:ea typeface="+mn-ea"/>
              </a:defRPr>
            </a:lvl1pPr>
          </a:lstStyle>
          <a:p>
            <a:pPr>
              <a:defRPr/>
            </a:pPr>
            <a:fld id="{F6622AFC-370D-4D83-BC2C-E3B279A36771}" type="datetimeFigureOut">
              <a:rPr lang="zh-CN" altLang="en-US"/>
              <a:t>2019-01-04</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endParaRPr lang="zh-CN" altLang="en-US" noProof="0"/>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fontAlgn="auto">
              <a:spcBef>
                <a:spcPts val="0"/>
              </a:spcBef>
              <a:spcAft>
                <a:spcPts val="0"/>
              </a:spcAft>
              <a:defRPr sz="1200">
                <a:latin typeface="+mn-lt"/>
                <a:ea typeface="+mn-ea"/>
              </a:defRPr>
            </a:lvl1pPr>
          </a:lstStyle>
          <a:p>
            <a:pPr>
              <a:defRPr/>
            </a:pPr>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fontAlgn="auto">
              <a:spcBef>
                <a:spcPts val="0"/>
              </a:spcBef>
              <a:spcAft>
                <a:spcPts val="0"/>
              </a:spcAft>
              <a:defRPr sz="1200" smtClean="0">
                <a:latin typeface="+mn-lt"/>
                <a:ea typeface="+mn-ea"/>
              </a:defRPr>
            </a:lvl1pPr>
          </a:lstStyle>
          <a:p>
            <a:pPr>
              <a:defRPr/>
            </a:pPr>
            <a:fld id="{4B37621B-8712-439F-AD62-D011FD133EC3}" type="slidenum">
              <a:rPr lang="zh-CN" altLang="en-US"/>
              <a:t>‹#›</a:t>
            </a:fld>
            <a:endParaRPr lang="zh-CN" altLang="en-US"/>
          </a:p>
        </p:txBody>
      </p:sp>
    </p:spTree>
    <p:extLst>
      <p:ext uri="{BB962C8B-B14F-4D97-AF65-F5344CB8AC3E}">
        <p14:creationId xmlns:p14="http://schemas.microsoft.com/office/powerpoint/2010/main" val="2813655462"/>
      </p:ext>
    </p:extLst>
  </p:cSld>
  <p:clrMap bg1="lt1" tx1="dk1" bg2="lt2" tx2="dk2" accent1="accent1" accent2="accent2" accent3="accent3" accent4="accent4" accent5="accent5" accent6="accent6" hlink="hlink" folHlink="folHlink"/>
  <p:hf hdr="0" ftr="0" dt="0"/>
  <p:notesStyle>
    <a:lvl1pPr algn="l" rtl="0" fontAlgn="base">
      <a:spcBef>
        <a:spcPct val="30000"/>
      </a:spcBef>
      <a:spcAft>
        <a:spcPct val="0"/>
      </a:spcAft>
      <a:defRPr sz="1200" kern="1200">
        <a:solidFill>
          <a:schemeClr val="tx1"/>
        </a:solidFill>
        <a:latin typeface="+mn-lt"/>
        <a:ea typeface="+mn-ea"/>
        <a:cs typeface="+mn-cs"/>
      </a:defRPr>
    </a:lvl1pPr>
    <a:lvl2pPr marL="457200" algn="l" rtl="0" fontAlgn="base">
      <a:spcBef>
        <a:spcPct val="30000"/>
      </a:spcBef>
      <a:spcAft>
        <a:spcPct val="0"/>
      </a:spcAft>
      <a:defRPr sz="1200" kern="1200">
        <a:solidFill>
          <a:schemeClr val="tx1"/>
        </a:solidFill>
        <a:latin typeface="+mn-lt"/>
        <a:ea typeface="+mn-ea"/>
        <a:cs typeface="+mn-cs"/>
      </a:defRPr>
    </a:lvl2pPr>
    <a:lvl3pPr marL="914400" algn="l" rtl="0" fontAlgn="base">
      <a:spcBef>
        <a:spcPct val="30000"/>
      </a:spcBef>
      <a:spcAft>
        <a:spcPct val="0"/>
      </a:spcAft>
      <a:defRPr sz="1200" kern="1200">
        <a:solidFill>
          <a:schemeClr val="tx1"/>
        </a:solidFill>
        <a:latin typeface="+mn-lt"/>
        <a:ea typeface="+mn-ea"/>
        <a:cs typeface="+mn-cs"/>
      </a:defRPr>
    </a:lvl3pPr>
    <a:lvl4pPr marL="1371600" algn="l" rtl="0" fontAlgn="base">
      <a:spcBef>
        <a:spcPct val="30000"/>
      </a:spcBef>
      <a:spcAft>
        <a:spcPct val="0"/>
      </a:spcAft>
      <a:defRPr sz="1200" kern="1200">
        <a:solidFill>
          <a:schemeClr val="tx1"/>
        </a:solidFill>
        <a:latin typeface="+mn-lt"/>
        <a:ea typeface="+mn-ea"/>
        <a:cs typeface="+mn-cs"/>
      </a:defRPr>
    </a:lvl4pPr>
    <a:lvl5pPr marL="1828800" algn="l" rtl="0" fontAlgn="base">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0.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1.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2.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3.xml" Type="http://schemas.openxmlformats.org/officeDocument/2006/relationships/slide"/></Relationships>
</file>

<file path=ppt/notesSlides/_rels/notesSlide1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4.xml" Type="http://schemas.openxmlformats.org/officeDocument/2006/relationships/slide"/></Relationships>
</file>

<file path=ppt/notesSlides/_rels/notesSlide2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5.xml" Type="http://schemas.openxmlformats.org/officeDocument/2006/relationships/slide"/></Relationships>
</file>

<file path=ppt/notesSlides/_rels/notesSlide2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7.xml" Type="http://schemas.openxmlformats.org/officeDocument/2006/relationships/slide"/></Relationships>
</file>

<file path=ppt/notesSlides/_rels/notesSlide2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1.xml" Type="http://schemas.openxmlformats.org/officeDocument/2006/relationships/slide"/></Relationships>
</file>

<file path=ppt/notesSlides/_rels/notesSlide2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2.xml" Type="http://schemas.openxmlformats.org/officeDocument/2006/relationships/slide"/></Relationships>
</file>

<file path=ppt/notesSlides/_rels/notesSlide2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3.xml" Type="http://schemas.openxmlformats.org/officeDocument/2006/relationships/slide"/></Relationships>
</file>

<file path=ppt/notesSlides/_rels/notesSlide2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4.xml" Type="http://schemas.openxmlformats.org/officeDocument/2006/relationships/slide"/></Relationships>
</file>

<file path=ppt/notesSlides/_rels/notesSlide2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5.xml" Type="http://schemas.openxmlformats.org/officeDocument/2006/relationships/slide"/></Relationships>
</file>

<file path=ppt/notesSlides/_rels/notesSlide2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6.xml" Type="http://schemas.openxmlformats.org/officeDocument/2006/relationships/slide"/></Relationships>
</file>

<file path=ppt/notesSlides/_rels/notesSlide2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7.xml" Type="http://schemas.openxmlformats.org/officeDocument/2006/relationships/slide"/></Relationships>
</file>

<file path=ppt/notesSlides/_rels/notesSlide2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8.xml" Type="http://schemas.openxmlformats.org/officeDocument/2006/relationships/slide"/></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D681EDF9-887E-4317-82C6-85814C8A9540}" type="slidenum">
              <a:rPr lang="zh-CN" altLang="en-US" smtClean="0"/>
              <a:t>0</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Rot="1" noChangeAspect="1" noChangeArrowheads="1" noTextEdit="1"/>
          </p:cNvSpPr>
          <p:nvPr>
            <p:ph type="sldImg"/>
          </p:nvPr>
        </p:nvSpPr>
        <p:spPr/>
      </p:sp>
      <p:sp>
        <p:nvSpPr>
          <p:cNvPr id="38915" name="Rectangle 3"/>
          <p:cNvSpPr>
            <a:spLocks noGrp="1" noChangeArrowheads="1"/>
          </p:cNvSpPr>
          <p:nvPr>
            <p:ph type="body" idx="1"/>
          </p:nvPr>
        </p:nvSpPr>
        <p:spPr>
          <a:xfrm>
            <a:off x="79375" y="4343400"/>
            <a:ext cx="6653213" cy="274638"/>
          </a:xfrm>
          <a:noFill/>
        </p:spPr>
        <p:txBody>
          <a:bodyPr/>
          <a:lstStyle/>
          <a:p>
            <a:endParaRPr lang="zh-CN" altLang="en-US">
              <a:cs typeface="宋体" panose="02010600030101010101" pitchFamily="2" charset="-122"/>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Rot="1" noChangeAspect="1" noChangeArrowheads="1" noTextEdit="1"/>
          </p:cNvSpPr>
          <p:nvPr>
            <p:ph type="sldImg"/>
          </p:nvPr>
        </p:nvSpPr>
        <p:spPr/>
      </p:sp>
      <p:sp>
        <p:nvSpPr>
          <p:cNvPr id="38915" name="Rectangle 3"/>
          <p:cNvSpPr>
            <a:spLocks noGrp="1" noChangeArrowheads="1"/>
          </p:cNvSpPr>
          <p:nvPr>
            <p:ph type="body" idx="1"/>
          </p:nvPr>
        </p:nvSpPr>
        <p:spPr>
          <a:xfrm>
            <a:off x="79375" y="4343400"/>
            <a:ext cx="6653213" cy="274638"/>
          </a:xfrm>
          <a:noFill/>
        </p:spPr>
        <p:txBody>
          <a:bodyPr/>
          <a:lstStyle/>
          <a:p>
            <a:endParaRPr lang="zh-CN" altLang="en-US">
              <a:cs typeface="宋体" panose="02010600030101010101" pitchFamily="2" charset="-122"/>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pPr>
              <a:defRPr/>
            </a:pPr>
            <a:fld id="{4B37621B-8712-439F-AD62-D011FD133EC3}" type="slidenum">
              <a:rPr lang="zh-CN" altLang="en-US" smtClean="0"/>
              <a:t>4</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Rot="1" noChangeAspect="1" noChangeArrowheads="1" noTextEdit="1"/>
          </p:cNvSpPr>
          <p:nvPr>
            <p:ph type="sldImg"/>
          </p:nvPr>
        </p:nvSpPr>
        <p:spPr/>
      </p:sp>
      <p:sp>
        <p:nvSpPr>
          <p:cNvPr id="38915" name="Rectangle 3"/>
          <p:cNvSpPr>
            <a:spLocks noGrp="1" noChangeArrowheads="1"/>
          </p:cNvSpPr>
          <p:nvPr>
            <p:ph type="body" idx="1"/>
          </p:nvPr>
        </p:nvSpPr>
        <p:spPr>
          <a:xfrm>
            <a:off x="79375" y="4343400"/>
            <a:ext cx="6653213" cy="274638"/>
          </a:xfrm>
          <a:noFill/>
        </p:spPr>
        <p:txBody>
          <a:bodyPr/>
          <a:lstStyle/>
          <a:p>
            <a:endParaRPr lang="zh-CN" altLang="en-US">
              <a:cs typeface="宋体" panose="02010600030101010101" pitchFamily="2" charset="-122"/>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642" name="Rectangle 2"/>
          <p:cNvSpPr>
            <a:spLocks noGrp="1" noRot="1" noChangeAspect="1" noChangeArrowheads="1" noTextEdit="1"/>
          </p:cNvSpPr>
          <p:nvPr>
            <p:ph type="sldImg"/>
          </p:nvPr>
        </p:nvSpPr>
        <p:spPr/>
      </p:sp>
      <p:sp>
        <p:nvSpPr>
          <p:cNvPr id="240643" name="Rectangle 3"/>
          <p:cNvSpPr>
            <a:spLocks noGrp="1" noChangeArrowheads="1"/>
          </p:cNvSpPr>
          <p:nvPr>
            <p:ph type="body" idx="1"/>
          </p:nvPr>
        </p:nvSpPr>
        <p:spPr>
          <a:xfrm>
            <a:off x="79375" y="4343400"/>
            <a:ext cx="6653213" cy="274638"/>
          </a:xfrm>
          <a:noFill/>
        </p:spPr>
        <p:txBody>
          <a:bodyPr/>
          <a:lstStyle/>
          <a:p>
            <a:endParaRPr lang="en-US" altLang="zh-CN">
              <a:cs typeface="宋体" panose="02010600030101010101" pitchFamily="2" charset="-122"/>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642" name="Rectangle 2"/>
          <p:cNvSpPr>
            <a:spLocks noGrp="1" noRot="1" noChangeAspect="1" noChangeArrowheads="1" noTextEdit="1"/>
          </p:cNvSpPr>
          <p:nvPr>
            <p:ph type="sldImg"/>
          </p:nvPr>
        </p:nvSpPr>
        <p:spPr/>
      </p:sp>
      <p:sp>
        <p:nvSpPr>
          <p:cNvPr id="240643" name="Rectangle 3"/>
          <p:cNvSpPr>
            <a:spLocks noGrp="1" noChangeArrowheads="1"/>
          </p:cNvSpPr>
          <p:nvPr>
            <p:ph type="body" idx="1"/>
          </p:nvPr>
        </p:nvSpPr>
        <p:spPr>
          <a:xfrm>
            <a:off x="79375" y="4343400"/>
            <a:ext cx="6653213" cy="274638"/>
          </a:xfrm>
          <a:noFill/>
        </p:spPr>
        <p:txBody>
          <a:bodyPr/>
          <a:lstStyle/>
          <a:p>
            <a:endParaRPr lang="en-US" altLang="zh-CN">
              <a:cs typeface="宋体" panose="02010600030101010101" pitchFamily="2" charset="-122"/>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2"/>
          <p:cNvSpPr>
            <a:spLocks noGrp="1" noRot="1" noChangeAspect="1" noChangeArrowheads="1" noTextEdit="1"/>
          </p:cNvSpPr>
          <p:nvPr>
            <p:ph type="sldImg"/>
          </p:nvPr>
        </p:nvSpPr>
        <p:spPr/>
      </p:sp>
      <p:sp>
        <p:nvSpPr>
          <p:cNvPr id="242691" name="Rectangle 3"/>
          <p:cNvSpPr>
            <a:spLocks noGrp="1" noChangeArrowheads="1"/>
          </p:cNvSpPr>
          <p:nvPr>
            <p:ph type="body" idx="1"/>
          </p:nvPr>
        </p:nvSpPr>
        <p:spPr>
          <a:xfrm>
            <a:off x="79375" y="4343400"/>
            <a:ext cx="6653213" cy="274638"/>
          </a:xfrm>
          <a:noFill/>
        </p:spPr>
        <p:txBody>
          <a:bodyPr/>
          <a:lstStyle/>
          <a:p>
            <a:endParaRPr lang="en-US" altLang="zh-CN">
              <a:cs typeface="宋体" panose="02010600030101010101" pitchFamily="2" charset="-122"/>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2802" name="Rectangle 2"/>
          <p:cNvSpPr>
            <a:spLocks noGrp="1" noRot="1" noChangeAspect="1" noChangeArrowheads="1" noTextEdit="1"/>
          </p:cNvSpPr>
          <p:nvPr>
            <p:ph type="sldImg"/>
          </p:nvPr>
        </p:nvSpPr>
        <p:spPr/>
      </p:sp>
      <p:sp>
        <p:nvSpPr>
          <p:cNvPr id="332803" name="Rectangle 3"/>
          <p:cNvSpPr>
            <a:spLocks noGrp="1" noChangeArrowheads="1"/>
          </p:cNvSpPr>
          <p:nvPr>
            <p:ph type="body" idx="1"/>
          </p:nvPr>
        </p:nvSpPr>
        <p:spPr>
          <a:xfrm>
            <a:off x="79375" y="4343400"/>
            <a:ext cx="6653213" cy="274638"/>
          </a:xfrm>
          <a:noFill/>
        </p:spPr>
        <p:txBody>
          <a:bodyPr/>
          <a:lstStyle/>
          <a:p>
            <a:endParaRPr lang="en-US" altLang="zh-CN">
              <a:cs typeface="宋体" panose="02010600030101010101" pitchFamily="2" charset="-122"/>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8754" name="Rectangle 2"/>
          <p:cNvSpPr>
            <a:spLocks noGrp="1" noRot="1" noChangeAspect="1" noChangeArrowheads="1" noTextEdit="1"/>
          </p:cNvSpPr>
          <p:nvPr>
            <p:ph type="sldImg"/>
          </p:nvPr>
        </p:nvSpPr>
        <p:spPr/>
      </p:sp>
      <p:sp>
        <p:nvSpPr>
          <p:cNvPr id="458755" name="Rectangle 3"/>
          <p:cNvSpPr>
            <a:spLocks noGrp="1" noChangeArrowheads="1"/>
          </p:cNvSpPr>
          <p:nvPr>
            <p:ph type="body" idx="1"/>
          </p:nvPr>
        </p:nvSpPr>
        <p:spPr>
          <a:xfrm>
            <a:off x="79375" y="4343400"/>
            <a:ext cx="6653213" cy="274638"/>
          </a:xfrm>
          <a:noFill/>
        </p:spPr>
        <p:txBody>
          <a:bodyPr/>
          <a:lstStyle/>
          <a:p>
            <a:endParaRPr lang="en-US" altLang="zh-CN">
              <a:cs typeface="宋体" panose="02010600030101010101" pitchFamily="2" charset="-122"/>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2386" name="Rectangle 2"/>
          <p:cNvSpPr>
            <a:spLocks noGrp="1" noRot="1" noChangeAspect="1" noChangeArrowheads="1" noTextEdit="1"/>
          </p:cNvSpPr>
          <p:nvPr>
            <p:ph type="sldImg"/>
          </p:nvPr>
        </p:nvSpPr>
        <p:spPr/>
      </p:sp>
      <p:sp>
        <p:nvSpPr>
          <p:cNvPr id="272387" name="Rectangle 3"/>
          <p:cNvSpPr>
            <a:spLocks noGrp="1" noChangeArrowheads="1"/>
          </p:cNvSpPr>
          <p:nvPr>
            <p:ph type="body" idx="1"/>
          </p:nvPr>
        </p:nvSpPr>
        <p:spPr>
          <a:xfrm>
            <a:off x="79375" y="4343400"/>
            <a:ext cx="6653213" cy="274638"/>
          </a:xfrm>
          <a:noFill/>
        </p:spPr>
        <p:txBody>
          <a:bodyPr/>
          <a:lstStyle/>
          <a:p>
            <a:endParaRPr lang="zh-CN" altLang="en-US">
              <a:cs typeface="宋体" panose="02010600030101010101" pitchFamily="2" charset="-122"/>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6770" name="Rectangle 2"/>
          <p:cNvSpPr>
            <a:spLocks noGrp="1" noRot="1" noChangeAspect="1" noChangeArrowheads="1" noTextEdit="1"/>
          </p:cNvSpPr>
          <p:nvPr>
            <p:ph type="sldImg"/>
          </p:nvPr>
        </p:nvSpPr>
        <p:spPr/>
      </p:sp>
      <p:sp>
        <p:nvSpPr>
          <p:cNvPr id="416771" name="Rectangle 3"/>
          <p:cNvSpPr>
            <a:spLocks noGrp="1" noChangeArrowheads="1"/>
          </p:cNvSpPr>
          <p:nvPr>
            <p:ph type="body" idx="1"/>
          </p:nvPr>
        </p:nvSpPr>
        <p:spPr>
          <a:xfrm>
            <a:off x="79375" y="4343400"/>
            <a:ext cx="6653213" cy="274638"/>
          </a:xfrm>
          <a:noFill/>
        </p:spPr>
        <p:txBody>
          <a:bodyPr/>
          <a:lstStyle/>
          <a:p>
            <a:endParaRPr lang="zh-CN" altLang="en-US">
              <a:cs typeface="宋体" panose="02010600030101010101" pitchFamily="2" charset="-122"/>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1410" name="Rectangle 2"/>
          <p:cNvSpPr>
            <a:spLocks noGrp="1" noRot="1" noChangeAspect="1" noChangeArrowheads="1" noTextEdit="1"/>
          </p:cNvSpPr>
          <p:nvPr>
            <p:ph type="sldImg"/>
          </p:nvPr>
        </p:nvSpPr>
        <p:spPr/>
      </p:sp>
      <p:sp>
        <p:nvSpPr>
          <p:cNvPr id="401411" name="Rectangle 3"/>
          <p:cNvSpPr>
            <a:spLocks noGrp="1" noChangeArrowheads="1"/>
          </p:cNvSpPr>
          <p:nvPr>
            <p:ph type="body" idx="1"/>
          </p:nvPr>
        </p:nvSpPr>
        <p:spPr>
          <a:xfrm>
            <a:off x="79375" y="4343400"/>
            <a:ext cx="6653213" cy="274638"/>
          </a:xfrm>
          <a:noFill/>
        </p:spPr>
        <p:txBody>
          <a:bodyPr/>
          <a:lstStyle/>
          <a:p>
            <a:endParaRPr lang="en-US" altLang="zh-CN">
              <a:cs typeface="宋体" panose="02010600030101010101" pitchFamily="2" charset="-122"/>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4194" name="Rectangle 2"/>
          <p:cNvSpPr>
            <a:spLocks noGrp="1" noRot="1" noChangeAspect="1" noChangeArrowheads="1" noTextEdit="1"/>
          </p:cNvSpPr>
          <p:nvPr>
            <p:ph type="sldImg"/>
          </p:nvPr>
        </p:nvSpPr>
        <p:spPr/>
      </p:sp>
      <p:sp>
        <p:nvSpPr>
          <p:cNvPr id="264195" name="Rectangle 3"/>
          <p:cNvSpPr>
            <a:spLocks noGrp="1" noChangeArrowheads="1"/>
          </p:cNvSpPr>
          <p:nvPr>
            <p:ph type="body" idx="1"/>
          </p:nvPr>
        </p:nvSpPr>
        <p:spPr>
          <a:xfrm>
            <a:off x="79375" y="4343400"/>
            <a:ext cx="6653213" cy="274638"/>
          </a:xfrm>
          <a:noFill/>
        </p:spPr>
        <p:txBody>
          <a:bodyPr/>
          <a:lstStyle/>
          <a:p>
            <a:endParaRPr lang="zh-CN" altLang="en-US">
              <a:cs typeface="宋体" panose="02010600030101010101" pitchFamily="2" charset="-122"/>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0578" name="Rectangle 2"/>
          <p:cNvSpPr>
            <a:spLocks noGrp="1" noRot="1" noChangeAspect="1" noChangeArrowheads="1" noTextEdit="1"/>
          </p:cNvSpPr>
          <p:nvPr>
            <p:ph type="sldImg"/>
          </p:nvPr>
        </p:nvSpPr>
        <p:spPr/>
      </p:sp>
      <p:sp>
        <p:nvSpPr>
          <p:cNvPr id="280579" name="Rectangle 3"/>
          <p:cNvSpPr>
            <a:spLocks noGrp="1" noChangeArrowheads="1"/>
          </p:cNvSpPr>
          <p:nvPr>
            <p:ph type="body" idx="1"/>
          </p:nvPr>
        </p:nvSpPr>
        <p:spPr>
          <a:xfrm>
            <a:off x="79375" y="4343400"/>
            <a:ext cx="6653213" cy="274638"/>
          </a:xfrm>
          <a:noFill/>
        </p:spPr>
        <p:txBody>
          <a:bodyPr/>
          <a:lstStyle/>
          <a:p>
            <a:endParaRPr lang="zh-CN" altLang="en-US">
              <a:cs typeface="宋体" panose="02010600030101010101" pitchFamily="2" charset="-122"/>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4674" name="Rectangle 2"/>
          <p:cNvSpPr>
            <a:spLocks noGrp="1" noRot="1" noChangeAspect="1" noChangeArrowheads="1" noTextEdit="1"/>
          </p:cNvSpPr>
          <p:nvPr>
            <p:ph type="sldImg"/>
          </p:nvPr>
        </p:nvSpPr>
        <p:spPr/>
      </p:sp>
      <p:sp>
        <p:nvSpPr>
          <p:cNvPr id="284675" name="Rectangle 3"/>
          <p:cNvSpPr>
            <a:spLocks noGrp="1" noChangeArrowheads="1"/>
          </p:cNvSpPr>
          <p:nvPr>
            <p:ph type="body" idx="1"/>
          </p:nvPr>
        </p:nvSpPr>
        <p:spPr>
          <a:xfrm>
            <a:off x="79375" y="4343400"/>
            <a:ext cx="6653213" cy="274638"/>
          </a:xfrm>
          <a:noFill/>
        </p:spPr>
        <p:txBody>
          <a:bodyPr/>
          <a:lstStyle/>
          <a:p>
            <a:endParaRPr lang="zh-CN" altLang="en-US">
              <a:cs typeface="宋体" panose="02010600030101010101" pitchFamily="2" charset="-122"/>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0274" name="Rectangle 2"/>
          <p:cNvSpPr>
            <a:spLocks noGrp="1" noRot="1" noChangeAspect="1" noChangeArrowheads="1" noTextEdit="1"/>
          </p:cNvSpPr>
          <p:nvPr>
            <p:ph type="sldImg"/>
          </p:nvPr>
        </p:nvSpPr>
        <p:spPr/>
      </p:sp>
      <p:sp>
        <p:nvSpPr>
          <p:cNvPr id="310275" name="Rectangle 3"/>
          <p:cNvSpPr>
            <a:spLocks noGrp="1" noChangeArrowheads="1"/>
          </p:cNvSpPr>
          <p:nvPr>
            <p:ph type="body" idx="1"/>
          </p:nvPr>
        </p:nvSpPr>
        <p:spPr>
          <a:xfrm>
            <a:off x="79375" y="4343400"/>
            <a:ext cx="6653213" cy="274638"/>
          </a:xfrm>
          <a:noFill/>
        </p:spPr>
        <p:txBody>
          <a:bodyPr/>
          <a:lstStyle/>
          <a:p>
            <a:endParaRPr lang="zh-CN" altLang="en-US">
              <a:cs typeface="宋体" panose="02010600030101010101" pitchFamily="2" charset="-122"/>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2322" name="Rectangle 2"/>
          <p:cNvSpPr>
            <a:spLocks noGrp="1" noRot="1" noChangeAspect="1" noChangeArrowheads="1" noTextEdit="1"/>
          </p:cNvSpPr>
          <p:nvPr>
            <p:ph type="sldImg"/>
          </p:nvPr>
        </p:nvSpPr>
        <p:spPr/>
      </p:sp>
      <p:sp>
        <p:nvSpPr>
          <p:cNvPr id="312323" name="Rectangle 3"/>
          <p:cNvSpPr>
            <a:spLocks noGrp="1" noChangeArrowheads="1"/>
          </p:cNvSpPr>
          <p:nvPr>
            <p:ph type="body" idx="1"/>
          </p:nvPr>
        </p:nvSpPr>
        <p:spPr>
          <a:xfrm>
            <a:off x="79375" y="4343400"/>
            <a:ext cx="6653213" cy="274638"/>
          </a:xfrm>
          <a:noFill/>
        </p:spPr>
        <p:txBody>
          <a:bodyPr/>
          <a:lstStyle/>
          <a:p>
            <a:endParaRPr lang="zh-CN" altLang="en-US">
              <a:cs typeface="宋体" panose="02010600030101010101" pitchFamily="2" charset="-122"/>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22" name="Rectangle 2"/>
          <p:cNvSpPr>
            <a:spLocks noGrp="1" noRot="1" noChangeAspect="1" noChangeArrowheads="1" noTextEdit="1"/>
          </p:cNvSpPr>
          <p:nvPr>
            <p:ph type="sldImg"/>
          </p:nvPr>
        </p:nvSpPr>
        <p:spPr/>
      </p:sp>
      <p:sp>
        <p:nvSpPr>
          <p:cNvPr id="286723" name="Rectangle 3"/>
          <p:cNvSpPr>
            <a:spLocks noGrp="1" noChangeArrowheads="1"/>
          </p:cNvSpPr>
          <p:nvPr>
            <p:ph type="body" idx="1"/>
          </p:nvPr>
        </p:nvSpPr>
        <p:spPr>
          <a:xfrm>
            <a:off x="79375" y="4343400"/>
            <a:ext cx="6653213" cy="274638"/>
          </a:xfrm>
          <a:noFill/>
        </p:spPr>
        <p:txBody>
          <a:bodyPr/>
          <a:lstStyle/>
          <a:p>
            <a:endParaRPr lang="en-US" altLang="zh-CN">
              <a:cs typeface="宋体" panose="02010600030101010101" pitchFamily="2" charset="-122"/>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4546" name="Rectangle 2"/>
          <p:cNvSpPr>
            <a:spLocks noGrp="1" noRot="1" noChangeAspect="1" noChangeArrowheads="1" noTextEdit="1"/>
          </p:cNvSpPr>
          <p:nvPr>
            <p:ph type="sldImg"/>
          </p:nvPr>
        </p:nvSpPr>
        <p:spPr/>
      </p:sp>
      <p:sp>
        <p:nvSpPr>
          <p:cNvPr id="364547" name="Rectangle 3"/>
          <p:cNvSpPr>
            <a:spLocks noGrp="1" noChangeArrowheads="1"/>
          </p:cNvSpPr>
          <p:nvPr>
            <p:ph type="body" idx="1"/>
          </p:nvPr>
        </p:nvSpPr>
        <p:spPr>
          <a:xfrm>
            <a:off x="79375" y="4343400"/>
            <a:ext cx="6653213" cy="274638"/>
          </a:xfrm>
          <a:noFill/>
        </p:spPr>
        <p:txBody>
          <a:bodyPr/>
          <a:lstStyle/>
          <a:p>
            <a:endParaRPr lang="zh-CN" altLang="en-US" b="1">
              <a:cs typeface="宋体" panose="02010600030101010101" pitchFamily="2" charset="-122"/>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p:cNvSpPr>
            <a:spLocks noGrp="1" noChangeArrowheads="1"/>
          </p:cNvSpPr>
          <p:nvPr>
            <p:ph type="sldNum" sz="quarter" idx="5"/>
          </p:nvPr>
        </p:nvSpPr>
        <p:spPr/>
        <p:txBody>
          <a:bodyPr/>
          <a:lstStyle/>
          <a:p>
            <a:fld id="{92B3B0E4-4026-C04E-8D71-BA0B76D31FB0}" type="slidenum">
              <a:rPr lang="en-US" altLang="zh-CN"/>
              <a:t>26</a:t>
            </a:fld>
            <a:endParaRPr lang="en-US" altLang="zh-CN"/>
          </a:p>
        </p:txBody>
      </p:sp>
      <p:sp>
        <p:nvSpPr>
          <p:cNvPr id="481282" name="Rectangle 2"/>
          <p:cNvSpPr>
            <a:spLocks noGrp="1" noRot="1" noChangeAspect="1" noChangeArrowheads="1" noTextEdit="1"/>
          </p:cNvSpPr>
          <p:nvPr>
            <p:ph type="sldImg"/>
          </p:nvPr>
        </p:nvSpPr>
        <p:spPr bwMode="auto">
          <a:xfrm>
            <a:off x="581025" y="795338"/>
            <a:ext cx="5695950" cy="3205162"/>
          </a:xfrm>
          <a:prstGeom prst="rect">
            <a:avLst/>
          </a:prstGeom>
          <a:noFill/>
          <a:ln w="12700" cap="flat">
            <a:solidFill>
              <a:schemeClr val="tx1"/>
            </a:solidFill>
            <a:miter lim="800000"/>
          </a:ln>
        </p:spPr>
      </p:sp>
      <p:sp>
        <p:nvSpPr>
          <p:cNvPr id="481283" name="Rectangle 3"/>
          <p:cNvSpPr>
            <a:spLocks noGrp="1" noChangeArrowheads="1"/>
          </p:cNvSpPr>
          <p:nvPr>
            <p:ph type="body" idx="1"/>
          </p:nvPr>
        </p:nvSpPr>
        <p:spPr bwMode="auto">
          <a:xfrm>
            <a:off x="914400" y="4345516"/>
            <a:ext cx="5029200" cy="3849480"/>
          </a:xfrm>
          <a:prstGeom prst="rect">
            <a:avLst/>
          </a:prstGeom>
          <a:noFill/>
        </p:spPr>
        <p:txBody>
          <a:bodyPr lIns="92075" tIns="46038" rIns="92075" bIns="46038"/>
          <a:lstStyle/>
          <a:p>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Rot="1" noChangeAspect="1" noChangeArrowheads="1" noTextEdit="1"/>
          </p:cNvSpPr>
          <p:nvPr>
            <p:ph type="sldImg"/>
          </p:nvPr>
        </p:nvSpPr>
        <p:spPr/>
      </p:sp>
      <p:sp>
        <p:nvSpPr>
          <p:cNvPr id="38915" name="Rectangle 3"/>
          <p:cNvSpPr>
            <a:spLocks noGrp="1" noChangeArrowheads="1"/>
          </p:cNvSpPr>
          <p:nvPr>
            <p:ph type="body" idx="1"/>
          </p:nvPr>
        </p:nvSpPr>
        <p:spPr>
          <a:xfrm>
            <a:off x="79375" y="4343400"/>
            <a:ext cx="6653213" cy="274638"/>
          </a:xfrm>
          <a:noFill/>
        </p:spPr>
        <p:txBody>
          <a:bodyPr>
            <a:normAutofit fontScale="47500" lnSpcReduction="20000"/>
          </a:bodyPr>
          <a:lstStyle/>
          <a:p>
            <a:r>
              <a:rPr lang="zh-CN" altLang="en-US">
                <a:cs typeface="宋体" panose="02010600030101010101" pitchFamily="2" charset="-122"/>
              </a:rPr>
              <a:t>存储过程示例与</a:t>
            </a:r>
            <a:r>
              <a:rPr lang="en-US" altLang="zh-CN">
                <a:cs typeface="宋体" panose="02010600030101010101" pitchFamily="2" charset="-122"/>
              </a:rPr>
              <a:t>oracle</a:t>
            </a:r>
            <a:r>
              <a:rPr lang="zh-CN" altLang="en-US">
                <a:cs typeface="宋体" panose="02010600030101010101" pitchFamily="2" charset="-122"/>
              </a:rPr>
              <a:t>存储过程示例</a:t>
            </a:r>
          </a:p>
          <a:p>
            <a:r>
              <a:rPr lang="zh-CN" altLang="en-US">
                <a:cs typeface="宋体" panose="02010600030101010101" pitchFamily="2" charset="-122"/>
              </a:rPr>
              <a:t>存储过程函数与</a:t>
            </a:r>
            <a:r>
              <a:rPr lang="en-US" altLang="zh-CN">
                <a:cs typeface="宋体" panose="02010600030101010101" pitchFamily="2" charset="-122"/>
              </a:rPr>
              <a:t>oracle</a:t>
            </a:r>
            <a:r>
              <a:rPr lang="zh-CN" altLang="en-US">
                <a:cs typeface="宋体" panose="02010600030101010101" pitchFamily="2" charset="-122"/>
              </a:rPr>
              <a:t>函数示例</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Rot="1" noChangeAspect="1" noChangeArrowheads="1" noTextEdit="1"/>
          </p:cNvSpPr>
          <p:nvPr>
            <p:ph type="sldImg"/>
          </p:nvPr>
        </p:nvSpPr>
        <p:spPr/>
      </p:sp>
      <p:sp>
        <p:nvSpPr>
          <p:cNvPr id="38915" name="Rectangle 3"/>
          <p:cNvSpPr>
            <a:spLocks noGrp="1" noChangeArrowheads="1"/>
          </p:cNvSpPr>
          <p:nvPr>
            <p:ph type="body" idx="1"/>
          </p:nvPr>
        </p:nvSpPr>
        <p:spPr>
          <a:xfrm>
            <a:off x="79375" y="4343400"/>
            <a:ext cx="6653213" cy="274638"/>
          </a:xfrm>
          <a:noFill/>
        </p:spPr>
        <p:txBody>
          <a:bodyPr>
            <a:normAutofit fontScale="47500" lnSpcReduction="20000"/>
          </a:bodyPr>
          <a:lstStyle/>
          <a:p>
            <a:r>
              <a:rPr lang="zh-CN" altLang="en-US">
                <a:cs typeface="宋体" panose="02010600030101010101" pitchFamily="2" charset="-122"/>
              </a:rPr>
              <a:t>存储过程示例与</a:t>
            </a:r>
            <a:r>
              <a:rPr lang="en-US" altLang="zh-CN">
                <a:cs typeface="宋体" panose="02010600030101010101" pitchFamily="2" charset="-122"/>
              </a:rPr>
              <a:t>oracle</a:t>
            </a:r>
            <a:r>
              <a:rPr lang="zh-CN" altLang="en-US">
                <a:cs typeface="宋体" panose="02010600030101010101" pitchFamily="2" charset="-122"/>
              </a:rPr>
              <a:t>存储过程示例</a:t>
            </a:r>
          </a:p>
          <a:p>
            <a:r>
              <a:rPr lang="zh-CN" altLang="en-US">
                <a:cs typeface="宋体" panose="02010600030101010101" pitchFamily="2" charset="-122"/>
              </a:rPr>
              <a:t>存储过程函数与</a:t>
            </a:r>
            <a:r>
              <a:rPr lang="en-US" altLang="zh-CN">
                <a:cs typeface="宋体" panose="02010600030101010101" pitchFamily="2" charset="-122"/>
              </a:rPr>
              <a:t>oracle</a:t>
            </a:r>
            <a:r>
              <a:rPr lang="zh-CN" altLang="en-US">
                <a:cs typeface="宋体" panose="02010600030101010101" pitchFamily="2" charset="-122"/>
              </a:rPr>
              <a:t>函数示例</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Rot="1" noChangeAspect="1" noChangeArrowheads="1" noTextEdit="1"/>
          </p:cNvSpPr>
          <p:nvPr>
            <p:ph type="sldImg"/>
          </p:nvPr>
        </p:nvSpPr>
        <p:spPr/>
      </p:sp>
      <p:sp>
        <p:nvSpPr>
          <p:cNvPr id="38915" name="Rectangle 3"/>
          <p:cNvSpPr>
            <a:spLocks noGrp="1" noChangeArrowheads="1"/>
          </p:cNvSpPr>
          <p:nvPr>
            <p:ph type="body" idx="1"/>
          </p:nvPr>
        </p:nvSpPr>
        <p:spPr>
          <a:xfrm>
            <a:off x="79375" y="4343400"/>
            <a:ext cx="6653213" cy="274638"/>
          </a:xfrm>
          <a:noFill/>
        </p:spPr>
        <p:txBody>
          <a:bodyPr>
            <a:normAutofit fontScale="47500" lnSpcReduction="20000"/>
          </a:bodyPr>
          <a:lstStyle/>
          <a:p>
            <a:r>
              <a:rPr lang="zh-CN" altLang="en-US">
                <a:cs typeface="宋体" panose="02010600030101010101" pitchFamily="2" charset="-122"/>
              </a:rPr>
              <a:t>存储过程示例与</a:t>
            </a:r>
            <a:r>
              <a:rPr lang="en-US" altLang="zh-CN">
                <a:cs typeface="宋体" panose="02010600030101010101" pitchFamily="2" charset="-122"/>
              </a:rPr>
              <a:t>oracle</a:t>
            </a:r>
            <a:r>
              <a:rPr lang="zh-CN" altLang="en-US">
                <a:cs typeface="宋体" panose="02010600030101010101" pitchFamily="2" charset="-122"/>
              </a:rPr>
              <a:t>存储过程示例</a:t>
            </a:r>
          </a:p>
          <a:p>
            <a:r>
              <a:rPr lang="zh-CN" altLang="en-US">
                <a:cs typeface="宋体" panose="02010600030101010101" pitchFamily="2" charset="-122"/>
              </a:rPr>
              <a:t>存储过程函数与</a:t>
            </a:r>
            <a:r>
              <a:rPr lang="en-US" altLang="zh-CN">
                <a:cs typeface="宋体" panose="02010600030101010101" pitchFamily="2" charset="-122"/>
              </a:rPr>
              <a:t>oracle</a:t>
            </a:r>
            <a:r>
              <a:rPr lang="zh-CN" altLang="en-US">
                <a:cs typeface="宋体" panose="02010600030101010101" pitchFamily="2" charset="-122"/>
              </a:rPr>
              <a:t>函数示例</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p:cNvSpPr>
            <a:spLocks noGrp="1" noChangeArrowheads="1"/>
          </p:cNvSpPr>
          <p:nvPr>
            <p:ph type="sldNum" sz="quarter" idx="5"/>
          </p:nvPr>
        </p:nvSpPr>
        <p:spPr/>
        <p:txBody>
          <a:bodyPr/>
          <a:lstStyle/>
          <a:p>
            <a:fld id="{7E5034B4-9E27-7248-9E22-A1B2AFD80D2D}" type="slidenum">
              <a:rPr lang="en-US" altLang="zh-CN"/>
              <a:t>33</a:t>
            </a:fld>
            <a:endParaRPr lang="en-US" altLang="zh-CN"/>
          </a:p>
        </p:txBody>
      </p:sp>
      <p:sp>
        <p:nvSpPr>
          <p:cNvPr id="648194" name="Rectangle 2"/>
          <p:cNvSpPr>
            <a:spLocks noGrp="1" noRot="1" noChangeAspect="1" noChangeArrowheads="1" noTextEdit="1"/>
          </p:cNvSpPr>
          <p:nvPr>
            <p:ph type="sldImg"/>
          </p:nvPr>
        </p:nvSpPr>
        <p:spPr/>
      </p:sp>
      <p:sp>
        <p:nvSpPr>
          <p:cNvPr id="648195" name="Rectangle 3"/>
          <p:cNvSpPr>
            <a:spLocks noGrp="1" noChangeArrowheads="1"/>
          </p:cNvSpPr>
          <p:nvPr>
            <p:ph type="body" idx="1"/>
          </p:nvPr>
        </p:nvSpPr>
        <p:spPr/>
        <p:txBody>
          <a:bodyPr/>
          <a:lstStyle/>
          <a:p>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p:cNvSpPr>
            <a:spLocks noGrp="1" noChangeArrowheads="1"/>
          </p:cNvSpPr>
          <p:nvPr>
            <p:ph type="sldNum" sz="quarter" idx="5"/>
          </p:nvPr>
        </p:nvSpPr>
        <p:spPr/>
        <p:txBody>
          <a:bodyPr/>
          <a:lstStyle/>
          <a:p>
            <a:fld id="{7E5034B4-9E27-7248-9E22-A1B2AFD80D2D}" type="slidenum">
              <a:rPr lang="en-US" altLang="zh-CN"/>
              <a:t>34</a:t>
            </a:fld>
            <a:endParaRPr lang="en-US" altLang="zh-CN"/>
          </a:p>
        </p:txBody>
      </p:sp>
      <p:sp>
        <p:nvSpPr>
          <p:cNvPr id="648194" name="Rectangle 2"/>
          <p:cNvSpPr>
            <a:spLocks noGrp="1" noRot="1" noChangeAspect="1" noChangeArrowheads="1" noTextEdit="1"/>
          </p:cNvSpPr>
          <p:nvPr>
            <p:ph type="sldImg"/>
          </p:nvPr>
        </p:nvSpPr>
        <p:spPr/>
      </p:sp>
      <p:sp>
        <p:nvSpPr>
          <p:cNvPr id="648195" name="Rectangle 3"/>
          <p:cNvSpPr>
            <a:spLocks noGrp="1" noChangeArrowheads="1"/>
          </p:cNvSpPr>
          <p:nvPr>
            <p:ph type="body" idx="1"/>
          </p:nvPr>
        </p:nvSpPr>
        <p:spPr/>
        <p:txBody>
          <a:bodyPr/>
          <a:lstStyle/>
          <a:p>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6"/>
          <p:cNvSpPr>
            <a:spLocks noGrp="1" noChangeArrowheads="1"/>
          </p:cNvSpPr>
          <p:nvPr>
            <p:ph type="sldNum" sz="quarter"/>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1600">
                <a:solidFill>
                  <a:srgbClr val="000000"/>
                </a:solidFill>
                <a:round/>
              </a14:hiddenLine>
            </a:ext>
          </a:extLst>
        </p:spPr>
        <p:txBody>
          <a:bodyPr/>
          <a:lstStyle>
            <a:lvl1pPr eaLnBrk="0" hangingPunct="0">
              <a:tabLst>
                <a:tab pos="712470" algn="l"/>
                <a:tab pos="1424940" algn="l"/>
                <a:tab pos="2137410" algn="l"/>
              </a:tabLst>
              <a:defRPr sz="2000" b="1">
                <a:solidFill>
                  <a:srgbClr val="3333FF"/>
                </a:solidFill>
                <a:latin typeface="Arial" panose="020B0604020202020204" pitchFamily="34" charset="0"/>
                <a:ea typeface="宋体" panose="02010600030101010101" pitchFamily="2" charset="-122"/>
                <a:cs typeface="宋体" panose="02010600030101010101" pitchFamily="2" charset="-122"/>
              </a:defRPr>
            </a:lvl1pPr>
            <a:lvl2pPr eaLnBrk="0" hangingPunct="0">
              <a:tabLst>
                <a:tab pos="712470" algn="l"/>
                <a:tab pos="1424940" algn="l"/>
                <a:tab pos="2137410" algn="l"/>
              </a:tabLst>
              <a:defRPr sz="2000" b="1">
                <a:solidFill>
                  <a:srgbClr val="3333FF"/>
                </a:solidFill>
                <a:latin typeface="Arial" panose="020B0604020202020204" pitchFamily="34" charset="0"/>
                <a:ea typeface="宋体" panose="02010600030101010101" pitchFamily="2" charset="-122"/>
              </a:defRPr>
            </a:lvl2pPr>
            <a:lvl3pPr eaLnBrk="0" hangingPunct="0">
              <a:tabLst>
                <a:tab pos="712470" algn="l"/>
                <a:tab pos="1424940" algn="l"/>
                <a:tab pos="2137410" algn="l"/>
              </a:tabLst>
              <a:defRPr sz="2000" b="1">
                <a:solidFill>
                  <a:srgbClr val="3333FF"/>
                </a:solidFill>
                <a:latin typeface="Arial" panose="020B0604020202020204" pitchFamily="34" charset="0"/>
                <a:ea typeface="宋体" panose="02010600030101010101" pitchFamily="2" charset="-122"/>
              </a:defRPr>
            </a:lvl3pPr>
            <a:lvl4pPr eaLnBrk="0" hangingPunct="0">
              <a:tabLst>
                <a:tab pos="712470" algn="l"/>
                <a:tab pos="1424940" algn="l"/>
                <a:tab pos="2137410" algn="l"/>
              </a:tabLst>
              <a:defRPr sz="2000" b="1">
                <a:solidFill>
                  <a:srgbClr val="3333FF"/>
                </a:solidFill>
                <a:latin typeface="Arial" panose="020B0604020202020204" pitchFamily="34" charset="0"/>
                <a:ea typeface="宋体" panose="02010600030101010101" pitchFamily="2" charset="-122"/>
              </a:defRPr>
            </a:lvl4pPr>
            <a:lvl5pPr eaLnBrk="0" hangingPunct="0">
              <a:tabLst>
                <a:tab pos="712470" algn="l"/>
                <a:tab pos="1424940" algn="l"/>
                <a:tab pos="2137410" algn="l"/>
              </a:tabLst>
              <a:defRPr sz="2000" b="1">
                <a:solidFill>
                  <a:srgbClr val="3333FF"/>
                </a:solidFill>
                <a:latin typeface="Arial" panose="020B0604020202020204" pitchFamily="34" charset="0"/>
                <a:ea typeface="宋体" panose="02010600030101010101" pitchFamily="2" charset="-122"/>
              </a:defRPr>
            </a:lvl5pPr>
            <a:lvl6pPr marL="2475865" indent="-224790" defTabSz="441960" eaLnBrk="0" fontAlgn="base" hangingPunct="0">
              <a:spcBef>
                <a:spcPct val="0"/>
              </a:spcBef>
              <a:spcAft>
                <a:spcPct val="0"/>
              </a:spcAft>
              <a:buClr>
                <a:srgbClr val="000000"/>
              </a:buClr>
              <a:buSzPct val="100000"/>
              <a:tabLst>
                <a:tab pos="712470" algn="l"/>
                <a:tab pos="1424940" algn="l"/>
                <a:tab pos="2137410" algn="l"/>
              </a:tabLst>
              <a:defRPr sz="2000" b="1">
                <a:solidFill>
                  <a:srgbClr val="3333FF"/>
                </a:solidFill>
                <a:latin typeface="Arial" panose="020B0604020202020204" pitchFamily="34" charset="0"/>
                <a:ea typeface="宋体" panose="02010600030101010101" pitchFamily="2" charset="-122"/>
              </a:defRPr>
            </a:lvl6pPr>
            <a:lvl7pPr marL="2925445" indent="-224790" defTabSz="441960" eaLnBrk="0" fontAlgn="base" hangingPunct="0">
              <a:spcBef>
                <a:spcPct val="0"/>
              </a:spcBef>
              <a:spcAft>
                <a:spcPct val="0"/>
              </a:spcAft>
              <a:buClr>
                <a:srgbClr val="000000"/>
              </a:buClr>
              <a:buSzPct val="100000"/>
              <a:tabLst>
                <a:tab pos="712470" algn="l"/>
                <a:tab pos="1424940" algn="l"/>
                <a:tab pos="2137410" algn="l"/>
              </a:tabLst>
              <a:defRPr sz="2000" b="1">
                <a:solidFill>
                  <a:srgbClr val="3333FF"/>
                </a:solidFill>
                <a:latin typeface="Arial" panose="020B0604020202020204" pitchFamily="34" charset="0"/>
                <a:ea typeface="宋体" panose="02010600030101010101" pitchFamily="2" charset="-122"/>
              </a:defRPr>
            </a:lvl7pPr>
            <a:lvl8pPr marL="3375660" indent="-224790" defTabSz="441960" eaLnBrk="0" fontAlgn="base" hangingPunct="0">
              <a:spcBef>
                <a:spcPct val="0"/>
              </a:spcBef>
              <a:spcAft>
                <a:spcPct val="0"/>
              </a:spcAft>
              <a:buClr>
                <a:srgbClr val="000000"/>
              </a:buClr>
              <a:buSzPct val="100000"/>
              <a:tabLst>
                <a:tab pos="712470" algn="l"/>
                <a:tab pos="1424940" algn="l"/>
                <a:tab pos="2137410" algn="l"/>
              </a:tabLst>
              <a:defRPr sz="2000" b="1">
                <a:solidFill>
                  <a:srgbClr val="3333FF"/>
                </a:solidFill>
                <a:latin typeface="Arial" panose="020B0604020202020204" pitchFamily="34" charset="0"/>
                <a:ea typeface="宋体" panose="02010600030101010101" pitchFamily="2" charset="-122"/>
              </a:defRPr>
            </a:lvl8pPr>
            <a:lvl9pPr marL="3825875" indent="-224790" defTabSz="441960" eaLnBrk="0" fontAlgn="base" hangingPunct="0">
              <a:spcBef>
                <a:spcPct val="0"/>
              </a:spcBef>
              <a:spcAft>
                <a:spcPct val="0"/>
              </a:spcAft>
              <a:buClr>
                <a:srgbClr val="000000"/>
              </a:buClr>
              <a:buSzPct val="100000"/>
              <a:tabLst>
                <a:tab pos="712470" algn="l"/>
                <a:tab pos="1424940" algn="l"/>
                <a:tab pos="2137410" algn="l"/>
              </a:tabLst>
              <a:defRPr sz="2000" b="1">
                <a:solidFill>
                  <a:srgbClr val="3333FF"/>
                </a:solidFill>
                <a:latin typeface="Arial" panose="020B0604020202020204" pitchFamily="34" charset="0"/>
                <a:ea typeface="宋体" panose="02010600030101010101" pitchFamily="2" charset="-122"/>
              </a:defRPr>
            </a:lvl9pPr>
          </a:lstStyle>
          <a:p>
            <a:pPr eaLnBrk="1" hangingPunct="1"/>
            <a:fld id="{BA9F8034-D1C6-6840-B1BA-853A4CF342BD}" type="slidenum">
              <a:rPr lang="en-US" altLang="zh-CN" sz="2400" b="0">
                <a:solidFill>
                  <a:srgbClr val="000000"/>
                </a:solidFill>
              </a:rPr>
              <a:t>35</a:t>
            </a:fld>
            <a:endParaRPr lang="en-US" altLang="zh-CN" sz="2400" b="0">
              <a:solidFill>
                <a:srgbClr val="000000"/>
              </a:solidFill>
            </a:endParaRPr>
          </a:p>
        </p:txBody>
      </p:sp>
      <p:sp>
        <p:nvSpPr>
          <p:cNvPr id="48131" name="Rectangle 2"/>
          <p:cNvSpPr>
            <a:spLocks noGrp="1" noRot="1" noChangeAspect="1" noChangeArrowheads="1" noTextEdit="1"/>
          </p:cNvSpPr>
          <p:nvPr>
            <p:ph type="sldImg"/>
          </p:nvPr>
        </p:nvSpPr>
        <p:spPr>
          <a:xfrm>
            <a:off x="381000" y="685800"/>
            <a:ext cx="6094413" cy="3429000"/>
          </a:xfrm>
        </p:spPr>
      </p:sp>
      <p:sp>
        <p:nvSpPr>
          <p:cNvPr id="48132" name="Rectangle 3"/>
          <p:cNvSpPr>
            <a:spLocks noGrp="1" noChangeArrowheads="1"/>
          </p:cNvSpPr>
          <p:nvPr>
            <p:ph type="body" idx="1"/>
          </p:nvPr>
        </p:nvSpPr>
        <p:spPr>
          <a:xfrm>
            <a:off x="685956" y="4344144"/>
            <a:ext cx="5486088" cy="4113939"/>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ormAutofit fontScale="85000" lnSpcReduction="20000"/>
          </a:bodyPr>
          <a:lstStyle/>
          <a:p>
            <a:r>
              <a:rPr lang="en-US" altLang="zh-CN" sz="1600" dirty="0">
                <a:latin typeface="Times New Roman" panose="02020603050405020304" charset="0"/>
              </a:rPr>
              <a:t>Multiple hot backups</a:t>
            </a:r>
          </a:p>
          <a:p>
            <a:pPr lvl="1">
              <a:spcBef>
                <a:spcPct val="10000"/>
              </a:spcBef>
            </a:pPr>
            <a:r>
              <a:rPr lang="en-US" altLang="zh-CN" sz="1400" dirty="0">
                <a:latin typeface="Times New Roman" panose="02020603050405020304" charset="0"/>
                <a:cs typeface="宋体" panose="02010600030101010101" pitchFamily="2" charset="-122"/>
              </a:rPr>
              <a:t>Additional secondary servers</a:t>
            </a:r>
          </a:p>
          <a:p>
            <a:pPr lvl="1">
              <a:spcBef>
                <a:spcPct val="10000"/>
              </a:spcBef>
            </a:pPr>
            <a:r>
              <a:rPr lang="en-US" altLang="zh-CN" sz="1400" dirty="0">
                <a:latin typeface="Times New Roman" panose="02020603050405020304" charset="0"/>
                <a:cs typeface="宋体" panose="02010600030101010101" pitchFamily="2" charset="-122"/>
              </a:rPr>
              <a:t>Located Globally</a:t>
            </a:r>
          </a:p>
          <a:p>
            <a:pPr lvl="1">
              <a:spcBef>
                <a:spcPct val="10000"/>
              </a:spcBef>
            </a:pPr>
            <a:r>
              <a:rPr lang="en-US" altLang="zh-CN" sz="1400" dirty="0">
                <a:latin typeface="Times New Roman" panose="02020603050405020304" charset="0"/>
                <a:cs typeface="宋体" panose="02010600030101010101" pitchFamily="2" charset="-122"/>
              </a:rPr>
              <a:t>Extends </a:t>
            </a:r>
            <a:r>
              <a:rPr lang="en-US" altLang="zh-CN" sz="1400" dirty="0" err="1">
                <a:latin typeface="Times New Roman" panose="02020603050405020304" charset="0"/>
                <a:cs typeface="宋体" panose="02010600030101010101" pitchFamily="2" charset="-122"/>
              </a:rPr>
              <a:t>HDR</a:t>
            </a:r>
            <a:r>
              <a:rPr lang="en-US" altLang="zh-CN" sz="1400" dirty="0">
                <a:latin typeface="Times New Roman" panose="02020603050405020304" charset="0"/>
                <a:cs typeface="宋体" panose="02010600030101010101" pitchFamily="2" charset="-122"/>
              </a:rPr>
              <a:t> capabilities</a:t>
            </a:r>
          </a:p>
          <a:p>
            <a:r>
              <a:rPr lang="en-US" altLang="zh-CN" sz="1600" dirty="0">
                <a:latin typeface="Times New Roman" panose="02020603050405020304" charset="0"/>
              </a:rPr>
              <a:t>Optimize Capacity</a:t>
            </a:r>
          </a:p>
          <a:p>
            <a:pPr lvl="1">
              <a:spcBef>
                <a:spcPct val="15000"/>
              </a:spcBef>
            </a:pPr>
            <a:r>
              <a:rPr lang="en-US" altLang="zh-CN" sz="1400" dirty="0">
                <a:latin typeface="Times New Roman" panose="02020603050405020304" charset="0"/>
                <a:cs typeface="宋体" panose="02010600030101010101" pitchFamily="2" charset="-122"/>
              </a:rPr>
              <a:t>Flexible workload distribution</a:t>
            </a:r>
          </a:p>
          <a:p>
            <a:pPr lvl="1">
              <a:spcBef>
                <a:spcPct val="15000"/>
              </a:spcBef>
            </a:pPr>
            <a:r>
              <a:rPr lang="en-US" altLang="zh-CN" sz="1400" dirty="0">
                <a:latin typeface="Times New Roman" panose="02020603050405020304" charset="0"/>
                <a:cs typeface="宋体" panose="02010600030101010101" pitchFamily="2" charset="-122"/>
              </a:rPr>
              <a:t>Local read for performance</a:t>
            </a:r>
          </a:p>
          <a:p>
            <a:pPr lvl="1">
              <a:spcBef>
                <a:spcPct val="15000"/>
              </a:spcBef>
            </a:pPr>
            <a:r>
              <a:rPr lang="en-US" altLang="zh-CN" sz="1400" dirty="0">
                <a:latin typeface="Times New Roman" panose="02020603050405020304" charset="0"/>
                <a:cs typeface="宋体" panose="02010600030101010101" pitchFamily="2" charset="-122"/>
              </a:rPr>
              <a:t>Distribute to increase capacity</a:t>
            </a:r>
          </a:p>
          <a:p>
            <a:endParaRPr lang="en-US" altLang="zh-CN" b="1" dirty="0">
              <a:latin typeface="Times New Roman" panose="02020603050405020304" charset="0"/>
              <a:cs typeface="宋体" panose="02010600030101010101" pitchFamily="2" charset="-122"/>
            </a:endParaRPr>
          </a:p>
          <a:p>
            <a:endParaRPr lang="en-US" altLang="zh-CN" b="1" dirty="0">
              <a:latin typeface="Times New Roman" panose="02020603050405020304" charset="0"/>
              <a:cs typeface="宋体" panose="02010600030101010101" pitchFamily="2" charset="-122"/>
            </a:endParaRPr>
          </a:p>
          <a:p>
            <a:r>
              <a:rPr lang="en-US" altLang="zh-CN" b="1" dirty="0">
                <a:latin typeface="Times New Roman" panose="02020603050405020304" charset="0"/>
                <a:cs typeface="宋体" panose="02010600030101010101" pitchFamily="2" charset="-122"/>
              </a:rPr>
              <a:t>Remote Secondary Server (RSS) nodes</a:t>
            </a:r>
            <a:r>
              <a:rPr lang="en-US" altLang="zh-CN" dirty="0">
                <a:latin typeface="Times New Roman" panose="02020603050405020304" charset="0"/>
                <a:cs typeface="宋体" panose="02010600030101010101" pitchFamily="2" charset="-122"/>
              </a:rPr>
              <a:t> </a:t>
            </a:r>
          </a:p>
          <a:p>
            <a:pPr lvl="1"/>
            <a:r>
              <a:rPr lang="en-US" altLang="zh-CN" dirty="0">
                <a:latin typeface="Times New Roman" panose="02020603050405020304" charset="0"/>
                <a:cs typeface="宋体" panose="02010600030101010101" pitchFamily="2" charset="-122"/>
              </a:rPr>
              <a:t>Similar to </a:t>
            </a:r>
            <a:r>
              <a:rPr lang="en-US" altLang="zh-CN" dirty="0" err="1">
                <a:latin typeface="Times New Roman" panose="02020603050405020304" charset="0"/>
                <a:cs typeface="宋体" panose="02010600030101010101" pitchFamily="2" charset="-122"/>
              </a:rPr>
              <a:t>HDR</a:t>
            </a:r>
            <a:r>
              <a:rPr lang="en-US" altLang="zh-CN" dirty="0">
                <a:latin typeface="Times New Roman" panose="02020603050405020304" charset="0"/>
                <a:cs typeface="宋体" panose="02010600030101010101" pitchFamily="2" charset="-122"/>
              </a:rPr>
              <a:t> Secondary</a:t>
            </a:r>
          </a:p>
          <a:p>
            <a:pPr lvl="1"/>
            <a:r>
              <a:rPr lang="en-US" altLang="zh-CN" dirty="0">
                <a:latin typeface="Times New Roman" panose="02020603050405020304" charset="0"/>
                <a:cs typeface="宋体" panose="02010600030101010101" pitchFamily="2" charset="-122"/>
              </a:rPr>
              <a:t>Dirty reads allowed</a:t>
            </a:r>
          </a:p>
          <a:p>
            <a:pPr lvl="1"/>
            <a:r>
              <a:rPr lang="en-US" altLang="zh-CN" dirty="0">
                <a:latin typeface="Times New Roman" panose="02020603050405020304" charset="0"/>
                <a:cs typeface="宋体" panose="02010600030101010101" pitchFamily="2" charset="-122"/>
              </a:rPr>
              <a:t>Primary sends logs to RSS nodes concurrently with logs to secondary</a:t>
            </a:r>
          </a:p>
          <a:p>
            <a:pPr lvl="1"/>
            <a:r>
              <a:rPr lang="en-US" altLang="zh-CN" dirty="0">
                <a:latin typeface="Times New Roman" panose="02020603050405020304" charset="0"/>
                <a:cs typeface="宋体" panose="02010600030101010101" pitchFamily="2" charset="-122"/>
              </a:rPr>
              <a:t>Minimal impact on primary</a:t>
            </a:r>
            <a:endParaRPr lang="en-US" altLang="zh-CN" b="1" dirty="0">
              <a:latin typeface="Times New Roman" panose="02020603050405020304" charset="0"/>
              <a:cs typeface="宋体" panose="02010600030101010101" pitchFamily="2" charset="-122"/>
            </a:endParaRPr>
          </a:p>
          <a:p>
            <a:r>
              <a:rPr lang="en-US" altLang="zh-CN" b="1" dirty="0">
                <a:latin typeface="Times New Roman" panose="02020603050405020304" charset="0"/>
                <a:cs typeface="宋体" panose="02010600030101010101" pitchFamily="2" charset="-122"/>
              </a:rPr>
              <a:t>Some differences with </a:t>
            </a:r>
            <a:r>
              <a:rPr lang="en-US" altLang="zh-CN" b="1" dirty="0" err="1">
                <a:latin typeface="Times New Roman" panose="02020603050405020304" charset="0"/>
                <a:cs typeface="宋体" panose="02010600030101010101" pitchFamily="2" charset="-122"/>
              </a:rPr>
              <a:t>HDR</a:t>
            </a:r>
            <a:r>
              <a:rPr lang="en-US" altLang="zh-CN" b="1" dirty="0">
                <a:latin typeface="Times New Roman" panose="02020603050405020304" charset="0"/>
                <a:cs typeface="宋体" panose="02010600030101010101" pitchFamily="2" charset="-122"/>
              </a:rPr>
              <a:t> Secondary</a:t>
            </a:r>
          </a:p>
          <a:p>
            <a:pPr lvl="1"/>
            <a:r>
              <a:rPr lang="en-US" altLang="zh-CN" dirty="0">
                <a:latin typeface="Times New Roman" panose="02020603050405020304" charset="0"/>
                <a:cs typeface="宋体" panose="02010600030101010101" pitchFamily="2" charset="-122"/>
              </a:rPr>
              <a:t>RSS nodes can be promoted to </a:t>
            </a:r>
            <a:r>
              <a:rPr lang="en-US" altLang="zh-CN" dirty="0" err="1">
                <a:latin typeface="Times New Roman" panose="02020603050405020304" charset="0"/>
                <a:cs typeface="宋体" panose="02010600030101010101" pitchFamily="2" charset="-122"/>
              </a:rPr>
              <a:t>HDR</a:t>
            </a:r>
            <a:r>
              <a:rPr lang="en-US" altLang="zh-CN" dirty="0">
                <a:latin typeface="Times New Roman" panose="02020603050405020304" charset="0"/>
                <a:cs typeface="宋体" panose="02010600030101010101" pitchFamily="2" charset="-122"/>
              </a:rPr>
              <a:t> secondary, not primary</a:t>
            </a:r>
          </a:p>
          <a:p>
            <a:pPr lvl="1"/>
            <a:r>
              <a:rPr lang="en-US" altLang="zh-CN" dirty="0">
                <a:latin typeface="Times New Roman" panose="02020603050405020304" charset="0"/>
                <a:cs typeface="宋体" panose="02010600030101010101" pitchFamily="2" charset="-122"/>
              </a:rPr>
              <a:t>RSS nodes can only be updated asynchronously</a:t>
            </a:r>
          </a:p>
          <a:p>
            <a:r>
              <a:rPr lang="en-US" altLang="zh-CN" b="1" dirty="0">
                <a:latin typeface="Times New Roman" panose="02020603050405020304" charset="0"/>
                <a:cs typeface="宋体" panose="02010600030101010101" pitchFamily="2" charset="-122"/>
              </a:rPr>
              <a:t>Business Value:</a:t>
            </a:r>
            <a:r>
              <a:rPr lang="en-US" altLang="zh-CN" dirty="0">
                <a:latin typeface="Times New Roman" panose="02020603050405020304" charset="0"/>
                <a:cs typeface="宋体" panose="02010600030101010101" pitchFamily="2" charset="-122"/>
              </a:rPr>
              <a:t>  </a:t>
            </a:r>
          </a:p>
          <a:p>
            <a:pPr lvl="1"/>
            <a:r>
              <a:rPr lang="en-US" altLang="zh-CN" dirty="0">
                <a:latin typeface="Times New Roman" panose="02020603050405020304" charset="0"/>
                <a:cs typeface="宋体" panose="02010600030101010101" pitchFamily="2" charset="-122"/>
              </a:rPr>
              <a:t>Easily grow your query and reporting capacity</a:t>
            </a:r>
          </a:p>
          <a:p>
            <a:pPr lvl="1"/>
            <a:r>
              <a:rPr lang="en-US" altLang="zh-CN" dirty="0">
                <a:latin typeface="Times New Roman" panose="02020603050405020304" charset="0"/>
                <a:cs typeface="宋体" panose="02010600030101010101" pitchFamily="2" charset="-122"/>
              </a:rPr>
              <a:t>Multiple replications for different purposes (hot backups, bunker sites, disaster recovery, etc.</a:t>
            </a:r>
          </a:p>
          <a:p>
            <a:pPr lvl="1"/>
            <a:r>
              <a:rPr lang="en-US" altLang="zh-CN" dirty="0">
                <a:latin typeface="Times New Roman" panose="02020603050405020304" charset="0"/>
                <a:cs typeface="宋体" panose="02010600030101010101" pitchFamily="2" charset="-122"/>
              </a:rPr>
              <a:t>More availability capacity and better performance (reduced network latency at remote sites)</a:t>
            </a:r>
          </a:p>
          <a:p>
            <a:endParaRPr lang="en-US" altLang="zh-CN" dirty="0">
              <a:latin typeface="Times New Roman" panose="02020603050405020304" charset="0"/>
              <a:cs typeface="宋体" panose="02010600030101010101" pitchFamily="2" charset="-122"/>
            </a:endParaRPr>
          </a:p>
          <a:p>
            <a:endParaRPr lang="en-US" altLang="zh-CN" dirty="0">
              <a:latin typeface="Times New Roman" panose="02020603050405020304" charset="0"/>
              <a:cs typeface="宋体" panose="02010600030101010101" pitchFamily="2" charset="-122"/>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6"/>
          <p:cNvSpPr>
            <a:spLocks noGrp="1" noChangeArrowheads="1"/>
          </p:cNvSpPr>
          <p:nvPr>
            <p:ph type="sldNum" sz="quarter"/>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1600">
                <a:solidFill>
                  <a:srgbClr val="000000"/>
                </a:solidFill>
                <a:round/>
              </a14:hiddenLine>
            </a:ext>
          </a:extLst>
        </p:spPr>
        <p:txBody>
          <a:bodyPr/>
          <a:lstStyle>
            <a:lvl1pPr eaLnBrk="0" hangingPunct="0">
              <a:tabLst>
                <a:tab pos="712470" algn="l"/>
                <a:tab pos="1424940" algn="l"/>
                <a:tab pos="2137410" algn="l"/>
              </a:tabLst>
              <a:defRPr sz="2000" b="1">
                <a:solidFill>
                  <a:srgbClr val="3333FF"/>
                </a:solidFill>
                <a:latin typeface="Arial" panose="020B0604020202020204" pitchFamily="34" charset="0"/>
                <a:ea typeface="宋体" panose="02010600030101010101" pitchFamily="2" charset="-122"/>
                <a:cs typeface="宋体" panose="02010600030101010101" pitchFamily="2" charset="-122"/>
              </a:defRPr>
            </a:lvl1pPr>
            <a:lvl2pPr eaLnBrk="0" hangingPunct="0">
              <a:tabLst>
                <a:tab pos="712470" algn="l"/>
                <a:tab pos="1424940" algn="l"/>
                <a:tab pos="2137410" algn="l"/>
              </a:tabLst>
              <a:defRPr sz="2000" b="1">
                <a:solidFill>
                  <a:srgbClr val="3333FF"/>
                </a:solidFill>
                <a:latin typeface="Arial" panose="020B0604020202020204" pitchFamily="34" charset="0"/>
                <a:ea typeface="宋体" panose="02010600030101010101" pitchFamily="2" charset="-122"/>
              </a:defRPr>
            </a:lvl2pPr>
            <a:lvl3pPr eaLnBrk="0" hangingPunct="0">
              <a:tabLst>
                <a:tab pos="712470" algn="l"/>
                <a:tab pos="1424940" algn="l"/>
                <a:tab pos="2137410" algn="l"/>
              </a:tabLst>
              <a:defRPr sz="2000" b="1">
                <a:solidFill>
                  <a:srgbClr val="3333FF"/>
                </a:solidFill>
                <a:latin typeface="Arial" panose="020B0604020202020204" pitchFamily="34" charset="0"/>
                <a:ea typeface="宋体" panose="02010600030101010101" pitchFamily="2" charset="-122"/>
              </a:defRPr>
            </a:lvl3pPr>
            <a:lvl4pPr eaLnBrk="0" hangingPunct="0">
              <a:tabLst>
                <a:tab pos="712470" algn="l"/>
                <a:tab pos="1424940" algn="l"/>
                <a:tab pos="2137410" algn="l"/>
              </a:tabLst>
              <a:defRPr sz="2000" b="1">
                <a:solidFill>
                  <a:srgbClr val="3333FF"/>
                </a:solidFill>
                <a:latin typeface="Arial" panose="020B0604020202020204" pitchFamily="34" charset="0"/>
                <a:ea typeface="宋体" panose="02010600030101010101" pitchFamily="2" charset="-122"/>
              </a:defRPr>
            </a:lvl4pPr>
            <a:lvl5pPr eaLnBrk="0" hangingPunct="0">
              <a:tabLst>
                <a:tab pos="712470" algn="l"/>
                <a:tab pos="1424940" algn="l"/>
                <a:tab pos="2137410" algn="l"/>
              </a:tabLst>
              <a:defRPr sz="2000" b="1">
                <a:solidFill>
                  <a:srgbClr val="3333FF"/>
                </a:solidFill>
                <a:latin typeface="Arial" panose="020B0604020202020204" pitchFamily="34" charset="0"/>
                <a:ea typeface="宋体" panose="02010600030101010101" pitchFamily="2" charset="-122"/>
              </a:defRPr>
            </a:lvl5pPr>
            <a:lvl6pPr marL="2475865" indent="-224790" defTabSz="441960" eaLnBrk="0" fontAlgn="base" hangingPunct="0">
              <a:spcBef>
                <a:spcPct val="0"/>
              </a:spcBef>
              <a:spcAft>
                <a:spcPct val="0"/>
              </a:spcAft>
              <a:buClr>
                <a:srgbClr val="000000"/>
              </a:buClr>
              <a:buSzPct val="100000"/>
              <a:tabLst>
                <a:tab pos="712470" algn="l"/>
                <a:tab pos="1424940" algn="l"/>
                <a:tab pos="2137410" algn="l"/>
              </a:tabLst>
              <a:defRPr sz="2000" b="1">
                <a:solidFill>
                  <a:srgbClr val="3333FF"/>
                </a:solidFill>
                <a:latin typeface="Arial" panose="020B0604020202020204" pitchFamily="34" charset="0"/>
                <a:ea typeface="宋体" panose="02010600030101010101" pitchFamily="2" charset="-122"/>
              </a:defRPr>
            </a:lvl6pPr>
            <a:lvl7pPr marL="2925445" indent="-224790" defTabSz="441960" eaLnBrk="0" fontAlgn="base" hangingPunct="0">
              <a:spcBef>
                <a:spcPct val="0"/>
              </a:spcBef>
              <a:spcAft>
                <a:spcPct val="0"/>
              </a:spcAft>
              <a:buClr>
                <a:srgbClr val="000000"/>
              </a:buClr>
              <a:buSzPct val="100000"/>
              <a:tabLst>
                <a:tab pos="712470" algn="l"/>
                <a:tab pos="1424940" algn="l"/>
                <a:tab pos="2137410" algn="l"/>
              </a:tabLst>
              <a:defRPr sz="2000" b="1">
                <a:solidFill>
                  <a:srgbClr val="3333FF"/>
                </a:solidFill>
                <a:latin typeface="Arial" panose="020B0604020202020204" pitchFamily="34" charset="0"/>
                <a:ea typeface="宋体" panose="02010600030101010101" pitchFamily="2" charset="-122"/>
              </a:defRPr>
            </a:lvl7pPr>
            <a:lvl8pPr marL="3375660" indent="-224790" defTabSz="441960" eaLnBrk="0" fontAlgn="base" hangingPunct="0">
              <a:spcBef>
                <a:spcPct val="0"/>
              </a:spcBef>
              <a:spcAft>
                <a:spcPct val="0"/>
              </a:spcAft>
              <a:buClr>
                <a:srgbClr val="000000"/>
              </a:buClr>
              <a:buSzPct val="100000"/>
              <a:tabLst>
                <a:tab pos="712470" algn="l"/>
                <a:tab pos="1424940" algn="l"/>
                <a:tab pos="2137410" algn="l"/>
              </a:tabLst>
              <a:defRPr sz="2000" b="1">
                <a:solidFill>
                  <a:srgbClr val="3333FF"/>
                </a:solidFill>
                <a:latin typeface="Arial" panose="020B0604020202020204" pitchFamily="34" charset="0"/>
                <a:ea typeface="宋体" panose="02010600030101010101" pitchFamily="2" charset="-122"/>
              </a:defRPr>
            </a:lvl8pPr>
            <a:lvl9pPr marL="3825875" indent="-224790" defTabSz="441960" eaLnBrk="0" fontAlgn="base" hangingPunct="0">
              <a:spcBef>
                <a:spcPct val="0"/>
              </a:spcBef>
              <a:spcAft>
                <a:spcPct val="0"/>
              </a:spcAft>
              <a:buClr>
                <a:srgbClr val="000000"/>
              </a:buClr>
              <a:buSzPct val="100000"/>
              <a:tabLst>
                <a:tab pos="712470" algn="l"/>
                <a:tab pos="1424940" algn="l"/>
                <a:tab pos="2137410" algn="l"/>
              </a:tabLst>
              <a:defRPr sz="2000" b="1">
                <a:solidFill>
                  <a:srgbClr val="3333FF"/>
                </a:solidFill>
                <a:latin typeface="Arial" panose="020B0604020202020204" pitchFamily="34" charset="0"/>
                <a:ea typeface="宋体" panose="02010600030101010101" pitchFamily="2" charset="-122"/>
              </a:defRPr>
            </a:lvl9pPr>
          </a:lstStyle>
          <a:p>
            <a:pPr eaLnBrk="1" hangingPunct="1"/>
            <a:fld id="{BA9F8034-D1C6-6840-B1BA-853A4CF342BD}" type="slidenum">
              <a:rPr lang="en-US" altLang="zh-CN" sz="2400" b="0">
                <a:solidFill>
                  <a:srgbClr val="000000"/>
                </a:solidFill>
              </a:rPr>
              <a:t>36</a:t>
            </a:fld>
            <a:endParaRPr lang="en-US" altLang="zh-CN" sz="2400" b="0">
              <a:solidFill>
                <a:srgbClr val="000000"/>
              </a:solidFill>
            </a:endParaRPr>
          </a:p>
        </p:txBody>
      </p:sp>
      <p:sp>
        <p:nvSpPr>
          <p:cNvPr id="48131" name="Rectangle 2"/>
          <p:cNvSpPr>
            <a:spLocks noGrp="1" noRot="1" noChangeAspect="1" noChangeArrowheads="1" noTextEdit="1"/>
          </p:cNvSpPr>
          <p:nvPr>
            <p:ph type="sldImg"/>
          </p:nvPr>
        </p:nvSpPr>
        <p:spPr>
          <a:xfrm>
            <a:off x="381000" y="685800"/>
            <a:ext cx="6094413" cy="3429000"/>
          </a:xfrm>
        </p:spPr>
      </p:sp>
      <p:sp>
        <p:nvSpPr>
          <p:cNvPr id="48132" name="Rectangle 3"/>
          <p:cNvSpPr>
            <a:spLocks noGrp="1" noChangeArrowheads="1"/>
          </p:cNvSpPr>
          <p:nvPr>
            <p:ph type="body" idx="1"/>
          </p:nvPr>
        </p:nvSpPr>
        <p:spPr>
          <a:xfrm>
            <a:off x="685956" y="4344144"/>
            <a:ext cx="5486088" cy="4113939"/>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ormAutofit fontScale="85000" lnSpcReduction="20000"/>
          </a:bodyPr>
          <a:lstStyle/>
          <a:p>
            <a:r>
              <a:rPr lang="en-US" altLang="zh-CN" sz="1600" dirty="0">
                <a:latin typeface="Times New Roman" panose="02020603050405020304" charset="0"/>
              </a:rPr>
              <a:t>Multiple hot backups</a:t>
            </a:r>
          </a:p>
          <a:p>
            <a:pPr lvl="1">
              <a:spcBef>
                <a:spcPct val="10000"/>
              </a:spcBef>
            </a:pPr>
            <a:r>
              <a:rPr lang="en-US" altLang="zh-CN" sz="1400" dirty="0">
                <a:latin typeface="Times New Roman" panose="02020603050405020304" charset="0"/>
                <a:cs typeface="宋体" panose="02010600030101010101" pitchFamily="2" charset="-122"/>
              </a:rPr>
              <a:t>Additional secondary servers</a:t>
            </a:r>
          </a:p>
          <a:p>
            <a:pPr lvl="1">
              <a:spcBef>
                <a:spcPct val="10000"/>
              </a:spcBef>
            </a:pPr>
            <a:r>
              <a:rPr lang="en-US" altLang="zh-CN" sz="1400" dirty="0">
                <a:latin typeface="Times New Roman" panose="02020603050405020304" charset="0"/>
                <a:cs typeface="宋体" panose="02010600030101010101" pitchFamily="2" charset="-122"/>
              </a:rPr>
              <a:t>Located Globally</a:t>
            </a:r>
          </a:p>
          <a:p>
            <a:pPr lvl="1">
              <a:spcBef>
                <a:spcPct val="10000"/>
              </a:spcBef>
            </a:pPr>
            <a:r>
              <a:rPr lang="en-US" altLang="zh-CN" sz="1400" dirty="0">
                <a:latin typeface="Times New Roman" panose="02020603050405020304" charset="0"/>
                <a:cs typeface="宋体" panose="02010600030101010101" pitchFamily="2" charset="-122"/>
              </a:rPr>
              <a:t>Extends </a:t>
            </a:r>
            <a:r>
              <a:rPr lang="en-US" altLang="zh-CN" sz="1400" dirty="0" err="1">
                <a:latin typeface="Times New Roman" panose="02020603050405020304" charset="0"/>
                <a:cs typeface="宋体" panose="02010600030101010101" pitchFamily="2" charset="-122"/>
              </a:rPr>
              <a:t>HDR</a:t>
            </a:r>
            <a:r>
              <a:rPr lang="en-US" altLang="zh-CN" sz="1400" dirty="0">
                <a:latin typeface="Times New Roman" panose="02020603050405020304" charset="0"/>
                <a:cs typeface="宋体" panose="02010600030101010101" pitchFamily="2" charset="-122"/>
              </a:rPr>
              <a:t> capabilities</a:t>
            </a:r>
          </a:p>
          <a:p>
            <a:r>
              <a:rPr lang="en-US" altLang="zh-CN" sz="1600" dirty="0">
                <a:latin typeface="Times New Roman" panose="02020603050405020304" charset="0"/>
              </a:rPr>
              <a:t>Optimize Capacity</a:t>
            </a:r>
          </a:p>
          <a:p>
            <a:pPr lvl="1">
              <a:spcBef>
                <a:spcPct val="15000"/>
              </a:spcBef>
            </a:pPr>
            <a:r>
              <a:rPr lang="en-US" altLang="zh-CN" sz="1400" dirty="0">
                <a:latin typeface="Times New Roman" panose="02020603050405020304" charset="0"/>
                <a:cs typeface="宋体" panose="02010600030101010101" pitchFamily="2" charset="-122"/>
              </a:rPr>
              <a:t>Flexible workload distribution</a:t>
            </a:r>
          </a:p>
          <a:p>
            <a:pPr lvl="1">
              <a:spcBef>
                <a:spcPct val="15000"/>
              </a:spcBef>
            </a:pPr>
            <a:r>
              <a:rPr lang="en-US" altLang="zh-CN" sz="1400" dirty="0">
                <a:latin typeface="Times New Roman" panose="02020603050405020304" charset="0"/>
                <a:cs typeface="宋体" panose="02010600030101010101" pitchFamily="2" charset="-122"/>
              </a:rPr>
              <a:t>Local read for performance</a:t>
            </a:r>
          </a:p>
          <a:p>
            <a:pPr lvl="1">
              <a:spcBef>
                <a:spcPct val="15000"/>
              </a:spcBef>
            </a:pPr>
            <a:r>
              <a:rPr lang="en-US" altLang="zh-CN" sz="1400" dirty="0">
                <a:latin typeface="Times New Roman" panose="02020603050405020304" charset="0"/>
                <a:cs typeface="宋体" panose="02010600030101010101" pitchFamily="2" charset="-122"/>
              </a:rPr>
              <a:t>Distribute to increase capacity</a:t>
            </a:r>
          </a:p>
          <a:p>
            <a:endParaRPr lang="en-US" altLang="zh-CN" b="1" dirty="0">
              <a:latin typeface="Times New Roman" panose="02020603050405020304" charset="0"/>
              <a:cs typeface="宋体" panose="02010600030101010101" pitchFamily="2" charset="-122"/>
            </a:endParaRPr>
          </a:p>
          <a:p>
            <a:endParaRPr lang="en-US" altLang="zh-CN" b="1" dirty="0">
              <a:latin typeface="Times New Roman" panose="02020603050405020304" charset="0"/>
              <a:cs typeface="宋体" panose="02010600030101010101" pitchFamily="2" charset="-122"/>
            </a:endParaRPr>
          </a:p>
          <a:p>
            <a:r>
              <a:rPr lang="en-US" altLang="zh-CN" b="1" dirty="0">
                <a:latin typeface="Times New Roman" panose="02020603050405020304" charset="0"/>
                <a:cs typeface="宋体" panose="02010600030101010101" pitchFamily="2" charset="-122"/>
              </a:rPr>
              <a:t>Remote Secondary Server (RSS) nodes</a:t>
            </a:r>
            <a:r>
              <a:rPr lang="en-US" altLang="zh-CN" dirty="0">
                <a:latin typeface="Times New Roman" panose="02020603050405020304" charset="0"/>
                <a:cs typeface="宋体" panose="02010600030101010101" pitchFamily="2" charset="-122"/>
              </a:rPr>
              <a:t> </a:t>
            </a:r>
          </a:p>
          <a:p>
            <a:pPr lvl="1"/>
            <a:r>
              <a:rPr lang="en-US" altLang="zh-CN" dirty="0">
                <a:latin typeface="Times New Roman" panose="02020603050405020304" charset="0"/>
                <a:cs typeface="宋体" panose="02010600030101010101" pitchFamily="2" charset="-122"/>
              </a:rPr>
              <a:t>Similar to </a:t>
            </a:r>
            <a:r>
              <a:rPr lang="en-US" altLang="zh-CN" dirty="0" err="1">
                <a:latin typeface="Times New Roman" panose="02020603050405020304" charset="0"/>
                <a:cs typeface="宋体" panose="02010600030101010101" pitchFamily="2" charset="-122"/>
              </a:rPr>
              <a:t>HDR</a:t>
            </a:r>
            <a:r>
              <a:rPr lang="en-US" altLang="zh-CN" dirty="0">
                <a:latin typeface="Times New Roman" panose="02020603050405020304" charset="0"/>
                <a:cs typeface="宋体" panose="02010600030101010101" pitchFamily="2" charset="-122"/>
              </a:rPr>
              <a:t> Secondary</a:t>
            </a:r>
          </a:p>
          <a:p>
            <a:pPr lvl="1"/>
            <a:r>
              <a:rPr lang="en-US" altLang="zh-CN" dirty="0">
                <a:latin typeface="Times New Roman" panose="02020603050405020304" charset="0"/>
                <a:cs typeface="宋体" panose="02010600030101010101" pitchFamily="2" charset="-122"/>
              </a:rPr>
              <a:t>Dirty reads allowed</a:t>
            </a:r>
          </a:p>
          <a:p>
            <a:pPr lvl="1"/>
            <a:r>
              <a:rPr lang="en-US" altLang="zh-CN" dirty="0">
                <a:latin typeface="Times New Roman" panose="02020603050405020304" charset="0"/>
                <a:cs typeface="宋体" panose="02010600030101010101" pitchFamily="2" charset="-122"/>
              </a:rPr>
              <a:t>Primary sends logs to RSS nodes concurrently with logs to secondary</a:t>
            </a:r>
          </a:p>
          <a:p>
            <a:pPr lvl="1"/>
            <a:r>
              <a:rPr lang="en-US" altLang="zh-CN" dirty="0">
                <a:latin typeface="Times New Roman" panose="02020603050405020304" charset="0"/>
                <a:cs typeface="宋体" panose="02010600030101010101" pitchFamily="2" charset="-122"/>
              </a:rPr>
              <a:t>Minimal impact on primary</a:t>
            </a:r>
            <a:endParaRPr lang="en-US" altLang="zh-CN" b="1" dirty="0">
              <a:latin typeface="Times New Roman" panose="02020603050405020304" charset="0"/>
              <a:cs typeface="宋体" panose="02010600030101010101" pitchFamily="2" charset="-122"/>
            </a:endParaRPr>
          </a:p>
          <a:p>
            <a:r>
              <a:rPr lang="en-US" altLang="zh-CN" b="1" dirty="0">
                <a:latin typeface="Times New Roman" panose="02020603050405020304" charset="0"/>
                <a:cs typeface="宋体" panose="02010600030101010101" pitchFamily="2" charset="-122"/>
              </a:rPr>
              <a:t>Some differences with </a:t>
            </a:r>
            <a:r>
              <a:rPr lang="en-US" altLang="zh-CN" b="1" dirty="0" err="1">
                <a:latin typeface="Times New Roman" panose="02020603050405020304" charset="0"/>
                <a:cs typeface="宋体" panose="02010600030101010101" pitchFamily="2" charset="-122"/>
              </a:rPr>
              <a:t>HDR</a:t>
            </a:r>
            <a:r>
              <a:rPr lang="en-US" altLang="zh-CN" b="1" dirty="0">
                <a:latin typeface="Times New Roman" panose="02020603050405020304" charset="0"/>
                <a:cs typeface="宋体" panose="02010600030101010101" pitchFamily="2" charset="-122"/>
              </a:rPr>
              <a:t> Secondary</a:t>
            </a:r>
          </a:p>
          <a:p>
            <a:pPr lvl="1"/>
            <a:r>
              <a:rPr lang="en-US" altLang="zh-CN" dirty="0">
                <a:latin typeface="Times New Roman" panose="02020603050405020304" charset="0"/>
                <a:cs typeface="宋体" panose="02010600030101010101" pitchFamily="2" charset="-122"/>
              </a:rPr>
              <a:t>RSS nodes can be promoted to </a:t>
            </a:r>
            <a:r>
              <a:rPr lang="en-US" altLang="zh-CN" dirty="0" err="1">
                <a:latin typeface="Times New Roman" panose="02020603050405020304" charset="0"/>
                <a:cs typeface="宋体" panose="02010600030101010101" pitchFamily="2" charset="-122"/>
              </a:rPr>
              <a:t>HDR</a:t>
            </a:r>
            <a:r>
              <a:rPr lang="en-US" altLang="zh-CN" dirty="0">
                <a:latin typeface="Times New Roman" panose="02020603050405020304" charset="0"/>
                <a:cs typeface="宋体" panose="02010600030101010101" pitchFamily="2" charset="-122"/>
              </a:rPr>
              <a:t> secondary, not primary</a:t>
            </a:r>
          </a:p>
          <a:p>
            <a:pPr lvl="1"/>
            <a:r>
              <a:rPr lang="en-US" altLang="zh-CN" dirty="0">
                <a:latin typeface="Times New Roman" panose="02020603050405020304" charset="0"/>
                <a:cs typeface="宋体" panose="02010600030101010101" pitchFamily="2" charset="-122"/>
              </a:rPr>
              <a:t>RSS nodes can only be updated asynchronously</a:t>
            </a:r>
          </a:p>
          <a:p>
            <a:r>
              <a:rPr lang="en-US" altLang="zh-CN" b="1" dirty="0">
                <a:latin typeface="Times New Roman" panose="02020603050405020304" charset="0"/>
                <a:cs typeface="宋体" panose="02010600030101010101" pitchFamily="2" charset="-122"/>
              </a:rPr>
              <a:t>Business Value:</a:t>
            </a:r>
            <a:r>
              <a:rPr lang="en-US" altLang="zh-CN" dirty="0">
                <a:latin typeface="Times New Roman" panose="02020603050405020304" charset="0"/>
                <a:cs typeface="宋体" panose="02010600030101010101" pitchFamily="2" charset="-122"/>
              </a:rPr>
              <a:t>  </a:t>
            </a:r>
          </a:p>
          <a:p>
            <a:pPr lvl="1"/>
            <a:r>
              <a:rPr lang="en-US" altLang="zh-CN" dirty="0">
                <a:latin typeface="Times New Roman" panose="02020603050405020304" charset="0"/>
                <a:cs typeface="宋体" panose="02010600030101010101" pitchFamily="2" charset="-122"/>
              </a:rPr>
              <a:t>Easily grow your query and reporting capacity</a:t>
            </a:r>
          </a:p>
          <a:p>
            <a:pPr lvl="1"/>
            <a:r>
              <a:rPr lang="en-US" altLang="zh-CN" dirty="0">
                <a:latin typeface="Times New Roman" panose="02020603050405020304" charset="0"/>
                <a:cs typeface="宋体" panose="02010600030101010101" pitchFamily="2" charset="-122"/>
              </a:rPr>
              <a:t>Multiple replications for different purposes (hot backups, bunker sites, disaster recovery, etc.</a:t>
            </a:r>
          </a:p>
          <a:p>
            <a:pPr lvl="1"/>
            <a:r>
              <a:rPr lang="en-US" altLang="zh-CN" dirty="0">
                <a:latin typeface="Times New Roman" panose="02020603050405020304" charset="0"/>
                <a:cs typeface="宋体" panose="02010600030101010101" pitchFamily="2" charset="-122"/>
              </a:rPr>
              <a:t>More availability capacity and better performance (reduced network latency at remote sites)</a:t>
            </a:r>
          </a:p>
          <a:p>
            <a:endParaRPr lang="en-US" altLang="zh-CN" dirty="0">
              <a:latin typeface="Times New Roman" panose="02020603050405020304" charset="0"/>
              <a:cs typeface="宋体" panose="02010600030101010101" pitchFamily="2" charset="-122"/>
            </a:endParaRPr>
          </a:p>
          <a:p>
            <a:endParaRPr lang="en-US" altLang="zh-CN" dirty="0">
              <a:latin typeface="Times New Roman" panose="02020603050405020304" charset="0"/>
              <a:cs typeface="宋体" panose="02010600030101010101" pitchFamily="2" charset="-122"/>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6"/>
          <p:cNvSpPr>
            <a:spLocks noGrp="1" noChangeArrowheads="1"/>
          </p:cNvSpPr>
          <p:nvPr>
            <p:ph type="sldNum" sz="quarter"/>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1600">
                <a:solidFill>
                  <a:srgbClr val="000000"/>
                </a:solidFill>
                <a:round/>
              </a14:hiddenLine>
            </a:ext>
          </a:extLst>
        </p:spPr>
        <p:txBody>
          <a:bodyPr/>
          <a:lstStyle>
            <a:lvl1pPr eaLnBrk="0" hangingPunct="0">
              <a:tabLst>
                <a:tab pos="712470" algn="l"/>
                <a:tab pos="1424940" algn="l"/>
                <a:tab pos="2137410" algn="l"/>
              </a:tabLst>
              <a:defRPr sz="2000" b="1">
                <a:solidFill>
                  <a:srgbClr val="3333FF"/>
                </a:solidFill>
                <a:latin typeface="Arial" panose="020B0604020202020204" pitchFamily="34" charset="0"/>
                <a:ea typeface="宋体" panose="02010600030101010101" pitchFamily="2" charset="-122"/>
                <a:cs typeface="宋体" panose="02010600030101010101" pitchFamily="2" charset="-122"/>
              </a:defRPr>
            </a:lvl1pPr>
            <a:lvl2pPr eaLnBrk="0" hangingPunct="0">
              <a:tabLst>
                <a:tab pos="712470" algn="l"/>
                <a:tab pos="1424940" algn="l"/>
                <a:tab pos="2137410" algn="l"/>
              </a:tabLst>
              <a:defRPr sz="2000" b="1">
                <a:solidFill>
                  <a:srgbClr val="3333FF"/>
                </a:solidFill>
                <a:latin typeface="Arial" panose="020B0604020202020204" pitchFamily="34" charset="0"/>
                <a:ea typeface="宋体" panose="02010600030101010101" pitchFamily="2" charset="-122"/>
              </a:defRPr>
            </a:lvl2pPr>
            <a:lvl3pPr eaLnBrk="0" hangingPunct="0">
              <a:tabLst>
                <a:tab pos="712470" algn="l"/>
                <a:tab pos="1424940" algn="l"/>
                <a:tab pos="2137410" algn="l"/>
              </a:tabLst>
              <a:defRPr sz="2000" b="1">
                <a:solidFill>
                  <a:srgbClr val="3333FF"/>
                </a:solidFill>
                <a:latin typeface="Arial" panose="020B0604020202020204" pitchFamily="34" charset="0"/>
                <a:ea typeface="宋体" panose="02010600030101010101" pitchFamily="2" charset="-122"/>
              </a:defRPr>
            </a:lvl3pPr>
            <a:lvl4pPr eaLnBrk="0" hangingPunct="0">
              <a:tabLst>
                <a:tab pos="712470" algn="l"/>
                <a:tab pos="1424940" algn="l"/>
                <a:tab pos="2137410" algn="l"/>
              </a:tabLst>
              <a:defRPr sz="2000" b="1">
                <a:solidFill>
                  <a:srgbClr val="3333FF"/>
                </a:solidFill>
                <a:latin typeface="Arial" panose="020B0604020202020204" pitchFamily="34" charset="0"/>
                <a:ea typeface="宋体" panose="02010600030101010101" pitchFamily="2" charset="-122"/>
              </a:defRPr>
            </a:lvl4pPr>
            <a:lvl5pPr eaLnBrk="0" hangingPunct="0">
              <a:tabLst>
                <a:tab pos="712470" algn="l"/>
                <a:tab pos="1424940" algn="l"/>
                <a:tab pos="2137410" algn="l"/>
              </a:tabLst>
              <a:defRPr sz="2000" b="1">
                <a:solidFill>
                  <a:srgbClr val="3333FF"/>
                </a:solidFill>
                <a:latin typeface="Arial" panose="020B0604020202020204" pitchFamily="34" charset="0"/>
                <a:ea typeface="宋体" panose="02010600030101010101" pitchFamily="2" charset="-122"/>
              </a:defRPr>
            </a:lvl5pPr>
            <a:lvl6pPr marL="2475865" indent="-224790" defTabSz="441960" eaLnBrk="0" fontAlgn="base" hangingPunct="0">
              <a:spcBef>
                <a:spcPct val="0"/>
              </a:spcBef>
              <a:spcAft>
                <a:spcPct val="0"/>
              </a:spcAft>
              <a:buClr>
                <a:srgbClr val="000000"/>
              </a:buClr>
              <a:buSzPct val="100000"/>
              <a:tabLst>
                <a:tab pos="712470" algn="l"/>
                <a:tab pos="1424940" algn="l"/>
                <a:tab pos="2137410" algn="l"/>
              </a:tabLst>
              <a:defRPr sz="2000" b="1">
                <a:solidFill>
                  <a:srgbClr val="3333FF"/>
                </a:solidFill>
                <a:latin typeface="Arial" panose="020B0604020202020204" pitchFamily="34" charset="0"/>
                <a:ea typeface="宋体" panose="02010600030101010101" pitchFamily="2" charset="-122"/>
              </a:defRPr>
            </a:lvl6pPr>
            <a:lvl7pPr marL="2925445" indent="-224790" defTabSz="441960" eaLnBrk="0" fontAlgn="base" hangingPunct="0">
              <a:spcBef>
                <a:spcPct val="0"/>
              </a:spcBef>
              <a:spcAft>
                <a:spcPct val="0"/>
              </a:spcAft>
              <a:buClr>
                <a:srgbClr val="000000"/>
              </a:buClr>
              <a:buSzPct val="100000"/>
              <a:tabLst>
                <a:tab pos="712470" algn="l"/>
                <a:tab pos="1424940" algn="l"/>
                <a:tab pos="2137410" algn="l"/>
              </a:tabLst>
              <a:defRPr sz="2000" b="1">
                <a:solidFill>
                  <a:srgbClr val="3333FF"/>
                </a:solidFill>
                <a:latin typeface="Arial" panose="020B0604020202020204" pitchFamily="34" charset="0"/>
                <a:ea typeface="宋体" panose="02010600030101010101" pitchFamily="2" charset="-122"/>
              </a:defRPr>
            </a:lvl7pPr>
            <a:lvl8pPr marL="3375660" indent="-224790" defTabSz="441960" eaLnBrk="0" fontAlgn="base" hangingPunct="0">
              <a:spcBef>
                <a:spcPct val="0"/>
              </a:spcBef>
              <a:spcAft>
                <a:spcPct val="0"/>
              </a:spcAft>
              <a:buClr>
                <a:srgbClr val="000000"/>
              </a:buClr>
              <a:buSzPct val="100000"/>
              <a:tabLst>
                <a:tab pos="712470" algn="l"/>
                <a:tab pos="1424940" algn="l"/>
                <a:tab pos="2137410" algn="l"/>
              </a:tabLst>
              <a:defRPr sz="2000" b="1">
                <a:solidFill>
                  <a:srgbClr val="3333FF"/>
                </a:solidFill>
                <a:latin typeface="Arial" panose="020B0604020202020204" pitchFamily="34" charset="0"/>
                <a:ea typeface="宋体" panose="02010600030101010101" pitchFamily="2" charset="-122"/>
              </a:defRPr>
            </a:lvl8pPr>
            <a:lvl9pPr marL="3825875" indent="-224790" defTabSz="441960" eaLnBrk="0" fontAlgn="base" hangingPunct="0">
              <a:spcBef>
                <a:spcPct val="0"/>
              </a:spcBef>
              <a:spcAft>
                <a:spcPct val="0"/>
              </a:spcAft>
              <a:buClr>
                <a:srgbClr val="000000"/>
              </a:buClr>
              <a:buSzPct val="100000"/>
              <a:tabLst>
                <a:tab pos="712470" algn="l"/>
                <a:tab pos="1424940" algn="l"/>
                <a:tab pos="2137410" algn="l"/>
              </a:tabLst>
              <a:defRPr sz="2000" b="1">
                <a:solidFill>
                  <a:srgbClr val="3333FF"/>
                </a:solidFill>
                <a:latin typeface="Arial" panose="020B0604020202020204" pitchFamily="34" charset="0"/>
                <a:ea typeface="宋体" panose="02010600030101010101" pitchFamily="2" charset="-122"/>
              </a:defRPr>
            </a:lvl9pPr>
          </a:lstStyle>
          <a:p>
            <a:pPr eaLnBrk="1" hangingPunct="1"/>
            <a:fld id="{BA9F8034-D1C6-6840-B1BA-853A4CF342BD}" type="slidenum">
              <a:rPr lang="en-US" altLang="zh-CN" sz="2400" b="0">
                <a:solidFill>
                  <a:srgbClr val="000000"/>
                </a:solidFill>
              </a:rPr>
              <a:t>37</a:t>
            </a:fld>
            <a:endParaRPr lang="en-US" altLang="zh-CN" sz="2400" b="0">
              <a:solidFill>
                <a:srgbClr val="000000"/>
              </a:solidFill>
            </a:endParaRPr>
          </a:p>
        </p:txBody>
      </p:sp>
      <p:sp>
        <p:nvSpPr>
          <p:cNvPr id="48131" name="Rectangle 2"/>
          <p:cNvSpPr>
            <a:spLocks noGrp="1" noRot="1" noChangeAspect="1" noChangeArrowheads="1" noTextEdit="1"/>
          </p:cNvSpPr>
          <p:nvPr>
            <p:ph type="sldImg"/>
          </p:nvPr>
        </p:nvSpPr>
        <p:spPr>
          <a:xfrm>
            <a:off x="381000" y="685800"/>
            <a:ext cx="6094413" cy="3429000"/>
          </a:xfrm>
        </p:spPr>
      </p:sp>
      <p:sp>
        <p:nvSpPr>
          <p:cNvPr id="48132" name="Rectangle 3"/>
          <p:cNvSpPr>
            <a:spLocks noGrp="1" noChangeArrowheads="1"/>
          </p:cNvSpPr>
          <p:nvPr>
            <p:ph type="body" idx="1"/>
          </p:nvPr>
        </p:nvSpPr>
        <p:spPr>
          <a:xfrm>
            <a:off x="685956" y="4344144"/>
            <a:ext cx="5486088" cy="4113939"/>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ormAutofit fontScale="85000" lnSpcReduction="20000"/>
          </a:bodyPr>
          <a:lstStyle/>
          <a:p>
            <a:r>
              <a:rPr lang="en-US" altLang="zh-CN" sz="1600" dirty="0">
                <a:latin typeface="Times New Roman" panose="02020603050405020304" charset="0"/>
              </a:rPr>
              <a:t>Multiple hot backups</a:t>
            </a:r>
          </a:p>
          <a:p>
            <a:pPr lvl="1">
              <a:spcBef>
                <a:spcPct val="10000"/>
              </a:spcBef>
            </a:pPr>
            <a:r>
              <a:rPr lang="en-US" altLang="zh-CN" sz="1400" dirty="0">
                <a:latin typeface="Times New Roman" panose="02020603050405020304" charset="0"/>
                <a:cs typeface="宋体" panose="02010600030101010101" pitchFamily="2" charset="-122"/>
              </a:rPr>
              <a:t>Additional secondary servers</a:t>
            </a:r>
          </a:p>
          <a:p>
            <a:pPr lvl="1">
              <a:spcBef>
                <a:spcPct val="10000"/>
              </a:spcBef>
            </a:pPr>
            <a:r>
              <a:rPr lang="en-US" altLang="zh-CN" sz="1400" dirty="0">
                <a:latin typeface="Times New Roman" panose="02020603050405020304" charset="0"/>
                <a:cs typeface="宋体" panose="02010600030101010101" pitchFamily="2" charset="-122"/>
              </a:rPr>
              <a:t>Located Globally</a:t>
            </a:r>
          </a:p>
          <a:p>
            <a:pPr lvl="1">
              <a:spcBef>
                <a:spcPct val="10000"/>
              </a:spcBef>
            </a:pPr>
            <a:r>
              <a:rPr lang="en-US" altLang="zh-CN" sz="1400" dirty="0">
                <a:latin typeface="Times New Roman" panose="02020603050405020304" charset="0"/>
                <a:cs typeface="宋体" panose="02010600030101010101" pitchFamily="2" charset="-122"/>
              </a:rPr>
              <a:t>Extends </a:t>
            </a:r>
            <a:r>
              <a:rPr lang="en-US" altLang="zh-CN" sz="1400" dirty="0" err="1">
                <a:latin typeface="Times New Roman" panose="02020603050405020304" charset="0"/>
                <a:cs typeface="宋体" panose="02010600030101010101" pitchFamily="2" charset="-122"/>
              </a:rPr>
              <a:t>HDR</a:t>
            </a:r>
            <a:r>
              <a:rPr lang="en-US" altLang="zh-CN" sz="1400" dirty="0">
                <a:latin typeface="Times New Roman" panose="02020603050405020304" charset="0"/>
                <a:cs typeface="宋体" panose="02010600030101010101" pitchFamily="2" charset="-122"/>
              </a:rPr>
              <a:t> capabilities</a:t>
            </a:r>
          </a:p>
          <a:p>
            <a:r>
              <a:rPr lang="en-US" altLang="zh-CN" sz="1600" dirty="0">
                <a:latin typeface="Times New Roman" panose="02020603050405020304" charset="0"/>
              </a:rPr>
              <a:t>Optimize Capacity</a:t>
            </a:r>
          </a:p>
          <a:p>
            <a:pPr lvl="1">
              <a:spcBef>
                <a:spcPct val="15000"/>
              </a:spcBef>
            </a:pPr>
            <a:r>
              <a:rPr lang="en-US" altLang="zh-CN" sz="1400" dirty="0">
                <a:latin typeface="Times New Roman" panose="02020603050405020304" charset="0"/>
                <a:cs typeface="宋体" panose="02010600030101010101" pitchFamily="2" charset="-122"/>
              </a:rPr>
              <a:t>Flexible workload distribution</a:t>
            </a:r>
          </a:p>
          <a:p>
            <a:pPr lvl="1">
              <a:spcBef>
                <a:spcPct val="15000"/>
              </a:spcBef>
            </a:pPr>
            <a:r>
              <a:rPr lang="en-US" altLang="zh-CN" sz="1400" dirty="0">
                <a:latin typeface="Times New Roman" panose="02020603050405020304" charset="0"/>
                <a:cs typeface="宋体" panose="02010600030101010101" pitchFamily="2" charset="-122"/>
              </a:rPr>
              <a:t>Local read for performance</a:t>
            </a:r>
          </a:p>
          <a:p>
            <a:pPr lvl="1">
              <a:spcBef>
                <a:spcPct val="15000"/>
              </a:spcBef>
            </a:pPr>
            <a:r>
              <a:rPr lang="en-US" altLang="zh-CN" sz="1400" dirty="0">
                <a:latin typeface="Times New Roman" panose="02020603050405020304" charset="0"/>
                <a:cs typeface="宋体" panose="02010600030101010101" pitchFamily="2" charset="-122"/>
              </a:rPr>
              <a:t>Distribute to increase capacity</a:t>
            </a:r>
          </a:p>
          <a:p>
            <a:endParaRPr lang="en-US" altLang="zh-CN" b="1" dirty="0">
              <a:latin typeface="Times New Roman" panose="02020603050405020304" charset="0"/>
              <a:cs typeface="宋体" panose="02010600030101010101" pitchFamily="2" charset="-122"/>
            </a:endParaRPr>
          </a:p>
          <a:p>
            <a:endParaRPr lang="en-US" altLang="zh-CN" b="1" dirty="0">
              <a:latin typeface="Times New Roman" panose="02020603050405020304" charset="0"/>
              <a:cs typeface="宋体" panose="02010600030101010101" pitchFamily="2" charset="-122"/>
            </a:endParaRPr>
          </a:p>
          <a:p>
            <a:r>
              <a:rPr lang="en-US" altLang="zh-CN" b="1" dirty="0">
                <a:latin typeface="Times New Roman" panose="02020603050405020304" charset="0"/>
                <a:cs typeface="宋体" panose="02010600030101010101" pitchFamily="2" charset="-122"/>
              </a:rPr>
              <a:t>Remote Secondary Server (RSS) nodes</a:t>
            </a:r>
            <a:r>
              <a:rPr lang="en-US" altLang="zh-CN" dirty="0">
                <a:latin typeface="Times New Roman" panose="02020603050405020304" charset="0"/>
                <a:cs typeface="宋体" panose="02010600030101010101" pitchFamily="2" charset="-122"/>
              </a:rPr>
              <a:t> </a:t>
            </a:r>
          </a:p>
          <a:p>
            <a:pPr lvl="1"/>
            <a:r>
              <a:rPr lang="en-US" altLang="zh-CN" dirty="0">
                <a:latin typeface="Times New Roman" panose="02020603050405020304" charset="0"/>
                <a:cs typeface="宋体" panose="02010600030101010101" pitchFamily="2" charset="-122"/>
              </a:rPr>
              <a:t>Similar to </a:t>
            </a:r>
            <a:r>
              <a:rPr lang="en-US" altLang="zh-CN" dirty="0" err="1">
                <a:latin typeface="Times New Roman" panose="02020603050405020304" charset="0"/>
                <a:cs typeface="宋体" panose="02010600030101010101" pitchFamily="2" charset="-122"/>
              </a:rPr>
              <a:t>HDR</a:t>
            </a:r>
            <a:r>
              <a:rPr lang="en-US" altLang="zh-CN" dirty="0">
                <a:latin typeface="Times New Roman" panose="02020603050405020304" charset="0"/>
                <a:cs typeface="宋体" panose="02010600030101010101" pitchFamily="2" charset="-122"/>
              </a:rPr>
              <a:t> Secondary</a:t>
            </a:r>
          </a:p>
          <a:p>
            <a:pPr lvl="1"/>
            <a:r>
              <a:rPr lang="en-US" altLang="zh-CN" dirty="0">
                <a:latin typeface="Times New Roman" panose="02020603050405020304" charset="0"/>
                <a:cs typeface="宋体" panose="02010600030101010101" pitchFamily="2" charset="-122"/>
              </a:rPr>
              <a:t>Dirty reads allowed</a:t>
            </a:r>
          </a:p>
          <a:p>
            <a:pPr lvl="1"/>
            <a:r>
              <a:rPr lang="en-US" altLang="zh-CN" dirty="0">
                <a:latin typeface="Times New Roman" panose="02020603050405020304" charset="0"/>
                <a:cs typeface="宋体" panose="02010600030101010101" pitchFamily="2" charset="-122"/>
              </a:rPr>
              <a:t>Primary sends logs to RSS nodes concurrently with logs to secondary</a:t>
            </a:r>
          </a:p>
          <a:p>
            <a:pPr lvl="1"/>
            <a:r>
              <a:rPr lang="en-US" altLang="zh-CN" dirty="0">
                <a:latin typeface="Times New Roman" panose="02020603050405020304" charset="0"/>
                <a:cs typeface="宋体" panose="02010600030101010101" pitchFamily="2" charset="-122"/>
              </a:rPr>
              <a:t>Minimal impact on primary</a:t>
            </a:r>
            <a:endParaRPr lang="en-US" altLang="zh-CN" b="1" dirty="0">
              <a:latin typeface="Times New Roman" panose="02020603050405020304" charset="0"/>
              <a:cs typeface="宋体" panose="02010600030101010101" pitchFamily="2" charset="-122"/>
            </a:endParaRPr>
          </a:p>
          <a:p>
            <a:r>
              <a:rPr lang="en-US" altLang="zh-CN" b="1" dirty="0">
                <a:latin typeface="Times New Roman" panose="02020603050405020304" charset="0"/>
                <a:cs typeface="宋体" panose="02010600030101010101" pitchFamily="2" charset="-122"/>
              </a:rPr>
              <a:t>Some differences with </a:t>
            </a:r>
            <a:r>
              <a:rPr lang="en-US" altLang="zh-CN" b="1" dirty="0" err="1">
                <a:latin typeface="Times New Roman" panose="02020603050405020304" charset="0"/>
                <a:cs typeface="宋体" panose="02010600030101010101" pitchFamily="2" charset="-122"/>
              </a:rPr>
              <a:t>HDR</a:t>
            </a:r>
            <a:r>
              <a:rPr lang="en-US" altLang="zh-CN" b="1" dirty="0">
                <a:latin typeface="Times New Roman" panose="02020603050405020304" charset="0"/>
                <a:cs typeface="宋体" panose="02010600030101010101" pitchFamily="2" charset="-122"/>
              </a:rPr>
              <a:t> Secondary</a:t>
            </a:r>
          </a:p>
          <a:p>
            <a:pPr lvl="1"/>
            <a:r>
              <a:rPr lang="en-US" altLang="zh-CN" dirty="0">
                <a:latin typeface="Times New Roman" panose="02020603050405020304" charset="0"/>
                <a:cs typeface="宋体" panose="02010600030101010101" pitchFamily="2" charset="-122"/>
              </a:rPr>
              <a:t>RSS nodes can be promoted to </a:t>
            </a:r>
            <a:r>
              <a:rPr lang="en-US" altLang="zh-CN" dirty="0" err="1">
                <a:latin typeface="Times New Roman" panose="02020603050405020304" charset="0"/>
                <a:cs typeface="宋体" panose="02010600030101010101" pitchFamily="2" charset="-122"/>
              </a:rPr>
              <a:t>HDR</a:t>
            </a:r>
            <a:r>
              <a:rPr lang="en-US" altLang="zh-CN" dirty="0">
                <a:latin typeface="Times New Roman" panose="02020603050405020304" charset="0"/>
                <a:cs typeface="宋体" panose="02010600030101010101" pitchFamily="2" charset="-122"/>
              </a:rPr>
              <a:t> secondary, not primary</a:t>
            </a:r>
          </a:p>
          <a:p>
            <a:pPr lvl="1"/>
            <a:r>
              <a:rPr lang="en-US" altLang="zh-CN" dirty="0">
                <a:latin typeface="Times New Roman" panose="02020603050405020304" charset="0"/>
                <a:cs typeface="宋体" panose="02010600030101010101" pitchFamily="2" charset="-122"/>
              </a:rPr>
              <a:t>RSS nodes can only be updated asynchronously</a:t>
            </a:r>
          </a:p>
          <a:p>
            <a:r>
              <a:rPr lang="en-US" altLang="zh-CN" b="1" dirty="0">
                <a:latin typeface="Times New Roman" panose="02020603050405020304" charset="0"/>
                <a:cs typeface="宋体" panose="02010600030101010101" pitchFamily="2" charset="-122"/>
              </a:rPr>
              <a:t>Business Value:</a:t>
            </a:r>
            <a:r>
              <a:rPr lang="en-US" altLang="zh-CN" dirty="0">
                <a:latin typeface="Times New Roman" panose="02020603050405020304" charset="0"/>
                <a:cs typeface="宋体" panose="02010600030101010101" pitchFamily="2" charset="-122"/>
              </a:rPr>
              <a:t>  </a:t>
            </a:r>
          </a:p>
          <a:p>
            <a:pPr lvl="1"/>
            <a:r>
              <a:rPr lang="en-US" altLang="zh-CN" dirty="0">
                <a:latin typeface="Times New Roman" panose="02020603050405020304" charset="0"/>
                <a:cs typeface="宋体" panose="02010600030101010101" pitchFamily="2" charset="-122"/>
              </a:rPr>
              <a:t>Easily grow your query and reporting capacity</a:t>
            </a:r>
          </a:p>
          <a:p>
            <a:pPr lvl="1"/>
            <a:r>
              <a:rPr lang="en-US" altLang="zh-CN" dirty="0">
                <a:latin typeface="Times New Roman" panose="02020603050405020304" charset="0"/>
                <a:cs typeface="宋体" panose="02010600030101010101" pitchFamily="2" charset="-122"/>
              </a:rPr>
              <a:t>Multiple replications for different purposes (hot backups, bunker sites, disaster recovery, etc.</a:t>
            </a:r>
          </a:p>
          <a:p>
            <a:pPr lvl="1"/>
            <a:r>
              <a:rPr lang="en-US" altLang="zh-CN" dirty="0">
                <a:latin typeface="Times New Roman" panose="02020603050405020304" charset="0"/>
                <a:cs typeface="宋体" panose="02010600030101010101" pitchFamily="2" charset="-122"/>
              </a:rPr>
              <a:t>More availability capacity and better performance (reduced network latency at remote sites)</a:t>
            </a:r>
          </a:p>
          <a:p>
            <a:endParaRPr lang="en-US" altLang="zh-CN" dirty="0">
              <a:latin typeface="Times New Roman" panose="02020603050405020304" charset="0"/>
              <a:cs typeface="宋体" panose="02010600030101010101" pitchFamily="2" charset="-122"/>
            </a:endParaRPr>
          </a:p>
          <a:p>
            <a:endParaRPr lang="en-US" altLang="zh-CN" dirty="0">
              <a:latin typeface="Times New Roman" panose="02020603050405020304" charset="0"/>
              <a:cs typeface="宋体" panose="02010600030101010101" pitchFamily="2" charset="-122"/>
            </a:endParaRP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 Id="rId2" Target="../media/image1.jpeg" Type="http://schemas.openxmlformats.org/officeDocument/2006/relationships/image"/></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 Id="rId2" Target="../media/image2.png" Type="http://schemas.openxmlformats.org/officeDocument/2006/relationships/image"/></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 Id="rId2" Target="../media/image2.png" Type="http://schemas.openxmlformats.org/officeDocument/2006/relationships/image"/><Relationship Id="rId3" Target="../media/image3.png" Type="http://schemas.openxmlformats.org/officeDocument/2006/relationships/image"/></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 Id="rId2" Target="../media/image2.png" Type="http://schemas.openxmlformats.org/officeDocument/2006/relationships/image"/><Relationship Id="rId3" Target="../media/image3.png" Type="http://schemas.openxmlformats.org/officeDocument/2006/relationships/image"/></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 Id="rId2" Target="../media/image4.jpeg" Type="http://schemas.openxmlformats.org/officeDocument/2006/relationships/image"/><Relationship Id="rId3" Target="../media/image5.png" Type="http://schemas.openxmlformats.org/officeDocument/2006/relationships/image"/></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 Id="rId2" Target="../media/image6.jpeg" Type="http://schemas.openxmlformats.org/officeDocument/2006/relationships/image"/><Relationship Id="rId3" Target="../media/image7.jpeg" Type="http://schemas.openxmlformats.org/officeDocument/2006/relationships/image"/><Relationship Id="rId4" Target="../media/image8.jpeg" Type="http://schemas.openxmlformats.org/officeDocument/2006/relationships/image"/><Relationship Id="rId5" Target="../media/image9.jpeg" Type="http://schemas.openxmlformats.org/officeDocument/2006/relationships/image"/></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 Id="rId2" Target="../media/image10.jpeg" Type="http://schemas.openxmlformats.org/officeDocument/2006/relationships/image"/><Relationship Id="rId3" Target="../media/image11.jpeg" Type="http://schemas.openxmlformats.org/officeDocument/2006/relationships/image"/><Relationship Id="rId4" Target="../media/image12.png" Type="http://schemas.openxmlformats.org/officeDocument/2006/relationships/image"/><Relationship Id="rId5" Target="../media/image13.jpeg" Type="http://schemas.openxmlformats.org/officeDocument/2006/relationships/image"/></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01-封面">
    <p:spTree>
      <p:nvGrpSpPr>
        <p:cNvPr id="1" name=""/>
        <p:cNvGrpSpPr/>
        <p:nvPr/>
      </p:nvGrpSpPr>
      <p:grpSpPr>
        <a:xfrm>
          <a:off x="0" y="0"/>
          <a:ext cx="0" cy="0"/>
          <a:chOff x="0" y="0"/>
          <a:chExt cx="0" cy="0"/>
        </a:xfrm>
      </p:grpSpPr>
      <p:sp>
        <p:nvSpPr>
          <p:cNvPr id="3" name="矩形 7"/>
          <p:cNvSpPr/>
          <p:nvPr userDrawn="1"/>
        </p:nvSpPr>
        <p:spPr>
          <a:xfrm>
            <a:off x="0" y="6554788"/>
            <a:ext cx="12192000" cy="303212"/>
          </a:xfrm>
          <a:prstGeom prst="rect">
            <a:avLst/>
          </a:prstGeom>
          <a:gradFill>
            <a:gsLst>
              <a:gs pos="0">
                <a:srgbClr val="404040"/>
              </a:gs>
              <a:gs pos="94000">
                <a:srgbClr val="0D0D0D"/>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4" name="任意多边形 8"/>
          <p:cNvSpPr/>
          <p:nvPr userDrawn="1"/>
        </p:nvSpPr>
        <p:spPr>
          <a:xfrm>
            <a:off x="0" y="6465888"/>
            <a:ext cx="2305050" cy="392112"/>
          </a:xfrm>
          <a:custGeom>
            <a:avLst/>
            <a:gdLst>
              <a:gd name="connsiteX0" fmla="*/ 0 w 2305316"/>
              <a:gd name="connsiteY0" fmla="*/ 0 h 392806"/>
              <a:gd name="connsiteX1" fmla="*/ 2305316 w 2305316"/>
              <a:gd name="connsiteY1" fmla="*/ 0 h 392806"/>
              <a:gd name="connsiteX2" fmla="*/ 2163649 w 2305316"/>
              <a:gd name="connsiteY2" fmla="*/ 392806 h 392806"/>
              <a:gd name="connsiteX3" fmla="*/ 0 w 2305316"/>
              <a:gd name="connsiteY3" fmla="*/ 392806 h 392806"/>
            </a:gdLst>
            <a:ahLst/>
            <a:cxnLst>
              <a:cxn ang="0">
                <a:pos x="connsiteX0" y="connsiteY0"/>
              </a:cxn>
              <a:cxn ang="0">
                <a:pos x="connsiteX1" y="connsiteY1"/>
              </a:cxn>
              <a:cxn ang="0">
                <a:pos x="connsiteX2" y="connsiteY2"/>
              </a:cxn>
              <a:cxn ang="0">
                <a:pos x="connsiteX3" y="connsiteY3"/>
              </a:cxn>
            </a:cxnLst>
            <a:rect l="l" t="t" r="r" b="b"/>
            <a:pathLst>
              <a:path w="2305316" h="392806">
                <a:moveTo>
                  <a:pt x="0" y="0"/>
                </a:moveTo>
                <a:lnTo>
                  <a:pt x="2305316" y="0"/>
                </a:lnTo>
                <a:lnTo>
                  <a:pt x="2163649" y="392806"/>
                </a:lnTo>
                <a:lnTo>
                  <a:pt x="0" y="392806"/>
                </a:lnTo>
                <a:close/>
              </a:path>
            </a:pathLst>
          </a:custGeom>
          <a:gradFill flip="none" rotWithShape="1">
            <a:gsLst>
              <a:gs pos="0">
                <a:srgbClr val="F5715B"/>
              </a:gs>
              <a:gs pos="71000">
                <a:srgbClr val="B82E24"/>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5" name="日期占位符 3"/>
          <p:cNvSpPr>
            <a:spLocks noGrp="1"/>
          </p:cNvSpPr>
          <p:nvPr>
            <p:ph type="dt" sz="half" idx="10"/>
          </p:nvPr>
        </p:nvSpPr>
        <p:spPr>
          <a:xfrm>
            <a:off x="838200" y="6356350"/>
            <a:ext cx="2743200" cy="365125"/>
          </a:xfrm>
          <a:prstGeom prst="rect">
            <a:avLst/>
          </a:prstGeom>
        </p:spPr>
        <p:txBody>
          <a:bodyPr/>
          <a:lstStyle>
            <a:lvl1pPr fontAlgn="auto">
              <a:spcBef>
                <a:spcPts val="0"/>
              </a:spcBef>
              <a:spcAft>
                <a:spcPts val="0"/>
              </a:spcAft>
              <a:defRPr>
                <a:latin typeface="+mn-lt"/>
                <a:ea typeface="+mn-ea"/>
              </a:defRPr>
            </a:lvl1pPr>
          </a:lstStyle>
          <a:p>
            <a:pPr>
              <a:defRPr/>
            </a:pPr>
            <a:endParaRPr lang="zh-CN" altLang="en-US"/>
          </a:p>
        </p:txBody>
      </p:sp>
      <p:sp>
        <p:nvSpPr>
          <p:cNvPr id="6" name="页脚占位符 4"/>
          <p:cNvSpPr>
            <a:spLocks noGrp="1"/>
          </p:cNvSpPr>
          <p:nvPr>
            <p:ph type="ftr" sz="quarter" idx="11"/>
          </p:nvPr>
        </p:nvSpPr>
        <p:spPr>
          <a:xfrm>
            <a:off x="4038600" y="6356350"/>
            <a:ext cx="4114800" cy="365125"/>
          </a:xfrm>
          <a:prstGeom prst="rect">
            <a:avLst/>
          </a:prstGeom>
        </p:spPr>
        <p:txBody>
          <a:bodyPr/>
          <a:lstStyle>
            <a:lvl1pPr fontAlgn="auto">
              <a:spcBef>
                <a:spcPts val="0"/>
              </a:spcBef>
              <a:spcAft>
                <a:spcPts val="0"/>
              </a:spcAft>
              <a:defRPr>
                <a:latin typeface="+mn-lt"/>
                <a:ea typeface="+mn-ea"/>
              </a:defRPr>
            </a:lvl1pPr>
          </a:lstStyle>
          <a:p>
            <a:pPr>
              <a:defRPr/>
            </a:pPr>
            <a:endParaRPr lang="zh-CN" altLang="en-US"/>
          </a:p>
        </p:txBody>
      </p:sp>
      <p:sp>
        <p:nvSpPr>
          <p:cNvPr id="7" name="灯片编号占位符 5"/>
          <p:cNvSpPr>
            <a:spLocks noGrp="1"/>
          </p:cNvSpPr>
          <p:nvPr>
            <p:ph type="sldNum" sz="quarter" idx="12"/>
          </p:nvPr>
        </p:nvSpPr>
        <p:spPr>
          <a:xfrm>
            <a:off x="8610600" y="6356350"/>
            <a:ext cx="2743200" cy="365125"/>
          </a:xfrm>
          <a:prstGeom prst="rect">
            <a:avLst/>
          </a:prstGeom>
        </p:spPr>
        <p:txBody>
          <a:bodyPr/>
          <a:lstStyle>
            <a:lvl1pPr fontAlgn="auto">
              <a:spcBef>
                <a:spcPts val="0"/>
              </a:spcBef>
              <a:spcAft>
                <a:spcPts val="0"/>
              </a:spcAft>
              <a:defRPr>
                <a:latin typeface="+mn-lt"/>
                <a:ea typeface="+mn-ea"/>
              </a:defRPr>
            </a:lvl1pPr>
          </a:lstStyle>
          <a:p>
            <a:pPr>
              <a:defRPr/>
            </a:pPr>
            <a:fld id="{1787C887-E0EA-48E6-9009-742CC8F3D7AC}" type="slidenum">
              <a:rPr lang="zh-CN" altLang="en-US"/>
              <a:t>‹#›</a:t>
            </a:fld>
            <a:endParaRPr lang="zh-CN" altLang="en-US"/>
          </a:p>
        </p:txBody>
      </p:sp>
      <p:pic>
        <p:nvPicPr>
          <p:cNvPr id="8" name="图片 7" descr="01-封面.jpg"/>
          <p:cNvPicPr>
            <a:picLocks noChangeAspect="1"/>
          </p:cNvPicPr>
          <p:nvPr userDrawn="1"/>
        </p:nvPicPr>
        <p:blipFill>
          <a:blip r:embed="rId2" cstate="print"/>
          <a:stretch>
            <a:fillRect/>
          </a:stretch>
        </p:blipFill>
        <p:spPr>
          <a:xfrm>
            <a:off x="0" y="2"/>
            <a:ext cx="12192000" cy="6857998"/>
          </a:xfrm>
          <a:prstGeom prst="rect">
            <a:avLst/>
          </a:prstGeom>
        </p:spPr>
      </p:pic>
      <p:sp>
        <p:nvSpPr>
          <p:cNvPr id="10" name="副标题 10"/>
          <p:cNvSpPr txBox="1"/>
          <p:nvPr userDrawn="1"/>
        </p:nvSpPr>
        <p:spPr bwMode="auto">
          <a:xfrm>
            <a:off x="9240716" y="6017112"/>
            <a:ext cx="2632716" cy="242955"/>
          </a:xfrm>
          <a:prstGeom prst="rect">
            <a:avLst/>
          </a:prstGeom>
          <a:noFill/>
          <a:ln w="9525">
            <a:noFill/>
            <a:miter lim="800000"/>
          </a:ln>
        </p:spPr>
        <p:txBody>
          <a:bodyPr lIns="0" tIns="0" rIns="0" bIns="0"/>
          <a:lstStyle/>
          <a:p>
            <a:pPr algn="r" eaLnBrk="0" hangingPunct="0">
              <a:buClr>
                <a:schemeClr val="accent1"/>
              </a:buClr>
              <a:buFontTx/>
              <a:buNone/>
              <a:defRPr/>
            </a:pPr>
            <a:r>
              <a:rPr lang="zh-CN" altLang="en-US" sz="1380" kern="0" spc="100" dirty="0">
                <a:latin typeface="微软雅黑" panose="020B0503020204020204" pitchFamily="34" charset="-122"/>
                <a:ea typeface="微软雅黑" panose="020B0503020204020204" pitchFamily="34" charset="-122"/>
              </a:rPr>
              <a:t>南大通用数据技术股份有限公司</a:t>
            </a:r>
          </a:p>
        </p:txBody>
      </p:sp>
      <p:sp>
        <p:nvSpPr>
          <p:cNvPr id="11" name="TextBox 9"/>
          <p:cNvSpPr>
            <a:spLocks noChangeArrowheads="1"/>
          </p:cNvSpPr>
          <p:nvPr userDrawn="1"/>
        </p:nvSpPr>
        <p:spPr bwMode="auto">
          <a:xfrm>
            <a:off x="9817548" y="6424733"/>
            <a:ext cx="2148350" cy="276999"/>
          </a:xfrm>
          <a:prstGeom prst="rect">
            <a:avLst/>
          </a:prstGeom>
          <a:noFill/>
          <a:ln w="9525">
            <a:noFill/>
            <a:miter lim="800000"/>
          </a:ln>
        </p:spPr>
        <p:txBody>
          <a:bodyPr wrap="square">
            <a:spAutoFit/>
          </a:bodyPr>
          <a:lstStyle/>
          <a:p>
            <a:pPr algn="r">
              <a:buFontTx/>
              <a:buNone/>
            </a:pPr>
            <a:r>
              <a:rPr lang="zh-CN" altLang="zh-CN" sz="1200" spc="100" dirty="0">
                <a:solidFill>
                  <a:srgbClr val="898989"/>
                </a:solidFill>
                <a:latin typeface="微软雅黑" panose="020B0503020204020204" pitchFamily="34" charset="-122"/>
                <a:ea typeface="微软雅黑" panose="020B0503020204020204" pitchFamily="34" charset="-122"/>
                <a:sym typeface="Verdana" panose="020B0604030504040204" pitchFamily="34" charset="0"/>
              </a:rPr>
              <a:t>版权所有© GBASE 201</a:t>
            </a:r>
            <a:r>
              <a:rPr lang="en-US" altLang="zh-CN" sz="1200" spc="100" dirty="0">
                <a:solidFill>
                  <a:srgbClr val="898989"/>
                </a:solidFill>
                <a:latin typeface="微软雅黑" panose="020B0503020204020204" pitchFamily="34" charset="-122"/>
                <a:ea typeface="微软雅黑" panose="020B0503020204020204" pitchFamily="34" charset="-122"/>
                <a:sym typeface="Verdana" panose="020B0604030504040204" pitchFamily="34" charset="0"/>
              </a:rPr>
              <a:t>7</a:t>
            </a:r>
            <a:endParaRPr lang="zh-CN" altLang="zh-CN" sz="1200" spc="100" dirty="0">
              <a:solidFill>
                <a:srgbClr val="000000"/>
              </a:solidFill>
              <a:latin typeface="微软雅黑" panose="020B0503020204020204" pitchFamily="34" charset="-122"/>
              <a:ea typeface="微软雅黑" panose="020B0503020204020204" pitchFamily="34" charset="-122"/>
              <a:sym typeface="Verdana" panose="020B0604030504040204" pitchFamily="34" charset="0"/>
            </a:endParaRPr>
          </a:p>
        </p:txBody>
      </p:sp>
      <p:sp>
        <p:nvSpPr>
          <p:cNvPr id="12" name="文本框 1"/>
          <p:cNvSpPr txBox="1">
            <a:spLocks noChangeArrowheads="1"/>
          </p:cNvSpPr>
          <p:nvPr userDrawn="1"/>
        </p:nvSpPr>
        <p:spPr bwMode="auto">
          <a:xfrm>
            <a:off x="227398" y="2690706"/>
            <a:ext cx="3288080" cy="323165"/>
          </a:xfrm>
          <a:prstGeom prst="rect">
            <a:avLst/>
          </a:prstGeom>
          <a:noFill/>
          <a:ln w="9525">
            <a:noFill/>
            <a:miter lim="800000"/>
          </a:ln>
        </p:spPr>
        <p:txBody>
          <a:bodyPr wrap="none">
            <a:spAutoFit/>
          </a:bodyPr>
          <a:lstStyle/>
          <a:p>
            <a:r>
              <a:rPr lang="zh-CN" altLang="en-US" sz="1500" b="1" spc="650" baseline="0" dirty="0" smtClean="0">
                <a:solidFill>
                  <a:srgbClr val="494545"/>
                </a:solidFill>
                <a:latin typeface="微软雅黑" panose="020B0503020204020204" pitchFamily="34" charset="-122"/>
                <a:ea typeface="微软雅黑" panose="020B0503020204020204" pitchFamily="34" charset="-122"/>
              </a:rPr>
              <a:t>让世界用上中国的数据库</a:t>
            </a:r>
            <a:endParaRPr lang="zh-CN" altLang="en-US" sz="1500" b="1" spc="650" baseline="0" dirty="0">
              <a:solidFill>
                <a:srgbClr val="494545"/>
              </a:solidFill>
              <a:latin typeface="微软雅黑" panose="020B0503020204020204" pitchFamily="34" charset="-122"/>
              <a:ea typeface="微软雅黑" panose="020B0503020204020204" pitchFamily="34" charset="-122"/>
            </a:endParaRPr>
          </a:p>
        </p:txBody>
      </p:sp>
      <p:sp>
        <p:nvSpPr>
          <p:cNvPr id="19" name="标题 1"/>
          <p:cNvSpPr>
            <a:spLocks noGrp="1"/>
          </p:cNvSpPr>
          <p:nvPr>
            <p:ph type="title" hasCustomPrompt="1"/>
          </p:nvPr>
        </p:nvSpPr>
        <p:spPr>
          <a:xfrm>
            <a:off x="5506720" y="2395515"/>
            <a:ext cx="6461760" cy="569447"/>
          </a:xfrm>
          <a:prstGeom prst="rect">
            <a:avLst/>
          </a:prstGeom>
          <a:noFill/>
          <a:ln>
            <a:noFill/>
          </a:ln>
        </p:spPr>
        <p:txBody>
          <a:bodyPr/>
          <a:lstStyle>
            <a:lvl1pPr algn="ctr">
              <a:lnSpc>
                <a:spcPct val="100000"/>
              </a:lnSpc>
              <a:defRPr sz="3200" b="1" spc="100" baseline="0">
                <a:solidFill>
                  <a:srgbClr val="494545"/>
                </a:solidFill>
                <a:latin typeface="微软雅黑" panose="020B0503020204020204" pitchFamily="34" charset="-122"/>
                <a:ea typeface="微软雅黑" panose="020B0503020204020204" pitchFamily="34" charset="-122"/>
              </a:defRPr>
            </a:lvl1pPr>
          </a:lstStyle>
          <a:p>
            <a:r>
              <a:rPr lang="zh-CN" altLang="en-US" dirty="0" smtClean="0"/>
              <a:t>南大通用数据技术股份有限公司</a:t>
            </a:r>
            <a:endParaRPr lang="zh-CN" altLang="en-US" dirty="0"/>
          </a:p>
        </p:txBody>
      </p:sp>
      <p:sp>
        <p:nvSpPr>
          <p:cNvPr id="13" name="副标题 10"/>
          <p:cNvSpPr txBox="1"/>
          <p:nvPr userDrawn="1"/>
        </p:nvSpPr>
        <p:spPr bwMode="auto">
          <a:xfrm>
            <a:off x="8361486" y="6246160"/>
            <a:ext cx="3511948" cy="304056"/>
          </a:xfrm>
          <a:prstGeom prst="rect">
            <a:avLst/>
          </a:prstGeom>
          <a:noFill/>
          <a:ln w="9525">
            <a:noFill/>
            <a:miter lim="800000"/>
          </a:ln>
        </p:spPr>
        <p:txBody>
          <a:bodyPr lIns="0" tIns="0" rIns="0" bIns="0"/>
          <a:lstStyle/>
          <a:p>
            <a:pPr algn="r" eaLnBrk="0" hangingPunct="0">
              <a:buClr>
                <a:schemeClr val="accent1"/>
              </a:buClr>
              <a:buFontTx/>
              <a:buNone/>
              <a:defRPr/>
            </a:pPr>
            <a:r>
              <a:rPr lang="en-US" altLang="zh-CN" sz="1300" kern="0" spc="0" baseline="0" dirty="0" smtClean="0">
                <a:latin typeface="微软雅黑" panose="020B0503020204020204" pitchFamily="34" charset="-122"/>
                <a:ea typeface="微软雅黑" panose="020B0503020204020204" pitchFamily="34" charset="-122"/>
              </a:rPr>
              <a:t>General Data Technology </a:t>
            </a:r>
            <a:r>
              <a:rPr lang="en-US" altLang="zh-CN" sz="1300" kern="0" spc="0" baseline="0" dirty="0" err="1" smtClean="0">
                <a:latin typeface="微软雅黑" panose="020B0503020204020204" pitchFamily="34" charset="-122"/>
                <a:ea typeface="微软雅黑" panose="020B0503020204020204" pitchFamily="34" charset="-122"/>
              </a:rPr>
              <a:t>Co.,Ltd</a:t>
            </a:r>
            <a:endParaRPr lang="zh-CN" altLang="en-US" sz="1300" kern="0" spc="0" baseline="0" dirty="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02-Title&amp;空白页">
    <p:spTree>
      <p:nvGrpSpPr>
        <p:cNvPr id="1" name=""/>
        <p:cNvGrpSpPr/>
        <p:nvPr/>
      </p:nvGrpSpPr>
      <p:grpSpPr>
        <a:xfrm>
          <a:off x="0" y="0"/>
          <a:ext cx="0" cy="0"/>
          <a:chOff x="0" y="0"/>
          <a:chExt cx="0" cy="0"/>
        </a:xfrm>
      </p:grpSpPr>
      <p:pic>
        <p:nvPicPr>
          <p:cNvPr id="2" name="图片 1" descr="带Rlogo.png"/>
          <p:cNvPicPr>
            <a:picLocks noChangeAspect="1"/>
          </p:cNvPicPr>
          <p:nvPr userDrawn="1"/>
        </p:nvPicPr>
        <p:blipFill>
          <a:blip r:embed="rId2" cstate="print"/>
          <a:stretch>
            <a:fillRect/>
          </a:stretch>
        </p:blipFill>
        <p:spPr>
          <a:xfrm>
            <a:off x="221943" y="6504180"/>
            <a:ext cx="1695635" cy="302606"/>
          </a:xfrm>
          <a:prstGeom prst="rect">
            <a:avLst/>
          </a:prstGeom>
        </p:spPr>
      </p:pic>
      <p:sp>
        <p:nvSpPr>
          <p:cNvPr id="3" name="TextBox 2"/>
          <p:cNvSpPr txBox="1"/>
          <p:nvPr userDrawn="1"/>
        </p:nvSpPr>
        <p:spPr>
          <a:xfrm>
            <a:off x="8525573" y="6585145"/>
            <a:ext cx="3645754" cy="246221"/>
          </a:xfrm>
          <a:prstGeom prst="rect">
            <a:avLst/>
          </a:prstGeom>
          <a:noFill/>
        </p:spPr>
        <p:txBody>
          <a:bodyPr wrap="square" rtlCol="0">
            <a:spAutoFit/>
          </a:bodyPr>
          <a:lstStyle/>
          <a:p>
            <a:r>
              <a:rPr lang="en-US" altLang="zh-CN" sz="1000" spc="100" dirty="0" smtClean="0">
                <a:solidFill>
                  <a:schemeClr val="bg1">
                    <a:lumMod val="65000"/>
                  </a:schemeClr>
                </a:solidFill>
                <a:latin typeface="微软雅黑" panose="020B0503020204020204" pitchFamily="34" charset="-122"/>
                <a:ea typeface="微软雅黑" panose="020B0503020204020204" pitchFamily="34" charset="-122"/>
              </a:rPr>
              <a:t>400-013-9696 / www.gbase.cn / info@gbase.cn</a:t>
            </a:r>
            <a:endParaRPr lang="zh-CN" altLang="en-US" sz="1000" spc="100" dirty="0">
              <a:solidFill>
                <a:schemeClr val="bg1">
                  <a:lumMod val="65000"/>
                </a:schemeClr>
              </a:solidFill>
              <a:latin typeface="微软雅黑" panose="020B0503020204020204" pitchFamily="34" charset="-122"/>
              <a:ea typeface="微软雅黑" panose="020B0503020204020204" pitchFamily="34" charset="-122"/>
            </a:endParaRPr>
          </a:p>
        </p:txBody>
      </p:sp>
      <p:cxnSp>
        <p:nvCxnSpPr>
          <p:cNvPr id="6" name="直接连接符 5"/>
          <p:cNvCxnSpPr/>
          <p:nvPr userDrawn="1"/>
        </p:nvCxnSpPr>
        <p:spPr>
          <a:xfrm>
            <a:off x="0" y="101917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sp>
        <p:nvSpPr>
          <p:cNvPr id="53" name="标题 1"/>
          <p:cNvSpPr>
            <a:spLocks noGrp="1"/>
          </p:cNvSpPr>
          <p:nvPr>
            <p:ph type="title" hasCustomPrompt="1"/>
          </p:nvPr>
        </p:nvSpPr>
        <p:spPr>
          <a:xfrm>
            <a:off x="275491" y="538406"/>
            <a:ext cx="11207263" cy="481500"/>
          </a:xfrm>
          <a:prstGeom prst="rect">
            <a:avLst/>
          </a:prstGeom>
        </p:spPr>
        <p:txBody>
          <a:bodyPr/>
          <a:lstStyle>
            <a:lvl1pPr>
              <a:defRPr sz="3000" b="1" spc="100" baseline="0">
                <a:latin typeface="微软雅黑" panose="020B0503020204020204" pitchFamily="34" charset="-122"/>
                <a:ea typeface="微软雅黑" panose="020B0503020204020204" pitchFamily="34" charset="-122"/>
              </a:defRPr>
            </a:lvl1pPr>
          </a:lstStyle>
          <a:p>
            <a:r>
              <a:rPr lang="zh-CN" altLang="en-US" dirty="0" smtClean="0"/>
              <a:t>标题文字</a:t>
            </a:r>
            <a:endParaRPr lang="zh-CN" altLang="en-US" dirty="0"/>
          </a:p>
        </p:txBody>
      </p:sp>
      <p:sp>
        <p:nvSpPr>
          <p:cNvPr id="4" name="TextBox 3"/>
          <p:cNvSpPr txBox="1"/>
          <p:nvPr userDrawn="1"/>
        </p:nvSpPr>
        <p:spPr bwMode="auto">
          <a:xfrm>
            <a:off x="2509633" y="6533909"/>
            <a:ext cx="837089" cy="338554"/>
          </a:xfrm>
          <a:prstGeom prst="rect">
            <a:avLst/>
          </a:prstGeom>
          <a:noFill/>
          <a:ln w="9525">
            <a:noFill/>
            <a:miter lim="800000"/>
          </a:ln>
        </p:spPr>
        <p:txBody>
          <a:bodyPr wrap="none" rtlCol="0" anchor="b">
            <a:spAutoFit/>
          </a:bodyPr>
          <a:lstStyle/>
          <a:p>
            <a:pPr algn="ctr">
              <a:spcBef>
                <a:spcPct val="20000"/>
              </a:spcBef>
              <a:buClr>
                <a:schemeClr val="hlink"/>
              </a:buClr>
              <a:buFont typeface="Wingdings" panose="05000000000000000000" pitchFamily="2" charset="2"/>
              <a:buNone/>
            </a:pPr>
            <a:fld id="{E06F47B1-A2F8-40A5-AD5F-9DCD4D886805}" type="slidenum">
              <a:rPr lang="zh-CN" altLang="en-US" sz="1600" b="0" kern="0" smtClean="0">
                <a:solidFill>
                  <a:schemeClr val="bg1"/>
                </a:solidFill>
                <a:latin typeface="Arial" panose="020B0604020202020204" pitchFamily="34" charset="0"/>
                <a:ea typeface="微软雅黑" panose="020B0503020204020204" pitchFamily="34" charset="-122"/>
                <a:cs typeface="Arial" panose="020B0604020202020204" pitchFamily="34" charset="0"/>
              </a:rPr>
              <a:t>‹#›</a:t>
            </a:fld>
            <a:r>
              <a:rPr lang="zh-CN" altLang="en-US" sz="1600" b="0" kern="0" dirty="0" smtClean="0">
                <a:solidFill>
                  <a:schemeClr val="bg1"/>
                </a:solidFill>
                <a:latin typeface="Arial" panose="020B0604020202020204" pitchFamily="34" charset="0"/>
                <a:ea typeface="微软雅黑" panose="020B0503020204020204" pitchFamily="34" charset="-122"/>
                <a:cs typeface="Arial" panose="020B0604020202020204" pitchFamily="34" charset="0"/>
              </a:rPr>
              <a:t> </a:t>
            </a:r>
            <a:r>
              <a:rPr lang="en-US" altLang="zh-CN" sz="1600" b="0" kern="0" dirty="0" smtClean="0">
                <a:solidFill>
                  <a:schemeClr val="bg1"/>
                </a:solidFill>
                <a:latin typeface="Arial" panose="020B0604020202020204" pitchFamily="34" charset="0"/>
                <a:ea typeface="微软雅黑" panose="020B0503020204020204" pitchFamily="34" charset="-122"/>
                <a:cs typeface="Arial" panose="020B0604020202020204" pitchFamily="34" charset="0"/>
              </a:rPr>
              <a:t>/ 37</a:t>
            </a:r>
            <a:endParaRPr lang="zh-CN" altLang="en-US" sz="1600" b="0" kern="0" dirty="0" smtClean="0">
              <a:solidFill>
                <a:schemeClr val="bg1"/>
              </a:solidFill>
              <a:latin typeface="Arial" panose="020B0604020202020204" pitchFamily="34" charset="0"/>
              <a:ea typeface="微软雅黑" panose="020B0503020204020204" pitchFamily="34" charset="-122"/>
              <a:cs typeface="Arial" panose="020B0604020202020204" pitchFamily="34" charset="0"/>
            </a:endParaRPr>
          </a:p>
        </p:txBody>
      </p: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03-Title&amp;段落文本内容">
    <p:spTree>
      <p:nvGrpSpPr>
        <p:cNvPr id="1" name=""/>
        <p:cNvGrpSpPr/>
        <p:nvPr/>
      </p:nvGrpSpPr>
      <p:grpSpPr>
        <a:xfrm>
          <a:off x="0" y="0"/>
          <a:ext cx="0" cy="0"/>
          <a:chOff x="0" y="0"/>
          <a:chExt cx="0" cy="0"/>
        </a:xfrm>
      </p:grpSpPr>
      <p:pic>
        <p:nvPicPr>
          <p:cNvPr id="2" name="图片 1" descr="带Rlogo.png"/>
          <p:cNvPicPr>
            <a:picLocks noChangeAspect="1"/>
          </p:cNvPicPr>
          <p:nvPr userDrawn="1"/>
        </p:nvPicPr>
        <p:blipFill>
          <a:blip r:embed="rId2" cstate="print"/>
          <a:stretch>
            <a:fillRect/>
          </a:stretch>
        </p:blipFill>
        <p:spPr>
          <a:xfrm>
            <a:off x="221943" y="6504180"/>
            <a:ext cx="1695635" cy="302606"/>
          </a:xfrm>
          <a:prstGeom prst="rect">
            <a:avLst/>
          </a:prstGeom>
        </p:spPr>
      </p:pic>
      <p:sp>
        <p:nvSpPr>
          <p:cNvPr id="3" name="TextBox 2"/>
          <p:cNvSpPr txBox="1"/>
          <p:nvPr userDrawn="1"/>
        </p:nvSpPr>
        <p:spPr>
          <a:xfrm>
            <a:off x="8525573" y="6585145"/>
            <a:ext cx="3645754" cy="246221"/>
          </a:xfrm>
          <a:prstGeom prst="rect">
            <a:avLst/>
          </a:prstGeom>
          <a:noFill/>
        </p:spPr>
        <p:txBody>
          <a:bodyPr wrap="square" rtlCol="0">
            <a:spAutoFit/>
          </a:bodyPr>
          <a:lstStyle/>
          <a:p>
            <a:r>
              <a:rPr lang="en-US" altLang="zh-CN" sz="1000" spc="100" dirty="0" smtClean="0">
                <a:solidFill>
                  <a:schemeClr val="bg1">
                    <a:lumMod val="65000"/>
                  </a:schemeClr>
                </a:solidFill>
                <a:latin typeface="微软雅黑" panose="020B0503020204020204" pitchFamily="34" charset="-122"/>
                <a:ea typeface="微软雅黑" panose="020B0503020204020204" pitchFamily="34" charset="-122"/>
              </a:rPr>
              <a:t>400-013-9696 / www.gbase.cn / info@gbase.cn</a:t>
            </a:r>
            <a:endParaRPr lang="zh-CN" altLang="en-US" sz="1000" spc="100" dirty="0">
              <a:solidFill>
                <a:schemeClr val="bg1">
                  <a:lumMod val="65000"/>
                </a:schemeClr>
              </a:solidFill>
              <a:latin typeface="微软雅黑" panose="020B0503020204020204" pitchFamily="34" charset="-122"/>
              <a:ea typeface="微软雅黑" panose="020B0503020204020204" pitchFamily="34" charset="-122"/>
            </a:endParaRPr>
          </a:p>
        </p:txBody>
      </p:sp>
      <p:cxnSp>
        <p:nvCxnSpPr>
          <p:cNvPr id="6" name="直接连接符 5"/>
          <p:cNvCxnSpPr/>
          <p:nvPr userDrawn="1"/>
        </p:nvCxnSpPr>
        <p:spPr>
          <a:xfrm>
            <a:off x="0" y="101917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sp>
        <p:nvSpPr>
          <p:cNvPr id="53" name="标题 1"/>
          <p:cNvSpPr>
            <a:spLocks noGrp="1"/>
          </p:cNvSpPr>
          <p:nvPr>
            <p:ph type="title" hasCustomPrompt="1"/>
          </p:nvPr>
        </p:nvSpPr>
        <p:spPr>
          <a:xfrm>
            <a:off x="275491" y="538406"/>
            <a:ext cx="11207263" cy="481500"/>
          </a:xfrm>
          <a:prstGeom prst="rect">
            <a:avLst/>
          </a:prstGeom>
        </p:spPr>
        <p:txBody>
          <a:bodyPr/>
          <a:lstStyle>
            <a:lvl1pPr>
              <a:defRPr sz="3000" b="1" spc="100" baseline="0">
                <a:latin typeface="微软雅黑" panose="020B0503020204020204" pitchFamily="34" charset="-122"/>
                <a:ea typeface="微软雅黑" panose="020B0503020204020204" pitchFamily="34" charset="-122"/>
              </a:defRPr>
            </a:lvl1pPr>
          </a:lstStyle>
          <a:p>
            <a:r>
              <a:rPr lang="zh-CN" altLang="en-US" dirty="0" smtClean="0"/>
              <a:t>标题文字</a:t>
            </a:r>
            <a:endParaRPr lang="zh-CN" altLang="en-US" dirty="0"/>
          </a:p>
        </p:txBody>
      </p:sp>
      <p:sp>
        <p:nvSpPr>
          <p:cNvPr id="12" name="文本占位符 11"/>
          <p:cNvSpPr>
            <a:spLocks noGrp="1"/>
          </p:cNvSpPr>
          <p:nvPr>
            <p:ph type="body" sz="quarter" idx="10" hasCustomPrompt="1"/>
          </p:nvPr>
        </p:nvSpPr>
        <p:spPr>
          <a:xfrm>
            <a:off x="755650" y="1248508"/>
            <a:ext cx="10718800" cy="4888767"/>
          </a:xfrm>
          <a:prstGeom prst="rect">
            <a:avLst/>
          </a:prstGeom>
        </p:spPr>
        <p:txBody>
          <a:bodyPr/>
          <a:lstStyle>
            <a:lvl1pPr>
              <a:lnSpc>
                <a:spcPct val="100000"/>
              </a:lnSpc>
              <a:buFontTx/>
              <a:buBlip>
                <a:blip r:embed="rId3"/>
              </a:buBlip>
              <a:defRPr sz="2400" spc="100" baseline="0">
                <a:solidFill>
                  <a:schemeClr val="bg2">
                    <a:lumMod val="25000"/>
                  </a:schemeClr>
                </a:solidFill>
                <a:latin typeface="微软雅黑" panose="020B0503020204020204" pitchFamily="34" charset="-122"/>
                <a:ea typeface="微软雅黑" panose="020B0503020204020204" pitchFamily="34" charset="-122"/>
              </a:defRPr>
            </a:lvl1pPr>
            <a:lvl2pPr>
              <a:lnSpc>
                <a:spcPct val="100000"/>
              </a:lnSpc>
              <a:defRPr sz="1800" spc="100" baseline="0">
                <a:solidFill>
                  <a:schemeClr val="bg2">
                    <a:lumMod val="25000"/>
                  </a:schemeClr>
                </a:solidFill>
                <a:latin typeface="微软雅黑" panose="020B0503020204020204" pitchFamily="34" charset="-122"/>
                <a:ea typeface="微软雅黑" panose="020B0503020204020204" pitchFamily="34" charset="-122"/>
              </a:defRPr>
            </a:lvl2pPr>
          </a:lstStyle>
          <a:p>
            <a:pPr lvl="0"/>
            <a:r>
              <a:rPr lang="zh-CN" altLang="en-US" dirty="0" smtClean="0"/>
              <a:t>第一级</a:t>
            </a:r>
          </a:p>
          <a:p>
            <a:pPr lvl="1"/>
            <a:r>
              <a:rPr lang="zh-CN" altLang="en-US" dirty="0" smtClean="0"/>
              <a:t>第二级</a:t>
            </a:r>
            <a:endParaRPr lang="zh-CN" altLang="en-US" dirty="0"/>
          </a:p>
        </p:txBody>
      </p:sp>
      <p:sp>
        <p:nvSpPr>
          <p:cNvPr id="8" name="TextBox 7"/>
          <p:cNvSpPr txBox="1"/>
          <p:nvPr userDrawn="1"/>
        </p:nvSpPr>
        <p:spPr bwMode="auto">
          <a:xfrm>
            <a:off x="2509634" y="6533909"/>
            <a:ext cx="837089" cy="338554"/>
          </a:xfrm>
          <a:prstGeom prst="rect">
            <a:avLst/>
          </a:prstGeom>
          <a:noFill/>
          <a:ln w="9525">
            <a:noFill/>
            <a:miter lim="800000"/>
          </a:ln>
        </p:spPr>
        <p:txBody>
          <a:bodyPr wrap="none" rtlCol="0" anchor="b">
            <a:spAutoFit/>
          </a:bodyPr>
          <a:lstStyle/>
          <a:p>
            <a:pPr algn="ctr">
              <a:spcBef>
                <a:spcPct val="20000"/>
              </a:spcBef>
              <a:buClr>
                <a:schemeClr val="hlink"/>
              </a:buClr>
              <a:buFont typeface="Wingdings" panose="05000000000000000000" pitchFamily="2" charset="2"/>
              <a:buNone/>
            </a:pPr>
            <a:fld id="{E06F47B1-A2F8-40A5-AD5F-9DCD4D886805}" type="slidenum">
              <a:rPr lang="zh-CN" altLang="en-US" sz="1600" b="0" kern="0" smtClean="0">
                <a:solidFill>
                  <a:schemeClr val="bg1"/>
                </a:solidFill>
                <a:latin typeface="Arial" panose="020B0604020202020204" pitchFamily="34" charset="0"/>
                <a:ea typeface="微软雅黑" panose="020B0503020204020204" pitchFamily="34" charset="-122"/>
                <a:cs typeface="Arial" panose="020B0604020202020204" pitchFamily="34" charset="0"/>
              </a:rPr>
              <a:t>‹#›</a:t>
            </a:fld>
            <a:r>
              <a:rPr lang="zh-CN" altLang="en-US" sz="1600" b="0" kern="0" dirty="0" smtClean="0">
                <a:solidFill>
                  <a:schemeClr val="bg1"/>
                </a:solidFill>
                <a:latin typeface="Arial" panose="020B0604020202020204" pitchFamily="34" charset="0"/>
                <a:ea typeface="微软雅黑" panose="020B0503020204020204" pitchFamily="34" charset="-122"/>
                <a:cs typeface="Arial" panose="020B0604020202020204" pitchFamily="34" charset="0"/>
              </a:rPr>
              <a:t> </a:t>
            </a:r>
            <a:r>
              <a:rPr lang="en-US" altLang="zh-CN" sz="1600" b="0" kern="0" dirty="0" smtClean="0">
                <a:solidFill>
                  <a:schemeClr val="bg1"/>
                </a:solidFill>
                <a:latin typeface="Arial" panose="020B0604020202020204" pitchFamily="34" charset="0"/>
                <a:ea typeface="微软雅黑" panose="020B0503020204020204" pitchFamily="34" charset="-122"/>
                <a:cs typeface="Arial" panose="020B0604020202020204" pitchFamily="34" charset="0"/>
              </a:rPr>
              <a:t>/ 37</a:t>
            </a:r>
            <a:endParaRPr lang="zh-CN" altLang="en-US" sz="1600" b="0" kern="0" dirty="0" smtClean="0">
              <a:solidFill>
                <a:schemeClr val="bg1"/>
              </a:solidFill>
              <a:latin typeface="Arial" panose="020B0604020202020204" pitchFamily="34" charset="0"/>
              <a:ea typeface="微软雅黑" panose="020B0503020204020204" pitchFamily="34" charset="-122"/>
              <a:cs typeface="Arial" panose="020B0604020202020204" pitchFamily="34" charset="0"/>
            </a:endParaRPr>
          </a:p>
        </p:txBody>
      </p:sp>
    </p:spTree>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04-Title&amp;文字图片">
    <p:spTree>
      <p:nvGrpSpPr>
        <p:cNvPr id="1" name=""/>
        <p:cNvGrpSpPr/>
        <p:nvPr/>
      </p:nvGrpSpPr>
      <p:grpSpPr>
        <a:xfrm>
          <a:off x="0" y="0"/>
          <a:ext cx="0" cy="0"/>
          <a:chOff x="0" y="0"/>
          <a:chExt cx="0" cy="0"/>
        </a:xfrm>
      </p:grpSpPr>
      <p:pic>
        <p:nvPicPr>
          <p:cNvPr id="18" name="图片 17" descr="带Rlogo.png"/>
          <p:cNvPicPr>
            <a:picLocks noChangeAspect="1"/>
          </p:cNvPicPr>
          <p:nvPr userDrawn="1"/>
        </p:nvPicPr>
        <p:blipFill>
          <a:blip r:embed="rId2" cstate="print"/>
          <a:stretch>
            <a:fillRect/>
          </a:stretch>
        </p:blipFill>
        <p:spPr>
          <a:xfrm>
            <a:off x="221943" y="6504180"/>
            <a:ext cx="1695635" cy="302606"/>
          </a:xfrm>
          <a:prstGeom prst="rect">
            <a:avLst/>
          </a:prstGeom>
        </p:spPr>
      </p:pic>
      <p:sp>
        <p:nvSpPr>
          <p:cNvPr id="20" name="TextBox 19"/>
          <p:cNvSpPr txBox="1"/>
          <p:nvPr userDrawn="1"/>
        </p:nvSpPr>
        <p:spPr>
          <a:xfrm>
            <a:off x="8525573" y="6585145"/>
            <a:ext cx="3645754" cy="246221"/>
          </a:xfrm>
          <a:prstGeom prst="rect">
            <a:avLst/>
          </a:prstGeom>
          <a:noFill/>
        </p:spPr>
        <p:txBody>
          <a:bodyPr wrap="square" rtlCol="0">
            <a:spAutoFit/>
          </a:bodyPr>
          <a:lstStyle/>
          <a:p>
            <a:r>
              <a:rPr lang="en-US" altLang="zh-CN" sz="1000" spc="100" dirty="0" smtClean="0">
                <a:solidFill>
                  <a:schemeClr val="bg1">
                    <a:lumMod val="65000"/>
                  </a:schemeClr>
                </a:solidFill>
                <a:latin typeface="微软雅黑" panose="020B0503020204020204" pitchFamily="34" charset="-122"/>
                <a:ea typeface="微软雅黑" panose="020B0503020204020204" pitchFamily="34" charset="-122"/>
              </a:rPr>
              <a:t>400-013-9696 / www.gbase.cn / info@gbase.cn</a:t>
            </a:r>
            <a:endParaRPr lang="zh-CN" altLang="en-US" sz="1000" spc="100" dirty="0">
              <a:solidFill>
                <a:schemeClr val="bg1">
                  <a:lumMod val="65000"/>
                </a:schemeClr>
              </a:solidFill>
              <a:latin typeface="微软雅黑" panose="020B0503020204020204" pitchFamily="34" charset="-122"/>
              <a:ea typeface="微软雅黑" panose="020B0503020204020204" pitchFamily="34" charset="-122"/>
            </a:endParaRPr>
          </a:p>
        </p:txBody>
      </p:sp>
      <p:cxnSp>
        <p:nvCxnSpPr>
          <p:cNvPr id="21" name="直接连接符 20"/>
          <p:cNvCxnSpPr/>
          <p:nvPr userDrawn="1"/>
        </p:nvCxnSpPr>
        <p:spPr>
          <a:xfrm>
            <a:off x="0" y="101917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sp>
        <p:nvSpPr>
          <p:cNvPr id="22" name="标题 1"/>
          <p:cNvSpPr>
            <a:spLocks noGrp="1"/>
          </p:cNvSpPr>
          <p:nvPr>
            <p:ph type="title" hasCustomPrompt="1"/>
          </p:nvPr>
        </p:nvSpPr>
        <p:spPr>
          <a:xfrm>
            <a:off x="275491" y="538406"/>
            <a:ext cx="11207263" cy="481500"/>
          </a:xfrm>
          <a:prstGeom prst="rect">
            <a:avLst/>
          </a:prstGeom>
        </p:spPr>
        <p:txBody>
          <a:bodyPr/>
          <a:lstStyle>
            <a:lvl1pPr>
              <a:defRPr sz="3000" b="1" spc="100" baseline="0">
                <a:latin typeface="微软雅黑" panose="020B0503020204020204" pitchFamily="34" charset="-122"/>
                <a:ea typeface="微软雅黑" panose="020B0503020204020204" pitchFamily="34" charset="-122"/>
              </a:defRPr>
            </a:lvl1pPr>
          </a:lstStyle>
          <a:p>
            <a:r>
              <a:rPr lang="zh-CN" altLang="en-US" dirty="0" smtClean="0"/>
              <a:t>标题文字</a:t>
            </a:r>
            <a:endParaRPr lang="zh-CN" altLang="en-US" dirty="0"/>
          </a:p>
        </p:txBody>
      </p:sp>
      <p:sp>
        <p:nvSpPr>
          <p:cNvPr id="23" name="文本占位符 11"/>
          <p:cNvSpPr>
            <a:spLocks noGrp="1"/>
          </p:cNvSpPr>
          <p:nvPr>
            <p:ph type="body" sz="quarter" idx="10" hasCustomPrompt="1"/>
          </p:nvPr>
        </p:nvSpPr>
        <p:spPr>
          <a:xfrm>
            <a:off x="6177280" y="1248508"/>
            <a:ext cx="5297170" cy="4888767"/>
          </a:xfrm>
          <a:prstGeom prst="rect">
            <a:avLst/>
          </a:prstGeom>
        </p:spPr>
        <p:txBody>
          <a:bodyPr/>
          <a:lstStyle>
            <a:lvl1pPr>
              <a:lnSpc>
                <a:spcPct val="100000"/>
              </a:lnSpc>
              <a:buFontTx/>
              <a:buBlip>
                <a:blip r:embed="rId3"/>
              </a:buBlip>
              <a:defRPr sz="2400" spc="100" baseline="0">
                <a:solidFill>
                  <a:schemeClr val="bg2">
                    <a:lumMod val="25000"/>
                  </a:schemeClr>
                </a:solidFill>
                <a:latin typeface="微软雅黑" panose="020B0503020204020204" pitchFamily="34" charset="-122"/>
                <a:ea typeface="微软雅黑" panose="020B0503020204020204" pitchFamily="34" charset="-122"/>
              </a:defRPr>
            </a:lvl1pPr>
            <a:lvl2pPr>
              <a:lnSpc>
                <a:spcPct val="100000"/>
              </a:lnSpc>
              <a:defRPr sz="1800" spc="100" baseline="0">
                <a:solidFill>
                  <a:schemeClr val="bg2">
                    <a:lumMod val="25000"/>
                  </a:schemeClr>
                </a:solidFill>
                <a:latin typeface="微软雅黑" panose="020B0503020204020204" pitchFamily="34" charset="-122"/>
                <a:ea typeface="微软雅黑" panose="020B0503020204020204" pitchFamily="34" charset="-122"/>
              </a:defRPr>
            </a:lvl2pPr>
          </a:lstStyle>
          <a:p>
            <a:pPr lvl="0"/>
            <a:r>
              <a:rPr lang="zh-CN" altLang="en-US" dirty="0" smtClean="0"/>
              <a:t>第一级</a:t>
            </a:r>
          </a:p>
          <a:p>
            <a:pPr lvl="1"/>
            <a:r>
              <a:rPr lang="zh-CN" altLang="en-US" dirty="0" smtClean="0"/>
              <a:t>第二级</a:t>
            </a:r>
            <a:endParaRPr lang="zh-CN" altLang="en-US" dirty="0"/>
          </a:p>
        </p:txBody>
      </p:sp>
      <p:sp>
        <p:nvSpPr>
          <p:cNvPr id="8" name="TextBox 7"/>
          <p:cNvSpPr txBox="1"/>
          <p:nvPr userDrawn="1"/>
        </p:nvSpPr>
        <p:spPr bwMode="auto">
          <a:xfrm>
            <a:off x="2509634" y="6533909"/>
            <a:ext cx="837089" cy="338554"/>
          </a:xfrm>
          <a:prstGeom prst="rect">
            <a:avLst/>
          </a:prstGeom>
          <a:noFill/>
          <a:ln w="9525">
            <a:noFill/>
            <a:miter lim="800000"/>
          </a:ln>
        </p:spPr>
        <p:txBody>
          <a:bodyPr wrap="none" rtlCol="0" anchor="b">
            <a:spAutoFit/>
          </a:bodyPr>
          <a:lstStyle/>
          <a:p>
            <a:pPr algn="ctr">
              <a:spcBef>
                <a:spcPct val="20000"/>
              </a:spcBef>
              <a:buClr>
                <a:schemeClr val="hlink"/>
              </a:buClr>
              <a:buFont typeface="Wingdings" panose="05000000000000000000" pitchFamily="2" charset="2"/>
              <a:buNone/>
            </a:pPr>
            <a:fld id="{E06F47B1-A2F8-40A5-AD5F-9DCD4D886805}" type="slidenum">
              <a:rPr lang="zh-CN" altLang="en-US" sz="1600" b="0" kern="0" smtClean="0">
                <a:solidFill>
                  <a:schemeClr val="bg1"/>
                </a:solidFill>
                <a:latin typeface="Arial" panose="020B0604020202020204" pitchFamily="34" charset="0"/>
                <a:ea typeface="微软雅黑" panose="020B0503020204020204" pitchFamily="34" charset="-122"/>
                <a:cs typeface="Arial" panose="020B0604020202020204" pitchFamily="34" charset="0"/>
              </a:rPr>
              <a:t>‹#›</a:t>
            </a:fld>
            <a:r>
              <a:rPr lang="zh-CN" altLang="en-US" sz="1600" b="0" kern="0" dirty="0" smtClean="0">
                <a:solidFill>
                  <a:schemeClr val="bg1"/>
                </a:solidFill>
                <a:latin typeface="Arial" panose="020B0604020202020204" pitchFamily="34" charset="0"/>
                <a:ea typeface="微软雅黑" panose="020B0503020204020204" pitchFamily="34" charset="-122"/>
                <a:cs typeface="Arial" panose="020B0604020202020204" pitchFamily="34" charset="0"/>
              </a:rPr>
              <a:t> </a:t>
            </a:r>
            <a:r>
              <a:rPr lang="en-US" altLang="zh-CN" sz="1600" b="0" kern="0" dirty="0" smtClean="0">
                <a:solidFill>
                  <a:schemeClr val="bg1"/>
                </a:solidFill>
                <a:latin typeface="Arial" panose="020B0604020202020204" pitchFamily="34" charset="0"/>
                <a:ea typeface="微软雅黑" panose="020B0503020204020204" pitchFamily="34" charset="-122"/>
                <a:cs typeface="Arial" panose="020B0604020202020204" pitchFamily="34" charset="0"/>
              </a:rPr>
              <a:t>/ 37</a:t>
            </a:r>
            <a:endParaRPr lang="zh-CN" altLang="en-US" sz="1600" b="0" kern="0" dirty="0" smtClean="0">
              <a:solidFill>
                <a:schemeClr val="bg1"/>
              </a:solidFill>
              <a:latin typeface="Arial" panose="020B0604020202020204" pitchFamily="34" charset="0"/>
              <a:ea typeface="微软雅黑" panose="020B0503020204020204" pitchFamily="34" charset="-122"/>
              <a:cs typeface="Arial" panose="020B0604020202020204" pitchFamily="34" charset="0"/>
            </a:endParaRPr>
          </a:p>
        </p:txBody>
      </p:sp>
    </p:spTree>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05-封底">
    <p:spTree>
      <p:nvGrpSpPr>
        <p:cNvPr id="1" name=""/>
        <p:cNvGrpSpPr/>
        <p:nvPr/>
      </p:nvGrpSpPr>
      <p:grpSpPr>
        <a:xfrm>
          <a:off x="0" y="0"/>
          <a:ext cx="0" cy="0"/>
          <a:chOff x="0" y="0"/>
          <a:chExt cx="0" cy="0"/>
        </a:xfrm>
      </p:grpSpPr>
      <p:pic>
        <p:nvPicPr>
          <p:cNvPr id="8" name="图片 7" descr="01-封面.jpg"/>
          <p:cNvPicPr>
            <a:picLocks noChangeAspect="1"/>
          </p:cNvPicPr>
          <p:nvPr userDrawn="1"/>
        </p:nvPicPr>
        <p:blipFill>
          <a:blip r:embed="rId2" cstate="print"/>
          <a:stretch>
            <a:fillRect/>
          </a:stretch>
        </p:blipFill>
        <p:spPr>
          <a:xfrm>
            <a:off x="0" y="2"/>
            <a:ext cx="12192000" cy="6857998"/>
          </a:xfrm>
          <a:prstGeom prst="rect">
            <a:avLst/>
          </a:prstGeom>
        </p:spPr>
      </p:pic>
      <p:sp>
        <p:nvSpPr>
          <p:cNvPr id="10" name="副标题 10"/>
          <p:cNvSpPr txBox="1"/>
          <p:nvPr userDrawn="1"/>
        </p:nvSpPr>
        <p:spPr bwMode="auto">
          <a:xfrm>
            <a:off x="9037516" y="6057752"/>
            <a:ext cx="2632716" cy="242955"/>
          </a:xfrm>
          <a:prstGeom prst="rect">
            <a:avLst/>
          </a:prstGeom>
          <a:noFill/>
          <a:ln w="9525">
            <a:noFill/>
            <a:miter lim="800000"/>
          </a:ln>
        </p:spPr>
        <p:txBody>
          <a:bodyPr lIns="0" tIns="0" rIns="0" bIns="0"/>
          <a:lstStyle/>
          <a:p>
            <a:pPr algn="r" eaLnBrk="0" hangingPunct="0">
              <a:buClr>
                <a:schemeClr val="accent1"/>
              </a:buClr>
              <a:buFontTx/>
              <a:buNone/>
              <a:defRPr/>
            </a:pPr>
            <a:r>
              <a:rPr lang="zh-CN" altLang="en-US" sz="1200" kern="0" spc="150" baseline="0" dirty="0">
                <a:latin typeface="微软雅黑" panose="020B0503020204020204" pitchFamily="34" charset="-122"/>
                <a:ea typeface="微软雅黑" panose="020B0503020204020204" pitchFamily="34" charset="-122"/>
              </a:rPr>
              <a:t>南大通用数据技术股份有限公司</a:t>
            </a:r>
          </a:p>
        </p:txBody>
      </p:sp>
      <p:sp>
        <p:nvSpPr>
          <p:cNvPr id="11" name="TextBox 9"/>
          <p:cNvSpPr>
            <a:spLocks noChangeArrowheads="1"/>
          </p:cNvSpPr>
          <p:nvPr userDrawn="1"/>
        </p:nvSpPr>
        <p:spPr bwMode="auto">
          <a:xfrm>
            <a:off x="9614348" y="6424733"/>
            <a:ext cx="2148350" cy="276999"/>
          </a:xfrm>
          <a:prstGeom prst="rect">
            <a:avLst/>
          </a:prstGeom>
          <a:noFill/>
          <a:ln w="9525">
            <a:noFill/>
            <a:miter lim="800000"/>
          </a:ln>
        </p:spPr>
        <p:txBody>
          <a:bodyPr wrap="square">
            <a:spAutoFit/>
          </a:bodyPr>
          <a:lstStyle/>
          <a:p>
            <a:pPr algn="r">
              <a:buFontTx/>
              <a:buNone/>
            </a:pPr>
            <a:r>
              <a:rPr lang="zh-CN" altLang="zh-CN" sz="1200" spc="100" dirty="0">
                <a:solidFill>
                  <a:srgbClr val="898989"/>
                </a:solidFill>
                <a:latin typeface="微软雅黑" panose="020B0503020204020204" pitchFamily="34" charset="-122"/>
                <a:ea typeface="微软雅黑" panose="020B0503020204020204" pitchFamily="34" charset="-122"/>
                <a:sym typeface="Verdana" panose="020B0604030504040204" pitchFamily="34" charset="0"/>
              </a:rPr>
              <a:t>版权所有© GBASE 201</a:t>
            </a:r>
            <a:r>
              <a:rPr lang="en-US" altLang="zh-CN" sz="1200" spc="100" dirty="0">
                <a:solidFill>
                  <a:srgbClr val="898989"/>
                </a:solidFill>
                <a:latin typeface="微软雅黑" panose="020B0503020204020204" pitchFamily="34" charset="-122"/>
                <a:ea typeface="微软雅黑" panose="020B0503020204020204" pitchFamily="34" charset="-122"/>
                <a:sym typeface="Verdana" panose="020B0604030504040204" pitchFamily="34" charset="0"/>
              </a:rPr>
              <a:t>7</a:t>
            </a:r>
            <a:endParaRPr lang="zh-CN" altLang="zh-CN" sz="1200" spc="100" dirty="0">
              <a:solidFill>
                <a:srgbClr val="000000"/>
              </a:solidFill>
              <a:latin typeface="微软雅黑" panose="020B0503020204020204" pitchFamily="34" charset="-122"/>
              <a:ea typeface="微软雅黑" panose="020B0503020204020204" pitchFamily="34" charset="-122"/>
              <a:sym typeface="Verdana" panose="020B0604030504040204" pitchFamily="34" charset="0"/>
            </a:endParaRPr>
          </a:p>
        </p:txBody>
      </p:sp>
      <p:sp>
        <p:nvSpPr>
          <p:cNvPr id="19" name="标题 1"/>
          <p:cNvSpPr>
            <a:spLocks noGrp="1"/>
          </p:cNvSpPr>
          <p:nvPr>
            <p:ph type="title" hasCustomPrompt="1"/>
          </p:nvPr>
        </p:nvSpPr>
        <p:spPr>
          <a:xfrm>
            <a:off x="2236371" y="3381035"/>
            <a:ext cx="7816361" cy="611845"/>
          </a:xfrm>
          <a:prstGeom prst="rect">
            <a:avLst/>
          </a:prstGeom>
        </p:spPr>
        <p:txBody>
          <a:bodyPr/>
          <a:lstStyle>
            <a:lvl1pPr algn="ctr">
              <a:lnSpc>
                <a:spcPct val="100000"/>
              </a:lnSpc>
              <a:defRPr sz="3200" b="1" spc="100" baseline="0">
                <a:solidFill>
                  <a:srgbClr val="5A6783"/>
                </a:solidFill>
                <a:latin typeface="微软雅黑" panose="020B0503020204020204" pitchFamily="34" charset="-122"/>
                <a:ea typeface="微软雅黑" panose="020B0503020204020204" pitchFamily="34" charset="-122"/>
              </a:defRPr>
            </a:lvl1pPr>
          </a:lstStyle>
          <a:p>
            <a:r>
              <a:rPr lang="en-US" altLang="zh-CN" dirty="0" smtClean="0"/>
              <a:t>Thank you</a:t>
            </a:r>
            <a:r>
              <a:rPr lang="zh-CN" altLang="en-US" dirty="0" smtClean="0"/>
              <a:t>！</a:t>
            </a:r>
            <a:endParaRPr lang="zh-CN" altLang="en-US" dirty="0"/>
          </a:p>
        </p:txBody>
      </p:sp>
      <p:sp>
        <p:nvSpPr>
          <p:cNvPr id="13" name="副标题 10"/>
          <p:cNvSpPr txBox="1"/>
          <p:nvPr userDrawn="1"/>
        </p:nvSpPr>
        <p:spPr bwMode="auto">
          <a:xfrm>
            <a:off x="8137966" y="6246160"/>
            <a:ext cx="3511948" cy="304056"/>
          </a:xfrm>
          <a:prstGeom prst="rect">
            <a:avLst/>
          </a:prstGeom>
          <a:noFill/>
          <a:ln w="9525">
            <a:noFill/>
            <a:miter lim="800000"/>
          </a:ln>
        </p:spPr>
        <p:txBody>
          <a:bodyPr lIns="0" tIns="0" rIns="0" bIns="0"/>
          <a:lstStyle/>
          <a:p>
            <a:pPr algn="r" eaLnBrk="0" hangingPunct="0">
              <a:buClr>
                <a:schemeClr val="accent1"/>
              </a:buClr>
              <a:buFontTx/>
              <a:buNone/>
              <a:defRPr/>
            </a:pPr>
            <a:r>
              <a:rPr lang="en-US" altLang="zh-CN" sz="1200" kern="0" spc="0" baseline="0" dirty="0" smtClean="0">
                <a:latin typeface="微软雅黑" panose="020B0503020204020204" pitchFamily="34" charset="-122"/>
                <a:ea typeface="微软雅黑" panose="020B0503020204020204" pitchFamily="34" charset="-122"/>
              </a:rPr>
              <a:t>General Data Technology </a:t>
            </a:r>
            <a:r>
              <a:rPr lang="en-US" altLang="zh-CN" sz="1200" kern="0" spc="0" baseline="0" dirty="0" err="1" smtClean="0">
                <a:latin typeface="微软雅黑" panose="020B0503020204020204" pitchFamily="34" charset="-122"/>
                <a:ea typeface="微软雅黑" panose="020B0503020204020204" pitchFamily="34" charset="-122"/>
              </a:rPr>
              <a:t>Co.,Ltd</a:t>
            </a:r>
            <a:endParaRPr lang="zh-CN" altLang="en-US" sz="1200" kern="0" spc="0" baseline="0" dirty="0">
              <a:latin typeface="微软雅黑" panose="020B0503020204020204" pitchFamily="34" charset="-122"/>
              <a:ea typeface="微软雅黑" panose="020B0503020204020204" pitchFamily="34" charset="-122"/>
            </a:endParaRPr>
          </a:p>
        </p:txBody>
      </p:sp>
      <p:sp>
        <p:nvSpPr>
          <p:cNvPr id="15" name="标题 1"/>
          <p:cNvSpPr txBox="1"/>
          <p:nvPr userDrawn="1"/>
        </p:nvSpPr>
        <p:spPr>
          <a:xfrm>
            <a:off x="4445779" y="1516752"/>
            <a:ext cx="3189069" cy="1582048"/>
          </a:xfrm>
          <a:prstGeom prst="rect">
            <a:avLst/>
          </a:prstGeom>
        </p:spPr>
        <p:txBody>
          <a:bodyPr/>
          <a:lstStyle>
            <a:lvl1pPr algn="ctr">
              <a:lnSpc>
                <a:spcPct val="100000"/>
              </a:lnSpc>
              <a:defRPr sz="3200" b="1" spc="100" baseline="0">
                <a:solidFill>
                  <a:schemeClr val="bg2">
                    <a:lumMod val="25000"/>
                  </a:schemeClr>
                </a:solidFill>
                <a:latin typeface="微软雅黑" panose="020B0503020204020204" pitchFamily="34" charset="-122"/>
                <a:ea typeface="微软雅黑" panose="020B0503020204020204" pitchFamily="34" charset="-122"/>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9600" b="0" i="0" u="none" strike="noStrike" kern="1200" cap="none" spc="200" normalizeH="0" baseline="0" noProof="0" dirty="0" smtClean="0">
                <a:ln>
                  <a:noFill/>
                </a:ln>
                <a:solidFill>
                  <a:srgbClr val="FF0000"/>
                </a:solidFill>
                <a:effectLst/>
                <a:uLnTx/>
                <a:uFillTx/>
                <a:latin typeface="微软雅黑" panose="020B0503020204020204" pitchFamily="34" charset="-122"/>
                <a:ea typeface="微软雅黑" panose="020B0503020204020204" pitchFamily="34" charset="-122"/>
                <a:cs typeface="+mj-cs"/>
              </a:rPr>
              <a:t>Q&amp;A</a:t>
            </a:r>
            <a:endParaRPr kumimoji="0" lang="zh-CN" altLang="en-US" sz="9600" b="0" i="0" u="none" strike="noStrike" kern="1200" cap="none" spc="20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j-cs"/>
            </a:endParaRPr>
          </a:p>
        </p:txBody>
      </p:sp>
      <p:pic>
        <p:nvPicPr>
          <p:cNvPr id="16" name="图片 15" descr="logo_02.png"/>
          <p:cNvPicPr>
            <a:picLocks noChangeAspect="1"/>
          </p:cNvPicPr>
          <p:nvPr userDrawn="1"/>
        </p:nvPicPr>
        <p:blipFill>
          <a:blip r:embed="rId3" cstate="print"/>
          <a:stretch>
            <a:fillRect/>
          </a:stretch>
        </p:blipFill>
        <p:spPr>
          <a:xfrm>
            <a:off x="9215120" y="5520055"/>
            <a:ext cx="2692400" cy="504825"/>
          </a:xfrm>
          <a:prstGeom prst="rect">
            <a:avLst/>
          </a:prstGeom>
        </p:spPr>
      </p:pic>
    </p:spTree>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
  <p:cSld name="封面2">
    <p:spTree>
      <p:nvGrpSpPr>
        <p:cNvPr id="1" name=""/>
        <p:cNvGrpSpPr/>
        <p:nvPr/>
      </p:nvGrpSpPr>
      <p:grpSpPr>
        <a:xfrm>
          <a:off x="0" y="0"/>
          <a:ext cx="0" cy="0"/>
          <a:chOff x="0" y="0"/>
          <a:chExt cx="0" cy="0"/>
        </a:xfrm>
      </p:grpSpPr>
      <p:sp>
        <p:nvSpPr>
          <p:cNvPr id="4" name="Rectangle 71"/>
          <p:cNvSpPr>
            <a:spLocks noChangeArrowheads="1"/>
          </p:cNvSpPr>
          <p:nvPr userDrawn="1"/>
        </p:nvSpPr>
        <p:spPr bwMode="auto">
          <a:xfrm>
            <a:off x="1219200" y="914401"/>
            <a:ext cx="3765551" cy="2824163"/>
          </a:xfrm>
          <a:prstGeom prst="rect">
            <a:avLst/>
          </a:prstGeom>
          <a:solidFill>
            <a:srgbClr val="ADADAD"/>
          </a:solidFill>
          <a:ln w="12700">
            <a:noFill/>
            <a:miter lim="800000"/>
          </a:ln>
          <a:effectLst/>
        </p:spPr>
        <p:txBody>
          <a:bodyPr wrap="none" anchor="ctr" anchorCtr="1"/>
          <a:lstStyle/>
          <a:p>
            <a:pPr eaLnBrk="0" hangingPunct="0">
              <a:defRPr/>
            </a:pPr>
            <a:r>
              <a:rPr kumimoji="1" lang="en-US" altLang="zh-CN" sz="1400">
                <a:solidFill>
                  <a:srgbClr val="000000"/>
                </a:solidFill>
                <a:latin typeface="Verdana" panose="020B0604030504040204" pitchFamily="34" charset="0"/>
              </a:rPr>
              <a:t>&lt;Insert Picture Here&gt;</a:t>
            </a:r>
          </a:p>
        </p:txBody>
      </p:sp>
      <p:pic>
        <p:nvPicPr>
          <p:cNvPr id="5" name="Picture 74" descr="Tall Red"/>
          <p:cNvPicPr>
            <a:picLocks noChangeAspect="1" noChangeArrowheads="1"/>
          </p:cNvPicPr>
          <p:nvPr userDrawn="1"/>
        </p:nvPicPr>
        <p:blipFill>
          <a:blip r:embed="rId2" cstate="print"/>
          <a:srcRect/>
          <a:stretch>
            <a:fillRect/>
          </a:stretch>
        </p:blipFill>
        <p:spPr bwMode="auto">
          <a:xfrm>
            <a:off x="0" y="914401"/>
            <a:ext cx="1219200" cy="2822575"/>
          </a:xfrm>
          <a:prstGeom prst="rect">
            <a:avLst/>
          </a:prstGeom>
          <a:noFill/>
          <a:ln w="9525">
            <a:noFill/>
            <a:miter lim="800000"/>
            <a:headEnd/>
            <a:tailEnd/>
          </a:ln>
        </p:spPr>
      </p:pic>
      <p:pic>
        <p:nvPicPr>
          <p:cNvPr id="6" name="Picture 75" descr="Wide Red"/>
          <p:cNvPicPr>
            <a:picLocks noChangeAspect="1" noChangeArrowheads="1"/>
          </p:cNvPicPr>
          <p:nvPr userDrawn="1"/>
        </p:nvPicPr>
        <p:blipFill>
          <a:blip r:embed="rId3" cstate="print"/>
          <a:srcRect/>
          <a:stretch>
            <a:fillRect/>
          </a:stretch>
        </p:blipFill>
        <p:spPr bwMode="auto">
          <a:xfrm>
            <a:off x="4982634" y="914401"/>
            <a:ext cx="7209367" cy="2822575"/>
          </a:xfrm>
          <a:prstGeom prst="rect">
            <a:avLst/>
          </a:prstGeom>
          <a:noFill/>
          <a:ln w="9525">
            <a:noFill/>
            <a:miter lim="800000"/>
            <a:headEnd/>
            <a:tailEnd/>
          </a:ln>
        </p:spPr>
      </p:pic>
      <p:sp>
        <p:nvSpPr>
          <p:cNvPr id="262220" name="Rectangle 76"/>
          <p:cNvSpPr>
            <a:spLocks noGrp="1" noChangeArrowheads="1"/>
          </p:cNvSpPr>
          <p:nvPr>
            <p:ph type="ctrTitle" sz="quarter"/>
          </p:nvPr>
        </p:nvSpPr>
        <p:spPr>
          <a:xfrm>
            <a:off x="1117600" y="4800601"/>
            <a:ext cx="10363200" cy="860425"/>
          </a:xfrm>
          <a:prstGeom prst="rect">
            <a:avLst/>
          </a:prstGeom>
        </p:spPr>
        <p:txBody>
          <a:bodyPr lIns="91440" tIns="45720" rIns="91440" bIns="45720" anchor="b"/>
          <a:lstStyle>
            <a:lvl1pPr>
              <a:defRPr sz="2800"/>
            </a:lvl1pPr>
          </a:lstStyle>
          <a:p>
            <a:r>
              <a:rPr lang="en-US" altLang="zh-CN" dirty="0"/>
              <a:t>Click to edit Master title style</a:t>
            </a:r>
          </a:p>
        </p:txBody>
      </p:sp>
      <p:sp>
        <p:nvSpPr>
          <p:cNvPr id="262221" name="Rectangle 77"/>
          <p:cNvSpPr>
            <a:spLocks noGrp="1" noChangeArrowheads="1"/>
          </p:cNvSpPr>
          <p:nvPr>
            <p:ph type="subTitle" sz="quarter" idx="1"/>
          </p:nvPr>
        </p:nvSpPr>
        <p:spPr>
          <a:xfrm>
            <a:off x="1117600" y="5715000"/>
            <a:ext cx="8534400" cy="762000"/>
          </a:xfrm>
          <a:prstGeom prst="rect">
            <a:avLst/>
          </a:prstGeom>
        </p:spPr>
        <p:txBody>
          <a:bodyPr lIns="91440" tIns="45720" rIns="91440" bIns="45720"/>
          <a:lstStyle>
            <a:lvl1pPr marL="0" indent="0">
              <a:spcBef>
                <a:spcPct val="0"/>
              </a:spcBef>
              <a:buFontTx/>
              <a:buNone/>
              <a:defRPr sz="2000"/>
            </a:lvl1pPr>
          </a:lstStyle>
          <a:p>
            <a:r>
              <a:rPr lang="en-US" altLang="zh-CN" dirty="0"/>
              <a:t>Click to edit Master subtitle style</a:t>
            </a:r>
          </a:p>
        </p:txBody>
      </p:sp>
      <p:pic>
        <p:nvPicPr>
          <p:cNvPr id="8" name="图片 6" descr="He36BowInletGAL.jpg"/>
          <p:cNvPicPr>
            <a:picLocks noChangeAspect="1"/>
          </p:cNvPicPr>
          <p:nvPr userDrawn="1"/>
        </p:nvPicPr>
        <p:blipFill>
          <a:blip r:embed="rId4" cstate="print"/>
          <a:srcRect/>
          <a:stretch>
            <a:fillRect/>
          </a:stretch>
        </p:blipFill>
        <p:spPr bwMode="auto">
          <a:xfrm>
            <a:off x="912284" y="915988"/>
            <a:ext cx="5264149" cy="2825750"/>
          </a:xfrm>
          <a:prstGeom prst="rect">
            <a:avLst/>
          </a:prstGeom>
          <a:noFill/>
          <a:ln w="9525">
            <a:noFill/>
            <a:miter lim="800000"/>
            <a:headEnd/>
            <a:tailEnd/>
          </a:ln>
        </p:spPr>
      </p:pic>
      <p:pic>
        <p:nvPicPr>
          <p:cNvPr id="9" name="图片 13" descr="最终版.jpg"/>
          <p:cNvPicPr>
            <a:picLocks noChangeAspect="1" noChangeArrowheads="1"/>
          </p:cNvPicPr>
          <p:nvPr userDrawn="1"/>
        </p:nvPicPr>
        <p:blipFill>
          <a:blip r:embed="rId5" cstate="print"/>
          <a:srcRect/>
          <a:stretch>
            <a:fillRect/>
          </a:stretch>
        </p:blipFill>
        <p:spPr bwMode="auto">
          <a:xfrm>
            <a:off x="1062566" y="4357695"/>
            <a:ext cx="2986855" cy="428619"/>
          </a:xfrm>
          <a:prstGeom prst="rect">
            <a:avLst/>
          </a:prstGeom>
          <a:noFill/>
          <a:ln w="9525">
            <a:noFill/>
            <a:miter lim="800000"/>
            <a:headEnd/>
            <a:tailEnd/>
          </a:ln>
        </p:spPr>
      </p:pic>
    </p:spTree>
  </p:cSld>
  <p:clrMapOvr>
    <a:masterClrMapping/>
  </p:clrMapOvr>
  <p:transition>
    <p:wipe dir="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obj">
  <p:cSld name="1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903111" y="304800"/>
            <a:ext cx="10391423" cy="482600"/>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914400" y="1600200"/>
            <a:ext cx="10049933" cy="4343400"/>
          </a:xfrm>
          <a:prstGeom prst="rect">
            <a:avLst/>
          </a:prstGeo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灯片编号占位符 9"/>
          <p:cNvSpPr>
            <a:spLocks noGrp="1"/>
          </p:cNvSpPr>
          <p:nvPr>
            <p:ph type="sldNum" sz="quarter" idx="4"/>
          </p:nvPr>
        </p:nvSpPr>
        <p:spPr>
          <a:xfrm>
            <a:off x="0" y="6457951"/>
            <a:ext cx="12192000" cy="365125"/>
          </a:xfrm>
          <a:prstGeom prst="rect">
            <a:avLst/>
          </a:prstGeom>
        </p:spPr>
        <p:txBody>
          <a:bodyPr vert="horz" wrap="square" lIns="91440" tIns="45720" rIns="91440" bIns="45720" numCol="1" anchor="ctr" anchorCtr="0" compatLnSpc="1"/>
          <a:lstStyle>
            <a:lvl1pPr algn="r">
              <a:defRPr sz="1200" b="0">
                <a:solidFill>
                  <a:schemeClr val="bg1">
                    <a:lumMod val="50000"/>
                  </a:schemeClr>
                </a:solidFill>
                <a:latin typeface="+mn-lt"/>
                <a:ea typeface="宋体" panose="02010600030101010101" pitchFamily="2" charset="-122"/>
              </a:defRPr>
            </a:lvl1pPr>
          </a:lstStyle>
          <a:p>
            <a:fld id="{84CFB1C9-13D2-4FCA-8E43-5D048D3AC9EF}" type="slidenum">
              <a:rPr kumimoji="1" lang="zh-CN" altLang="en-US" smtClean="0"/>
              <a:t>‹#›</a:t>
            </a:fld>
            <a:endParaRPr kumimoji="1" lang="zh-CN" altLang="en-US" dirty="0"/>
          </a:p>
        </p:txBody>
      </p:sp>
    </p:spTree>
  </p:cSld>
  <p:clrMapOvr>
    <a:masterClrMapping/>
  </p:clrMapOvr>
  <p:transition>
    <p:wipe dir="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900289" y="304800"/>
            <a:ext cx="10391423" cy="482600"/>
          </a:xfrm>
          <a:prstGeom prst="rect">
            <a:avLst/>
          </a:prstGeom>
        </p:spPr>
        <p:txBody>
          <a:bodyPr/>
          <a:lstStyle>
            <a:lvl1pPr>
              <a:defRPr sz="2800"/>
            </a:lvl1pPr>
          </a:lstStyle>
          <a:p>
            <a:r>
              <a:rPr lang="zh-CN" altLang="en-US" dirty="0"/>
              <a:t>单击此处编辑母版标题样式</a:t>
            </a:r>
          </a:p>
        </p:txBody>
      </p:sp>
      <p:sp>
        <p:nvSpPr>
          <p:cNvPr id="3" name="内容占位符 2"/>
          <p:cNvSpPr>
            <a:spLocks noGrp="1"/>
          </p:cNvSpPr>
          <p:nvPr>
            <p:ph idx="1"/>
          </p:nvPr>
        </p:nvSpPr>
        <p:spPr>
          <a:xfrm>
            <a:off x="900000" y="1303866"/>
            <a:ext cx="10392000" cy="4551971"/>
          </a:xfrm>
          <a:prstGeom prst="rect">
            <a:avLst/>
          </a:prstGeo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灯片编号占位符 4"/>
          <p:cNvSpPr>
            <a:spLocks noGrp="1"/>
          </p:cNvSpPr>
          <p:nvPr>
            <p:ph type="sldNum" sz="quarter" idx="10"/>
          </p:nvPr>
        </p:nvSpPr>
        <p:spPr>
          <a:xfrm>
            <a:off x="0" y="6450014"/>
            <a:ext cx="12192000" cy="365125"/>
          </a:xfrm>
          <a:prstGeom prst="rect">
            <a:avLst/>
          </a:prstGeom>
        </p:spPr>
        <p:txBody>
          <a:bodyPr/>
          <a:lstStyle>
            <a:lvl1pPr>
              <a:defRPr>
                <a:solidFill>
                  <a:schemeClr val="bg1">
                    <a:lumMod val="50000"/>
                  </a:schemeClr>
                </a:solidFill>
                <a:latin typeface="+mn-lt"/>
                <a:ea typeface="微软雅黑" panose="020B0503020204020204" pitchFamily="34" charset="-122"/>
              </a:defRPr>
            </a:lvl1pPr>
          </a:lstStyle>
          <a:p>
            <a:fld id="{BC19DD57-1BEB-4926-A058-047180D57B5B}" type="slidenum">
              <a:rPr lang="zh-CN" altLang="en-US" smtClean="0"/>
              <a:t>‹#›</a:t>
            </a:fld>
            <a:endParaRPr lang="zh-CN" altLang="en-US" dirty="0"/>
          </a:p>
        </p:txBody>
      </p:sp>
      <p:sp>
        <p:nvSpPr>
          <p:cNvPr id="9" name="Rectangle 77"/>
          <p:cNvSpPr>
            <a:spLocks noGrp="1" noChangeArrowheads="1"/>
          </p:cNvSpPr>
          <p:nvPr>
            <p:ph type="subTitle" sz="quarter" idx="11"/>
          </p:nvPr>
        </p:nvSpPr>
        <p:spPr>
          <a:xfrm>
            <a:off x="903111" y="821268"/>
            <a:ext cx="8534400" cy="347133"/>
          </a:xfrm>
          <a:prstGeom prst="rect">
            <a:avLst/>
          </a:prstGeom>
        </p:spPr>
        <p:txBody>
          <a:bodyPr lIns="91440" tIns="45720" rIns="91440" bIns="45720"/>
          <a:lstStyle>
            <a:lvl1pPr marL="0" indent="0">
              <a:spcBef>
                <a:spcPct val="0"/>
              </a:spcBef>
              <a:buFontTx/>
              <a:buNone/>
              <a:defRPr sz="1800" b="1">
                <a:solidFill>
                  <a:srgbClr val="FF0000"/>
                </a:solidFill>
                <a:latin typeface="微软雅黑" panose="020B0503020204020204" pitchFamily="34" charset="-122"/>
                <a:ea typeface="微软雅黑" panose="020B0503020204020204" pitchFamily="34" charset="-122"/>
              </a:defRPr>
            </a:lvl1pPr>
          </a:lstStyle>
          <a:p>
            <a:r>
              <a:rPr lang="en-US" altLang="zh-CN" dirty="0"/>
              <a:t>Click to edit Master subtitle style</a:t>
            </a:r>
          </a:p>
        </p:txBody>
      </p:sp>
      <p:sp>
        <p:nvSpPr>
          <p:cNvPr id="6" name="灯片编号占位符 9"/>
          <p:cNvSpPr txBox="1"/>
          <p:nvPr userDrawn="1"/>
        </p:nvSpPr>
        <p:spPr>
          <a:xfrm>
            <a:off x="0" y="6457951"/>
            <a:ext cx="12192000" cy="365125"/>
          </a:xfrm>
          <a:prstGeom prst="rect">
            <a:avLst/>
          </a:prstGeom>
        </p:spPr>
        <p:txBody>
          <a:bodyPr vert="horz" wrap="square" lIns="91440" tIns="45720" rIns="91440" bIns="45720" numCol="1" anchor="ctr" anchorCtr="0" compatLnSpc="1"/>
          <a:lstStyle>
            <a:lvl1pPr algn="r">
              <a:defRPr sz="1200" b="0">
                <a:solidFill>
                  <a:schemeClr val="bg1">
                    <a:lumMod val="50000"/>
                  </a:schemeClr>
                </a:solidFill>
                <a:latin typeface="+mn-lt"/>
                <a:ea typeface="宋体" panose="02010600030101010101" pitchFamily="2" charset="-122"/>
              </a:defRPr>
            </a:lvl1pPr>
          </a:lstStyle>
          <a:p>
            <a:pPr marL="0" marR="0" lvl="0" indent="0" algn="r" defTabSz="914400" rtl="0" eaLnBrk="1" fontAlgn="auto" latinLnBrk="0" hangingPunct="1">
              <a:lnSpc>
                <a:spcPct val="100000"/>
              </a:lnSpc>
              <a:spcBef>
                <a:spcPts val="0"/>
              </a:spcBef>
              <a:spcAft>
                <a:spcPts val="0"/>
              </a:spcAft>
              <a:buClrTx/>
              <a:buSzTx/>
              <a:buFontTx/>
              <a:buNone/>
              <a:defRPr/>
            </a:pPr>
            <a:fld id="{84CFB1C9-13D2-4FCA-8E43-5D048D3AC9EF}" type="slidenum">
              <a:rPr kumimoji="1" lang="zh-CN" altLang="en-US" sz="1200" b="0" i="0" u="none" strike="noStrike" kern="1200" cap="none" spc="0" normalizeH="0" baseline="0" noProof="0" smtClean="0">
                <a:ln>
                  <a:noFill/>
                </a:ln>
                <a:solidFill>
                  <a:schemeClr val="bg1">
                    <a:lumMod val="50000"/>
                  </a:schemeClr>
                </a:solidFill>
                <a:effectLst/>
                <a:uLnTx/>
                <a:uFillTx/>
                <a:latin typeface="+mn-lt"/>
                <a:ea typeface="宋体" panose="02010600030101010101" pitchFamily="2" charset="-122"/>
                <a:cs typeface="+mn-cs"/>
              </a:rPr>
              <a:t>‹#›</a:t>
            </a:fld>
            <a:endParaRPr kumimoji="1" lang="zh-CN" altLang="en-US" sz="1200" b="0" i="0" u="none" strike="noStrike" kern="1200" cap="none" spc="0" normalizeH="0" baseline="0" noProof="0" dirty="0">
              <a:ln>
                <a:noFill/>
              </a:ln>
              <a:solidFill>
                <a:schemeClr val="bg1">
                  <a:lumMod val="50000"/>
                </a:schemeClr>
              </a:solidFill>
              <a:effectLst/>
              <a:uLnTx/>
              <a:uFillTx/>
              <a:latin typeface="+mn-lt"/>
              <a:ea typeface="宋体" panose="02010600030101010101" pitchFamily="2" charset="-122"/>
              <a:cs typeface="+mn-cs"/>
            </a:endParaRPr>
          </a:p>
        </p:txBody>
      </p:sp>
    </p:spTree>
  </p:cSld>
  <p:clrMapOvr>
    <a:masterClrMapping/>
  </p:clrMapOvr>
  <p:transition>
    <p:wipe dir="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封底">
    <p:spTree>
      <p:nvGrpSpPr>
        <p:cNvPr id="1" name=""/>
        <p:cNvGrpSpPr/>
        <p:nvPr/>
      </p:nvGrpSpPr>
      <p:grpSpPr>
        <a:xfrm>
          <a:off x="0" y="0"/>
          <a:ext cx="0" cy="0"/>
          <a:chOff x="0" y="0"/>
          <a:chExt cx="0" cy="0"/>
        </a:xfrm>
      </p:grpSpPr>
      <p:sp>
        <p:nvSpPr>
          <p:cNvPr id="8" name="WordArt 5"/>
          <p:cNvSpPr>
            <a:spLocks noChangeArrowheads="1" noChangeShapeType="1"/>
          </p:cNvSpPr>
          <p:nvPr userDrawn="1"/>
        </p:nvSpPr>
        <p:spPr bwMode="auto">
          <a:xfrm>
            <a:off x="4536018" y="1511300"/>
            <a:ext cx="3119967" cy="892175"/>
          </a:xfrm>
          <a:prstGeom prst="rect">
            <a:avLst/>
          </a:prstGeom>
        </p:spPr>
        <p:txBody>
          <a:bodyPr wrap="none" fromWordArt="1">
            <a:prstTxWarp prst="textPlain">
              <a:avLst>
                <a:gd name="adj" fmla="val 50000"/>
              </a:avLst>
            </a:prstTxWarp>
          </a:bodyPr>
          <a:lstStyle/>
          <a:p>
            <a:r>
              <a:rPr kumimoji="1" lang="zh-CN" altLang="en-US" sz="3600" kern="10" dirty="0">
                <a:ln w="9525">
                  <a:solidFill>
                    <a:srgbClr val="CC0000"/>
                  </a:solidFill>
                  <a:round/>
                </a:ln>
                <a:solidFill>
                  <a:srgbClr val="FFCC99"/>
                </a:solidFill>
                <a:latin typeface="黑体" panose="02010609060101010101" charset="-122"/>
                <a:ea typeface="黑体" panose="02010609060101010101" charset="-122"/>
              </a:rPr>
              <a:t>谢谢</a:t>
            </a:r>
          </a:p>
        </p:txBody>
      </p:sp>
      <p:sp>
        <p:nvSpPr>
          <p:cNvPr id="12" name="Rectangle 4"/>
          <p:cNvSpPr>
            <a:spLocks noChangeArrowheads="1"/>
          </p:cNvSpPr>
          <p:nvPr userDrawn="1"/>
        </p:nvSpPr>
        <p:spPr bwMode="auto">
          <a:xfrm>
            <a:off x="687918" y="3419475"/>
            <a:ext cx="7020983" cy="2478088"/>
          </a:xfrm>
          <a:prstGeom prst="rect">
            <a:avLst/>
          </a:prstGeom>
          <a:noFill/>
          <a:ln w="9525">
            <a:noFill/>
            <a:miter lim="800000"/>
          </a:ln>
        </p:spPr>
        <p:txBody>
          <a:bodyPr lIns="234000">
            <a:spAutoFit/>
          </a:bodyPr>
          <a:lstStyle/>
          <a:p>
            <a:pPr algn="just">
              <a:lnSpc>
                <a:spcPct val="125000"/>
              </a:lnSpc>
              <a:spcBef>
                <a:spcPct val="50000"/>
              </a:spcBef>
              <a:buClr>
                <a:schemeClr val="accent1"/>
              </a:buClr>
            </a:pPr>
            <a:r>
              <a:rPr lang="zh-CN" altLang="en-US" sz="1200" b="1" dirty="0">
                <a:solidFill>
                  <a:srgbClr val="000000"/>
                </a:solidFill>
                <a:latin typeface="微软雅黑" panose="020B0503020204020204" pitchFamily="34" charset="-122"/>
                <a:ea typeface="微软雅黑" panose="020B0503020204020204" pitchFamily="34" charset="-122"/>
              </a:rPr>
              <a:t>天津：中国天津华苑产业区海泰发展六道</a:t>
            </a:r>
            <a:r>
              <a:rPr lang="en-US" altLang="zh-CN" sz="1200" b="1" dirty="0">
                <a:solidFill>
                  <a:srgbClr val="000000"/>
                </a:solidFill>
                <a:latin typeface="微软雅黑" panose="020B0503020204020204" pitchFamily="34" charset="-122"/>
                <a:ea typeface="微软雅黑" panose="020B0503020204020204" pitchFamily="34" charset="-122"/>
              </a:rPr>
              <a:t>6</a:t>
            </a:r>
            <a:r>
              <a:rPr lang="zh-CN" altLang="en-US" sz="1200" b="1" dirty="0">
                <a:solidFill>
                  <a:srgbClr val="000000"/>
                </a:solidFill>
                <a:latin typeface="微软雅黑" panose="020B0503020204020204" pitchFamily="34" charset="-122"/>
                <a:ea typeface="微软雅黑" panose="020B0503020204020204" pitchFamily="34" charset="-122"/>
              </a:rPr>
              <a:t>号海泰绿色产业基地</a:t>
            </a:r>
            <a:r>
              <a:rPr lang="en-US" altLang="zh-CN" sz="1200" b="1" dirty="0">
                <a:solidFill>
                  <a:srgbClr val="000000"/>
                </a:solidFill>
                <a:latin typeface="微软雅黑" panose="020B0503020204020204" pitchFamily="34" charset="-122"/>
                <a:ea typeface="微软雅黑" panose="020B0503020204020204" pitchFamily="34" charset="-122"/>
              </a:rPr>
              <a:t>J</a:t>
            </a:r>
            <a:r>
              <a:rPr lang="zh-CN" altLang="en-US" sz="1200" b="1" dirty="0">
                <a:solidFill>
                  <a:srgbClr val="000000"/>
                </a:solidFill>
                <a:latin typeface="微软雅黑" panose="020B0503020204020204" pitchFamily="34" charset="-122"/>
                <a:ea typeface="微软雅黑" panose="020B0503020204020204" pitchFamily="34" charset="-122"/>
              </a:rPr>
              <a:t>座</a:t>
            </a:r>
            <a:endParaRPr lang="en-US" altLang="zh-CN" sz="1200" b="1" dirty="0">
              <a:solidFill>
                <a:srgbClr val="000000"/>
              </a:solidFill>
              <a:latin typeface="微软雅黑" panose="020B0503020204020204" pitchFamily="34" charset="-122"/>
              <a:ea typeface="微软雅黑" panose="020B0503020204020204" pitchFamily="34" charset="-122"/>
            </a:endParaRPr>
          </a:p>
          <a:p>
            <a:pPr algn="just">
              <a:lnSpc>
                <a:spcPct val="125000"/>
              </a:lnSpc>
              <a:spcBef>
                <a:spcPct val="50000"/>
              </a:spcBef>
              <a:buClr>
                <a:schemeClr val="accent1"/>
              </a:buClr>
            </a:pPr>
            <a:r>
              <a:rPr lang="zh-CN" altLang="en-US" sz="1200" b="1" dirty="0">
                <a:solidFill>
                  <a:srgbClr val="000000"/>
                </a:solidFill>
                <a:latin typeface="微软雅黑" panose="020B0503020204020204" pitchFamily="34" charset="-122"/>
                <a:ea typeface="微软雅黑" panose="020B0503020204020204" pitchFamily="34" charset="-122"/>
              </a:rPr>
              <a:t>电话：</a:t>
            </a:r>
            <a:r>
              <a:rPr lang="zh-CN" altLang="zh-CN" sz="1200" b="1" dirty="0">
                <a:solidFill>
                  <a:srgbClr val="000000"/>
                </a:solidFill>
                <a:latin typeface="微软雅黑" panose="020B0503020204020204" pitchFamily="34" charset="-122"/>
                <a:ea typeface="微软雅黑" panose="020B0503020204020204" pitchFamily="34" charset="-122"/>
              </a:rPr>
              <a:t>022-58815</a:t>
            </a:r>
            <a:r>
              <a:rPr lang="en-US" altLang="zh-CN" sz="1200" b="1" dirty="0">
                <a:solidFill>
                  <a:srgbClr val="000000"/>
                </a:solidFill>
                <a:latin typeface="微软雅黑" panose="020B0503020204020204" pitchFamily="34" charset="-122"/>
                <a:ea typeface="微软雅黑" panose="020B0503020204020204" pitchFamily="34" charset="-122"/>
              </a:rPr>
              <a:t>678                   </a:t>
            </a:r>
            <a:r>
              <a:rPr lang="zh-CN" altLang="en-US" sz="1200" b="1" dirty="0">
                <a:solidFill>
                  <a:srgbClr val="000000"/>
                </a:solidFill>
                <a:latin typeface="微软雅黑" panose="020B0503020204020204" pitchFamily="34" charset="-122"/>
                <a:ea typeface="微软雅黑" panose="020B0503020204020204" pitchFamily="34" charset="-122"/>
              </a:rPr>
              <a:t>传真：</a:t>
            </a:r>
            <a:r>
              <a:rPr lang="zh-CN" altLang="zh-CN" sz="1200" b="1" dirty="0">
                <a:solidFill>
                  <a:srgbClr val="000000"/>
                </a:solidFill>
                <a:latin typeface="微软雅黑" panose="020B0503020204020204" pitchFamily="34" charset="-122"/>
                <a:ea typeface="微软雅黑" panose="020B0503020204020204" pitchFamily="34" charset="-122"/>
              </a:rPr>
              <a:t>022-58815</a:t>
            </a:r>
            <a:r>
              <a:rPr lang="en-US" altLang="zh-CN" sz="1200" b="1" dirty="0">
                <a:solidFill>
                  <a:srgbClr val="000000"/>
                </a:solidFill>
                <a:latin typeface="微软雅黑" panose="020B0503020204020204" pitchFamily="34" charset="-122"/>
                <a:ea typeface="微软雅黑" panose="020B0503020204020204" pitchFamily="34" charset="-122"/>
              </a:rPr>
              <a:t>679</a:t>
            </a:r>
          </a:p>
          <a:p>
            <a:pPr algn="just">
              <a:lnSpc>
                <a:spcPct val="125000"/>
              </a:lnSpc>
              <a:spcBef>
                <a:spcPct val="50000"/>
              </a:spcBef>
              <a:buClr>
                <a:schemeClr val="accent1"/>
              </a:buClr>
            </a:pPr>
            <a:r>
              <a:rPr lang="zh-CN" altLang="en-US" sz="1200" b="1" dirty="0">
                <a:solidFill>
                  <a:srgbClr val="000000"/>
                </a:solidFill>
                <a:latin typeface="微软雅黑" panose="020B0503020204020204" pitchFamily="34" charset="-122"/>
                <a:ea typeface="微软雅黑" panose="020B0503020204020204" pitchFamily="34" charset="-122"/>
              </a:rPr>
              <a:t>北京：北京市朝阳区太阳宫路</a:t>
            </a:r>
            <a:r>
              <a:rPr lang="en-US" altLang="zh-CN" sz="1200" b="1" dirty="0">
                <a:solidFill>
                  <a:srgbClr val="000000"/>
                </a:solidFill>
                <a:latin typeface="微软雅黑" panose="020B0503020204020204" pitchFamily="34" charset="-122"/>
                <a:ea typeface="微软雅黑" panose="020B0503020204020204" pitchFamily="34" charset="-122"/>
              </a:rPr>
              <a:t>12</a:t>
            </a:r>
            <a:r>
              <a:rPr lang="zh-CN" altLang="en-US" sz="1200" b="1" dirty="0">
                <a:solidFill>
                  <a:srgbClr val="000000"/>
                </a:solidFill>
                <a:latin typeface="微软雅黑" panose="020B0503020204020204" pitchFamily="34" charset="-122"/>
                <a:ea typeface="微软雅黑" panose="020B0503020204020204" pitchFamily="34" charset="-122"/>
              </a:rPr>
              <a:t>号太阳宫大厦</a:t>
            </a:r>
            <a:r>
              <a:rPr lang="en-US" altLang="zh-CN" sz="1200" b="1" dirty="0">
                <a:solidFill>
                  <a:srgbClr val="000000"/>
                </a:solidFill>
                <a:latin typeface="微软雅黑" panose="020B0503020204020204" pitchFamily="34" charset="-122"/>
                <a:ea typeface="微软雅黑" panose="020B0503020204020204" pitchFamily="34" charset="-122"/>
              </a:rPr>
              <a:t>10</a:t>
            </a:r>
            <a:r>
              <a:rPr lang="zh-CN" altLang="en-US" sz="1200" b="1" dirty="0">
                <a:solidFill>
                  <a:srgbClr val="000000"/>
                </a:solidFill>
                <a:latin typeface="微软雅黑" panose="020B0503020204020204" pitchFamily="34" charset="-122"/>
                <a:ea typeface="微软雅黑" panose="020B0503020204020204" pitchFamily="34" charset="-122"/>
              </a:rPr>
              <a:t>层</a:t>
            </a:r>
            <a:r>
              <a:rPr lang="en-US" altLang="zh-CN" sz="1200" b="1" dirty="0">
                <a:solidFill>
                  <a:srgbClr val="000000"/>
                </a:solidFill>
                <a:latin typeface="微软雅黑" panose="020B0503020204020204" pitchFamily="34" charset="-122"/>
                <a:ea typeface="微软雅黑" panose="020B0503020204020204" pitchFamily="34" charset="-122"/>
              </a:rPr>
              <a:t>1008</a:t>
            </a:r>
            <a:r>
              <a:rPr lang="zh-CN" altLang="en-US" sz="1200" b="1" dirty="0">
                <a:solidFill>
                  <a:srgbClr val="000000"/>
                </a:solidFill>
                <a:latin typeface="微软雅黑" panose="020B0503020204020204" pitchFamily="34" charset="-122"/>
                <a:ea typeface="微软雅黑" panose="020B0503020204020204" pitchFamily="34" charset="-122"/>
              </a:rPr>
              <a:t>室</a:t>
            </a:r>
          </a:p>
          <a:p>
            <a:pPr algn="just">
              <a:lnSpc>
                <a:spcPct val="125000"/>
              </a:lnSpc>
              <a:spcBef>
                <a:spcPct val="50000"/>
              </a:spcBef>
              <a:buClr>
                <a:schemeClr val="accent1"/>
              </a:buClr>
            </a:pPr>
            <a:r>
              <a:rPr lang="zh-CN" altLang="en-US" sz="1200" b="1" dirty="0">
                <a:solidFill>
                  <a:srgbClr val="000000"/>
                </a:solidFill>
                <a:latin typeface="微软雅黑" panose="020B0503020204020204" pitchFamily="34" charset="-122"/>
                <a:ea typeface="微软雅黑" panose="020B0503020204020204" pitchFamily="34" charset="-122"/>
              </a:rPr>
              <a:t>电话：</a:t>
            </a:r>
            <a:r>
              <a:rPr lang="zh-CN" altLang="zh-CN" sz="1200" b="1" dirty="0">
                <a:solidFill>
                  <a:srgbClr val="000000"/>
                </a:solidFill>
                <a:latin typeface="微软雅黑" panose="020B0503020204020204" pitchFamily="34" charset="-122"/>
                <a:ea typeface="微软雅黑" panose="020B0503020204020204" pitchFamily="34" charset="-122"/>
              </a:rPr>
              <a:t>010-88866866</a:t>
            </a:r>
            <a:r>
              <a:rPr lang="en-US" altLang="zh-CN" sz="1200" b="1" dirty="0">
                <a:solidFill>
                  <a:srgbClr val="000000"/>
                </a:solidFill>
                <a:latin typeface="微软雅黑" panose="020B0503020204020204" pitchFamily="34" charset="-122"/>
                <a:ea typeface="微软雅黑" panose="020B0503020204020204" pitchFamily="34" charset="-122"/>
              </a:rPr>
              <a:t>                   </a:t>
            </a:r>
            <a:r>
              <a:rPr lang="zh-CN" altLang="en-US" sz="1200" b="1" dirty="0">
                <a:solidFill>
                  <a:srgbClr val="000000"/>
                </a:solidFill>
                <a:latin typeface="微软雅黑" panose="020B0503020204020204" pitchFamily="34" charset="-122"/>
                <a:ea typeface="微软雅黑" panose="020B0503020204020204" pitchFamily="34" charset="-122"/>
              </a:rPr>
              <a:t>传真：</a:t>
            </a:r>
            <a:r>
              <a:rPr lang="zh-CN" altLang="zh-CN" sz="1200" b="1" dirty="0">
                <a:solidFill>
                  <a:srgbClr val="000000"/>
                </a:solidFill>
                <a:latin typeface="微软雅黑" panose="020B0503020204020204" pitchFamily="34" charset="-122"/>
                <a:ea typeface="微软雅黑" panose="020B0503020204020204" pitchFamily="34" charset="-122"/>
              </a:rPr>
              <a:t>010-88864556</a:t>
            </a:r>
            <a:endParaRPr lang="en-US" altLang="zh-CN" sz="1200" b="1" dirty="0">
              <a:solidFill>
                <a:srgbClr val="000000"/>
              </a:solidFill>
              <a:latin typeface="微软雅黑" panose="020B0503020204020204" pitchFamily="34" charset="-122"/>
              <a:ea typeface="微软雅黑" panose="020B0503020204020204" pitchFamily="34" charset="-122"/>
            </a:endParaRPr>
          </a:p>
          <a:p>
            <a:pPr algn="just">
              <a:lnSpc>
                <a:spcPct val="125000"/>
              </a:lnSpc>
              <a:spcBef>
                <a:spcPct val="50000"/>
              </a:spcBef>
              <a:buClr>
                <a:schemeClr val="accent1"/>
              </a:buClr>
            </a:pPr>
            <a:r>
              <a:rPr lang="zh-CN" altLang="en-US" sz="1200" b="1" dirty="0">
                <a:solidFill>
                  <a:srgbClr val="000000"/>
                </a:solidFill>
                <a:latin typeface="微软雅黑" panose="020B0503020204020204" pitchFamily="34" charset="-122"/>
                <a:ea typeface="微软雅黑" panose="020B0503020204020204" pitchFamily="34" charset="-122"/>
              </a:rPr>
              <a:t>网址：</a:t>
            </a:r>
            <a:r>
              <a:rPr lang="en-US" altLang="zh-CN" sz="1200" b="1" dirty="0">
                <a:solidFill>
                  <a:srgbClr val="000000"/>
                </a:solidFill>
                <a:latin typeface="微软雅黑" panose="020B0503020204020204" pitchFamily="34" charset="-122"/>
                <a:ea typeface="微软雅黑" panose="020B0503020204020204" pitchFamily="34" charset="-122"/>
              </a:rPr>
              <a:t>http://www.gbase.cn        E-mail</a:t>
            </a:r>
            <a:r>
              <a:rPr lang="zh-CN" altLang="en-US" sz="1200" b="1" dirty="0">
                <a:solidFill>
                  <a:srgbClr val="000000"/>
                </a:solidFill>
                <a:latin typeface="微软雅黑" panose="020B0503020204020204" pitchFamily="34" charset="-122"/>
                <a:ea typeface="微软雅黑" panose="020B0503020204020204" pitchFamily="34" charset="-122"/>
              </a:rPr>
              <a:t>：</a:t>
            </a:r>
            <a:r>
              <a:rPr lang="en-US" altLang="zh-CN" sz="1200" b="1" dirty="0">
                <a:solidFill>
                  <a:srgbClr val="000000"/>
                </a:solidFill>
                <a:latin typeface="微软雅黑" panose="020B0503020204020204" pitchFamily="34" charset="-122"/>
                <a:ea typeface="微软雅黑" panose="020B0503020204020204" pitchFamily="34" charset="-122"/>
              </a:rPr>
              <a:t>info@gbase.cn </a:t>
            </a:r>
          </a:p>
          <a:p>
            <a:pPr algn="just">
              <a:lnSpc>
                <a:spcPct val="125000"/>
              </a:lnSpc>
              <a:spcBef>
                <a:spcPct val="50000"/>
              </a:spcBef>
              <a:buClr>
                <a:schemeClr val="accent1"/>
              </a:buClr>
            </a:pPr>
            <a:r>
              <a:rPr lang="zh-CN" altLang="en-US" sz="1200" b="1" dirty="0">
                <a:solidFill>
                  <a:srgbClr val="000000"/>
                </a:solidFill>
                <a:latin typeface="微软雅黑" panose="020B0503020204020204" pitchFamily="34" charset="-122"/>
                <a:ea typeface="微软雅黑" panose="020B0503020204020204" pitchFamily="34" charset="-122"/>
              </a:rPr>
              <a:t>技术支持热线：</a:t>
            </a:r>
            <a:r>
              <a:rPr lang="en-US" altLang="zh-CN" sz="1200" b="1" dirty="0">
                <a:solidFill>
                  <a:srgbClr val="000000"/>
                </a:solidFill>
                <a:latin typeface="微软雅黑" panose="020B0503020204020204" pitchFamily="34" charset="-122"/>
                <a:ea typeface="微软雅黑" panose="020B0503020204020204" pitchFamily="34" charset="-122"/>
              </a:rPr>
              <a:t>400-013-9696</a:t>
            </a:r>
            <a:endParaRPr lang="zh-CN" altLang="zh-CN" sz="1200" b="1" dirty="0">
              <a:solidFill>
                <a:srgbClr val="000000"/>
              </a:solidFill>
              <a:latin typeface="微软雅黑" panose="020B0503020204020204" pitchFamily="34" charset="-122"/>
              <a:ea typeface="微软雅黑" panose="020B0503020204020204" pitchFamily="34" charset="-122"/>
            </a:endParaRPr>
          </a:p>
          <a:p>
            <a:pPr algn="just">
              <a:lnSpc>
                <a:spcPct val="125000"/>
              </a:lnSpc>
              <a:spcBef>
                <a:spcPct val="50000"/>
              </a:spcBef>
              <a:buClr>
                <a:schemeClr val="accent1"/>
              </a:buClr>
            </a:pPr>
            <a:endParaRPr lang="zh-CN" altLang="zh-CN" dirty="0">
              <a:solidFill>
                <a:srgbClr val="000066"/>
              </a:solidFill>
            </a:endParaRPr>
          </a:p>
        </p:txBody>
      </p:sp>
      <p:pic>
        <p:nvPicPr>
          <p:cNvPr id="15" name="Picture 25" descr="Red Bar"/>
          <p:cNvPicPr>
            <a:picLocks noChangeAspect="1" noChangeArrowheads="1"/>
          </p:cNvPicPr>
          <p:nvPr userDrawn="1"/>
        </p:nvPicPr>
        <p:blipFill>
          <a:blip r:embed="rId2" cstate="print"/>
          <a:srcRect/>
          <a:stretch>
            <a:fillRect/>
          </a:stretch>
        </p:blipFill>
        <p:spPr bwMode="auto">
          <a:xfrm>
            <a:off x="1" y="2973389"/>
            <a:ext cx="893233" cy="376237"/>
          </a:xfrm>
          <a:prstGeom prst="rect">
            <a:avLst/>
          </a:prstGeom>
          <a:noFill/>
          <a:ln w="9525">
            <a:noFill/>
            <a:miter lim="800000"/>
            <a:headEnd/>
            <a:tailEnd/>
          </a:ln>
        </p:spPr>
      </p:pic>
      <p:pic>
        <p:nvPicPr>
          <p:cNvPr id="16" name="图片 14" descr="最终版.jpg"/>
          <p:cNvPicPr>
            <a:picLocks noChangeAspect="1"/>
          </p:cNvPicPr>
          <p:nvPr userDrawn="1"/>
        </p:nvPicPr>
        <p:blipFill>
          <a:blip r:embed="rId3" cstate="print"/>
          <a:srcRect/>
          <a:stretch>
            <a:fillRect/>
          </a:stretch>
        </p:blipFill>
        <p:spPr bwMode="auto">
          <a:xfrm>
            <a:off x="960967" y="3022601"/>
            <a:ext cx="2154767" cy="309563"/>
          </a:xfrm>
          <a:prstGeom prst="rect">
            <a:avLst/>
          </a:prstGeom>
          <a:noFill/>
          <a:ln w="9525">
            <a:noFill/>
            <a:miter lim="800000"/>
            <a:headEnd/>
            <a:tailEnd/>
          </a:ln>
        </p:spPr>
      </p:pic>
      <p:pic>
        <p:nvPicPr>
          <p:cNvPr id="7" name="Picture 2" descr="C:\Users\yangsen\Desktop\尾页\图片1.png"/>
          <p:cNvPicPr>
            <a:picLocks noChangeAspect="1"/>
          </p:cNvPicPr>
          <p:nvPr userDrawn="1"/>
        </p:nvPicPr>
        <p:blipFill>
          <a:blip r:embed="rId4"/>
          <a:stretch>
            <a:fillRect/>
          </a:stretch>
        </p:blipFill>
        <p:spPr>
          <a:xfrm>
            <a:off x="2935818" y="188914"/>
            <a:ext cx="6320367" cy="1012825"/>
          </a:xfrm>
          <a:prstGeom prst="rect">
            <a:avLst/>
          </a:prstGeom>
          <a:noFill/>
          <a:ln w="9525">
            <a:noFill/>
          </a:ln>
        </p:spPr>
      </p:pic>
      <p:pic>
        <p:nvPicPr>
          <p:cNvPr id="9" name="Picture 6" descr="C:\Users\yangsen\Desktop\尾页\图片5.jpg"/>
          <p:cNvPicPr>
            <a:picLocks noChangeAspect="1"/>
          </p:cNvPicPr>
          <p:nvPr userDrawn="1"/>
        </p:nvPicPr>
        <p:blipFill>
          <a:blip r:embed="rId5"/>
          <a:stretch>
            <a:fillRect/>
          </a:stretch>
        </p:blipFill>
        <p:spPr>
          <a:xfrm>
            <a:off x="8770971" y="3284985"/>
            <a:ext cx="2605616" cy="1895475"/>
          </a:xfrm>
          <a:prstGeom prst="rect">
            <a:avLst/>
          </a:prstGeom>
          <a:noFill/>
          <a:ln w="9525">
            <a:noFill/>
          </a:ln>
        </p:spPr>
      </p:pic>
    </p:spTree>
  </p:cSld>
  <p:clrMapOvr>
    <a:masterClrMapping/>
  </p:clrMapOvr>
  <p:transition>
    <p:wipe dir="r"/>
  </p:transition>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矩形 7"/>
          <p:cNvSpPr/>
          <p:nvPr userDrawn="1"/>
        </p:nvSpPr>
        <p:spPr>
          <a:xfrm>
            <a:off x="0" y="6554788"/>
            <a:ext cx="12192000" cy="303212"/>
          </a:xfrm>
          <a:prstGeom prst="rect">
            <a:avLst/>
          </a:prstGeom>
          <a:gradFill>
            <a:gsLst>
              <a:gs pos="0">
                <a:srgbClr val="404040"/>
              </a:gs>
              <a:gs pos="94000">
                <a:srgbClr val="0D0D0D"/>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9" name="任意多边形 8"/>
          <p:cNvSpPr/>
          <p:nvPr userDrawn="1"/>
        </p:nvSpPr>
        <p:spPr>
          <a:xfrm>
            <a:off x="0" y="6465888"/>
            <a:ext cx="2305050" cy="392112"/>
          </a:xfrm>
          <a:custGeom>
            <a:avLst/>
            <a:gdLst>
              <a:gd name="connsiteX0" fmla="*/ 0 w 2305316"/>
              <a:gd name="connsiteY0" fmla="*/ 0 h 392806"/>
              <a:gd name="connsiteX1" fmla="*/ 2305316 w 2305316"/>
              <a:gd name="connsiteY1" fmla="*/ 0 h 392806"/>
              <a:gd name="connsiteX2" fmla="*/ 2163649 w 2305316"/>
              <a:gd name="connsiteY2" fmla="*/ 392806 h 392806"/>
              <a:gd name="connsiteX3" fmla="*/ 0 w 2305316"/>
              <a:gd name="connsiteY3" fmla="*/ 392806 h 392806"/>
            </a:gdLst>
            <a:ahLst/>
            <a:cxnLst>
              <a:cxn ang="0">
                <a:pos x="connsiteX0" y="connsiteY0"/>
              </a:cxn>
              <a:cxn ang="0">
                <a:pos x="connsiteX1" y="connsiteY1"/>
              </a:cxn>
              <a:cxn ang="0">
                <a:pos x="connsiteX2" y="connsiteY2"/>
              </a:cxn>
              <a:cxn ang="0">
                <a:pos x="connsiteX3" y="connsiteY3"/>
              </a:cxn>
            </a:cxnLst>
            <a:rect l="l" t="t" r="r" b="b"/>
            <a:pathLst>
              <a:path w="2305316" h="392806">
                <a:moveTo>
                  <a:pt x="0" y="0"/>
                </a:moveTo>
                <a:lnTo>
                  <a:pt x="2305316" y="0"/>
                </a:lnTo>
                <a:lnTo>
                  <a:pt x="2163649" y="392806"/>
                </a:lnTo>
                <a:lnTo>
                  <a:pt x="0" y="392806"/>
                </a:lnTo>
                <a:close/>
              </a:path>
            </a:pathLst>
          </a:custGeom>
          <a:gradFill flip="none" rotWithShape="1">
            <a:gsLst>
              <a:gs pos="0">
                <a:srgbClr val="F93D32"/>
              </a:gs>
              <a:gs pos="91000">
                <a:srgbClr val="BE1007"/>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0" name="任意多边形 9"/>
          <p:cNvSpPr/>
          <p:nvPr userDrawn="1"/>
        </p:nvSpPr>
        <p:spPr>
          <a:xfrm>
            <a:off x="0" y="566738"/>
            <a:ext cx="168275" cy="454025"/>
          </a:xfrm>
          <a:custGeom>
            <a:avLst/>
            <a:gdLst>
              <a:gd name="connsiteX0" fmla="*/ 0 w 2305316"/>
              <a:gd name="connsiteY0" fmla="*/ 0 h 392806"/>
              <a:gd name="connsiteX1" fmla="*/ 2305316 w 2305316"/>
              <a:gd name="connsiteY1" fmla="*/ 0 h 392806"/>
              <a:gd name="connsiteX2" fmla="*/ 2163649 w 2305316"/>
              <a:gd name="connsiteY2" fmla="*/ 392806 h 392806"/>
              <a:gd name="connsiteX3" fmla="*/ 0 w 2305316"/>
              <a:gd name="connsiteY3" fmla="*/ 392806 h 392806"/>
            </a:gdLst>
            <a:ahLst/>
            <a:cxnLst>
              <a:cxn ang="0">
                <a:pos x="connsiteX0" y="connsiteY0"/>
              </a:cxn>
              <a:cxn ang="0">
                <a:pos x="connsiteX1" y="connsiteY1"/>
              </a:cxn>
              <a:cxn ang="0">
                <a:pos x="connsiteX2" y="connsiteY2"/>
              </a:cxn>
              <a:cxn ang="0">
                <a:pos x="connsiteX3" y="connsiteY3"/>
              </a:cxn>
            </a:cxnLst>
            <a:rect l="l" t="t" r="r" b="b"/>
            <a:pathLst>
              <a:path w="2305316" h="392806">
                <a:moveTo>
                  <a:pt x="0" y="0"/>
                </a:moveTo>
                <a:lnTo>
                  <a:pt x="2305316" y="0"/>
                </a:lnTo>
                <a:lnTo>
                  <a:pt x="2163649" y="392806"/>
                </a:lnTo>
                <a:lnTo>
                  <a:pt x="0" y="392806"/>
                </a:lnTo>
                <a:close/>
              </a:path>
            </a:pathLst>
          </a:cu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cxnSp>
        <p:nvCxnSpPr>
          <p:cNvPr id="7" name="直接连接符 6"/>
          <p:cNvCxnSpPr/>
          <p:nvPr userDrawn="1"/>
        </p:nvCxnSpPr>
        <p:spPr>
          <a:xfrm>
            <a:off x="0" y="101917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timing>
    <p:tnLst>
      <p:par>
        <p:cTn id="1" dur="indefinite" restart="never" nodeType="tmRoot"/>
      </p:par>
    </p:tnLst>
  </p:timing>
  <p:hf hdr="0" ftr="0" dt="0"/>
  <p:txStyles>
    <p:title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2pPr>
      <a:lvl3pPr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3pPr>
      <a:lvl4pPr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4pPr>
      <a:lvl5pPr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9pPr>
    </p:titleStyle>
    <p:body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1.xml" Type="http://schemas.openxmlformats.org/officeDocument/2006/relationships/slideLayout"/><Relationship Id="rId2" Target="../notesSlides/notesSlide1.xml" Type="http://schemas.openxmlformats.org/officeDocument/2006/relationships/notesSlide"/></Relationships>
</file>

<file path=ppt/slides/_rels/slide2.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2.xml" Type="http://schemas.openxmlformats.org/officeDocument/2006/relationships/notesSlide"/><Relationship Id="rId3" Target="../media/image14.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3.xml" Type="http://schemas.openxmlformats.org/officeDocument/2006/relationships/notesSlide"/><Relationship Id="rId3" Target="../media/image15.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3.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2.xml" Type="http://schemas.openxmlformats.org/officeDocument/2006/relationships/slideLayout"/><Relationship Id="rId2" Target="../notesSlides/notesSlide4.xml" Type="http://schemas.openxmlformats.org/officeDocument/2006/relationships/notesSlide"/></Relationships>
</file>

<file path=ppt/slides/_rels/slide6.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5.xml" Type="http://schemas.openxmlformats.org/officeDocument/2006/relationships/notesSlide"/></Relationships>
</file>

<file path=ppt/slides/_rels/slide7.xml.rels><?xml version="1.0" encoding="UTF-8" standalone="yes"?><Relationships xmlns="http://schemas.openxmlformats.org/package/2006/relationships"><Relationship Id="rId1" Target="../slideLayouts/slideLayout3.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3.xml" Type="http://schemas.openxmlformats.org/officeDocument/2006/relationships/slideLayout"/></Relationships>
</file>

<file path=ppt/slides/_rels/slide9.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6.xml" Type="http://schemas.openxmlformats.org/officeDocument/2006/relationships/notesSlide"/></Relationships>
</file>

<file path=ppt/slides/_rels/slide10.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7.xml" Type="http://schemas.openxmlformats.org/officeDocument/2006/relationships/notesSlide"/></Relationships>
</file>

<file path=ppt/slides/_rels/slide11.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8.xml" Type="http://schemas.openxmlformats.org/officeDocument/2006/relationships/notesSlide"/><Relationship Id="rId3" Target="../media/image3.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9.xml" Type="http://schemas.openxmlformats.org/officeDocument/2006/relationships/notesSlide"/></Relationships>
</file>

<file path=ppt/slides/_rels/slide13.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10.xml" Type="http://schemas.openxmlformats.org/officeDocument/2006/relationships/notesSlide"/></Relationships>
</file>

<file path=ppt/slides/_rels/slide14.xml.rels><?xml version="1.0" encoding="UTF-8" standalone="yes"?><Relationships xmlns="http://schemas.openxmlformats.org/package/2006/relationships"><Relationship Id="rId1" Target="../slideLayouts/slideLayout3.xml" Type="http://schemas.openxmlformats.org/officeDocument/2006/relationships/slideLayout"/></Relationships>
</file>

<file path=ppt/slides/_rels/slide15.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11.xml" Type="http://schemas.openxmlformats.org/officeDocument/2006/relationships/notesSlide"/></Relationships>
</file>

<file path=ppt/slides/_rels/slide16.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12.xml" Type="http://schemas.openxmlformats.org/officeDocument/2006/relationships/notesSlide"/></Relationships>
</file>

<file path=ppt/slides/_rels/slide17.xml.rels><?xml version="1.0" encoding="UTF-8" standalone="yes"?><Relationships xmlns="http://schemas.openxmlformats.org/package/2006/relationships"><Relationship Id="rId1" Target="../slideLayouts/slideLayout3.xml" Type="http://schemas.openxmlformats.org/officeDocument/2006/relationships/slideLayout"/></Relationships>
</file>

<file path=ppt/slides/_rels/slide18.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13.xml" Type="http://schemas.openxmlformats.org/officeDocument/2006/relationships/notesSlide"/></Relationships>
</file>

<file path=ppt/slides/_rels/slide19.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14.xml" Type="http://schemas.openxmlformats.org/officeDocument/2006/relationships/notesSlide"/></Relationships>
</file>

<file path=ppt/slides/_rels/slide20.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15.xml" Type="http://schemas.openxmlformats.org/officeDocument/2006/relationships/notesSlide"/></Relationships>
</file>

<file path=ppt/slides/_rels/slide21.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16.xml" Type="http://schemas.openxmlformats.org/officeDocument/2006/relationships/notesSlide"/></Relationships>
</file>

<file path=ppt/slides/_rels/slide22.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17.xml" Type="http://schemas.openxmlformats.org/officeDocument/2006/relationships/notesSlide"/><Relationship Id="rId3" Target="../media/image3.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18.xml" Type="http://schemas.openxmlformats.org/officeDocument/2006/relationships/notesSlide"/></Relationships>
</file>

<file path=ppt/slides/_rels/slide24.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19.xml" Type="http://schemas.openxmlformats.org/officeDocument/2006/relationships/notesSlide"/></Relationships>
</file>

<file path=ppt/slides/_rels/slide25.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20.xml" Type="http://schemas.openxmlformats.org/officeDocument/2006/relationships/notesSlide"/></Relationships>
</file>

<file path=ppt/slides/_rels/slide26.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27.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21.xml" Type="http://schemas.openxmlformats.org/officeDocument/2006/relationships/notesSlide"/></Relationships>
</file>

<file path=ppt/slides/_rels/slide28.xml.rels><?xml version="1.0" encoding="UTF-8" standalone="yes"?><Relationships xmlns="http://schemas.openxmlformats.org/package/2006/relationships"><Relationship Id="rId1" Target="../slideLayouts/slideLayout3.xml" Type="http://schemas.openxmlformats.org/officeDocument/2006/relationships/slideLayout"/></Relationships>
</file>

<file path=ppt/slides/_rels/slide29.xml.rels><?xml version="1.0" encoding="UTF-8" standalone="yes"?><Relationships xmlns="http://schemas.openxmlformats.org/package/2006/relationships"><Relationship Id="rId1" Target="../slideLayouts/slideLayout3.xml" Type="http://schemas.openxmlformats.org/officeDocument/2006/relationships/slideLayout"/></Relationships>
</file>

<file path=ppt/slides/_rels/slide30.xml.rels><?xml version="1.0" encoding="UTF-8" standalone="yes"?><Relationships xmlns="http://schemas.openxmlformats.org/package/2006/relationships"><Relationship Id="rId1" Target="../slideLayouts/slideLayout3.xml" Type="http://schemas.openxmlformats.org/officeDocument/2006/relationships/slideLayout"/></Relationships>
</file>

<file path=ppt/slides/_rels/slide31.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22.xml" Type="http://schemas.openxmlformats.org/officeDocument/2006/relationships/notesSlide"/></Relationships>
</file>

<file path=ppt/slides/_rels/slide32.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23.xml" Type="http://schemas.openxmlformats.org/officeDocument/2006/relationships/notesSlide"/></Relationships>
</file>

<file path=ppt/slides/_rels/slide33.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24.xml" Type="http://schemas.openxmlformats.org/officeDocument/2006/relationships/notesSlide"/></Relationships>
</file>

<file path=ppt/slides/_rels/slide34.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25.xml" Type="http://schemas.openxmlformats.org/officeDocument/2006/relationships/notesSlide"/></Relationships>
</file>

<file path=ppt/slides/_rels/slide35.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26.xml" Type="http://schemas.openxmlformats.org/officeDocument/2006/relationships/notesSlide"/></Relationships>
</file>

<file path=ppt/slides/_rels/slide36.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27.xml" Type="http://schemas.openxmlformats.org/officeDocument/2006/relationships/notesSlide"/><Relationship Id="rId3" Target="../media/image16.png" Type="http://schemas.openxmlformats.org/officeDocument/2006/relationships/image"/></Relationships>
</file>

<file path=ppt/slides/_rels/slide37.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28.xml" Type="http://schemas.openxmlformats.org/officeDocument/2006/relationships/notesSlide"/></Relationships>
</file>

<file path=ppt/slides/_rels/slide38.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29.xml" Type="http://schemas.openxmlformats.org/officeDocument/2006/relationships/notesSlide"/></Relationships>
</file>

<file path=ppt/slides/_rels/slide39.xml.rels><?xml version="1.0" encoding="UTF-8" standalone="yes"?><Relationships xmlns="http://schemas.openxmlformats.org/package/2006/relationships"><Relationship Id="rId1" Target="../slideLayouts/slideLayout5.xml" Type="http://schemas.openxmlformats.org/officeDocument/2006/relationships/slideLayout"/></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GBase</a:t>
            </a:r>
            <a:r>
              <a:rPr lang="en-US" altLang="zh-CN" dirty="0"/>
              <a:t> </a:t>
            </a:r>
            <a:r>
              <a:rPr lang="en-US" altLang="zh-CN" dirty="0" smtClean="0"/>
              <a:t>8s</a:t>
            </a:r>
            <a:r>
              <a:rPr lang="zh-CN" altLang="en-US" dirty="0" smtClean="0"/>
              <a:t> </a:t>
            </a:r>
            <a:r>
              <a:rPr lang="en-US" altLang="zh-CN" dirty="0"/>
              <a:t>SQL </a:t>
            </a:r>
            <a:r>
              <a:rPr lang="zh-CN" altLang="zh-CN" dirty="0"/>
              <a:t>函数</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r>
              <a:rPr lang="zh-CN" altLang="zh-CN" dirty="0">
                <a:latin typeface="Arial" panose="020B0604020202020204" pitchFamily="34" charset="0"/>
                <a:cs typeface="宋体" panose="02010600030101010101" pitchFamily="2" charset="-122"/>
              </a:rPr>
              <a:t>概述</a:t>
            </a:r>
          </a:p>
        </p:txBody>
      </p:sp>
      <p:pic>
        <p:nvPicPr>
          <p:cNvPr id="4" name="内容占位符 3"/>
          <p:cNvPicPr>
            <a:picLocks noGrp="1" noChangeAspect="1"/>
          </p:cNvPicPr>
          <p:nvPr>
            <p:ph idx="4294967295"/>
          </p:nvPr>
        </p:nvPicPr>
        <p:blipFill>
          <a:blip r:embed="rId3"/>
          <a:stretch>
            <a:fillRect/>
          </a:stretch>
        </p:blipFill>
        <p:spPr>
          <a:xfrm>
            <a:off x="2205647" y="1227503"/>
            <a:ext cx="7346950" cy="502285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r>
              <a:rPr lang="zh-CN" altLang="zh-CN" dirty="0">
                <a:latin typeface="Arial" panose="020B0604020202020204" pitchFamily="34" charset="0"/>
                <a:cs typeface="宋体" panose="02010600030101010101" pitchFamily="2" charset="-122"/>
              </a:rPr>
              <a:t>概述</a:t>
            </a:r>
          </a:p>
        </p:txBody>
      </p:sp>
      <p:pic>
        <p:nvPicPr>
          <p:cNvPr id="3" name="图片 2"/>
          <p:cNvPicPr>
            <a:picLocks noChangeAspect="1"/>
          </p:cNvPicPr>
          <p:nvPr/>
        </p:nvPicPr>
        <p:blipFill>
          <a:blip r:embed="rId3"/>
          <a:stretch>
            <a:fillRect/>
          </a:stretch>
        </p:blipFill>
        <p:spPr>
          <a:xfrm>
            <a:off x="2455202" y="1186228"/>
            <a:ext cx="6847840" cy="51054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目标</a:t>
            </a:r>
          </a:p>
        </p:txBody>
      </p:sp>
      <p:sp>
        <p:nvSpPr>
          <p:cNvPr id="3" name="内容占位符 2"/>
          <p:cNvSpPr>
            <a:spLocks noGrp="1"/>
          </p:cNvSpPr>
          <p:nvPr>
            <p:ph type="body" sz="quarter" idx="10"/>
          </p:nvPr>
        </p:nvSpPr>
        <p:spPr>
          <a:xfrm>
            <a:off x="960602" y="1969233"/>
            <a:ext cx="10718800" cy="4888767"/>
          </a:xfrm>
        </p:spPr>
        <p:txBody>
          <a:bodyPr/>
          <a:lstStyle/>
          <a:p>
            <a:r>
              <a:rPr lang="zh-CN" altLang="en-US" dirty="0"/>
              <a:t>了解</a:t>
            </a:r>
            <a:r>
              <a:rPr lang="en-US" altLang="zh-CN" dirty="0" err="1"/>
              <a:t>GBase</a:t>
            </a:r>
            <a:r>
              <a:rPr lang="en-US" altLang="zh-CN" dirty="0"/>
              <a:t> </a:t>
            </a:r>
            <a:r>
              <a:rPr lang="en-US" altLang="zh-CN" dirty="0" smtClean="0"/>
              <a:t>8s</a:t>
            </a:r>
            <a:r>
              <a:rPr lang="zh-CN" altLang="en-US" dirty="0" smtClean="0"/>
              <a:t>常</a:t>
            </a:r>
            <a:r>
              <a:rPr lang="zh-CN" altLang="en-US" dirty="0"/>
              <a:t>用系统函数的功能和使用方法</a:t>
            </a:r>
          </a:p>
          <a:p>
            <a:endParaRPr lang="zh-CN" altLang="en-US" dirty="0"/>
          </a:p>
          <a:p>
            <a:r>
              <a:rPr lang="zh-CN" altLang="en-US" dirty="0"/>
              <a:t>掌握</a:t>
            </a:r>
            <a:r>
              <a:rPr lang="en-US" altLang="zh-CN" dirty="0" err="1"/>
              <a:t>GBase</a:t>
            </a:r>
            <a:r>
              <a:rPr lang="en-US" altLang="zh-CN" dirty="0"/>
              <a:t> </a:t>
            </a:r>
            <a:r>
              <a:rPr lang="en-US" altLang="zh-CN" dirty="0" smtClean="0"/>
              <a:t>8s</a:t>
            </a:r>
            <a:r>
              <a:rPr lang="zh-CN" altLang="en-US" dirty="0" smtClean="0"/>
              <a:t>自</a:t>
            </a:r>
            <a:r>
              <a:rPr lang="zh-CN" altLang="en-US" dirty="0"/>
              <a:t>定义函数以及存储过程的创建和调用</a:t>
            </a:r>
            <a:endParaRPr lang="en-US" altLang="zh-CN" dirty="0"/>
          </a:p>
          <a:p>
            <a:endParaRPr lang="en-US" altLang="zh-CN" dirty="0"/>
          </a:p>
          <a:p>
            <a:r>
              <a:rPr lang="zh-CN" altLang="en-US" dirty="0"/>
              <a:t>了解</a:t>
            </a:r>
            <a:r>
              <a:rPr lang="en-US" altLang="zh-CN" dirty="0" err="1"/>
              <a:t>GBase</a:t>
            </a:r>
            <a:r>
              <a:rPr lang="en-US" altLang="zh-CN" dirty="0"/>
              <a:t> </a:t>
            </a:r>
            <a:r>
              <a:rPr lang="en-US" altLang="zh-CN" dirty="0" smtClean="0"/>
              <a:t>8s</a:t>
            </a:r>
            <a:r>
              <a:rPr lang="zh-CN" altLang="en-US" dirty="0" smtClean="0"/>
              <a:t>支</a:t>
            </a:r>
            <a:r>
              <a:rPr lang="zh-CN" altLang="en-US" dirty="0"/>
              <a:t>持的接口</a:t>
            </a:r>
            <a:endParaRPr lang="en-US" altLang="zh-CN" dirty="0"/>
          </a:p>
          <a:p>
            <a:endParaRPr lang="en-US" altLang="zh-CN" dirty="0"/>
          </a:p>
          <a:p>
            <a:pPr marL="0" indent="0">
              <a:buNone/>
            </a:pPr>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目录</a:t>
            </a:r>
            <a:endParaRPr lang="zh-CN" altLang="en-US" dirty="0"/>
          </a:p>
        </p:txBody>
      </p:sp>
      <p:sp>
        <p:nvSpPr>
          <p:cNvPr id="4" name="矩形 3"/>
          <p:cNvSpPr/>
          <p:nvPr/>
        </p:nvSpPr>
        <p:spPr bwMode="auto">
          <a:xfrm>
            <a:off x="3339148" y="2796453"/>
            <a:ext cx="722312" cy="662940"/>
          </a:xfrm>
          <a:prstGeom prst="rect">
            <a:avLst/>
          </a:prstGeom>
          <a:solidFill>
            <a:srgbClr val="DE120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5" name="矩形 4"/>
          <p:cNvSpPr/>
          <p:nvPr/>
        </p:nvSpPr>
        <p:spPr bwMode="auto">
          <a:xfrm>
            <a:off x="4202748" y="2796453"/>
            <a:ext cx="4570412" cy="662940"/>
          </a:xfrm>
          <a:prstGeom prst="rect">
            <a:avLst/>
          </a:prstGeom>
          <a:solidFill>
            <a:srgbClr val="DE120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6" name="矩形 5"/>
          <p:cNvSpPr/>
          <p:nvPr/>
        </p:nvSpPr>
        <p:spPr bwMode="auto">
          <a:xfrm>
            <a:off x="3339148" y="3413673"/>
            <a:ext cx="722312" cy="45719"/>
          </a:xfrm>
          <a:prstGeom prst="rect">
            <a:avLst/>
          </a:prstGeom>
          <a:solidFill>
            <a:srgbClr val="20202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7" name="矩形 6"/>
          <p:cNvSpPr/>
          <p:nvPr/>
        </p:nvSpPr>
        <p:spPr bwMode="auto">
          <a:xfrm>
            <a:off x="4202748" y="3413673"/>
            <a:ext cx="4570412" cy="45719"/>
          </a:xfrm>
          <a:prstGeom prst="rect">
            <a:avLst/>
          </a:prstGeom>
          <a:solidFill>
            <a:srgbClr val="20202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8" name="文本框 3"/>
          <p:cNvSpPr txBox="1">
            <a:spLocks noChangeArrowheads="1"/>
          </p:cNvSpPr>
          <p:nvPr/>
        </p:nvSpPr>
        <p:spPr bwMode="auto">
          <a:xfrm>
            <a:off x="3470385" y="2908818"/>
            <a:ext cx="441146" cy="400110"/>
          </a:xfrm>
          <a:prstGeom prst="rect">
            <a:avLst/>
          </a:prstGeom>
          <a:noFill/>
          <a:ln w="9525">
            <a:noFill/>
            <a:miter lim="800000"/>
          </a:ln>
        </p:spPr>
        <p:txBody>
          <a:bodyPr wrap="none">
            <a:spAutoFit/>
          </a:bodyPr>
          <a:lstStyle/>
          <a:p>
            <a:r>
              <a:rPr lang="zh-CN" altLang="en-US" sz="2000" b="1">
                <a:solidFill>
                  <a:schemeClr val="bg1"/>
                </a:solidFill>
                <a:latin typeface="微软雅黑" panose="020B0503020204020204" pitchFamily="34" charset="-122"/>
                <a:ea typeface="微软雅黑" panose="020B0503020204020204" pitchFamily="34" charset="-122"/>
              </a:rPr>
              <a:t>一</a:t>
            </a:r>
          </a:p>
        </p:txBody>
      </p:sp>
      <p:sp>
        <p:nvSpPr>
          <p:cNvPr id="9" name="矩形 8"/>
          <p:cNvSpPr/>
          <p:nvPr/>
        </p:nvSpPr>
        <p:spPr bwMode="auto">
          <a:xfrm>
            <a:off x="3339148" y="3690533"/>
            <a:ext cx="722312" cy="664210"/>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0" name="矩形 9"/>
          <p:cNvSpPr/>
          <p:nvPr/>
        </p:nvSpPr>
        <p:spPr bwMode="auto">
          <a:xfrm>
            <a:off x="4202748" y="3690533"/>
            <a:ext cx="4570412" cy="664210"/>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1" name="矩形 10"/>
          <p:cNvSpPr/>
          <p:nvPr/>
        </p:nvSpPr>
        <p:spPr bwMode="auto">
          <a:xfrm>
            <a:off x="3339148" y="4309023"/>
            <a:ext cx="722312" cy="45719"/>
          </a:xfrm>
          <a:prstGeom prst="rect">
            <a:avLst/>
          </a:prstGeom>
          <a:solidFill>
            <a:srgbClr val="5A565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2" name="矩形 11"/>
          <p:cNvSpPr/>
          <p:nvPr/>
        </p:nvSpPr>
        <p:spPr bwMode="auto">
          <a:xfrm>
            <a:off x="4202748" y="4309023"/>
            <a:ext cx="4570412" cy="45719"/>
          </a:xfrm>
          <a:prstGeom prst="rect">
            <a:avLst/>
          </a:prstGeom>
          <a:solidFill>
            <a:srgbClr val="5A565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3" name="文本框 48"/>
          <p:cNvSpPr txBox="1">
            <a:spLocks noChangeArrowheads="1"/>
          </p:cNvSpPr>
          <p:nvPr/>
        </p:nvSpPr>
        <p:spPr bwMode="auto">
          <a:xfrm>
            <a:off x="3470385" y="3804168"/>
            <a:ext cx="441146" cy="400110"/>
          </a:xfrm>
          <a:prstGeom prst="rect">
            <a:avLst/>
          </a:prstGeom>
          <a:noFill/>
          <a:ln w="9525">
            <a:noFill/>
            <a:miter lim="800000"/>
          </a:ln>
        </p:spPr>
        <p:txBody>
          <a:bodyPr wrap="none">
            <a:spAutoFit/>
          </a:bodyPr>
          <a:lstStyle/>
          <a:p>
            <a:r>
              <a:rPr lang="zh-CN" altLang="en-US" sz="2000" b="1">
                <a:solidFill>
                  <a:schemeClr val="bg1"/>
                </a:solidFill>
                <a:latin typeface="微软雅黑" panose="020B0503020204020204" pitchFamily="34" charset="-122"/>
                <a:ea typeface="微软雅黑" panose="020B0503020204020204" pitchFamily="34" charset="-122"/>
              </a:rPr>
              <a:t>二</a:t>
            </a:r>
          </a:p>
        </p:txBody>
      </p:sp>
      <p:sp>
        <p:nvSpPr>
          <p:cNvPr id="24" name="文本框 55"/>
          <p:cNvSpPr txBox="1">
            <a:spLocks noChangeArrowheads="1"/>
          </p:cNvSpPr>
          <p:nvPr/>
        </p:nvSpPr>
        <p:spPr bwMode="auto">
          <a:xfrm>
            <a:off x="4378960" y="2915967"/>
            <a:ext cx="4236720" cy="400110"/>
          </a:xfrm>
          <a:prstGeom prst="rect">
            <a:avLst/>
          </a:prstGeom>
          <a:noFill/>
          <a:ln w="9525">
            <a:noFill/>
            <a:miter lim="800000"/>
          </a:ln>
        </p:spPr>
        <p:txBody>
          <a:bodyPr wrap="square">
            <a:spAutoFit/>
          </a:bodyPr>
          <a:lstStyle/>
          <a:p>
            <a:pPr algn="ctr"/>
            <a:r>
              <a:rPr lang="zh-CN" altLang="en-US" sz="2000" spc="200" dirty="0">
                <a:solidFill>
                  <a:schemeClr val="bg1"/>
                </a:solidFill>
                <a:latin typeface="微软雅黑" panose="020B0503020204020204" pitchFamily="34" charset="-122"/>
                <a:ea typeface="微软雅黑" panose="020B0503020204020204" pitchFamily="34" charset="-122"/>
              </a:rPr>
              <a:t> 系统函数</a:t>
            </a:r>
          </a:p>
        </p:txBody>
      </p:sp>
      <p:sp>
        <p:nvSpPr>
          <p:cNvPr id="25" name="文本框 55"/>
          <p:cNvSpPr txBox="1">
            <a:spLocks noChangeArrowheads="1"/>
          </p:cNvSpPr>
          <p:nvPr/>
        </p:nvSpPr>
        <p:spPr bwMode="auto">
          <a:xfrm>
            <a:off x="4378960" y="3801157"/>
            <a:ext cx="4236720" cy="400110"/>
          </a:xfrm>
          <a:prstGeom prst="rect">
            <a:avLst/>
          </a:prstGeom>
          <a:noFill/>
          <a:ln w="9525">
            <a:noFill/>
            <a:miter lim="800000"/>
          </a:ln>
        </p:spPr>
        <p:txBody>
          <a:bodyPr wrap="square">
            <a:spAutoFit/>
          </a:bodyPr>
          <a:lstStyle/>
          <a:p>
            <a:pPr algn="ctr"/>
            <a:r>
              <a:rPr lang="zh-CN" altLang="en-US" sz="2000" spc="200" dirty="0">
                <a:solidFill>
                  <a:schemeClr val="bg1"/>
                </a:solidFill>
                <a:latin typeface="微软雅黑" panose="020B0503020204020204" pitchFamily="34" charset="-122"/>
                <a:ea typeface="微软雅黑" panose="020B0503020204020204" pitchFamily="34" charset="-122"/>
              </a:rPr>
              <a:t> 自定义存储过程和函数</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r>
              <a:rPr lang="zh-CN" altLang="en-US" dirty="0">
                <a:latin typeface="Arial" panose="020B0604020202020204" pitchFamily="34" charset="0"/>
                <a:cs typeface="宋体" panose="02010600030101010101" pitchFamily="2" charset="-122"/>
              </a:rPr>
              <a:t>系统函数大纲</a:t>
            </a:r>
          </a:p>
        </p:txBody>
      </p:sp>
      <p:graphicFrame>
        <p:nvGraphicFramePr>
          <p:cNvPr id="3" name="表格 2"/>
          <p:cNvGraphicFramePr/>
          <p:nvPr/>
        </p:nvGraphicFramePr>
        <p:xfrm>
          <a:off x="864128" y="1242108"/>
          <a:ext cx="10297860" cy="4993640"/>
        </p:xfrm>
        <a:graphic>
          <a:graphicData uri="http://schemas.openxmlformats.org/drawingml/2006/table">
            <a:tbl>
              <a:tblPr firstRow="1" bandRow="1">
                <a:tableStyleId>{5C22544A-7EE6-4342-B048-85BDC9FD1C3A}</a:tableStyleId>
              </a:tblPr>
              <a:tblGrid>
                <a:gridCol w="2723126"/>
                <a:gridCol w="7574734"/>
              </a:tblGrid>
              <a:tr h="483870">
                <a:tc>
                  <a:txBody>
                    <a:bodyPr/>
                    <a:lstStyle/>
                    <a:p>
                      <a:pPr>
                        <a:buNone/>
                      </a:pPr>
                      <a:r>
                        <a:rPr lang="zh-CN" altLang="en-US" dirty="0"/>
                        <a:t>函数分类</a:t>
                      </a:r>
                    </a:p>
                  </a:txBody>
                  <a:tcPr anchor="ctr"/>
                </a:tc>
                <a:tc>
                  <a:txBody>
                    <a:bodyPr/>
                    <a:lstStyle/>
                    <a:p>
                      <a:pPr>
                        <a:buNone/>
                      </a:pPr>
                      <a:r>
                        <a:rPr lang="zh-CN" altLang="en-US"/>
                        <a:t>举例</a:t>
                      </a:r>
                    </a:p>
                  </a:txBody>
                  <a:tcPr anchor="ctr"/>
                </a:tc>
              </a:tr>
              <a:tr h="483870">
                <a:tc>
                  <a:txBody>
                    <a:bodyPr/>
                    <a:lstStyle/>
                    <a:p>
                      <a:pPr>
                        <a:buNone/>
                      </a:pPr>
                      <a:r>
                        <a:rPr lang="zh-CN" altLang="en-US"/>
                        <a:t>集合函数</a:t>
                      </a:r>
                    </a:p>
                  </a:txBody>
                  <a:tcPr anchor="ctr"/>
                </a:tc>
                <a:tc>
                  <a:txBody>
                    <a:bodyPr/>
                    <a:lstStyle/>
                    <a:p>
                      <a:pPr>
                        <a:buNone/>
                      </a:pPr>
                      <a:r>
                        <a:rPr lang="en-US" altLang="zh-CN"/>
                        <a:t>AVG</a:t>
                      </a:r>
                      <a:r>
                        <a:rPr lang="zh-CN" altLang="en-US">
                          <a:ea typeface="宋体" panose="02010600030101010101" pitchFamily="2" charset="-122"/>
                        </a:rPr>
                        <a:t>、</a:t>
                      </a:r>
                      <a:r>
                        <a:rPr lang="en-US" altLang="zh-CN">
                          <a:ea typeface="宋体" panose="02010600030101010101" pitchFamily="2" charset="-122"/>
                        </a:rPr>
                        <a:t>COUNT</a:t>
                      </a:r>
                      <a:r>
                        <a:rPr lang="zh-CN" altLang="en-US">
                          <a:ea typeface="宋体" panose="02010600030101010101" pitchFamily="2" charset="-122"/>
                        </a:rPr>
                        <a:t>、</a:t>
                      </a:r>
                      <a:r>
                        <a:rPr lang="en-US" altLang="zh-CN">
                          <a:ea typeface="宋体" panose="02010600030101010101" pitchFamily="2" charset="-122"/>
                        </a:rPr>
                        <a:t>MAX</a:t>
                      </a:r>
                      <a:r>
                        <a:rPr lang="zh-CN" altLang="en-US">
                          <a:ea typeface="宋体" panose="02010600030101010101" pitchFamily="2" charset="-122"/>
                        </a:rPr>
                        <a:t>、</a:t>
                      </a:r>
                      <a:r>
                        <a:rPr lang="en-US" altLang="zh-CN">
                          <a:ea typeface="宋体" panose="02010600030101010101" pitchFamily="2" charset="-122"/>
                        </a:rPr>
                        <a:t>MIN</a:t>
                      </a:r>
                      <a:r>
                        <a:rPr lang="zh-CN" altLang="en-US">
                          <a:ea typeface="宋体" panose="02010600030101010101" pitchFamily="2" charset="-122"/>
                        </a:rPr>
                        <a:t>、</a:t>
                      </a:r>
                      <a:r>
                        <a:rPr lang="en-US" altLang="zh-CN">
                          <a:ea typeface="宋体" panose="02010600030101010101" pitchFamily="2" charset="-122"/>
                        </a:rPr>
                        <a:t>RANGE</a:t>
                      </a:r>
                      <a:r>
                        <a:rPr lang="zh-CN" altLang="en-US">
                          <a:ea typeface="宋体" panose="02010600030101010101" pitchFamily="2" charset="-122"/>
                        </a:rPr>
                        <a:t>、</a:t>
                      </a:r>
                      <a:r>
                        <a:rPr lang="en-US" altLang="zh-CN">
                          <a:ea typeface="宋体" panose="02010600030101010101" pitchFamily="2" charset="-122"/>
                        </a:rPr>
                        <a:t>SUM...</a:t>
                      </a:r>
                    </a:p>
                  </a:txBody>
                  <a:tcPr anchor="ctr"/>
                </a:tc>
              </a:tr>
              <a:tr h="483235">
                <a:tc>
                  <a:txBody>
                    <a:bodyPr/>
                    <a:lstStyle/>
                    <a:p>
                      <a:pPr>
                        <a:buNone/>
                      </a:pPr>
                      <a:r>
                        <a:rPr lang="zh-CN" altLang="en-US"/>
                        <a:t>代数函数</a:t>
                      </a:r>
                    </a:p>
                  </a:txBody>
                  <a:tcPr anchor="ctr"/>
                </a:tc>
                <a:tc>
                  <a:txBody>
                    <a:bodyPr/>
                    <a:lstStyle/>
                    <a:p>
                      <a:pPr>
                        <a:buNone/>
                      </a:pPr>
                      <a:r>
                        <a:rPr lang="en-US" altLang="zh-CN"/>
                        <a:t>ABS</a:t>
                      </a:r>
                      <a:r>
                        <a:rPr lang="zh-CN" altLang="en-US">
                          <a:ea typeface="宋体" panose="02010600030101010101" pitchFamily="2" charset="-122"/>
                        </a:rPr>
                        <a:t>、</a:t>
                      </a:r>
                      <a:r>
                        <a:rPr lang="en-US" altLang="zh-CN">
                          <a:ea typeface="宋体" panose="02010600030101010101" pitchFamily="2" charset="-122"/>
                        </a:rPr>
                        <a:t>CEIL</a:t>
                      </a:r>
                      <a:r>
                        <a:rPr lang="zh-CN" altLang="en-US">
                          <a:ea typeface="宋体" panose="02010600030101010101" pitchFamily="2" charset="-122"/>
                        </a:rPr>
                        <a:t>、</a:t>
                      </a:r>
                      <a:r>
                        <a:rPr lang="en-US" altLang="zh-CN">
                          <a:ea typeface="宋体" panose="02010600030101010101" pitchFamily="2" charset="-122"/>
                        </a:rPr>
                        <a:t>FLOOR</a:t>
                      </a:r>
                      <a:r>
                        <a:rPr lang="zh-CN" altLang="en-US">
                          <a:ea typeface="宋体" panose="02010600030101010101" pitchFamily="2" charset="-122"/>
                        </a:rPr>
                        <a:t>、</a:t>
                      </a:r>
                      <a:r>
                        <a:rPr lang="en-US" altLang="zh-CN">
                          <a:ea typeface="宋体" panose="02010600030101010101" pitchFamily="2" charset="-122"/>
                        </a:rPr>
                        <a:t>MOD</a:t>
                      </a:r>
                      <a:r>
                        <a:rPr lang="zh-CN" altLang="en-US">
                          <a:ea typeface="宋体" panose="02010600030101010101" pitchFamily="2" charset="-122"/>
                        </a:rPr>
                        <a:t>、</a:t>
                      </a:r>
                      <a:r>
                        <a:rPr lang="en-US" altLang="zh-CN">
                          <a:ea typeface="宋体" panose="02010600030101010101" pitchFamily="2" charset="-122"/>
                        </a:rPr>
                        <a:t>POWER</a:t>
                      </a:r>
                      <a:r>
                        <a:rPr lang="zh-CN" altLang="en-US">
                          <a:ea typeface="宋体" panose="02010600030101010101" pitchFamily="2" charset="-122"/>
                        </a:rPr>
                        <a:t>、</a:t>
                      </a:r>
                      <a:r>
                        <a:rPr lang="en-US" altLang="zh-CN">
                          <a:ea typeface="宋体" panose="02010600030101010101" pitchFamily="2" charset="-122"/>
                        </a:rPr>
                        <a:t>ROUND...</a:t>
                      </a:r>
                    </a:p>
                  </a:txBody>
                  <a:tcPr anchor="ctr"/>
                </a:tc>
              </a:tr>
              <a:tr h="483870">
                <a:tc>
                  <a:txBody>
                    <a:bodyPr/>
                    <a:lstStyle/>
                    <a:p>
                      <a:pPr>
                        <a:buNone/>
                      </a:pPr>
                      <a:r>
                        <a:rPr lang="zh-CN" altLang="en-US"/>
                        <a:t>时间函数</a:t>
                      </a:r>
                    </a:p>
                  </a:txBody>
                  <a:tcPr anchor="ctr"/>
                </a:tc>
                <a:tc>
                  <a:txBody>
                    <a:bodyPr/>
                    <a:lstStyle/>
                    <a:p>
                      <a:pPr>
                        <a:buNone/>
                      </a:pPr>
                      <a:r>
                        <a:rPr lang="en-US" altLang="zh-CN"/>
                        <a:t>CURRENT</a:t>
                      </a:r>
                      <a:r>
                        <a:rPr lang="zh-CN" altLang="en-US">
                          <a:ea typeface="宋体" panose="02010600030101010101" pitchFamily="2" charset="-122"/>
                        </a:rPr>
                        <a:t>、</a:t>
                      </a:r>
                      <a:r>
                        <a:rPr lang="en-US" altLang="zh-CN">
                          <a:ea typeface="宋体" panose="02010600030101010101" pitchFamily="2" charset="-122"/>
                        </a:rPr>
                        <a:t>DAY</a:t>
                      </a:r>
                      <a:r>
                        <a:rPr lang="zh-CN" altLang="en-US">
                          <a:ea typeface="宋体" panose="02010600030101010101" pitchFamily="2" charset="-122"/>
                        </a:rPr>
                        <a:t>、</a:t>
                      </a:r>
                      <a:r>
                        <a:rPr lang="en-US" altLang="zh-CN">
                          <a:ea typeface="宋体" panose="02010600030101010101" pitchFamily="2" charset="-122"/>
                        </a:rPr>
                        <a:t>ADD_MONTHS</a:t>
                      </a:r>
                      <a:r>
                        <a:rPr lang="zh-CN" altLang="en-US">
                          <a:ea typeface="宋体" panose="02010600030101010101" pitchFamily="2" charset="-122"/>
                        </a:rPr>
                        <a:t>、</a:t>
                      </a:r>
                      <a:r>
                        <a:rPr lang="en-US" altLang="zh-CN">
                          <a:ea typeface="宋体" panose="02010600030101010101" pitchFamily="2" charset="-122"/>
                        </a:rPr>
                        <a:t>NEXT_DAY...</a:t>
                      </a:r>
                    </a:p>
                  </a:txBody>
                  <a:tcPr anchor="ctr"/>
                </a:tc>
              </a:tr>
              <a:tr h="483870">
                <a:tc>
                  <a:txBody>
                    <a:bodyPr/>
                    <a:lstStyle/>
                    <a:p>
                      <a:pPr>
                        <a:buNone/>
                      </a:pPr>
                      <a:r>
                        <a:rPr lang="zh-CN" altLang="en-US"/>
                        <a:t>数据转换函数</a:t>
                      </a:r>
                    </a:p>
                  </a:txBody>
                  <a:tcPr anchor="ctr"/>
                </a:tc>
                <a:tc>
                  <a:txBody>
                    <a:bodyPr/>
                    <a:lstStyle/>
                    <a:p>
                      <a:pPr>
                        <a:buNone/>
                      </a:pPr>
                      <a:r>
                        <a:rPr lang="en-US" altLang="zh-CN"/>
                        <a:t>TO_NUMBER</a:t>
                      </a:r>
                      <a:r>
                        <a:rPr lang="zh-CN" altLang="en-US">
                          <a:ea typeface="宋体" panose="02010600030101010101" pitchFamily="2" charset="-122"/>
                        </a:rPr>
                        <a:t>、</a:t>
                      </a:r>
                      <a:r>
                        <a:rPr lang="en-US" altLang="zh-CN">
                          <a:ea typeface="宋体" panose="02010600030101010101" pitchFamily="2" charset="-122"/>
                        </a:rPr>
                        <a:t>TO_CHAR</a:t>
                      </a:r>
                      <a:r>
                        <a:rPr lang="zh-CN" altLang="en-US">
                          <a:ea typeface="宋体" panose="02010600030101010101" pitchFamily="2" charset="-122"/>
                        </a:rPr>
                        <a:t>、</a:t>
                      </a:r>
                      <a:r>
                        <a:rPr lang="en-US" altLang="zh-CN">
                          <a:ea typeface="宋体" panose="02010600030101010101" pitchFamily="2" charset="-122"/>
                        </a:rPr>
                        <a:t>TO_DATE</a:t>
                      </a:r>
                    </a:p>
                  </a:txBody>
                  <a:tcPr anchor="ctr"/>
                </a:tc>
              </a:tr>
              <a:tr h="483870">
                <a:tc>
                  <a:txBody>
                    <a:bodyPr/>
                    <a:lstStyle/>
                    <a:p>
                      <a:pPr>
                        <a:buNone/>
                      </a:pPr>
                      <a:r>
                        <a:rPr lang="zh-CN" altLang="en-US"/>
                        <a:t>基数函数</a:t>
                      </a:r>
                    </a:p>
                  </a:txBody>
                  <a:tcPr anchor="ctr"/>
                </a:tc>
                <a:tc>
                  <a:txBody>
                    <a:bodyPr/>
                    <a:lstStyle/>
                    <a:p>
                      <a:pPr>
                        <a:buNone/>
                      </a:pPr>
                      <a:r>
                        <a:rPr lang="en-US" altLang="zh-CN" sz="1800" dirty="0">
                          <a:cs typeface="宋体" panose="02010600030101010101" pitchFamily="2" charset="-122"/>
                          <a:sym typeface="+mn-ea"/>
                        </a:rPr>
                        <a:t>CARDINALITY (</a:t>
                      </a:r>
                      <a:r>
                        <a:rPr lang="zh-CN" altLang="en-US" sz="1800" dirty="0">
                          <a:cs typeface="宋体" panose="02010600030101010101" pitchFamily="2" charset="-122"/>
                          <a:sym typeface="+mn-ea"/>
                        </a:rPr>
                        <a:t>返回集合列（</a:t>
                      </a:r>
                      <a:r>
                        <a:rPr lang="en-US" altLang="zh-CN" sz="1800" dirty="0">
                          <a:cs typeface="宋体" panose="02010600030101010101" pitchFamily="2" charset="-122"/>
                          <a:sym typeface="+mn-ea"/>
                        </a:rPr>
                        <a:t>SET</a:t>
                      </a:r>
                      <a:r>
                        <a:rPr lang="zh-CN" altLang="en-US" sz="1800" dirty="0">
                          <a:cs typeface="宋体" panose="02010600030101010101" pitchFamily="2" charset="-122"/>
                          <a:sym typeface="+mn-ea"/>
                        </a:rPr>
                        <a:t>、</a:t>
                      </a:r>
                      <a:r>
                        <a:rPr lang="en-US" altLang="zh-CN" sz="1800" dirty="0">
                          <a:cs typeface="宋体" panose="02010600030101010101" pitchFamily="2" charset="-122"/>
                          <a:sym typeface="+mn-ea"/>
                        </a:rPr>
                        <a:t>MULTISET</a:t>
                      </a:r>
                      <a:r>
                        <a:rPr lang="zh-CN" altLang="en-US" sz="1800" dirty="0">
                          <a:cs typeface="宋体" panose="02010600030101010101" pitchFamily="2" charset="-122"/>
                          <a:sym typeface="+mn-ea"/>
                        </a:rPr>
                        <a:t>、</a:t>
                      </a:r>
                      <a:r>
                        <a:rPr lang="en-US" altLang="zh-CN" sz="1800" dirty="0">
                          <a:cs typeface="宋体" panose="02010600030101010101" pitchFamily="2" charset="-122"/>
                          <a:sym typeface="+mn-ea"/>
                        </a:rPr>
                        <a:t>LIST</a:t>
                      </a:r>
                      <a:r>
                        <a:rPr lang="zh-CN" altLang="en-US" sz="1800" dirty="0">
                          <a:cs typeface="宋体" panose="02010600030101010101" pitchFamily="2" charset="-122"/>
                          <a:sym typeface="+mn-ea"/>
                        </a:rPr>
                        <a:t>）中元素个数</a:t>
                      </a:r>
                      <a:r>
                        <a:rPr lang="en-US" altLang="zh-CN" sz="1800" dirty="0">
                          <a:cs typeface="宋体" panose="02010600030101010101" pitchFamily="2" charset="-122"/>
                          <a:sym typeface="+mn-ea"/>
                        </a:rPr>
                        <a:t>)</a:t>
                      </a:r>
                      <a:endParaRPr lang="zh-CN" altLang="en-US" dirty="0"/>
                    </a:p>
                  </a:txBody>
                  <a:tcPr anchor="ctr"/>
                </a:tc>
              </a:tr>
              <a:tr h="483870">
                <a:tc>
                  <a:txBody>
                    <a:bodyPr/>
                    <a:lstStyle/>
                    <a:p>
                      <a:pPr>
                        <a:buNone/>
                      </a:pPr>
                      <a:r>
                        <a:rPr lang="zh-CN" altLang="en-US"/>
                        <a:t>字符串处理函数</a:t>
                      </a:r>
                    </a:p>
                  </a:txBody>
                  <a:tcPr anchor="ctr"/>
                </a:tc>
                <a:tc>
                  <a:txBody>
                    <a:bodyPr/>
                    <a:lstStyle/>
                    <a:p>
                      <a:pPr>
                        <a:buNone/>
                      </a:pPr>
                      <a:r>
                        <a:rPr lang="en-US" altLang="zh-CN"/>
                        <a:t>UPPER</a:t>
                      </a:r>
                      <a:r>
                        <a:rPr lang="zh-CN" altLang="en-US">
                          <a:ea typeface="宋体" panose="02010600030101010101" pitchFamily="2" charset="-122"/>
                        </a:rPr>
                        <a:t>、</a:t>
                      </a:r>
                      <a:r>
                        <a:rPr lang="en-US" altLang="zh-CN">
                          <a:ea typeface="宋体" panose="02010600030101010101" pitchFamily="2" charset="-122"/>
                        </a:rPr>
                        <a:t>REPLACE</a:t>
                      </a:r>
                      <a:r>
                        <a:rPr lang="zh-CN" altLang="en-US">
                          <a:ea typeface="宋体" panose="02010600030101010101" pitchFamily="2" charset="-122"/>
                        </a:rPr>
                        <a:t>、</a:t>
                      </a:r>
                      <a:r>
                        <a:rPr lang="en-US" altLang="zh-CN">
                          <a:ea typeface="宋体" panose="02010600030101010101" pitchFamily="2" charset="-122"/>
                        </a:rPr>
                        <a:t>CONCAT</a:t>
                      </a:r>
                      <a:r>
                        <a:rPr lang="zh-CN" altLang="en-US">
                          <a:ea typeface="宋体" panose="02010600030101010101" pitchFamily="2" charset="-122"/>
                        </a:rPr>
                        <a:t>、</a:t>
                      </a:r>
                      <a:r>
                        <a:rPr lang="en-US" altLang="zh-CN" sz="1800" dirty="0">
                          <a:latin typeface="Arial" panose="020B0604020202020204" pitchFamily="34" charset="0"/>
                          <a:ea typeface="宋体" panose="02010600030101010101" pitchFamily="2" charset="-122"/>
                          <a:cs typeface="宋体" panose="02010600030101010101" pitchFamily="2" charset="-122"/>
                          <a:sym typeface="+mn-ea"/>
                        </a:rPr>
                        <a:t>SUBSTRING...</a:t>
                      </a:r>
                    </a:p>
                  </a:txBody>
                  <a:tcPr anchor="ctr"/>
                </a:tc>
              </a:tr>
              <a:tr h="483235">
                <a:tc>
                  <a:txBody>
                    <a:bodyPr/>
                    <a:lstStyle/>
                    <a:p>
                      <a:pPr>
                        <a:buNone/>
                      </a:pPr>
                      <a:r>
                        <a:rPr lang="zh-CN" altLang="en-US"/>
                        <a:t>智能大对象函数</a:t>
                      </a:r>
                    </a:p>
                  </a:txBody>
                  <a:tcPr anchor="ctr"/>
                </a:tc>
                <a:tc>
                  <a:txBody>
                    <a:bodyPr/>
                    <a:lstStyle/>
                    <a:p>
                      <a:pPr>
                        <a:buNone/>
                      </a:pPr>
                      <a:r>
                        <a:rPr lang="en-US" altLang="zh-CN" sz="1800">
                          <a:latin typeface="Arial" panose="020B0604020202020204" pitchFamily="34" charset="0"/>
                          <a:ea typeface="宋体" panose="02010600030101010101" pitchFamily="2" charset="-122"/>
                          <a:cs typeface="宋体" panose="02010600030101010101" pitchFamily="2" charset="-122"/>
                          <a:sym typeface="+mn-ea"/>
                        </a:rPr>
                        <a:t>FILETOBLOB</a:t>
                      </a:r>
                      <a:r>
                        <a:rPr lang="zh-CN" altLang="en-US" sz="1800">
                          <a:latin typeface="Arial" panose="020B0604020202020204" pitchFamily="34" charset="0"/>
                          <a:ea typeface="宋体" panose="02010600030101010101" pitchFamily="2" charset="-122"/>
                          <a:cs typeface="宋体" panose="02010600030101010101" pitchFamily="2" charset="-122"/>
                          <a:sym typeface="+mn-ea"/>
                        </a:rPr>
                        <a:t>、</a:t>
                      </a:r>
                      <a:r>
                        <a:rPr lang="en-US" altLang="zh-CN" sz="1800">
                          <a:latin typeface="Arial" panose="020B0604020202020204" pitchFamily="34" charset="0"/>
                          <a:ea typeface="宋体" panose="02010600030101010101" pitchFamily="2" charset="-122"/>
                          <a:cs typeface="宋体" panose="02010600030101010101" pitchFamily="2" charset="-122"/>
                          <a:sym typeface="+mn-ea"/>
                        </a:rPr>
                        <a:t>LOCOPY</a:t>
                      </a:r>
                      <a:r>
                        <a:rPr lang="zh-CN" altLang="en-US" sz="1800">
                          <a:latin typeface="Arial" panose="020B0604020202020204" pitchFamily="34" charset="0"/>
                          <a:ea typeface="宋体" panose="02010600030101010101" pitchFamily="2" charset="-122"/>
                          <a:cs typeface="宋体" panose="02010600030101010101" pitchFamily="2" charset="-122"/>
                          <a:sym typeface="+mn-ea"/>
                        </a:rPr>
                        <a:t>、</a:t>
                      </a:r>
                      <a:r>
                        <a:rPr lang="en-US" altLang="zh-CN" sz="1800">
                          <a:latin typeface="Arial" panose="020B0604020202020204" pitchFamily="34" charset="0"/>
                          <a:ea typeface="宋体" panose="02010600030101010101" pitchFamily="2" charset="-122"/>
                          <a:cs typeface="宋体" panose="02010600030101010101" pitchFamily="2" charset="-122"/>
                          <a:sym typeface="+mn-ea"/>
                        </a:rPr>
                        <a:t>LOTOFILE...</a:t>
                      </a:r>
                      <a:endParaRPr lang="zh-CN" altLang="en-US" sz="1800">
                        <a:latin typeface="Arial" panose="020B0604020202020204" pitchFamily="34" charset="0"/>
                        <a:ea typeface="宋体" panose="02010600030101010101" pitchFamily="2" charset="-122"/>
                        <a:cs typeface="宋体" panose="02010600030101010101" pitchFamily="2" charset="-122"/>
                        <a:sym typeface="+mn-ea"/>
                      </a:endParaRPr>
                    </a:p>
                  </a:txBody>
                  <a:tcPr anchor="ctr"/>
                </a:tc>
              </a:tr>
              <a:tr h="483870">
                <a:tc>
                  <a:txBody>
                    <a:bodyPr/>
                    <a:lstStyle/>
                    <a:p>
                      <a:pPr>
                        <a:buNone/>
                      </a:pPr>
                      <a:r>
                        <a:rPr lang="zh-CN" altLang="en-US"/>
                        <a:t>窗口函数</a:t>
                      </a:r>
                    </a:p>
                    <a:p>
                      <a:pPr>
                        <a:buNone/>
                      </a:pPr>
                      <a:r>
                        <a:rPr lang="zh-CN" altLang="en-US"/>
                        <a:t>（分析函数）</a:t>
                      </a:r>
                    </a:p>
                  </a:txBody>
                  <a:tcPr anchor="ctr"/>
                </a:tc>
                <a:tc>
                  <a:txBody>
                    <a:bodyPr/>
                    <a:lstStyle/>
                    <a:p>
                      <a:pPr>
                        <a:buNone/>
                      </a:pPr>
                      <a:r>
                        <a:rPr lang="en-US" altLang="zh-CN"/>
                        <a:t>SUM( ) OVER( )</a:t>
                      </a:r>
                      <a:r>
                        <a:rPr lang="zh-CN" altLang="zh-CN">
                          <a:ea typeface="宋体" panose="02010600030101010101" pitchFamily="2" charset="-122"/>
                        </a:rPr>
                        <a:t>、</a:t>
                      </a:r>
                      <a:r>
                        <a:rPr lang="en-US" altLang="zh-CN">
                          <a:ea typeface="宋体" panose="02010600030101010101" pitchFamily="2" charset="-122"/>
                        </a:rPr>
                        <a:t>RANK</a:t>
                      </a:r>
                      <a:r>
                        <a:rPr lang="en-US" altLang="zh-CN" sz="1800">
                          <a:ea typeface="宋体" panose="02010600030101010101" pitchFamily="2" charset="-122"/>
                          <a:sym typeface="+mn-ea"/>
                        </a:rPr>
                        <a:t>( )</a:t>
                      </a:r>
                      <a:endParaRPr lang="zh-CN" altLang="zh-CN">
                        <a:ea typeface="宋体" panose="02010600030101010101" pitchFamily="2" charset="-122"/>
                      </a:endParaRPr>
                    </a:p>
                  </a:txBody>
                  <a:tcPr anchor="ctr"/>
                </a:tc>
              </a:tr>
              <a:tr h="483870">
                <a:tc>
                  <a:txBody>
                    <a:bodyPr/>
                    <a:lstStyle/>
                    <a:p>
                      <a:pPr>
                        <a:buNone/>
                      </a:pPr>
                      <a:r>
                        <a:rPr lang="zh-CN" altLang="en-US"/>
                        <a:t>其他函数</a:t>
                      </a:r>
                    </a:p>
                  </a:txBody>
                  <a:tcPr anchor="ctr"/>
                </a:tc>
                <a:tc>
                  <a:txBody>
                    <a:bodyPr/>
                    <a:lstStyle/>
                    <a:p>
                      <a:pPr>
                        <a:buNone/>
                      </a:pPr>
                      <a:r>
                        <a:rPr lang="en-US" altLang="zh-CN" dirty="0"/>
                        <a:t>USER</a:t>
                      </a:r>
                      <a:r>
                        <a:rPr lang="zh-CN" altLang="zh-CN" dirty="0">
                          <a:ea typeface="宋体" panose="02010600030101010101" pitchFamily="2" charset="-122"/>
                        </a:rPr>
                        <a:t>、</a:t>
                      </a:r>
                      <a:r>
                        <a:rPr lang="en-US" altLang="zh-CN" sz="1800" dirty="0">
                          <a:latin typeface="Arial" panose="020B0604020202020204" pitchFamily="34" charset="0"/>
                          <a:ea typeface="宋体" panose="02010600030101010101" pitchFamily="2" charset="-122"/>
                          <a:cs typeface="宋体" panose="02010600030101010101" pitchFamily="2" charset="-122"/>
                          <a:sym typeface="+mn-ea"/>
                        </a:rPr>
                        <a:t>DBSERVERNAME</a:t>
                      </a:r>
                      <a:r>
                        <a:rPr lang="zh-CN" altLang="en-US" sz="1800" dirty="0">
                          <a:latin typeface="Arial" panose="020B0604020202020204" pitchFamily="34" charset="0"/>
                          <a:ea typeface="宋体" panose="02010600030101010101" pitchFamily="2" charset="-122"/>
                          <a:cs typeface="宋体" panose="02010600030101010101" pitchFamily="2" charset="-122"/>
                          <a:sym typeface="+mn-ea"/>
                        </a:rPr>
                        <a:t>、</a:t>
                      </a:r>
                      <a:r>
                        <a:rPr lang="en-US" altLang="zh-CN" sz="1800" dirty="0">
                          <a:latin typeface="Arial" panose="020B0604020202020204" pitchFamily="34" charset="0"/>
                          <a:ea typeface="宋体" panose="02010600030101010101" pitchFamily="2" charset="-122"/>
                          <a:cs typeface="宋体" panose="02010600030101010101" pitchFamily="2" charset="-122"/>
                          <a:sym typeface="+mn-ea"/>
                        </a:rPr>
                        <a:t>DBINFO</a:t>
                      </a:r>
                      <a:r>
                        <a:rPr lang="zh-CN" altLang="en-US" sz="1800" dirty="0">
                          <a:latin typeface="Arial" panose="020B0604020202020204" pitchFamily="34" charset="0"/>
                          <a:ea typeface="宋体" panose="02010600030101010101" pitchFamily="2" charset="-122"/>
                          <a:cs typeface="宋体" panose="02010600030101010101" pitchFamily="2" charset="-122"/>
                          <a:sym typeface="+mn-ea"/>
                        </a:rPr>
                        <a:t>、</a:t>
                      </a:r>
                      <a:r>
                        <a:rPr lang="en-US" altLang="zh-CN" sz="1800" dirty="0">
                          <a:latin typeface="Arial" panose="020B0604020202020204" pitchFamily="34" charset="0"/>
                          <a:ea typeface="宋体" panose="02010600030101010101" pitchFamily="2" charset="-122"/>
                          <a:cs typeface="宋体" panose="02010600030101010101" pitchFamily="2" charset="-122"/>
                          <a:sym typeface="+mn-ea"/>
                        </a:rPr>
                        <a:t>NVL...</a:t>
                      </a:r>
                    </a:p>
                  </a:txBody>
                  <a:tcPr anchor="ctr"/>
                </a:tc>
              </a:tr>
            </a:tbl>
          </a:graphicData>
        </a:graphic>
      </p:graphicFrame>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9666" name="Rectangle 2"/>
          <p:cNvSpPr>
            <a:spLocks noGrp="1" noChangeArrowheads="1"/>
          </p:cNvSpPr>
          <p:nvPr>
            <p:ph type="title"/>
          </p:nvPr>
        </p:nvSpPr>
        <p:spPr/>
        <p:txBody>
          <a:bodyPr/>
          <a:lstStyle/>
          <a:p>
            <a:r>
              <a:rPr lang="zh-CN" altLang="en-US">
                <a:latin typeface="Arial" panose="020B0604020202020204" pitchFamily="34" charset="0"/>
                <a:cs typeface="宋体" panose="02010600030101010101" pitchFamily="2" charset="-122"/>
              </a:rPr>
              <a:t>时间</a:t>
            </a:r>
            <a:r>
              <a:rPr lang="en-US" altLang="zh-CN">
                <a:latin typeface="Arial" panose="020B0604020202020204" pitchFamily="34" charset="0"/>
                <a:cs typeface="宋体" panose="02010600030101010101" pitchFamily="2" charset="-122"/>
              </a:rPr>
              <a:t>函数</a:t>
            </a:r>
            <a:endParaRPr lang="zh-CN" altLang="en-US">
              <a:latin typeface="Arial" panose="020B0604020202020204" pitchFamily="34" charset="0"/>
              <a:cs typeface="宋体" panose="02010600030101010101" pitchFamily="2" charset="-122"/>
            </a:endParaRPr>
          </a:p>
        </p:txBody>
      </p:sp>
      <p:graphicFrame>
        <p:nvGraphicFramePr>
          <p:cNvPr id="2" name="表格 1"/>
          <p:cNvGraphicFramePr/>
          <p:nvPr/>
        </p:nvGraphicFramePr>
        <p:xfrm>
          <a:off x="1134746" y="1467486"/>
          <a:ext cx="9857104" cy="4608195"/>
        </p:xfrm>
        <a:graphic>
          <a:graphicData uri="http://schemas.openxmlformats.org/drawingml/2006/table">
            <a:tbl>
              <a:tblPr firstRow="1" bandRow="1">
                <a:tableStyleId>{5940675A-B579-460E-94D1-54222C63F5DA}</a:tableStyleId>
              </a:tblPr>
              <a:tblGrid>
                <a:gridCol w="4374885"/>
                <a:gridCol w="5482219"/>
              </a:tblGrid>
              <a:tr h="466090">
                <a:tc>
                  <a:txBody>
                    <a:bodyPr/>
                    <a:lstStyle/>
                    <a:p>
                      <a:pPr>
                        <a:buNone/>
                      </a:pPr>
                      <a:r>
                        <a:rPr lang="zh-CN" altLang="zh-CN" sz="1600" b="1" dirty="0"/>
                        <a:t>时间函数</a:t>
                      </a:r>
                    </a:p>
                  </a:txBody>
                  <a:tcPr anchor="ctr">
                    <a:solidFill>
                      <a:schemeClr val="bg1">
                        <a:lumMod val="85000"/>
                      </a:schemeClr>
                    </a:solidFill>
                  </a:tcPr>
                </a:tc>
                <a:tc>
                  <a:txBody>
                    <a:bodyPr/>
                    <a:lstStyle/>
                    <a:p>
                      <a:pPr>
                        <a:buNone/>
                      </a:pPr>
                      <a:r>
                        <a:rPr lang="zh-CN" altLang="en-US" sz="1600" b="1"/>
                        <a:t>功能</a:t>
                      </a:r>
                    </a:p>
                  </a:txBody>
                  <a:tcPr anchor="ctr">
                    <a:solidFill>
                      <a:schemeClr val="bg1">
                        <a:lumMod val="85000"/>
                      </a:schemeClr>
                    </a:solidFill>
                  </a:tcPr>
                </a:tc>
              </a:tr>
              <a:tr h="466090">
                <a:tc>
                  <a:txBody>
                    <a:bodyPr/>
                    <a:lstStyle/>
                    <a:p>
                      <a:pPr>
                        <a:buNone/>
                      </a:pPr>
                      <a:r>
                        <a:rPr lang="en-US" altLang="zh-CN" sz="1600" dirty="0"/>
                        <a:t>TODAY and CURRENT</a:t>
                      </a:r>
                    </a:p>
                  </a:txBody>
                  <a:tcPr anchor="ctr"/>
                </a:tc>
                <a:tc>
                  <a:txBody>
                    <a:bodyPr/>
                    <a:lstStyle/>
                    <a:p>
                      <a:pPr>
                        <a:buNone/>
                      </a:pPr>
                      <a:r>
                        <a:rPr sz="1600" dirty="0"/>
                        <a:t>当前日期</a:t>
                      </a:r>
                      <a:r>
                        <a:rPr lang="zh-CN" sz="1600" dirty="0"/>
                        <a:t>与当前时间</a:t>
                      </a:r>
                      <a:endParaRPr lang="zh-CN" altLang="en-US" sz="1600" dirty="0"/>
                    </a:p>
                  </a:txBody>
                  <a:tcPr anchor="ctr"/>
                </a:tc>
              </a:tr>
              <a:tr h="465455">
                <a:tc>
                  <a:txBody>
                    <a:bodyPr/>
                    <a:lstStyle/>
                    <a:p>
                      <a:pPr>
                        <a:buNone/>
                      </a:pPr>
                      <a:r>
                        <a:rPr lang="en-US" altLang="zh-CN" sz="1600" dirty="0"/>
                        <a:t>YEAR</a:t>
                      </a:r>
                      <a:r>
                        <a:rPr lang="zh-CN" altLang="en-US" sz="1600" dirty="0"/>
                        <a:t>，</a:t>
                      </a:r>
                      <a:r>
                        <a:rPr lang="en-US" altLang="zh-CN" sz="1600" dirty="0"/>
                        <a:t>MONTH</a:t>
                      </a:r>
                      <a:r>
                        <a:rPr lang="zh-CN" altLang="en-US" sz="1600" dirty="0"/>
                        <a:t>，</a:t>
                      </a:r>
                      <a:r>
                        <a:rPr lang="en-US" altLang="zh-CN" sz="1600" dirty="0"/>
                        <a:t>DAY</a:t>
                      </a:r>
                      <a:r>
                        <a:rPr lang="zh-CN" altLang="en-US" sz="1600" dirty="0"/>
                        <a:t>，</a:t>
                      </a:r>
                      <a:r>
                        <a:rPr lang="en-US" altLang="zh-CN" sz="1600" dirty="0"/>
                        <a:t>WEEKDAY</a:t>
                      </a:r>
                    </a:p>
                  </a:txBody>
                  <a:tcPr anchor="ctr"/>
                </a:tc>
                <a:tc>
                  <a:txBody>
                    <a:bodyPr/>
                    <a:lstStyle/>
                    <a:p>
                      <a:pPr>
                        <a:buNone/>
                      </a:pPr>
                      <a:r>
                        <a:rPr lang="zh-CN" sz="1600" dirty="0"/>
                        <a:t>取</a:t>
                      </a:r>
                      <a:r>
                        <a:rPr sz="1600" dirty="0"/>
                        <a:t>指定表达式中的年份</a:t>
                      </a:r>
                      <a:r>
                        <a:rPr lang="zh-CN" sz="1600" dirty="0"/>
                        <a:t>，月份，日期，星期</a:t>
                      </a:r>
                    </a:p>
                  </a:txBody>
                  <a:tcPr anchor="ctr"/>
                </a:tc>
              </a:tr>
              <a:tr h="466090">
                <a:tc>
                  <a:txBody>
                    <a:bodyPr/>
                    <a:lstStyle/>
                    <a:p>
                      <a:pPr>
                        <a:buNone/>
                      </a:pPr>
                      <a:r>
                        <a:rPr lang="en-US" altLang="zh-CN" sz="1600" dirty="0"/>
                        <a:t>EXTEND</a:t>
                      </a:r>
                    </a:p>
                  </a:txBody>
                  <a:tcPr anchor="ctr"/>
                </a:tc>
                <a:tc>
                  <a:txBody>
                    <a:bodyPr/>
                    <a:lstStyle/>
                    <a:p>
                      <a:pPr>
                        <a:buNone/>
                      </a:pPr>
                      <a:r>
                        <a:rPr lang="zh-CN" altLang="en-US" sz="1600" dirty="0"/>
                        <a:t>取指定表达式中时间段</a:t>
                      </a:r>
                    </a:p>
                  </a:txBody>
                  <a:tcPr anchor="ctr"/>
                </a:tc>
              </a:tr>
              <a:tr h="466090">
                <a:tc>
                  <a:txBody>
                    <a:bodyPr/>
                    <a:lstStyle/>
                    <a:p>
                      <a:pPr>
                        <a:buNone/>
                      </a:pPr>
                      <a:r>
                        <a:rPr lang="en-US" altLang="zh-CN" sz="1600" dirty="0"/>
                        <a:t>ADD_MONTHS  </a:t>
                      </a:r>
                    </a:p>
                  </a:txBody>
                  <a:tcPr anchor="ctr"/>
                </a:tc>
                <a:tc>
                  <a:txBody>
                    <a:bodyPr/>
                    <a:lstStyle/>
                    <a:p>
                      <a:pPr>
                        <a:buNone/>
                      </a:pPr>
                      <a:r>
                        <a:rPr lang="zh-CN" altLang="en-US" sz="1600" dirty="0"/>
                        <a:t>取表达式几个月后的值</a:t>
                      </a:r>
                    </a:p>
                  </a:txBody>
                  <a:tcPr anchor="ctr"/>
                </a:tc>
              </a:tr>
              <a:tr h="466090">
                <a:tc>
                  <a:txBody>
                    <a:bodyPr/>
                    <a:lstStyle/>
                    <a:p>
                      <a:pPr>
                        <a:buNone/>
                      </a:pPr>
                      <a:r>
                        <a:rPr lang="en-US" altLang="zh-CN" sz="1600" dirty="0"/>
                        <a:t>MONTHS_BETWEEN</a:t>
                      </a:r>
                    </a:p>
                  </a:txBody>
                  <a:tcPr anchor="ctr"/>
                </a:tc>
                <a:tc>
                  <a:txBody>
                    <a:bodyPr/>
                    <a:lstStyle/>
                    <a:p>
                      <a:pPr>
                        <a:buNone/>
                      </a:pPr>
                      <a:r>
                        <a:rPr lang="zh-CN" altLang="en-US" sz="1600" dirty="0"/>
                        <a:t>取两个表达式之间的月数</a:t>
                      </a:r>
                    </a:p>
                  </a:txBody>
                  <a:tcPr anchor="ctr"/>
                </a:tc>
              </a:tr>
              <a:tr h="466090">
                <a:tc>
                  <a:txBody>
                    <a:bodyPr/>
                    <a:lstStyle/>
                    <a:p>
                      <a:pPr>
                        <a:buNone/>
                      </a:pPr>
                      <a:r>
                        <a:rPr lang="en-US" altLang="zh-CN" sz="1600" dirty="0"/>
                        <a:t>NEXT_DAY</a:t>
                      </a:r>
                    </a:p>
                  </a:txBody>
                  <a:tcPr anchor="ctr"/>
                </a:tc>
                <a:tc>
                  <a:txBody>
                    <a:bodyPr/>
                    <a:lstStyle/>
                    <a:p>
                      <a:pPr>
                        <a:buNone/>
                      </a:pPr>
                      <a:r>
                        <a:rPr lang="zh-CN" altLang="en-US" sz="1600" dirty="0"/>
                        <a:t>取表达式的下一个星期几</a:t>
                      </a:r>
                    </a:p>
                  </a:txBody>
                  <a:tcPr anchor="ctr"/>
                </a:tc>
              </a:tr>
              <a:tr h="466090">
                <a:tc>
                  <a:txBody>
                    <a:bodyPr/>
                    <a:lstStyle/>
                    <a:p>
                      <a:pPr>
                        <a:buNone/>
                      </a:pPr>
                      <a:r>
                        <a:rPr lang="en-US" altLang="zh-CN" sz="1600" dirty="0"/>
                        <a:t>LAST_DAY </a:t>
                      </a:r>
                    </a:p>
                  </a:txBody>
                  <a:tcPr anchor="ctr"/>
                </a:tc>
                <a:tc>
                  <a:txBody>
                    <a:bodyPr/>
                    <a:lstStyle/>
                    <a:p>
                      <a:pPr>
                        <a:buNone/>
                      </a:pPr>
                      <a:r>
                        <a:rPr lang="zh-CN" altLang="en-US" sz="1600" dirty="0"/>
                        <a:t>返回表达式的当月最后一天</a:t>
                      </a:r>
                    </a:p>
                  </a:txBody>
                  <a:tcPr anchor="ctr"/>
                </a:tc>
              </a:tr>
              <a:tr h="440055">
                <a:tc>
                  <a:txBody>
                    <a:bodyPr/>
                    <a:lstStyle/>
                    <a:p>
                      <a:pPr>
                        <a:buNone/>
                      </a:pPr>
                      <a:r>
                        <a:rPr lang="en-US" altLang="zh-CN" sz="1600" dirty="0"/>
                        <a:t>MDY</a:t>
                      </a:r>
                    </a:p>
                  </a:txBody>
                  <a:tcPr anchor="ctr"/>
                </a:tc>
                <a:tc>
                  <a:txBody>
                    <a:bodyPr/>
                    <a:lstStyle/>
                    <a:p>
                      <a:pPr marL="0" lvl="1">
                        <a:buNone/>
                      </a:pPr>
                      <a:r>
                        <a:rPr lang="zh-CN" altLang="en-US" sz="1600" dirty="0"/>
                        <a:t>返回组合后的日期（顺序为月，日，年）</a:t>
                      </a:r>
                    </a:p>
                  </a:txBody>
                  <a:tcPr anchor="ctr"/>
                </a:tc>
              </a:tr>
              <a:tr h="440055">
                <a:tc>
                  <a:txBody>
                    <a:bodyPr/>
                    <a:lstStyle/>
                    <a:p>
                      <a:pPr>
                        <a:buNone/>
                      </a:pPr>
                      <a:r>
                        <a:rPr lang="en-US" altLang="zh-CN" sz="1600" dirty="0"/>
                        <a:t>INTERVAL</a:t>
                      </a:r>
                      <a:r>
                        <a:rPr lang="zh-CN" altLang="en-US" sz="1600" dirty="0"/>
                        <a:t>，</a:t>
                      </a:r>
                      <a:r>
                        <a:rPr lang="en-US" altLang="zh-CN" sz="1600" dirty="0"/>
                        <a:t>UNIT</a:t>
                      </a:r>
                    </a:p>
                  </a:txBody>
                  <a:tcPr anchor="ctr"/>
                </a:tc>
                <a:tc>
                  <a:txBody>
                    <a:bodyPr/>
                    <a:lstStyle/>
                    <a:p>
                      <a:pPr marL="0" lvl="1">
                        <a:buNone/>
                      </a:pPr>
                      <a:r>
                        <a:rPr lang="zh-CN" altLang="en-US" sz="1600" dirty="0"/>
                        <a:t>日期的加减操作</a:t>
                      </a:r>
                    </a:p>
                  </a:txBody>
                  <a:tcPr anchor="ctr"/>
                </a:tc>
              </a:tr>
            </a:tbl>
          </a:graphicData>
        </a:graphic>
      </p:graphicFrame>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a:t>范例</a:t>
            </a:r>
          </a:p>
        </p:txBody>
      </p:sp>
      <p:sp>
        <p:nvSpPr>
          <p:cNvPr id="3" name="内容占位符 2"/>
          <p:cNvSpPr>
            <a:spLocks noGrp="1"/>
          </p:cNvSpPr>
          <p:nvPr>
            <p:ph type="body" sz="quarter" idx="10"/>
          </p:nvPr>
        </p:nvSpPr>
        <p:spPr/>
        <p:txBody>
          <a:bodyPr/>
          <a:lstStyle/>
          <a:p>
            <a:r>
              <a:rPr lang="zh-CN" altLang="en-US" dirty="0"/>
              <a:t>使用函数示例</a:t>
            </a:r>
          </a:p>
          <a:p>
            <a:endParaRPr lang="en-US" altLang="zh-CN" dirty="0">
              <a:cs typeface="宋体" panose="02010600030101010101" pitchFamily="2" charset="-122"/>
              <a:sym typeface="+mn-ea"/>
            </a:endParaRPr>
          </a:p>
          <a:p>
            <a:pPr marL="0" indent="0">
              <a:buNone/>
            </a:pPr>
            <a:r>
              <a:rPr lang="en-US" altLang="zh-CN" dirty="0">
                <a:cs typeface="宋体" panose="02010600030101010101" pitchFamily="2" charset="-122"/>
                <a:sym typeface="+mn-ea"/>
              </a:rPr>
              <a:t> MDY </a:t>
            </a:r>
            <a:r>
              <a:rPr lang="zh-CN" altLang="en-US" sz="1600" dirty="0">
                <a:cs typeface="宋体" panose="02010600030101010101" pitchFamily="2" charset="-122"/>
                <a:sym typeface="+mn-ea"/>
              </a:rPr>
              <a:t>函数以代表</a:t>
            </a:r>
            <a:r>
              <a:rPr lang="en-US" altLang="zh-CN" sz="1600" dirty="0">
                <a:cs typeface="宋体" panose="02010600030101010101" pitchFamily="2" charset="-122"/>
                <a:sym typeface="+mn-ea"/>
              </a:rPr>
              <a:t>month</a:t>
            </a:r>
            <a:r>
              <a:rPr lang="zh-CN" altLang="en-US" sz="1600" dirty="0">
                <a:cs typeface="宋体" panose="02010600030101010101" pitchFamily="2" charset="-122"/>
                <a:sym typeface="+mn-ea"/>
              </a:rPr>
              <a:t>、</a:t>
            </a:r>
            <a:r>
              <a:rPr lang="en-US" altLang="zh-CN" sz="1600" dirty="0">
                <a:cs typeface="宋体" panose="02010600030101010101" pitchFamily="2" charset="-122"/>
                <a:sym typeface="+mn-ea"/>
              </a:rPr>
              <a:t>day</a:t>
            </a:r>
            <a:r>
              <a:rPr lang="zh-CN" altLang="en-US" sz="1600" dirty="0">
                <a:cs typeface="宋体" panose="02010600030101010101" pitchFamily="2" charset="-122"/>
                <a:sym typeface="+mn-ea"/>
              </a:rPr>
              <a:t>、和</a:t>
            </a:r>
            <a:r>
              <a:rPr lang="en-US" altLang="zh-CN" sz="1600" dirty="0">
                <a:cs typeface="宋体" panose="02010600030101010101" pitchFamily="2" charset="-122"/>
                <a:sym typeface="+mn-ea"/>
              </a:rPr>
              <a:t>year </a:t>
            </a:r>
            <a:r>
              <a:rPr lang="zh-CN" altLang="en-US" sz="1600" dirty="0">
                <a:cs typeface="宋体" panose="02010600030101010101" pitchFamily="2" charset="-122"/>
                <a:sym typeface="+mn-ea"/>
              </a:rPr>
              <a:t>的三个整型表达式作为参数，返回类型为</a:t>
            </a:r>
            <a:r>
              <a:rPr lang="en-US" altLang="zh-CN" sz="1600" dirty="0">
                <a:cs typeface="宋体" panose="02010600030101010101" pitchFamily="2" charset="-122"/>
                <a:sym typeface="+mn-ea"/>
              </a:rPr>
              <a:t>date</a:t>
            </a:r>
            <a:r>
              <a:rPr lang="zh-CN" altLang="en-US" sz="1600" dirty="0">
                <a:cs typeface="宋体" panose="02010600030101010101" pitchFamily="2" charset="-122"/>
                <a:sym typeface="+mn-ea"/>
              </a:rPr>
              <a:t>的值</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lvl="1">
              <a:lnSpc>
                <a:spcPct val="200000"/>
              </a:lnSpc>
            </a:pPr>
            <a:r>
              <a:rPr lang="en-US" altLang="zh-CN" sz="1500" dirty="0"/>
              <a:t>select </a:t>
            </a:r>
            <a:r>
              <a:rPr lang="zh-CN" altLang="en-US" sz="1500" dirty="0"/>
              <a:t>后面必须有</a:t>
            </a:r>
            <a:r>
              <a:rPr lang="en-US" altLang="zh-CN" sz="1500" dirty="0"/>
              <a:t>from</a:t>
            </a:r>
            <a:r>
              <a:rPr lang="zh-CN" altLang="en-US" sz="1500" dirty="0"/>
              <a:t>表名，表不为空，可以用 </a:t>
            </a:r>
            <a:r>
              <a:rPr lang="en-US" altLang="zh-CN" sz="1500" dirty="0"/>
              <a:t>first 1</a:t>
            </a:r>
            <a:r>
              <a:rPr lang="zh-CN" altLang="en-US" sz="1500" dirty="0"/>
              <a:t>或者</a:t>
            </a:r>
            <a:r>
              <a:rPr lang="en-US" altLang="zh-CN" sz="1500" dirty="0"/>
              <a:t>where</a:t>
            </a:r>
            <a:r>
              <a:rPr lang="zh-CN" altLang="en-US" sz="1500" dirty="0"/>
              <a:t>后加某个条件来取表中的一行数据</a:t>
            </a:r>
          </a:p>
          <a:p>
            <a:pPr lvl="1">
              <a:lnSpc>
                <a:spcPct val="200000"/>
              </a:lnSpc>
            </a:pPr>
            <a:r>
              <a:rPr lang="zh-CN" altLang="en-US" sz="1500" dirty="0"/>
              <a:t>也可以使用</a:t>
            </a:r>
            <a:r>
              <a:rPr lang="en-US" altLang="zh-CN" sz="1500" dirty="0" err="1"/>
              <a:t>sysmaster:sysdual</a:t>
            </a:r>
            <a:r>
              <a:rPr lang="zh-CN" altLang="zh-CN" sz="1500" dirty="0"/>
              <a:t>表进行测试，相当于</a:t>
            </a:r>
            <a:r>
              <a:rPr lang="en-US" altLang="zh-CN" sz="1500" dirty="0"/>
              <a:t>oracle</a:t>
            </a:r>
            <a:r>
              <a:rPr lang="zh-CN" altLang="en-US" sz="1500" dirty="0"/>
              <a:t>中</a:t>
            </a:r>
            <a:r>
              <a:rPr lang="en-US" altLang="zh-CN" sz="1500" dirty="0"/>
              <a:t>dual</a:t>
            </a:r>
            <a:r>
              <a:rPr lang="zh-CN" altLang="en-US" sz="1500" dirty="0"/>
              <a:t>表。</a:t>
            </a:r>
          </a:p>
        </p:txBody>
      </p:sp>
      <p:sp>
        <p:nvSpPr>
          <p:cNvPr id="331788" name="Text Box 12"/>
          <p:cNvSpPr txBox="1">
            <a:spLocks noChangeArrowheads="1"/>
          </p:cNvSpPr>
          <p:nvPr/>
        </p:nvSpPr>
        <p:spPr bwMode="black">
          <a:xfrm>
            <a:off x="1780540" y="5206529"/>
            <a:ext cx="8645474" cy="523862"/>
          </a:xfrm>
          <a:prstGeom prst="rect">
            <a:avLst/>
          </a:prstGeom>
          <a:solidFill>
            <a:srgbClr val="E9EDF4"/>
          </a:solidFill>
          <a:ln w="9525">
            <a:solidFill>
              <a:schemeClr val="tx2"/>
            </a:solidFill>
            <a:miter lim="800000"/>
          </a:ln>
          <a:effectLst/>
        </p:spPr>
        <p:txBody>
          <a:bodyPr wrap="square" lIns="92075" tIns="46038" rIns="92075" bIns="46038">
            <a:spAutoFit/>
          </a:bodyPr>
          <a:lstStyle>
            <a:lvl1pPr marL="342900" indent="-342900" eaLnBrk="0" hangingPunct="0">
              <a:defRPr sz="1400" b="1">
                <a:solidFill>
                  <a:schemeClr val="tx1"/>
                </a:solidFill>
                <a:latin typeface="Arial" panose="020B0604020202020204" pitchFamily="34" charset="0"/>
                <a:ea typeface="宋体" panose="02010600030101010101" pitchFamily="2" charset="-122"/>
                <a:cs typeface="Arial" panose="020B0604020202020204" pitchFamily="34" charset="0"/>
              </a:defRPr>
            </a:lvl1pPr>
            <a:lvl2pPr marL="8001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2pPr>
            <a:lvl3pPr marL="12573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3pPr>
            <a:lvl4pPr marL="17145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4pPr>
            <a:lvl5pPr marL="21717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5pPr>
            <a:lvl6pPr marL="26289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6pPr>
            <a:lvl7pPr marL="30861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7pPr>
            <a:lvl8pPr marL="35433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8pPr>
            <a:lvl9pPr marL="40005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r>
              <a:rPr lang="en-US" altLang="zh-CN" b="0" i="1">
                <a:cs typeface="宋体" panose="02010600030101010101" pitchFamily="2" charset="-122"/>
              </a:rPr>
              <a:t>(constant)</a:t>
            </a:r>
          </a:p>
          <a:p>
            <a:pPr eaLnBrk="1" hangingPunct="1"/>
            <a:r>
              <a:rPr lang="en-US" altLang="zh-CN" b="0">
                <a:cs typeface="宋体" panose="02010600030101010101" pitchFamily="2" charset="-122"/>
              </a:rPr>
              <a:t>08/20/12</a:t>
            </a:r>
            <a:endParaRPr lang="zh-CN" altLang="en-US" b="0">
              <a:cs typeface="宋体" panose="02010600030101010101" pitchFamily="2" charset="-122"/>
            </a:endParaRPr>
          </a:p>
        </p:txBody>
      </p:sp>
      <p:sp>
        <p:nvSpPr>
          <p:cNvPr id="331789" name="Text Box 13"/>
          <p:cNvSpPr txBox="1">
            <a:spLocks noChangeArrowheads="1"/>
          </p:cNvSpPr>
          <p:nvPr/>
        </p:nvSpPr>
        <p:spPr bwMode="black">
          <a:xfrm>
            <a:off x="1780540" y="4186720"/>
            <a:ext cx="8645474" cy="346075"/>
          </a:xfrm>
          <a:prstGeom prst="rect">
            <a:avLst/>
          </a:prstGeom>
          <a:noFill/>
          <a:ln w="9525">
            <a:solidFill>
              <a:schemeClr val="tx2"/>
            </a:solidFill>
            <a:miter lim="800000"/>
          </a:ln>
          <a:effectLst/>
        </p:spPr>
        <p:txBody>
          <a:bodyPr wrap="square" lIns="92075" tIns="46038" rIns="92075" bIns="46038">
            <a:spAutoFit/>
          </a:bodyPr>
          <a:lstStyle>
            <a:lvl1pPr marL="342900" indent="-342900" eaLnBrk="0" hangingPunct="0">
              <a:defRPr sz="1400" b="1">
                <a:solidFill>
                  <a:schemeClr val="tx1"/>
                </a:solidFill>
                <a:latin typeface="Arial" panose="020B0604020202020204" pitchFamily="34" charset="0"/>
                <a:ea typeface="宋体" panose="02010600030101010101" pitchFamily="2" charset="-122"/>
                <a:cs typeface="Arial" panose="020B0604020202020204" pitchFamily="34" charset="0"/>
              </a:defRPr>
            </a:lvl1pPr>
            <a:lvl2pPr marL="8001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2pPr>
            <a:lvl3pPr marL="12573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3pPr>
            <a:lvl4pPr marL="17145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4pPr>
            <a:lvl5pPr marL="21717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5pPr>
            <a:lvl6pPr marL="26289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6pPr>
            <a:lvl7pPr marL="30861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7pPr>
            <a:lvl8pPr marL="35433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8pPr>
            <a:lvl9pPr marL="40005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pPr>
            <a:r>
              <a:rPr lang="en-US" altLang="zh-CN" sz="1600" b="0" dirty="0">
                <a:cs typeface="宋体" panose="02010600030101010101" pitchFamily="2" charset="-122"/>
              </a:rPr>
              <a:t>SELECT MDY(8,20,2012) FROM </a:t>
            </a:r>
            <a:r>
              <a:rPr lang="en-US" altLang="zh-CN" sz="1600" b="0" dirty="0" err="1">
                <a:cs typeface="宋体" panose="02010600030101010101" pitchFamily="2" charset="-122"/>
              </a:rPr>
              <a:t>systables</a:t>
            </a:r>
            <a:r>
              <a:rPr lang="en-US" altLang="zh-CN" sz="1600" b="0" dirty="0">
                <a:cs typeface="宋体" panose="02010600030101010101" pitchFamily="2" charset="-122"/>
              </a:rPr>
              <a:t> WHERE </a:t>
            </a:r>
            <a:r>
              <a:rPr lang="en-US" altLang="zh-CN" sz="1600" b="0" dirty="0" err="1">
                <a:cs typeface="宋体" panose="02010600030101010101" pitchFamily="2" charset="-122"/>
              </a:rPr>
              <a:t>tabid</a:t>
            </a:r>
            <a:r>
              <a:rPr lang="en-US" altLang="zh-CN" sz="1600" b="0" dirty="0">
                <a:cs typeface="宋体" panose="02010600030101010101" pitchFamily="2" charset="-122"/>
              </a:rPr>
              <a:t> = 1;</a:t>
            </a:r>
          </a:p>
        </p:txBody>
      </p:sp>
      <p:sp>
        <p:nvSpPr>
          <p:cNvPr id="5" name="Text Box 13"/>
          <p:cNvSpPr txBox="1">
            <a:spLocks noChangeArrowheads="1"/>
          </p:cNvSpPr>
          <p:nvPr/>
        </p:nvSpPr>
        <p:spPr bwMode="black">
          <a:xfrm>
            <a:off x="1780540" y="4872519"/>
            <a:ext cx="8645474" cy="339196"/>
          </a:xfrm>
          <a:prstGeom prst="rect">
            <a:avLst/>
          </a:prstGeom>
          <a:noFill/>
          <a:ln w="9525">
            <a:solidFill>
              <a:schemeClr val="tx2"/>
            </a:solidFill>
            <a:miter lim="800000"/>
          </a:ln>
          <a:effectLst/>
        </p:spPr>
        <p:txBody>
          <a:bodyPr wrap="square" lIns="92075" tIns="46038" rIns="92075" bIns="46038">
            <a:spAutoFit/>
          </a:bodyPr>
          <a:lstStyle>
            <a:lvl1pPr marL="342900" indent="-342900" eaLnBrk="0" hangingPunct="0">
              <a:defRPr sz="1400" b="1">
                <a:solidFill>
                  <a:schemeClr val="tx1"/>
                </a:solidFill>
                <a:latin typeface="Arial" panose="020B0604020202020204" pitchFamily="34" charset="0"/>
                <a:ea typeface="宋体" panose="02010600030101010101" pitchFamily="2" charset="-122"/>
                <a:cs typeface="Arial" panose="020B0604020202020204" pitchFamily="34" charset="0"/>
              </a:defRPr>
            </a:lvl1pPr>
            <a:lvl2pPr marL="8001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2pPr>
            <a:lvl3pPr marL="12573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3pPr>
            <a:lvl4pPr marL="17145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4pPr>
            <a:lvl5pPr marL="21717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5pPr>
            <a:lvl6pPr marL="26289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6pPr>
            <a:lvl7pPr marL="30861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7pPr>
            <a:lvl8pPr marL="35433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8pPr>
            <a:lvl9pPr marL="40005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pPr>
            <a:r>
              <a:rPr lang="en-US" altLang="zh-CN" sz="1600" b="0" dirty="0">
                <a:cs typeface="宋体" panose="02010600030101010101" pitchFamily="2" charset="-122"/>
              </a:rPr>
              <a:t>SELECT MDY(8,20,2012) FROM sysmaster:sysdual;</a:t>
            </a:r>
          </a:p>
        </p:txBody>
      </p:sp>
      <p:sp>
        <p:nvSpPr>
          <p:cNvPr id="6" name="Text Box 13"/>
          <p:cNvSpPr txBox="1">
            <a:spLocks noChangeArrowheads="1"/>
          </p:cNvSpPr>
          <p:nvPr/>
        </p:nvSpPr>
        <p:spPr bwMode="black">
          <a:xfrm>
            <a:off x="1781175" y="4535314"/>
            <a:ext cx="8644840" cy="339196"/>
          </a:xfrm>
          <a:prstGeom prst="rect">
            <a:avLst/>
          </a:prstGeom>
          <a:noFill/>
          <a:ln w="9525">
            <a:solidFill>
              <a:schemeClr val="tx2"/>
            </a:solidFill>
            <a:miter lim="800000"/>
          </a:ln>
          <a:effectLst/>
        </p:spPr>
        <p:txBody>
          <a:bodyPr wrap="square" lIns="92075" tIns="46038" rIns="92075" bIns="46038">
            <a:spAutoFit/>
          </a:bodyPr>
          <a:lstStyle>
            <a:lvl1pPr marL="342900" indent="-342900" eaLnBrk="0" hangingPunct="0">
              <a:defRPr sz="1400" b="1">
                <a:solidFill>
                  <a:schemeClr val="tx1"/>
                </a:solidFill>
                <a:latin typeface="Arial" panose="020B0604020202020204" pitchFamily="34" charset="0"/>
                <a:ea typeface="宋体" panose="02010600030101010101" pitchFamily="2" charset="-122"/>
                <a:cs typeface="Arial" panose="020B0604020202020204" pitchFamily="34" charset="0"/>
              </a:defRPr>
            </a:lvl1pPr>
            <a:lvl2pPr marL="8001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2pPr>
            <a:lvl3pPr marL="12573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3pPr>
            <a:lvl4pPr marL="17145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4pPr>
            <a:lvl5pPr marL="21717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5pPr>
            <a:lvl6pPr marL="26289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6pPr>
            <a:lvl7pPr marL="30861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7pPr>
            <a:lvl8pPr marL="35433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8pPr>
            <a:lvl9pPr marL="40005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pPr>
            <a:r>
              <a:rPr lang="en-US" altLang="zh-CN" sz="1600" b="0" dirty="0">
                <a:cs typeface="宋体" panose="02010600030101010101" pitchFamily="2" charset="-122"/>
              </a:rPr>
              <a:t>SELECT first 1 MDY(8,20,2012) FROM </a:t>
            </a:r>
            <a:r>
              <a:rPr lang="en-US" altLang="zh-CN" sz="1600" b="0" dirty="0" err="1">
                <a:cs typeface="宋体" panose="02010600030101010101" pitchFamily="2" charset="-122"/>
              </a:rPr>
              <a:t>systables</a:t>
            </a:r>
            <a:r>
              <a:rPr lang="en-US" altLang="zh-CN" sz="1600" b="0" dirty="0">
                <a:cs typeface="宋体" panose="02010600030101010101" pitchFamily="2" charset="-122"/>
              </a:rPr>
              <a:t> ;</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9618" name="Rectangle 2"/>
          <p:cNvSpPr>
            <a:spLocks noGrp="1" noChangeArrowheads="1"/>
          </p:cNvSpPr>
          <p:nvPr>
            <p:ph type="title"/>
          </p:nvPr>
        </p:nvSpPr>
        <p:spPr/>
        <p:txBody>
          <a:bodyPr/>
          <a:lstStyle/>
          <a:p>
            <a:r>
              <a:rPr lang="zh-CN" altLang="en-US">
                <a:latin typeface="Arial" panose="020B0604020202020204" pitchFamily="34" charset="0"/>
                <a:cs typeface="宋体" panose="02010600030101010101" pitchFamily="2" charset="-122"/>
              </a:rPr>
              <a:t>时间函数</a:t>
            </a:r>
          </a:p>
        </p:txBody>
      </p:sp>
      <p:sp>
        <p:nvSpPr>
          <p:cNvPr id="239619" name="Rectangle 3"/>
          <p:cNvSpPr>
            <a:spLocks noGrp="1" noChangeArrowheads="1"/>
          </p:cNvSpPr>
          <p:nvPr>
            <p:ph type="body" sz="quarter" idx="10"/>
          </p:nvPr>
        </p:nvSpPr>
        <p:spPr/>
        <p:txBody>
          <a:bodyPr/>
          <a:lstStyle/>
          <a:p>
            <a:pPr>
              <a:lnSpc>
                <a:spcPct val="90000"/>
              </a:lnSpc>
            </a:pPr>
            <a:r>
              <a:rPr lang="en-US" altLang="zh-CN" dirty="0">
                <a:cs typeface="宋体" panose="02010600030101010101" pitchFamily="2" charset="-122"/>
              </a:rPr>
              <a:t>TODAY and CURRENT  </a:t>
            </a:r>
          </a:p>
          <a:p>
            <a:pPr marL="0" indent="0">
              <a:buNone/>
            </a:pPr>
            <a:r>
              <a:rPr lang="zh-CN" altLang="en-US" sz="1600" dirty="0">
                <a:cs typeface="宋体" panose="02010600030101010101" pitchFamily="2" charset="-122"/>
              </a:rPr>
              <a:t>    返回带有一天的日期和时间的</a:t>
            </a:r>
            <a:r>
              <a:rPr lang="en-US" altLang="zh-CN" sz="1600" dirty="0" err="1">
                <a:cs typeface="宋体" panose="02010600030101010101" pitchFamily="2" charset="-122"/>
              </a:rPr>
              <a:t>datetime</a:t>
            </a:r>
            <a:r>
              <a:rPr lang="zh-CN" altLang="en-US" sz="1600" dirty="0">
                <a:cs typeface="宋体" panose="02010600030101010101" pitchFamily="2" charset="-122"/>
              </a:rPr>
              <a:t>值，显示当前时刻</a:t>
            </a:r>
            <a:endParaRPr lang="en-US" altLang="zh-CN" sz="1600" dirty="0">
              <a:cs typeface="宋体" panose="02010600030101010101" pitchFamily="2" charset="-122"/>
            </a:endParaRPr>
          </a:p>
          <a:p>
            <a:pPr>
              <a:lnSpc>
                <a:spcPct val="90000"/>
              </a:lnSpc>
            </a:pPr>
            <a:endParaRPr lang="en-US" altLang="zh-CN" dirty="0">
              <a:cs typeface="宋体" panose="02010600030101010101" pitchFamily="2" charset="-122"/>
            </a:endParaRPr>
          </a:p>
          <a:p>
            <a:pPr>
              <a:lnSpc>
                <a:spcPct val="90000"/>
              </a:lnSpc>
            </a:pPr>
            <a:endParaRPr lang="en-US" altLang="zh-CN" dirty="0">
              <a:cs typeface="宋体" panose="02010600030101010101" pitchFamily="2" charset="-122"/>
            </a:endParaRPr>
          </a:p>
          <a:p>
            <a:pPr marL="0" indent="0">
              <a:lnSpc>
                <a:spcPct val="90000"/>
              </a:lnSpc>
              <a:buNone/>
            </a:pPr>
            <a:endParaRPr lang="en-US" altLang="zh-CN" dirty="0">
              <a:cs typeface="宋体" panose="02010600030101010101" pitchFamily="2" charset="-122"/>
            </a:endParaRPr>
          </a:p>
          <a:p>
            <a:pPr>
              <a:lnSpc>
                <a:spcPct val="150000"/>
              </a:lnSpc>
            </a:pPr>
            <a:r>
              <a:rPr lang="en-US" altLang="zh-CN" dirty="0">
                <a:cs typeface="宋体" panose="02010600030101010101" pitchFamily="2" charset="-122"/>
              </a:rPr>
              <a:t>YEAR, MONTH, DAY  </a:t>
            </a:r>
          </a:p>
          <a:p>
            <a:pPr marL="0" indent="0">
              <a:lnSpc>
                <a:spcPct val="150000"/>
              </a:lnSpc>
              <a:buNone/>
            </a:pPr>
            <a:r>
              <a:rPr lang="zh-CN" altLang="en-US" sz="1600" dirty="0">
                <a:cs typeface="宋体" panose="02010600030101010101" pitchFamily="2" charset="-122"/>
              </a:rPr>
              <a:t>    函数具有</a:t>
            </a:r>
            <a:r>
              <a:rPr lang="en-US" altLang="zh-CN" sz="1600" dirty="0">
                <a:cs typeface="宋体" panose="02010600030101010101" pitchFamily="2" charset="-122"/>
              </a:rPr>
              <a:t>date </a:t>
            </a:r>
            <a:r>
              <a:rPr lang="zh-CN" altLang="en-US" sz="1600" dirty="0">
                <a:cs typeface="宋体" panose="02010600030101010101" pitchFamily="2" charset="-122"/>
              </a:rPr>
              <a:t>或</a:t>
            </a:r>
            <a:r>
              <a:rPr lang="en-US" altLang="zh-CN" sz="1600" dirty="0" err="1">
                <a:cs typeface="宋体" panose="02010600030101010101" pitchFamily="2" charset="-122"/>
              </a:rPr>
              <a:t>datetime</a:t>
            </a:r>
            <a:r>
              <a:rPr lang="zh-CN" altLang="en-US" sz="1600" dirty="0">
                <a:cs typeface="宋体" panose="02010600030101010101" pitchFamily="2" charset="-122"/>
              </a:rPr>
              <a:t>参数 ， 并返回代表年份、月份、日期的整数</a:t>
            </a:r>
            <a:endParaRPr lang="en-US" altLang="zh-CN" sz="1600" dirty="0">
              <a:cs typeface="宋体" panose="02010600030101010101" pitchFamily="2" charset="-122"/>
            </a:endParaRPr>
          </a:p>
          <a:p>
            <a:pPr>
              <a:lnSpc>
                <a:spcPct val="150000"/>
              </a:lnSpc>
            </a:pPr>
            <a:endParaRPr lang="en-US" altLang="zh-CN" sz="1600" dirty="0">
              <a:cs typeface="宋体" panose="02010600030101010101" pitchFamily="2" charset="-122"/>
            </a:endParaRPr>
          </a:p>
          <a:p>
            <a:pPr>
              <a:lnSpc>
                <a:spcPct val="90000"/>
              </a:lnSpc>
            </a:pPr>
            <a:endParaRPr lang="en-US" altLang="zh-CN" sz="1600" dirty="0">
              <a:cs typeface="宋体" panose="02010600030101010101" pitchFamily="2" charset="-122"/>
            </a:endParaRPr>
          </a:p>
          <a:p>
            <a:pPr>
              <a:lnSpc>
                <a:spcPct val="90000"/>
              </a:lnSpc>
            </a:pPr>
            <a:endParaRPr lang="en-US" altLang="zh-CN" dirty="0">
              <a:cs typeface="宋体" panose="02010600030101010101" pitchFamily="2" charset="-122"/>
            </a:endParaRPr>
          </a:p>
          <a:p>
            <a:pPr>
              <a:lnSpc>
                <a:spcPct val="90000"/>
              </a:lnSpc>
            </a:pPr>
            <a:endParaRPr lang="en-US" altLang="zh-CN" dirty="0">
              <a:cs typeface="宋体" panose="02010600030101010101" pitchFamily="2" charset="-122"/>
            </a:endParaRPr>
          </a:p>
          <a:p>
            <a:pPr>
              <a:lnSpc>
                <a:spcPct val="90000"/>
              </a:lnSpc>
            </a:pPr>
            <a:endParaRPr lang="en-US" altLang="zh-CN" dirty="0">
              <a:cs typeface="宋体" panose="02010600030101010101" pitchFamily="2" charset="-122"/>
            </a:endParaRPr>
          </a:p>
          <a:p>
            <a:pPr>
              <a:lnSpc>
                <a:spcPct val="90000"/>
              </a:lnSpc>
            </a:pPr>
            <a:endParaRPr lang="en-US" altLang="zh-CN" dirty="0">
              <a:cs typeface="宋体" panose="02010600030101010101" pitchFamily="2" charset="-122"/>
            </a:endParaRPr>
          </a:p>
          <a:p>
            <a:pPr>
              <a:lnSpc>
                <a:spcPct val="90000"/>
              </a:lnSpc>
            </a:pPr>
            <a:endParaRPr lang="en-US" altLang="zh-CN" dirty="0">
              <a:cs typeface="宋体" panose="02010600030101010101" pitchFamily="2" charset="-122"/>
            </a:endParaRPr>
          </a:p>
          <a:p>
            <a:pPr>
              <a:lnSpc>
                <a:spcPct val="90000"/>
              </a:lnSpc>
            </a:pPr>
            <a:endParaRPr lang="en-US" altLang="zh-CN" dirty="0">
              <a:cs typeface="宋体" panose="02010600030101010101" pitchFamily="2" charset="-122"/>
            </a:endParaRPr>
          </a:p>
        </p:txBody>
      </p:sp>
      <p:sp>
        <p:nvSpPr>
          <p:cNvPr id="239620" name="Text Box 4"/>
          <p:cNvSpPr txBox="1">
            <a:spLocks noChangeArrowheads="1"/>
          </p:cNvSpPr>
          <p:nvPr/>
        </p:nvSpPr>
        <p:spPr bwMode="black">
          <a:xfrm>
            <a:off x="1115411" y="2505972"/>
            <a:ext cx="8610600" cy="523862"/>
          </a:xfrm>
          <a:prstGeom prst="rect">
            <a:avLst/>
          </a:prstGeom>
          <a:solidFill>
            <a:srgbClr val="E9EDF4"/>
          </a:solidFill>
          <a:ln w="9525">
            <a:solidFill>
              <a:schemeClr val="tx2"/>
            </a:solidFill>
            <a:miter lim="800000"/>
          </a:ln>
          <a:effectLst/>
        </p:spPr>
        <p:txBody>
          <a:bodyPr lIns="92075" tIns="46038" rIns="92075" bIns="46038">
            <a:spAutoFit/>
          </a:bodyPr>
          <a:lstStyle>
            <a:lvl1pPr marL="342900" indent="-342900" eaLnBrk="0" hangingPunct="0">
              <a:defRPr sz="1400" b="1">
                <a:solidFill>
                  <a:schemeClr val="tx1"/>
                </a:solidFill>
                <a:latin typeface="Arial" panose="020B0604020202020204" pitchFamily="34" charset="0"/>
                <a:ea typeface="宋体" panose="02010600030101010101" pitchFamily="2" charset="-122"/>
                <a:cs typeface="Arial" panose="020B0604020202020204" pitchFamily="34" charset="0"/>
              </a:defRPr>
            </a:lvl1pPr>
            <a:lvl2pPr marL="8001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2pPr>
            <a:lvl3pPr marL="12573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3pPr>
            <a:lvl4pPr marL="17145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4pPr>
            <a:lvl5pPr marL="21717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5pPr>
            <a:lvl6pPr marL="26289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6pPr>
            <a:lvl7pPr marL="30861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7pPr>
            <a:lvl8pPr marL="35433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8pPr>
            <a:lvl9pPr marL="40005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r>
              <a:rPr lang="fr-FR" altLang="zh-CN" b="0" i="1" dirty="0">
                <a:cs typeface="宋体" panose="02010600030101010101" pitchFamily="2" charset="-122"/>
              </a:rPr>
              <a:t>(expression) 	(expression)</a:t>
            </a:r>
            <a:r>
              <a:rPr lang="fr-FR" altLang="zh-CN" b="0" dirty="0">
                <a:cs typeface="宋体" panose="02010600030101010101" pitchFamily="2" charset="-122"/>
              </a:rPr>
              <a:t> </a:t>
            </a:r>
          </a:p>
          <a:p>
            <a:pPr eaLnBrk="1" hangingPunct="1"/>
            <a:r>
              <a:rPr lang="fr-FR" altLang="zh-CN" b="0" dirty="0">
                <a:cs typeface="宋体" panose="02010600030101010101" pitchFamily="2" charset="-122"/>
              </a:rPr>
              <a:t>05/25/2016      	2016-05-25 23:39:37.000</a:t>
            </a:r>
          </a:p>
        </p:txBody>
      </p:sp>
      <p:sp>
        <p:nvSpPr>
          <p:cNvPr id="239621" name="Text Box 5"/>
          <p:cNvSpPr txBox="1">
            <a:spLocks noChangeArrowheads="1"/>
          </p:cNvSpPr>
          <p:nvPr/>
        </p:nvSpPr>
        <p:spPr bwMode="black">
          <a:xfrm>
            <a:off x="1115411" y="2153231"/>
            <a:ext cx="8610600" cy="346075"/>
          </a:xfrm>
          <a:prstGeom prst="rect">
            <a:avLst/>
          </a:prstGeom>
          <a:noFill/>
          <a:ln w="9525">
            <a:solidFill>
              <a:schemeClr val="tx2"/>
            </a:solidFill>
            <a:miter lim="800000"/>
          </a:ln>
          <a:effectLst/>
        </p:spPr>
        <p:txBody>
          <a:bodyPr lIns="92075" tIns="46038" rIns="92075" bIns="46038">
            <a:spAutoFit/>
          </a:bodyPr>
          <a:lstStyle>
            <a:lvl1pPr marL="342900" indent="-342900" eaLnBrk="0" hangingPunct="0">
              <a:defRPr sz="1400" b="1">
                <a:solidFill>
                  <a:schemeClr val="tx1"/>
                </a:solidFill>
                <a:latin typeface="Arial" panose="020B0604020202020204" pitchFamily="34" charset="0"/>
                <a:ea typeface="宋体" panose="02010600030101010101" pitchFamily="2" charset="-122"/>
                <a:cs typeface="Arial" panose="020B0604020202020204" pitchFamily="34" charset="0"/>
              </a:defRPr>
            </a:lvl1pPr>
            <a:lvl2pPr marL="8001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2pPr>
            <a:lvl3pPr marL="12573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3pPr>
            <a:lvl4pPr marL="17145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4pPr>
            <a:lvl5pPr marL="21717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5pPr>
            <a:lvl6pPr marL="26289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6pPr>
            <a:lvl7pPr marL="30861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7pPr>
            <a:lvl8pPr marL="35433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8pPr>
            <a:lvl9pPr marL="40005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pPr>
            <a:r>
              <a:rPr lang="en-US" altLang="zh-CN" sz="1600" b="0">
                <a:cs typeface="宋体" panose="02010600030101010101" pitchFamily="2" charset="-122"/>
              </a:rPr>
              <a:t>SELECT TODAY,CURRENT FROM sysmaster:sysdual;</a:t>
            </a:r>
          </a:p>
        </p:txBody>
      </p:sp>
      <p:sp>
        <p:nvSpPr>
          <p:cNvPr id="239622" name="Rectangle 6"/>
          <p:cNvSpPr>
            <a:spLocks noChangeArrowheads="1"/>
          </p:cNvSpPr>
          <p:nvPr/>
        </p:nvSpPr>
        <p:spPr bwMode="auto">
          <a:xfrm>
            <a:off x="1131287" y="3017782"/>
            <a:ext cx="8804275" cy="431800"/>
          </a:xfrm>
          <a:prstGeom prst="rect">
            <a:avLst/>
          </a:prstGeom>
          <a:noFill/>
          <a:ln>
            <a:noFill/>
          </a:ln>
        </p:spPr>
        <p:txBody>
          <a:bodyPr lIns="92075" tIns="46038" rIns="92075" bIns="46038"/>
          <a:lstStyle/>
          <a:p>
            <a:pPr marL="228600" indent="-228600" eaLnBrk="0" hangingPunct="0">
              <a:lnSpc>
                <a:spcPct val="90000"/>
              </a:lnSpc>
              <a:buClr>
                <a:schemeClr val="accent2"/>
              </a:buClr>
              <a:buFont typeface="Wingdings" panose="05000000000000000000" charset="0"/>
              <a:buChar char="§"/>
            </a:pPr>
            <a:endParaRPr lang="en-US" altLang="zh-CN" dirty="0">
              <a:cs typeface="宋体" panose="02010600030101010101" pitchFamily="2" charset="-122"/>
            </a:endParaRPr>
          </a:p>
        </p:txBody>
      </p:sp>
      <p:sp>
        <p:nvSpPr>
          <p:cNvPr id="239623" name="Text Box 7"/>
          <p:cNvSpPr txBox="1">
            <a:spLocks noChangeArrowheads="1"/>
          </p:cNvSpPr>
          <p:nvPr/>
        </p:nvSpPr>
        <p:spPr bwMode="black">
          <a:xfrm>
            <a:off x="1146942" y="5426484"/>
            <a:ext cx="8610600" cy="523862"/>
          </a:xfrm>
          <a:prstGeom prst="rect">
            <a:avLst/>
          </a:prstGeom>
          <a:solidFill>
            <a:srgbClr val="E9EDF4"/>
          </a:solidFill>
          <a:ln w="9525">
            <a:solidFill>
              <a:schemeClr val="tx2"/>
            </a:solidFill>
            <a:miter lim="800000"/>
          </a:ln>
          <a:effectLst/>
        </p:spPr>
        <p:txBody>
          <a:bodyPr lIns="92075" tIns="46038" rIns="92075" bIns="46038">
            <a:spAutoFit/>
          </a:bodyPr>
          <a:lstStyle>
            <a:lvl1pPr marL="342900" indent="-342900" eaLnBrk="0" hangingPunct="0">
              <a:defRPr sz="1400" b="1">
                <a:solidFill>
                  <a:schemeClr val="tx1"/>
                </a:solidFill>
                <a:latin typeface="Arial" panose="020B0604020202020204" pitchFamily="34" charset="0"/>
                <a:ea typeface="宋体" panose="02010600030101010101" pitchFamily="2" charset="-122"/>
                <a:cs typeface="Arial" panose="020B0604020202020204" pitchFamily="34" charset="0"/>
              </a:defRPr>
            </a:lvl1pPr>
            <a:lvl2pPr marL="8001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2pPr>
            <a:lvl3pPr marL="12573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3pPr>
            <a:lvl4pPr marL="17145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4pPr>
            <a:lvl5pPr marL="21717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5pPr>
            <a:lvl6pPr marL="26289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6pPr>
            <a:lvl7pPr marL="30861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7pPr>
            <a:lvl8pPr marL="35433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8pPr>
            <a:lvl9pPr marL="40005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r>
              <a:rPr lang="en-US" altLang="zh-CN" b="0" i="1">
                <a:cs typeface="宋体" panose="02010600030101010101" pitchFamily="2" charset="-122"/>
                <a:sym typeface="+mn-ea"/>
              </a:rPr>
              <a:t>(expression)</a:t>
            </a:r>
            <a:r>
              <a:rPr lang="en-US" altLang="zh-CN" b="0" i="1">
                <a:cs typeface="宋体" panose="02010600030101010101" pitchFamily="2" charset="-122"/>
              </a:rPr>
              <a:t>                  	(expression) 	(expression) 	(expression)</a:t>
            </a:r>
          </a:p>
          <a:p>
            <a:pPr eaLnBrk="1" hangingPunct="1"/>
            <a:r>
              <a:rPr lang="en-US" altLang="zh-CN" b="0">
                <a:cs typeface="宋体" panose="02010600030101010101" pitchFamily="2" charset="-122"/>
              </a:rPr>
              <a:t>2016-05-25 23:40:28.000                     2016            	       5                                   25</a:t>
            </a:r>
            <a:endParaRPr lang="zh-CN" altLang="en-US" b="0">
              <a:cs typeface="宋体" panose="02010600030101010101" pitchFamily="2" charset="-122"/>
            </a:endParaRPr>
          </a:p>
        </p:txBody>
      </p:sp>
      <p:sp>
        <p:nvSpPr>
          <p:cNvPr id="239624" name="Text Box 8"/>
          <p:cNvSpPr txBox="1">
            <a:spLocks noChangeArrowheads="1"/>
          </p:cNvSpPr>
          <p:nvPr/>
        </p:nvSpPr>
        <p:spPr bwMode="black">
          <a:xfrm>
            <a:off x="1146942" y="4715284"/>
            <a:ext cx="8610600" cy="708528"/>
          </a:xfrm>
          <a:prstGeom prst="rect">
            <a:avLst/>
          </a:prstGeom>
          <a:noFill/>
          <a:ln w="9525">
            <a:solidFill>
              <a:schemeClr val="tx2"/>
            </a:solidFill>
            <a:miter lim="800000"/>
          </a:ln>
          <a:effectLst/>
        </p:spPr>
        <p:txBody>
          <a:bodyPr lIns="92075" tIns="46038" rIns="92075" bIns="46038">
            <a:spAutoFit/>
          </a:bodyPr>
          <a:lstStyle>
            <a:lvl1pPr marL="342900" indent="-342900" eaLnBrk="0" hangingPunct="0">
              <a:defRPr sz="1400" b="1">
                <a:solidFill>
                  <a:schemeClr val="tx1"/>
                </a:solidFill>
                <a:latin typeface="Arial" panose="020B0604020202020204" pitchFamily="34" charset="0"/>
                <a:ea typeface="宋体" panose="02010600030101010101" pitchFamily="2" charset="-122"/>
                <a:cs typeface="Arial" panose="020B0604020202020204" pitchFamily="34" charset="0"/>
              </a:defRPr>
            </a:lvl1pPr>
            <a:lvl2pPr marL="8001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2pPr>
            <a:lvl3pPr marL="12573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3pPr>
            <a:lvl4pPr marL="17145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4pPr>
            <a:lvl5pPr marL="21717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5pPr>
            <a:lvl6pPr marL="26289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6pPr>
            <a:lvl7pPr marL="30861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7pPr>
            <a:lvl8pPr marL="35433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8pPr>
            <a:lvl9pPr marL="40005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lnSpc>
                <a:spcPct val="125000"/>
              </a:lnSpc>
              <a:spcBef>
                <a:spcPct val="0"/>
              </a:spcBef>
            </a:pPr>
            <a:r>
              <a:rPr lang="en-US" altLang="zh-CN" sz="1600" b="0" dirty="0">
                <a:cs typeface="宋体" panose="02010600030101010101" pitchFamily="2" charset="-122"/>
              </a:rPr>
              <a:t>SELECT </a:t>
            </a:r>
            <a:r>
              <a:rPr lang="en-US" altLang="zh-CN" sz="1600" b="0" dirty="0" err="1">
                <a:cs typeface="宋体" panose="02010600030101010101" pitchFamily="2" charset="-122"/>
              </a:rPr>
              <a:t>first 1 current</a:t>
            </a:r>
            <a:r>
              <a:rPr lang="en-US" altLang="zh-CN" sz="1600" b="0" dirty="0">
                <a:cs typeface="宋体" panose="02010600030101010101" pitchFamily="2" charset="-122"/>
              </a:rPr>
              <a:t>, YEAR (</a:t>
            </a:r>
            <a:r>
              <a:rPr lang="en-US" altLang="zh-CN" sz="1600" b="0" dirty="0" err="1">
                <a:cs typeface="宋体" panose="02010600030101010101" pitchFamily="2" charset="-122"/>
                <a:sym typeface="+mn-ea"/>
              </a:rPr>
              <a:t>current</a:t>
            </a:r>
            <a:r>
              <a:rPr lang="en-US" altLang="zh-CN" sz="1600" b="0" dirty="0">
                <a:cs typeface="宋体" panose="02010600030101010101" pitchFamily="2" charset="-122"/>
              </a:rPr>
              <a:t>), MONTH(</a:t>
            </a:r>
            <a:r>
              <a:rPr lang="en-US" altLang="zh-CN" sz="1600" b="0" dirty="0" err="1">
                <a:cs typeface="宋体" panose="02010600030101010101" pitchFamily="2" charset="-122"/>
                <a:sym typeface="+mn-ea"/>
              </a:rPr>
              <a:t>current</a:t>
            </a:r>
            <a:r>
              <a:rPr lang="en-US" altLang="zh-CN" sz="1600" b="0" dirty="0">
                <a:cs typeface="宋体" panose="02010600030101010101" pitchFamily="2" charset="-122"/>
              </a:rPr>
              <a:t>), DAY(</a:t>
            </a:r>
            <a:r>
              <a:rPr lang="en-US" altLang="zh-CN" sz="1600" b="0" dirty="0" err="1">
                <a:cs typeface="宋体" panose="02010600030101010101" pitchFamily="2" charset="-122"/>
                <a:sym typeface="+mn-ea"/>
              </a:rPr>
              <a:t>current</a:t>
            </a:r>
            <a:r>
              <a:rPr lang="en-US" altLang="zh-CN" sz="1600" b="0" dirty="0">
                <a:cs typeface="宋体" panose="02010600030101010101" pitchFamily="2" charset="-122"/>
              </a:rPr>
              <a:t>)</a:t>
            </a:r>
          </a:p>
          <a:p>
            <a:pPr eaLnBrk="1" hangingPunct="1">
              <a:lnSpc>
                <a:spcPct val="125000"/>
              </a:lnSpc>
              <a:spcBef>
                <a:spcPct val="0"/>
              </a:spcBef>
            </a:pPr>
            <a:r>
              <a:rPr lang="en-US" altLang="zh-CN" sz="1600" b="0" dirty="0">
                <a:cs typeface="宋体" panose="02010600030101010101" pitchFamily="2" charset="-122"/>
              </a:rPr>
              <a:t>FROM </a:t>
            </a:r>
            <a:r>
              <a:rPr lang="en-US" altLang="zh-CN" sz="1600" b="0">
                <a:cs typeface="宋体" panose="02010600030101010101" pitchFamily="2" charset="-122"/>
                <a:sym typeface="+mn-ea"/>
              </a:rPr>
              <a:t>sysmaster:sysdual</a:t>
            </a:r>
            <a:r>
              <a:rPr lang="en-US" altLang="zh-CN" sz="1600" b="0" dirty="0">
                <a:cs typeface="宋体" panose="02010600030101010101" pitchFamily="2" charset="-122"/>
              </a:rPr>
              <a:t> ; </a:t>
            </a:r>
          </a:p>
        </p:txBody>
      </p:sp>
      <p:sp>
        <p:nvSpPr>
          <p:cNvPr id="239627" name="Rectangle 11"/>
          <p:cNvSpPr>
            <a:spLocks noChangeArrowheads="1"/>
          </p:cNvSpPr>
          <p:nvPr/>
        </p:nvSpPr>
        <p:spPr bwMode="auto">
          <a:xfrm>
            <a:off x="1112018" y="5628494"/>
            <a:ext cx="8804275" cy="431800"/>
          </a:xfrm>
          <a:prstGeom prst="rect">
            <a:avLst/>
          </a:prstGeom>
          <a:noFill/>
          <a:ln>
            <a:noFill/>
          </a:ln>
        </p:spPr>
        <p:txBody>
          <a:bodyPr lIns="92075" tIns="46038" rIns="92075" bIns="46038"/>
          <a:lstStyle/>
          <a:p>
            <a:pPr marL="228600" indent="-228600" eaLnBrk="0" hangingPunct="0">
              <a:lnSpc>
                <a:spcPct val="90000"/>
              </a:lnSpc>
              <a:buClr>
                <a:schemeClr val="accent2"/>
              </a:buClr>
              <a:buFont typeface="Wingdings" panose="05000000000000000000" charset="0"/>
              <a:buChar char="§"/>
            </a:pPr>
            <a:endParaRPr lang="en-US" altLang="zh-CN" dirty="0">
              <a:cs typeface="宋体" panose="0201060003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9618" name="Rectangle 2"/>
          <p:cNvSpPr>
            <a:spLocks noGrp="1" noChangeArrowheads="1"/>
          </p:cNvSpPr>
          <p:nvPr>
            <p:ph type="title"/>
          </p:nvPr>
        </p:nvSpPr>
        <p:spPr/>
        <p:txBody>
          <a:bodyPr/>
          <a:lstStyle/>
          <a:p>
            <a:r>
              <a:rPr lang="zh-CN" altLang="en-US">
                <a:latin typeface="Arial" panose="020B0604020202020204" pitchFamily="34" charset="0"/>
                <a:cs typeface="宋体" panose="02010600030101010101" pitchFamily="2" charset="-122"/>
              </a:rPr>
              <a:t>时间函数</a:t>
            </a:r>
          </a:p>
        </p:txBody>
      </p:sp>
      <p:sp>
        <p:nvSpPr>
          <p:cNvPr id="239619" name="Rectangle 3"/>
          <p:cNvSpPr>
            <a:spLocks noGrp="1" noChangeArrowheads="1"/>
          </p:cNvSpPr>
          <p:nvPr>
            <p:ph type="body" sz="quarter" idx="10"/>
          </p:nvPr>
        </p:nvSpPr>
        <p:spPr/>
        <p:txBody>
          <a:bodyPr/>
          <a:lstStyle/>
          <a:p>
            <a:pPr>
              <a:lnSpc>
                <a:spcPct val="150000"/>
              </a:lnSpc>
            </a:pPr>
            <a:r>
              <a:rPr lang="en-US" altLang="zh-CN" dirty="0">
                <a:cs typeface="宋体" panose="02010600030101010101" pitchFamily="2" charset="-122"/>
              </a:rPr>
              <a:t>WEEKDAY     </a:t>
            </a:r>
          </a:p>
          <a:p>
            <a:pPr marL="0" indent="0">
              <a:lnSpc>
                <a:spcPct val="150000"/>
              </a:lnSpc>
              <a:buNone/>
            </a:pPr>
            <a:r>
              <a:rPr lang="zh-CN" altLang="en-US" sz="1600" dirty="0">
                <a:cs typeface="宋体" panose="02010600030101010101" pitchFamily="2" charset="-122"/>
              </a:rPr>
              <a:t>   具有</a:t>
            </a:r>
            <a:r>
              <a:rPr lang="en-US" altLang="zh-CN" sz="1600" dirty="0">
                <a:cs typeface="宋体" panose="02010600030101010101" pitchFamily="2" charset="-122"/>
              </a:rPr>
              <a:t>date</a:t>
            </a:r>
            <a:r>
              <a:rPr lang="zh-CN" altLang="en-US" sz="1600" dirty="0">
                <a:cs typeface="宋体" panose="02010600030101010101" pitchFamily="2" charset="-122"/>
              </a:rPr>
              <a:t>或</a:t>
            </a:r>
            <a:r>
              <a:rPr lang="en-US" altLang="zh-CN" sz="1600" dirty="0" err="1">
                <a:cs typeface="宋体" panose="02010600030101010101" pitchFamily="2" charset="-122"/>
              </a:rPr>
              <a:t>datetime</a:t>
            </a:r>
            <a:r>
              <a:rPr lang="zh-CN" altLang="en-US" sz="1600" dirty="0">
                <a:cs typeface="宋体" panose="02010600030101010101" pitchFamily="2" charset="-122"/>
              </a:rPr>
              <a:t>参数，并且返回从</a:t>
            </a:r>
            <a:r>
              <a:rPr lang="en-US" altLang="zh-CN" sz="1600" dirty="0">
                <a:cs typeface="宋体" panose="02010600030101010101" pitchFamily="2" charset="-122"/>
              </a:rPr>
              <a:t>0</a:t>
            </a:r>
            <a:r>
              <a:rPr lang="zh-CN" altLang="en-US" sz="1600" dirty="0">
                <a:cs typeface="宋体" panose="02010600030101010101" pitchFamily="2" charset="-122"/>
              </a:rPr>
              <a:t>到</a:t>
            </a:r>
            <a:r>
              <a:rPr lang="en-US" altLang="zh-CN" sz="1600" dirty="0">
                <a:cs typeface="宋体" panose="02010600030101010101" pitchFamily="2" charset="-122"/>
              </a:rPr>
              <a:t>6</a:t>
            </a:r>
            <a:r>
              <a:rPr lang="zh-CN" altLang="en-US" sz="1600" dirty="0">
                <a:cs typeface="宋体" panose="02010600030101010101" pitchFamily="2" charset="-122"/>
              </a:rPr>
              <a:t>范围内的整数，</a:t>
            </a:r>
            <a:r>
              <a:rPr lang="en-US" altLang="zh-CN" sz="1600" dirty="0">
                <a:cs typeface="宋体" panose="02010600030101010101" pitchFamily="2" charset="-122"/>
              </a:rPr>
              <a:t>0</a:t>
            </a:r>
            <a:r>
              <a:rPr lang="zh-CN" altLang="en-US" sz="1600" dirty="0">
                <a:cs typeface="宋体" panose="02010600030101010101" pitchFamily="2" charset="-122"/>
              </a:rPr>
              <a:t>代表星期天</a:t>
            </a:r>
            <a:r>
              <a:rPr lang="en-US" altLang="zh-CN" sz="1600" dirty="0">
                <a:cs typeface="宋体" panose="02010600030101010101" pitchFamily="2" charset="-122"/>
              </a:rPr>
              <a:t>1</a:t>
            </a:r>
            <a:r>
              <a:rPr lang="zh-CN" altLang="en-US" sz="1600" dirty="0">
                <a:cs typeface="宋体" panose="02010600030101010101" pitchFamily="2" charset="-122"/>
              </a:rPr>
              <a:t>代表星期一以此类推</a:t>
            </a:r>
            <a:endParaRPr lang="en-US" altLang="zh-CN" sz="1600" dirty="0">
              <a:cs typeface="宋体" panose="02010600030101010101" pitchFamily="2" charset="-122"/>
            </a:endParaRPr>
          </a:p>
          <a:p>
            <a:pPr>
              <a:lnSpc>
                <a:spcPct val="150000"/>
              </a:lnSpc>
            </a:pPr>
            <a:endParaRPr lang="en-US" altLang="zh-CN" sz="1600" dirty="0">
              <a:cs typeface="宋体" panose="02010600030101010101" pitchFamily="2" charset="-122"/>
            </a:endParaRPr>
          </a:p>
          <a:p>
            <a:pPr>
              <a:lnSpc>
                <a:spcPct val="150000"/>
              </a:lnSpc>
            </a:pPr>
            <a:endParaRPr lang="en-US" altLang="zh-CN" sz="1600" dirty="0">
              <a:cs typeface="宋体" panose="02010600030101010101" pitchFamily="2" charset="-122"/>
            </a:endParaRPr>
          </a:p>
          <a:p>
            <a:pPr marL="0" indent="0">
              <a:lnSpc>
                <a:spcPct val="150000"/>
              </a:lnSpc>
              <a:buNone/>
            </a:pPr>
            <a:endParaRPr lang="en-US" altLang="zh-CN" sz="1600" dirty="0">
              <a:cs typeface="宋体" panose="02010600030101010101" pitchFamily="2" charset="-122"/>
            </a:endParaRPr>
          </a:p>
          <a:p>
            <a:pPr>
              <a:lnSpc>
                <a:spcPct val="150000"/>
              </a:lnSpc>
            </a:pPr>
            <a:r>
              <a:rPr lang="en-US" altLang="zh-CN" dirty="0">
                <a:cs typeface="宋体" panose="02010600030101010101" pitchFamily="2" charset="-122"/>
              </a:rPr>
              <a:t>EXTEND</a:t>
            </a:r>
            <a:r>
              <a:rPr lang="en-US" altLang="zh-CN" b="1" dirty="0">
                <a:cs typeface="宋体" panose="02010600030101010101" pitchFamily="2" charset="-122"/>
              </a:rPr>
              <a:t>  </a:t>
            </a:r>
          </a:p>
          <a:p>
            <a:pPr marL="0" indent="0">
              <a:lnSpc>
                <a:spcPct val="150000"/>
              </a:lnSpc>
              <a:buNone/>
            </a:pPr>
            <a:r>
              <a:rPr lang="zh-CN" altLang="en-US" sz="1600" dirty="0">
                <a:latin typeface="微软雅黑" panose="020B0503020204020204" pitchFamily="34" charset="-122"/>
                <a:ea typeface="微软雅黑" panose="020B0503020204020204" pitchFamily="34" charset="-122"/>
                <a:cs typeface="宋体" panose="02010600030101010101" pitchFamily="2" charset="-122"/>
                <a:sym typeface="+mn-ea"/>
              </a:rPr>
              <a:t>    返回指定表达式中时间段</a:t>
            </a:r>
          </a:p>
          <a:p>
            <a:pPr>
              <a:lnSpc>
                <a:spcPct val="150000"/>
              </a:lnSpc>
            </a:pPr>
            <a:endParaRPr lang="en-US" altLang="zh-CN" sz="1600" dirty="0">
              <a:cs typeface="宋体" panose="02010600030101010101" pitchFamily="2" charset="-122"/>
            </a:endParaRPr>
          </a:p>
          <a:p>
            <a:pPr>
              <a:lnSpc>
                <a:spcPct val="90000"/>
              </a:lnSpc>
            </a:pPr>
            <a:endParaRPr lang="en-US" altLang="zh-CN" sz="1600" dirty="0">
              <a:cs typeface="宋体" panose="02010600030101010101" pitchFamily="2" charset="-122"/>
            </a:endParaRPr>
          </a:p>
          <a:p>
            <a:pPr>
              <a:lnSpc>
                <a:spcPct val="90000"/>
              </a:lnSpc>
            </a:pPr>
            <a:endParaRPr lang="en-US" altLang="zh-CN" dirty="0">
              <a:cs typeface="宋体" panose="02010600030101010101" pitchFamily="2" charset="-122"/>
            </a:endParaRPr>
          </a:p>
        </p:txBody>
      </p:sp>
      <p:sp>
        <p:nvSpPr>
          <p:cNvPr id="239622" name="Rectangle 6"/>
          <p:cNvSpPr>
            <a:spLocks noChangeArrowheads="1"/>
          </p:cNvSpPr>
          <p:nvPr/>
        </p:nvSpPr>
        <p:spPr bwMode="auto">
          <a:xfrm>
            <a:off x="1099755" y="2828176"/>
            <a:ext cx="8804275" cy="431800"/>
          </a:xfrm>
          <a:prstGeom prst="rect">
            <a:avLst/>
          </a:prstGeom>
          <a:noFill/>
          <a:ln>
            <a:noFill/>
          </a:ln>
        </p:spPr>
        <p:txBody>
          <a:bodyPr lIns="92075" tIns="46038" rIns="92075" bIns="46038"/>
          <a:lstStyle/>
          <a:p>
            <a:pPr marL="228600" indent="-228600" eaLnBrk="0" hangingPunct="0">
              <a:lnSpc>
                <a:spcPct val="90000"/>
              </a:lnSpc>
              <a:buClr>
                <a:schemeClr val="accent2"/>
              </a:buClr>
              <a:buFont typeface="Wingdings" panose="05000000000000000000" charset="0"/>
              <a:buChar char="§"/>
            </a:pPr>
            <a:endParaRPr lang="en-US" altLang="zh-CN" dirty="0">
              <a:cs typeface="宋体" panose="02010600030101010101" pitchFamily="2" charset="-122"/>
            </a:endParaRPr>
          </a:p>
        </p:txBody>
      </p:sp>
      <p:sp>
        <p:nvSpPr>
          <p:cNvPr id="239629" name="Text Box 13"/>
          <p:cNvSpPr txBox="1">
            <a:spLocks noChangeArrowheads="1"/>
          </p:cNvSpPr>
          <p:nvPr/>
        </p:nvSpPr>
        <p:spPr bwMode="black">
          <a:xfrm>
            <a:off x="1083879" y="3135110"/>
            <a:ext cx="8610600" cy="523862"/>
          </a:xfrm>
          <a:prstGeom prst="rect">
            <a:avLst/>
          </a:prstGeom>
          <a:solidFill>
            <a:srgbClr val="E9EDF4"/>
          </a:solidFill>
          <a:ln w="9525">
            <a:solidFill>
              <a:schemeClr val="tx2"/>
            </a:solidFill>
            <a:miter lim="800000"/>
          </a:ln>
          <a:effectLst/>
        </p:spPr>
        <p:txBody>
          <a:bodyPr lIns="92075" tIns="46038" rIns="92075" bIns="46038">
            <a:spAutoFit/>
          </a:bodyPr>
          <a:lstStyle>
            <a:lvl1pPr marL="342900" indent="-342900" eaLnBrk="0" hangingPunct="0">
              <a:defRPr sz="1400" b="1">
                <a:solidFill>
                  <a:schemeClr val="tx1"/>
                </a:solidFill>
                <a:latin typeface="Arial" panose="020B0604020202020204" pitchFamily="34" charset="0"/>
                <a:ea typeface="宋体" panose="02010600030101010101" pitchFamily="2" charset="-122"/>
                <a:cs typeface="Arial" panose="020B0604020202020204" pitchFamily="34" charset="0"/>
              </a:defRPr>
            </a:lvl1pPr>
            <a:lvl2pPr marL="8001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2pPr>
            <a:lvl3pPr marL="12573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3pPr>
            <a:lvl4pPr marL="17145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4pPr>
            <a:lvl5pPr marL="21717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5pPr>
            <a:lvl6pPr marL="26289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6pPr>
            <a:lvl7pPr marL="30861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7pPr>
            <a:lvl8pPr marL="35433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8pPr>
            <a:lvl9pPr marL="40005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r>
              <a:rPr lang="en-US" altLang="zh-CN" b="0">
                <a:cs typeface="宋体" panose="02010600030101010101" pitchFamily="2" charset="-122"/>
                <a:sym typeface="+mn-ea"/>
              </a:rPr>
              <a:t>(expression)</a:t>
            </a:r>
            <a:r>
              <a:rPr lang="en-US" altLang="zh-CN" b="0">
                <a:cs typeface="宋体" panose="02010600030101010101" pitchFamily="2" charset="-122"/>
              </a:rPr>
              <a:t>       	         (expression)</a:t>
            </a:r>
          </a:p>
          <a:p>
            <a:pPr eaLnBrk="1" hangingPunct="1"/>
            <a:r>
              <a:rPr lang="en-US" altLang="zh-CN" b="0">
                <a:cs typeface="宋体" panose="02010600030101010101" pitchFamily="2" charset="-122"/>
              </a:rPr>
              <a:t>2016-05-25 23:41:43.000               3</a:t>
            </a:r>
            <a:endParaRPr lang="zh-CN" altLang="en-US" b="0">
              <a:cs typeface="宋体" panose="02010600030101010101" pitchFamily="2" charset="-122"/>
            </a:endParaRPr>
          </a:p>
        </p:txBody>
      </p:sp>
      <p:sp>
        <p:nvSpPr>
          <p:cNvPr id="239630" name="Text Box 14"/>
          <p:cNvSpPr txBox="1">
            <a:spLocks noChangeArrowheads="1"/>
          </p:cNvSpPr>
          <p:nvPr/>
        </p:nvSpPr>
        <p:spPr bwMode="black">
          <a:xfrm>
            <a:off x="1083879" y="2423910"/>
            <a:ext cx="8610600" cy="708528"/>
          </a:xfrm>
          <a:prstGeom prst="rect">
            <a:avLst/>
          </a:prstGeom>
          <a:noFill/>
          <a:ln w="9525">
            <a:solidFill>
              <a:schemeClr val="tx2"/>
            </a:solidFill>
            <a:miter lim="800000"/>
          </a:ln>
          <a:effectLst/>
        </p:spPr>
        <p:txBody>
          <a:bodyPr lIns="92075" tIns="46038" rIns="92075" bIns="46038">
            <a:spAutoFit/>
          </a:bodyPr>
          <a:lstStyle>
            <a:lvl1pPr marL="342900" indent="-342900" eaLnBrk="0" hangingPunct="0">
              <a:defRPr sz="1400" b="1">
                <a:solidFill>
                  <a:schemeClr val="tx1"/>
                </a:solidFill>
                <a:latin typeface="Arial" panose="020B0604020202020204" pitchFamily="34" charset="0"/>
                <a:ea typeface="宋体" panose="02010600030101010101" pitchFamily="2" charset="-122"/>
                <a:cs typeface="Arial" panose="020B0604020202020204" pitchFamily="34" charset="0"/>
              </a:defRPr>
            </a:lvl1pPr>
            <a:lvl2pPr marL="8001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2pPr>
            <a:lvl3pPr marL="12573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3pPr>
            <a:lvl4pPr marL="17145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4pPr>
            <a:lvl5pPr marL="21717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5pPr>
            <a:lvl6pPr marL="26289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6pPr>
            <a:lvl7pPr marL="30861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7pPr>
            <a:lvl8pPr marL="35433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8pPr>
            <a:lvl9pPr marL="40005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lnSpc>
                <a:spcPct val="125000"/>
              </a:lnSpc>
              <a:spcBef>
                <a:spcPct val="0"/>
              </a:spcBef>
            </a:pPr>
            <a:r>
              <a:rPr lang="en-US" altLang="zh-CN" sz="1600" b="0" dirty="0">
                <a:cs typeface="宋体" panose="02010600030101010101" pitchFamily="2" charset="-122"/>
              </a:rPr>
              <a:t>SELECT first 1 current, WEEKDAY (</a:t>
            </a:r>
            <a:r>
              <a:rPr lang="en-US" altLang="zh-CN" sz="1600" b="0" dirty="0">
                <a:cs typeface="宋体" panose="02010600030101010101" pitchFamily="2" charset="-122"/>
                <a:sym typeface="+mn-ea"/>
              </a:rPr>
              <a:t>current</a:t>
            </a:r>
            <a:r>
              <a:rPr lang="en-US" altLang="zh-CN" sz="1600" b="0" dirty="0">
                <a:cs typeface="宋体" panose="02010600030101010101" pitchFamily="2" charset="-122"/>
              </a:rPr>
              <a:t>)</a:t>
            </a:r>
          </a:p>
          <a:p>
            <a:pPr eaLnBrk="1" hangingPunct="1">
              <a:lnSpc>
                <a:spcPct val="125000"/>
              </a:lnSpc>
              <a:spcBef>
                <a:spcPct val="0"/>
              </a:spcBef>
            </a:pPr>
            <a:r>
              <a:rPr lang="en-US" altLang="zh-CN" sz="1600" b="0" dirty="0">
                <a:cs typeface="宋体" panose="02010600030101010101" pitchFamily="2" charset="-122"/>
              </a:rPr>
              <a:t>FROM </a:t>
            </a:r>
            <a:r>
              <a:rPr lang="en-US" altLang="zh-CN" sz="1600" b="0" dirty="0" err="1">
                <a:cs typeface="宋体" panose="02010600030101010101" pitchFamily="2" charset="-122"/>
              </a:rPr>
              <a:t>sysmaster:sysdual</a:t>
            </a:r>
            <a:r>
              <a:rPr lang="en-US" altLang="zh-CN" sz="1600" b="0" dirty="0">
                <a:cs typeface="宋体" panose="02010600030101010101" pitchFamily="2" charset="-122"/>
              </a:rPr>
              <a:t>;</a:t>
            </a:r>
          </a:p>
        </p:txBody>
      </p:sp>
      <p:grpSp>
        <p:nvGrpSpPr>
          <p:cNvPr id="12" name="Group 12"/>
          <p:cNvGrpSpPr/>
          <p:nvPr/>
        </p:nvGrpSpPr>
        <p:grpSpPr bwMode="auto">
          <a:xfrm>
            <a:off x="1099755" y="5000734"/>
            <a:ext cx="8610600" cy="1120775"/>
            <a:chOff x="128" y="2747"/>
            <a:chExt cx="5424" cy="706"/>
          </a:xfrm>
        </p:grpSpPr>
        <p:sp>
          <p:nvSpPr>
            <p:cNvPr id="13" name="Text Box 7"/>
            <p:cNvSpPr txBox="1">
              <a:spLocks noChangeArrowheads="1"/>
            </p:cNvSpPr>
            <p:nvPr/>
          </p:nvSpPr>
          <p:spPr bwMode="black">
            <a:xfrm>
              <a:off x="128" y="3123"/>
              <a:ext cx="5424" cy="330"/>
            </a:xfrm>
            <a:prstGeom prst="rect">
              <a:avLst/>
            </a:prstGeom>
            <a:solidFill>
              <a:srgbClr val="E9EDF4"/>
            </a:solidFill>
            <a:ln w="9525">
              <a:solidFill>
                <a:schemeClr val="tx2"/>
              </a:solidFill>
              <a:miter lim="800000"/>
            </a:ln>
            <a:effectLst/>
          </p:spPr>
          <p:txBody>
            <a:bodyPr lIns="92075" tIns="46038" rIns="92075" bIns="46038">
              <a:spAutoFit/>
            </a:bodyPr>
            <a:lstStyle>
              <a:lvl1pPr marL="342900" indent="-342900" eaLnBrk="0" hangingPunct="0">
                <a:defRPr sz="1400" b="1">
                  <a:solidFill>
                    <a:schemeClr val="tx1"/>
                  </a:solidFill>
                  <a:latin typeface="Arial" panose="020B0604020202020204" pitchFamily="34" charset="0"/>
                  <a:ea typeface="宋体" panose="02010600030101010101" pitchFamily="2" charset="-122"/>
                  <a:cs typeface="Arial" panose="020B0604020202020204" pitchFamily="34" charset="0"/>
                </a:defRPr>
              </a:lvl1pPr>
              <a:lvl2pPr marL="8001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2pPr>
              <a:lvl3pPr marL="12573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3pPr>
              <a:lvl4pPr marL="17145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4pPr>
              <a:lvl5pPr marL="21717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5pPr>
              <a:lvl6pPr marL="26289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6pPr>
              <a:lvl7pPr marL="30861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7pPr>
              <a:lvl8pPr marL="35433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8pPr>
              <a:lvl9pPr marL="40005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r>
                <a:rPr lang="en-US" altLang="zh-CN" b="0" i="1" dirty="0">
                  <a:cs typeface="宋体" panose="02010600030101010101" pitchFamily="2" charset="-122"/>
                </a:rPr>
                <a:t>day       		 time</a:t>
              </a:r>
              <a:r>
                <a:rPr lang="en-US" altLang="zh-CN" b="0" dirty="0">
                  <a:cs typeface="宋体" panose="02010600030101010101" pitchFamily="2" charset="-122"/>
                </a:rPr>
                <a:t>    </a:t>
              </a:r>
            </a:p>
            <a:p>
              <a:pPr eaLnBrk="1" hangingPunct="1"/>
              <a:r>
                <a:rPr lang="en-US" altLang="zh-CN" b="0" dirty="0">
                  <a:cs typeface="宋体" panose="02010600030101010101" pitchFamily="2" charset="-122"/>
                </a:rPr>
                <a:t>2016-05-25 	23:43</a:t>
              </a:r>
              <a:endParaRPr lang="zh-CN" altLang="en-US" b="0" dirty="0">
                <a:cs typeface="宋体" panose="02010600030101010101" pitchFamily="2" charset="-122"/>
              </a:endParaRPr>
            </a:p>
          </p:txBody>
        </p:sp>
        <p:sp>
          <p:nvSpPr>
            <p:cNvPr id="14" name="Text Box 8"/>
            <p:cNvSpPr txBox="1">
              <a:spLocks noChangeArrowheads="1"/>
            </p:cNvSpPr>
            <p:nvPr/>
          </p:nvSpPr>
          <p:spPr bwMode="black">
            <a:xfrm>
              <a:off x="128" y="2747"/>
              <a:ext cx="5424" cy="524"/>
            </a:xfrm>
            <a:prstGeom prst="rect">
              <a:avLst/>
            </a:prstGeom>
            <a:noFill/>
            <a:ln w="9525">
              <a:solidFill>
                <a:schemeClr val="tx2"/>
              </a:solidFill>
              <a:miter lim="800000"/>
            </a:ln>
            <a:effectLst/>
          </p:spPr>
          <p:txBody>
            <a:bodyPr lIns="92075" tIns="46038" rIns="92075" bIns="46038">
              <a:spAutoFit/>
            </a:bodyPr>
            <a:lstStyle>
              <a:lvl1pPr marL="342900" indent="-342900" eaLnBrk="0" hangingPunct="0">
                <a:defRPr sz="1400" b="1">
                  <a:solidFill>
                    <a:schemeClr val="tx1"/>
                  </a:solidFill>
                  <a:latin typeface="Arial" panose="020B0604020202020204" pitchFamily="34" charset="0"/>
                  <a:ea typeface="宋体" panose="02010600030101010101" pitchFamily="2" charset="-122"/>
                  <a:cs typeface="Arial" panose="020B0604020202020204" pitchFamily="34" charset="0"/>
                </a:defRPr>
              </a:lvl1pPr>
              <a:lvl2pPr marL="8001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2pPr>
              <a:lvl3pPr marL="12573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3pPr>
              <a:lvl4pPr marL="17145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4pPr>
              <a:lvl5pPr marL="21717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5pPr>
              <a:lvl6pPr marL="26289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6pPr>
              <a:lvl7pPr marL="30861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7pPr>
              <a:lvl8pPr marL="35433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8pPr>
              <a:lvl9pPr marL="40005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pPr>
              <a:r>
                <a:rPr lang="en-US" altLang="zh-CN" sz="1600" b="0" dirty="0">
                  <a:cs typeface="宋体" panose="02010600030101010101" pitchFamily="2" charset="-122"/>
                </a:rPr>
                <a:t>SELECT first 1 EXTEND (current, year to day) day, EXTEND (current, hour to minute) time</a:t>
              </a:r>
            </a:p>
            <a:p>
              <a:pPr eaLnBrk="1" hangingPunct="1">
                <a:spcBef>
                  <a:spcPct val="0"/>
                </a:spcBef>
              </a:pPr>
              <a:r>
                <a:rPr lang="en-US" altLang="zh-CN" sz="1600" b="0" dirty="0">
                  <a:cs typeface="宋体" panose="02010600030101010101" pitchFamily="2" charset="-122"/>
                </a:rPr>
                <a:t>FROM </a:t>
              </a:r>
              <a:r>
                <a:rPr lang="en-US" altLang="zh-CN" sz="1600" b="0" dirty="0" err="1">
                  <a:cs typeface="宋体" panose="02010600030101010101" pitchFamily="2" charset="-122"/>
                  <a:sym typeface="+mn-ea"/>
                </a:rPr>
                <a:t>sysmaster:sysdual</a:t>
              </a:r>
              <a:r>
                <a:rPr lang="en-US" altLang="zh-CN" sz="1600" b="0" dirty="0">
                  <a:cs typeface="宋体" panose="02010600030101010101" pitchFamily="2" charset="-122"/>
                  <a:sym typeface="+mn-ea"/>
                </a:rPr>
                <a:t>;</a:t>
              </a:r>
              <a:endParaRPr lang="en-US" altLang="zh-CN" sz="1600" b="0" dirty="0">
                <a:cs typeface="宋体" panose="02010600030101010101" pitchFamily="2" charset="-122"/>
              </a:endParaRPr>
            </a:p>
            <a:p>
              <a:pPr eaLnBrk="1" hangingPunct="1">
                <a:spcBef>
                  <a:spcPct val="0"/>
                </a:spcBef>
              </a:pPr>
              <a:r>
                <a:rPr lang="en-US" altLang="zh-CN" sz="1600" b="0" dirty="0">
                  <a:solidFill>
                    <a:schemeClr val="hlink"/>
                  </a:solidFill>
                  <a:cs typeface="宋体" panose="02010600030101010101" pitchFamily="2" charset="-122"/>
                </a:rPr>
                <a:t>  </a:t>
              </a:r>
              <a:endParaRPr lang="zh-CN" altLang="en-US" sz="1600" dirty="0">
                <a:solidFill>
                  <a:schemeClr val="hlink"/>
                </a:solidFill>
                <a:cs typeface="宋体" panose="02010600030101010101" pitchFamily="2" charset="-122"/>
              </a:endParaRPr>
            </a:p>
          </p:txBody>
        </p:sp>
      </p:gr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670" name="Rectangle 6"/>
          <p:cNvSpPr>
            <a:spLocks noChangeArrowheads="1"/>
          </p:cNvSpPr>
          <p:nvPr/>
        </p:nvSpPr>
        <p:spPr bwMode="auto">
          <a:xfrm>
            <a:off x="755979" y="967896"/>
            <a:ext cx="10406007" cy="4968552"/>
          </a:xfrm>
          <a:prstGeom prst="rect">
            <a:avLst/>
          </a:prstGeom>
          <a:noFill/>
          <a:ln>
            <a:noFill/>
          </a:ln>
        </p:spPr>
        <p:txBody>
          <a:bodyPr lIns="92075" tIns="46038" rIns="92075" bIns="46038"/>
          <a:lstStyle/>
          <a:p>
            <a:pPr marL="228600" indent="-228600" eaLnBrk="0" hangingPunct="0">
              <a:lnSpc>
                <a:spcPct val="90000"/>
              </a:lnSpc>
              <a:buClr>
                <a:schemeClr val="accent1"/>
              </a:buClr>
            </a:pPr>
            <a:endParaRPr lang="en-US" altLang="zh-CN" sz="2000" dirty="0">
              <a:latin typeface="微软雅黑" panose="020B0503020204020204" pitchFamily="34" charset="-122"/>
              <a:ea typeface="微软雅黑" panose="020B0503020204020204" pitchFamily="34" charset="-122"/>
              <a:cs typeface="宋体" panose="02010600030101010101" pitchFamily="2" charset="-122"/>
            </a:endParaRPr>
          </a:p>
          <a:p>
            <a:pPr marL="228600" indent="-228600" eaLnBrk="0" hangingPunct="0">
              <a:spcBef>
                <a:spcPts val="1000"/>
              </a:spcBef>
              <a:buClr>
                <a:schemeClr val="accent1"/>
              </a:buClr>
              <a:buBlip>
                <a:blip r:embed="rId3"/>
              </a:buBlip>
            </a:pPr>
            <a:r>
              <a:rPr lang="en-US" altLang="zh-CN" sz="2400" spc="100" dirty="0">
                <a:solidFill>
                  <a:schemeClr val="bg2">
                    <a:lumMod val="25000"/>
                  </a:schemeClr>
                </a:solidFill>
                <a:latin typeface="微软雅黑" panose="020B0503020204020204" pitchFamily="34" charset="-122"/>
                <a:ea typeface="微软雅黑" panose="020B0503020204020204" pitchFamily="34" charset="-122"/>
              </a:rPr>
              <a:t>ADD_MONTHS     </a:t>
            </a:r>
          </a:p>
          <a:p>
            <a:pPr eaLnBrk="0" hangingPunct="0">
              <a:lnSpc>
                <a:spcPct val="150000"/>
              </a:lnSpc>
              <a:buClr>
                <a:schemeClr val="accent1"/>
              </a:buClr>
            </a:pPr>
            <a:r>
              <a:rPr lang="zh-CN" altLang="en-US" sz="1600" dirty="0">
                <a:latin typeface="微软雅黑" panose="020B0503020204020204" pitchFamily="34" charset="-122"/>
                <a:ea typeface="微软雅黑" panose="020B0503020204020204" pitchFamily="34" charset="-122"/>
                <a:cs typeface="宋体" panose="02010600030101010101" pitchFamily="2" charset="-122"/>
              </a:rPr>
              <a:t>    函数取</a:t>
            </a:r>
            <a:r>
              <a:rPr lang="en-US" altLang="zh-CN" sz="1600" dirty="0" err="1">
                <a:latin typeface="微软雅黑" panose="020B0503020204020204" pitchFamily="34" charset="-122"/>
                <a:ea typeface="微软雅黑" panose="020B0503020204020204" pitchFamily="34" charset="-122"/>
                <a:cs typeface="宋体" panose="02010600030101010101" pitchFamily="2" charset="-122"/>
              </a:rPr>
              <a:t>datetime</a:t>
            </a:r>
            <a:r>
              <a:rPr lang="zh-CN" altLang="en-US" sz="1600" dirty="0">
                <a:latin typeface="微软雅黑" panose="020B0503020204020204" pitchFamily="34" charset="-122"/>
                <a:ea typeface="微软雅黑" panose="020B0503020204020204" pitchFamily="34" charset="-122"/>
                <a:cs typeface="宋体" panose="02010600030101010101" pitchFamily="2" charset="-122"/>
              </a:rPr>
              <a:t>或</a:t>
            </a:r>
            <a:r>
              <a:rPr lang="en-US" altLang="zh-CN" sz="1600" dirty="0">
                <a:latin typeface="微软雅黑" panose="020B0503020204020204" pitchFamily="34" charset="-122"/>
                <a:ea typeface="微软雅黑" panose="020B0503020204020204" pitchFamily="34" charset="-122"/>
                <a:cs typeface="宋体" panose="02010600030101010101" pitchFamily="2" charset="-122"/>
              </a:rPr>
              <a:t>date</a:t>
            </a:r>
            <a:r>
              <a:rPr lang="zh-CN" altLang="en-US" sz="1600" dirty="0">
                <a:latin typeface="微软雅黑" panose="020B0503020204020204" pitchFamily="34" charset="-122"/>
                <a:ea typeface="微软雅黑" panose="020B0503020204020204" pitchFamily="34" charset="-122"/>
                <a:cs typeface="宋体" panose="02010600030101010101" pitchFamily="2" charset="-122"/>
              </a:rPr>
              <a:t>表达式作为其第一个参数，并且需要第二个整数参数，用于指定加到第一个参数值中的月份数。</a:t>
            </a:r>
            <a:endParaRPr lang="en-US" altLang="zh-CN" sz="1600" dirty="0">
              <a:latin typeface="微软雅黑" panose="020B0503020204020204" pitchFamily="34" charset="-122"/>
              <a:ea typeface="微软雅黑" panose="020B0503020204020204" pitchFamily="34" charset="-122"/>
              <a:cs typeface="宋体" panose="02010600030101010101" pitchFamily="2" charset="-122"/>
            </a:endParaRPr>
          </a:p>
          <a:p>
            <a:pPr marL="228600" indent="-228600" eaLnBrk="0" hangingPunct="0">
              <a:lnSpc>
                <a:spcPct val="90000"/>
              </a:lnSpc>
              <a:buClr>
                <a:schemeClr val="accent1"/>
              </a:buClr>
              <a:buFont typeface="Arial" panose="020B0604020202020204" pitchFamily="34" charset="0"/>
              <a:buChar char="•"/>
            </a:pPr>
            <a:endParaRPr lang="en-US" altLang="zh-CN" sz="2000" dirty="0">
              <a:latin typeface="微软雅黑" panose="020B0503020204020204" pitchFamily="34" charset="-122"/>
              <a:ea typeface="微软雅黑" panose="020B0503020204020204" pitchFamily="34" charset="-122"/>
              <a:cs typeface="宋体" panose="02010600030101010101" pitchFamily="2" charset="-122"/>
            </a:endParaRPr>
          </a:p>
          <a:p>
            <a:pPr marL="228600" indent="-228600" eaLnBrk="0" hangingPunct="0">
              <a:lnSpc>
                <a:spcPct val="90000"/>
              </a:lnSpc>
              <a:buClr>
                <a:schemeClr val="accent1"/>
              </a:buClr>
              <a:buFont typeface="Arial" panose="020B0604020202020204" pitchFamily="34" charset="0"/>
              <a:buChar char="•"/>
            </a:pPr>
            <a:endParaRPr lang="en-US" altLang="zh-CN" sz="2000" dirty="0">
              <a:latin typeface="微软雅黑" panose="020B0503020204020204" pitchFamily="34" charset="-122"/>
              <a:ea typeface="微软雅黑" panose="020B0503020204020204" pitchFamily="34" charset="-122"/>
              <a:cs typeface="宋体" panose="02010600030101010101" pitchFamily="2" charset="-122"/>
            </a:endParaRPr>
          </a:p>
          <a:p>
            <a:pPr marL="228600" indent="-228600" eaLnBrk="0" hangingPunct="0">
              <a:lnSpc>
                <a:spcPct val="90000"/>
              </a:lnSpc>
              <a:buClr>
                <a:schemeClr val="accent1"/>
              </a:buClr>
              <a:buFont typeface="Arial" panose="020B0604020202020204" pitchFamily="34" charset="0"/>
              <a:buChar char="•"/>
            </a:pPr>
            <a:endParaRPr lang="en-US" altLang="zh-CN" sz="2000" dirty="0">
              <a:latin typeface="微软雅黑" panose="020B0503020204020204" pitchFamily="34" charset="-122"/>
              <a:ea typeface="微软雅黑" panose="020B0503020204020204" pitchFamily="34" charset="-122"/>
              <a:cs typeface="宋体" panose="02010600030101010101" pitchFamily="2" charset="-122"/>
            </a:endParaRPr>
          </a:p>
          <a:p>
            <a:pPr marL="228600" indent="-228600" eaLnBrk="0" hangingPunct="0">
              <a:lnSpc>
                <a:spcPct val="90000"/>
              </a:lnSpc>
              <a:buClr>
                <a:schemeClr val="accent1"/>
              </a:buClr>
              <a:buFont typeface="Arial" panose="020B0604020202020204" pitchFamily="34" charset="0"/>
              <a:buChar char="•"/>
            </a:pPr>
            <a:endParaRPr lang="en-US" altLang="zh-CN" sz="2000" dirty="0">
              <a:latin typeface="微软雅黑" panose="020B0503020204020204" pitchFamily="34" charset="-122"/>
              <a:ea typeface="微软雅黑" panose="020B0503020204020204" pitchFamily="34" charset="-122"/>
              <a:cs typeface="宋体" panose="02010600030101010101" pitchFamily="2" charset="-122"/>
            </a:endParaRPr>
          </a:p>
          <a:p>
            <a:pPr marL="228600" indent="-228600" eaLnBrk="0" hangingPunct="0">
              <a:lnSpc>
                <a:spcPct val="90000"/>
              </a:lnSpc>
              <a:buClr>
                <a:schemeClr val="accent1"/>
              </a:buClr>
            </a:pPr>
            <a:endParaRPr lang="en-US" altLang="zh-CN" sz="1200" dirty="0">
              <a:latin typeface="微软雅黑" panose="020B0503020204020204" pitchFamily="34" charset="-122"/>
              <a:ea typeface="微软雅黑" panose="020B0503020204020204" pitchFamily="34" charset="-122"/>
              <a:cs typeface="宋体" panose="02010600030101010101" pitchFamily="2" charset="-122"/>
            </a:endParaRPr>
          </a:p>
          <a:p>
            <a:pPr marL="228600" indent="-228600" eaLnBrk="0" hangingPunct="0">
              <a:spcBef>
                <a:spcPts val="1000"/>
              </a:spcBef>
              <a:buClr>
                <a:schemeClr val="accent1"/>
              </a:buClr>
              <a:buBlip>
                <a:blip r:embed="rId3"/>
              </a:buBlip>
            </a:pPr>
            <a:r>
              <a:rPr lang="en-US" altLang="zh-CN" sz="2400" spc="100" dirty="0">
                <a:solidFill>
                  <a:schemeClr val="bg2">
                    <a:lumMod val="25000"/>
                  </a:schemeClr>
                </a:solidFill>
                <a:latin typeface="微软雅黑" panose="020B0503020204020204" pitchFamily="34" charset="-122"/>
                <a:ea typeface="微软雅黑" panose="020B0503020204020204" pitchFamily="34" charset="-122"/>
              </a:rPr>
              <a:t>MONTHS_BETWEEN  </a:t>
            </a:r>
          </a:p>
          <a:p>
            <a:pPr eaLnBrk="0" hangingPunct="0">
              <a:lnSpc>
                <a:spcPct val="150000"/>
              </a:lnSpc>
              <a:buClr>
                <a:schemeClr val="accent1"/>
              </a:buClr>
            </a:pPr>
            <a:r>
              <a:rPr lang="zh-CN" altLang="en-US" sz="1600" dirty="0">
                <a:latin typeface="微软雅黑" panose="020B0503020204020204" pitchFamily="34" charset="-122"/>
                <a:ea typeface="微软雅黑" panose="020B0503020204020204" pitchFamily="34" charset="-122"/>
                <a:cs typeface="宋体" panose="02010600030101010101" pitchFamily="2" charset="-122"/>
              </a:rPr>
              <a:t>    需要两个参数，这两个参数都可以是</a:t>
            </a:r>
            <a:r>
              <a:rPr lang="en-US" altLang="zh-CN" sz="1600" dirty="0">
                <a:latin typeface="微软雅黑" panose="020B0503020204020204" pitchFamily="34" charset="-122"/>
                <a:ea typeface="微软雅黑" panose="020B0503020204020204" pitchFamily="34" charset="-122"/>
                <a:cs typeface="宋体" panose="02010600030101010101" pitchFamily="2" charset="-122"/>
              </a:rPr>
              <a:t>date</a:t>
            </a:r>
            <a:r>
              <a:rPr lang="zh-CN" altLang="en-US" sz="1600" dirty="0">
                <a:latin typeface="微软雅黑" panose="020B0503020204020204" pitchFamily="34" charset="-122"/>
                <a:ea typeface="微软雅黑" panose="020B0503020204020204" pitchFamily="34" charset="-122"/>
                <a:cs typeface="宋体" panose="02010600030101010101" pitchFamily="2" charset="-122"/>
              </a:rPr>
              <a:t>或</a:t>
            </a:r>
            <a:r>
              <a:rPr lang="en-US" altLang="zh-CN" sz="1600" dirty="0" err="1">
                <a:latin typeface="微软雅黑" panose="020B0503020204020204" pitchFamily="34" charset="-122"/>
                <a:ea typeface="微软雅黑" panose="020B0503020204020204" pitchFamily="34" charset="-122"/>
                <a:cs typeface="宋体" panose="02010600030101010101" pitchFamily="2" charset="-122"/>
              </a:rPr>
              <a:t>datetime</a:t>
            </a:r>
            <a:r>
              <a:rPr lang="zh-CN" altLang="en-US" sz="1600" dirty="0">
                <a:latin typeface="微软雅黑" panose="020B0503020204020204" pitchFamily="34" charset="-122"/>
                <a:ea typeface="微软雅黑" panose="020B0503020204020204" pitchFamily="34" charset="-122"/>
                <a:cs typeface="宋体" panose="02010600030101010101" pitchFamily="2" charset="-122"/>
              </a:rPr>
              <a:t>表达式 。返回值是</a:t>
            </a:r>
            <a:r>
              <a:rPr lang="en-US" altLang="zh-CN" sz="1600" dirty="0">
                <a:latin typeface="微软雅黑" panose="020B0503020204020204" pitchFamily="34" charset="-122"/>
                <a:ea typeface="微软雅黑" panose="020B0503020204020204" pitchFamily="34" charset="-122"/>
                <a:cs typeface="宋体" panose="02010600030101010101" pitchFamily="2" charset="-122"/>
              </a:rPr>
              <a:t>decimal</a:t>
            </a:r>
            <a:r>
              <a:rPr lang="zh-CN" altLang="en-US" sz="1600" dirty="0">
                <a:latin typeface="微软雅黑" panose="020B0503020204020204" pitchFamily="34" charset="-122"/>
                <a:ea typeface="微软雅黑" panose="020B0503020204020204" pitchFamily="34" charset="-122"/>
                <a:cs typeface="宋体" panose="02010600030101010101" pitchFamily="2" charset="-122"/>
              </a:rPr>
              <a:t>数据类型，代表两个参数之差，表示以包含</a:t>
            </a:r>
            <a:r>
              <a:rPr lang="en-US" altLang="zh-CN" sz="1600" dirty="0">
                <a:latin typeface="微软雅黑" panose="020B0503020204020204" pitchFamily="34" charset="-122"/>
                <a:ea typeface="微软雅黑" panose="020B0503020204020204" pitchFamily="34" charset="-122"/>
                <a:cs typeface="宋体" panose="02010600030101010101" pitchFamily="2" charset="-122"/>
              </a:rPr>
              <a:t>31</a:t>
            </a:r>
            <a:r>
              <a:rPr lang="zh-CN" altLang="en-US" sz="1600" dirty="0">
                <a:latin typeface="微软雅黑" panose="020B0503020204020204" pitchFamily="34" charset="-122"/>
                <a:ea typeface="微软雅黑" panose="020B0503020204020204" pitchFamily="34" charset="-122"/>
                <a:cs typeface="宋体" panose="02010600030101010101" pitchFamily="2" charset="-122"/>
              </a:rPr>
              <a:t>天的月份为单位的</a:t>
            </a:r>
            <a:r>
              <a:rPr lang="en-US" altLang="zh-CN" sz="1600" dirty="0">
                <a:latin typeface="微软雅黑" panose="020B0503020204020204" pitchFamily="34" charset="-122"/>
                <a:ea typeface="微软雅黑" panose="020B0503020204020204" pitchFamily="34" charset="-122"/>
                <a:cs typeface="宋体" panose="02010600030101010101" pitchFamily="2" charset="-122"/>
              </a:rPr>
              <a:t>decimal</a:t>
            </a:r>
            <a:r>
              <a:rPr lang="zh-CN" altLang="en-US" sz="1600" dirty="0">
                <a:latin typeface="微软雅黑" panose="020B0503020204020204" pitchFamily="34" charset="-122"/>
                <a:ea typeface="微软雅黑" panose="020B0503020204020204" pitchFamily="34" charset="-122"/>
                <a:cs typeface="宋体" panose="02010600030101010101" pitchFamily="2" charset="-122"/>
              </a:rPr>
              <a:t>值。</a:t>
            </a:r>
            <a:endParaRPr lang="en-US" altLang="zh-CN" sz="1600" dirty="0">
              <a:latin typeface="微软雅黑" panose="020B0503020204020204" pitchFamily="34" charset="-122"/>
              <a:ea typeface="微软雅黑" panose="020B0503020204020204" pitchFamily="34" charset="-122"/>
              <a:cs typeface="宋体" panose="02010600030101010101" pitchFamily="2" charset="-122"/>
            </a:endParaRPr>
          </a:p>
          <a:p>
            <a:pPr marL="228600" indent="-228600" eaLnBrk="0" hangingPunct="0">
              <a:lnSpc>
                <a:spcPct val="90000"/>
              </a:lnSpc>
              <a:buClr>
                <a:schemeClr val="accent1"/>
              </a:buClr>
              <a:buFont typeface="Arial" panose="020B0604020202020204" pitchFamily="34" charset="0"/>
              <a:buChar char="•"/>
            </a:pPr>
            <a:endParaRPr lang="en-US" altLang="zh-CN" sz="2000" dirty="0">
              <a:latin typeface="微软雅黑" panose="020B0503020204020204" pitchFamily="34" charset="-122"/>
              <a:ea typeface="微软雅黑" panose="020B0503020204020204" pitchFamily="34" charset="-122"/>
              <a:cs typeface="宋体" panose="02010600030101010101" pitchFamily="2" charset="-122"/>
            </a:endParaRPr>
          </a:p>
          <a:p>
            <a:pPr marL="228600" indent="-228600" eaLnBrk="0" hangingPunct="0">
              <a:lnSpc>
                <a:spcPct val="90000"/>
              </a:lnSpc>
              <a:buClr>
                <a:schemeClr val="accent1"/>
              </a:buClr>
              <a:buFont typeface="Arial" panose="020B0604020202020204" pitchFamily="34" charset="0"/>
              <a:buChar char="•"/>
            </a:pPr>
            <a:endParaRPr lang="en-US" altLang="zh-CN" sz="2000" dirty="0">
              <a:latin typeface="微软雅黑" panose="020B0503020204020204" pitchFamily="34" charset="-122"/>
              <a:ea typeface="微软雅黑" panose="020B0503020204020204" pitchFamily="34" charset="-122"/>
              <a:cs typeface="宋体" panose="02010600030101010101" pitchFamily="2" charset="-122"/>
            </a:endParaRPr>
          </a:p>
        </p:txBody>
      </p:sp>
      <p:sp>
        <p:nvSpPr>
          <p:cNvPr id="241666" name="Rectangle 2"/>
          <p:cNvSpPr>
            <a:spLocks noGrp="1" noChangeArrowheads="1"/>
          </p:cNvSpPr>
          <p:nvPr>
            <p:ph type="title"/>
          </p:nvPr>
        </p:nvSpPr>
        <p:spPr/>
        <p:txBody>
          <a:bodyPr/>
          <a:lstStyle/>
          <a:p>
            <a:r>
              <a:rPr lang="zh-CN" altLang="en-US" dirty="0">
                <a:latin typeface="Arial" panose="020B0604020202020204" pitchFamily="34" charset="0"/>
                <a:cs typeface="宋体" panose="02010600030101010101" pitchFamily="2" charset="-122"/>
              </a:rPr>
              <a:t>时间函数</a:t>
            </a:r>
          </a:p>
        </p:txBody>
      </p:sp>
      <p:sp>
        <p:nvSpPr>
          <p:cNvPr id="241678" name="Text Box 14"/>
          <p:cNvSpPr txBox="1">
            <a:spLocks noChangeArrowheads="1"/>
          </p:cNvSpPr>
          <p:nvPr/>
        </p:nvSpPr>
        <p:spPr bwMode="black">
          <a:xfrm>
            <a:off x="1036583" y="3171365"/>
            <a:ext cx="8610600" cy="523862"/>
          </a:xfrm>
          <a:prstGeom prst="rect">
            <a:avLst/>
          </a:prstGeom>
          <a:solidFill>
            <a:srgbClr val="E9EDF4"/>
          </a:solidFill>
          <a:ln w="9525">
            <a:solidFill>
              <a:schemeClr val="tx2"/>
            </a:solidFill>
            <a:miter lim="800000"/>
          </a:ln>
          <a:effectLst/>
        </p:spPr>
        <p:txBody>
          <a:bodyPr lIns="92075" tIns="46038" rIns="92075" bIns="46038">
            <a:spAutoFit/>
          </a:bodyPr>
          <a:lstStyle>
            <a:lvl1pPr marL="342900" indent="-342900" eaLnBrk="0" hangingPunct="0">
              <a:defRPr sz="1400" b="1">
                <a:solidFill>
                  <a:schemeClr val="tx1"/>
                </a:solidFill>
                <a:latin typeface="Arial" panose="020B0604020202020204" pitchFamily="34" charset="0"/>
                <a:ea typeface="宋体" panose="02010600030101010101" pitchFamily="2" charset="-122"/>
                <a:cs typeface="Arial" panose="020B0604020202020204" pitchFamily="34" charset="0"/>
              </a:defRPr>
            </a:lvl1pPr>
            <a:lvl2pPr marL="8001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2pPr>
            <a:lvl3pPr marL="12573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3pPr>
            <a:lvl4pPr marL="17145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4pPr>
            <a:lvl5pPr marL="21717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5pPr>
            <a:lvl6pPr marL="26289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6pPr>
            <a:lvl7pPr marL="30861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7pPr>
            <a:lvl8pPr marL="35433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8pPr>
            <a:lvl9pPr marL="40005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r>
              <a:rPr lang="en-US" altLang="zh-CN" b="0" i="1">
                <a:cs typeface="宋体" panose="02010600030101010101" pitchFamily="2" charset="-122"/>
                <a:sym typeface="+mn-ea"/>
              </a:rPr>
              <a:t>(expression)</a:t>
            </a:r>
            <a:r>
              <a:rPr lang="en-US" altLang="zh-CN" b="0" i="1">
                <a:cs typeface="宋体" panose="02010600030101010101" pitchFamily="2" charset="-122"/>
              </a:rPr>
              <a:t>       	              (expression)              	   (expression) 	(expression)</a:t>
            </a:r>
          </a:p>
          <a:p>
            <a:pPr eaLnBrk="1" hangingPunct="1"/>
            <a:r>
              <a:rPr lang="en-US" altLang="zh-CN" b="0">
                <a:cs typeface="宋体" panose="02010600030101010101" pitchFamily="2" charset="-122"/>
              </a:rPr>
              <a:t>2016-05-25 23:45:01.000    2017-03-25 23:45:01.00000         05/25/2016                03/25/2017</a:t>
            </a:r>
          </a:p>
        </p:txBody>
      </p:sp>
      <p:sp>
        <p:nvSpPr>
          <p:cNvPr id="241679" name="Text Box 15"/>
          <p:cNvSpPr txBox="1">
            <a:spLocks noChangeArrowheads="1"/>
          </p:cNvSpPr>
          <p:nvPr/>
        </p:nvSpPr>
        <p:spPr bwMode="black">
          <a:xfrm>
            <a:off x="1036583" y="2587166"/>
            <a:ext cx="8610600" cy="831639"/>
          </a:xfrm>
          <a:prstGeom prst="rect">
            <a:avLst/>
          </a:prstGeom>
          <a:noFill/>
          <a:ln w="9525">
            <a:solidFill>
              <a:schemeClr val="tx2"/>
            </a:solidFill>
            <a:miter lim="800000"/>
          </a:ln>
          <a:effectLst/>
        </p:spPr>
        <p:txBody>
          <a:bodyPr lIns="92075" tIns="46038" rIns="92075" bIns="46038">
            <a:spAutoFit/>
          </a:bodyPr>
          <a:lstStyle>
            <a:lvl1pPr marL="342900" indent="-342900" eaLnBrk="0" hangingPunct="0">
              <a:defRPr sz="1400" b="1">
                <a:solidFill>
                  <a:schemeClr val="tx1"/>
                </a:solidFill>
                <a:latin typeface="Arial" panose="020B0604020202020204" pitchFamily="34" charset="0"/>
                <a:ea typeface="宋体" panose="02010600030101010101" pitchFamily="2" charset="-122"/>
                <a:cs typeface="Arial" panose="020B0604020202020204" pitchFamily="34" charset="0"/>
              </a:defRPr>
            </a:lvl1pPr>
            <a:lvl2pPr marL="8001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2pPr>
            <a:lvl3pPr marL="12573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3pPr>
            <a:lvl4pPr marL="17145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4pPr>
            <a:lvl5pPr marL="21717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5pPr>
            <a:lvl6pPr marL="26289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6pPr>
            <a:lvl7pPr marL="30861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7pPr>
            <a:lvl8pPr marL="35433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8pPr>
            <a:lvl9pPr marL="40005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pPr>
            <a:r>
              <a:rPr lang="en-US" altLang="zh-CN" sz="1600" b="0">
                <a:cs typeface="宋体" panose="02010600030101010101" pitchFamily="2" charset="-122"/>
              </a:rPr>
              <a:t>SELECT first 1 current, ADD_MONTHS (current, 10), today, ADD_MONTHS(today, 10)</a:t>
            </a:r>
          </a:p>
          <a:p>
            <a:pPr eaLnBrk="1" hangingPunct="1">
              <a:spcBef>
                <a:spcPct val="0"/>
              </a:spcBef>
            </a:pPr>
            <a:r>
              <a:rPr lang="en-US" altLang="zh-CN" sz="1600" b="0">
                <a:cs typeface="宋体" panose="02010600030101010101" pitchFamily="2" charset="-122"/>
              </a:rPr>
              <a:t>FROM </a:t>
            </a:r>
            <a:r>
              <a:rPr lang="en-US" altLang="zh-CN" sz="1600" b="0" dirty="0" err="1">
                <a:cs typeface="宋体" panose="02010600030101010101" pitchFamily="2" charset="-122"/>
                <a:sym typeface="+mn-ea"/>
              </a:rPr>
              <a:t>sysmaster:sysdual</a:t>
            </a:r>
            <a:r>
              <a:rPr lang="en-US" altLang="zh-CN" sz="1600" b="0" dirty="0">
                <a:cs typeface="宋体" panose="02010600030101010101" pitchFamily="2" charset="-122"/>
                <a:sym typeface="+mn-ea"/>
              </a:rPr>
              <a:t>;</a:t>
            </a:r>
            <a:endParaRPr lang="en-US" altLang="zh-CN" sz="1600" b="0" dirty="0">
              <a:cs typeface="宋体" panose="02010600030101010101" pitchFamily="2" charset="-122"/>
            </a:endParaRPr>
          </a:p>
          <a:p>
            <a:pPr eaLnBrk="1" hangingPunct="1">
              <a:spcBef>
                <a:spcPct val="0"/>
              </a:spcBef>
            </a:pPr>
            <a:endParaRPr lang="en-US" altLang="zh-CN" sz="1600" b="0">
              <a:cs typeface="宋体" panose="02010600030101010101" pitchFamily="2" charset="-122"/>
            </a:endParaRPr>
          </a:p>
        </p:txBody>
      </p:sp>
      <p:sp>
        <p:nvSpPr>
          <p:cNvPr id="241680" name="Rectangle 16"/>
          <p:cNvSpPr>
            <a:spLocks noChangeArrowheads="1"/>
          </p:cNvSpPr>
          <p:nvPr/>
        </p:nvSpPr>
        <p:spPr bwMode="auto">
          <a:xfrm>
            <a:off x="1730376" y="4069556"/>
            <a:ext cx="8804275" cy="431800"/>
          </a:xfrm>
          <a:prstGeom prst="rect">
            <a:avLst/>
          </a:prstGeom>
          <a:noFill/>
          <a:ln>
            <a:noFill/>
          </a:ln>
        </p:spPr>
        <p:txBody>
          <a:bodyPr lIns="92075" tIns="46038" rIns="92075" bIns="46038"/>
          <a:lstStyle/>
          <a:p>
            <a:pPr marL="228600" indent="-228600" eaLnBrk="0" hangingPunct="0">
              <a:lnSpc>
                <a:spcPct val="90000"/>
              </a:lnSpc>
              <a:buClr>
                <a:schemeClr val="accent2"/>
              </a:buClr>
              <a:buFont typeface="Wingdings" panose="05000000000000000000" charset="0"/>
              <a:buChar char="§"/>
            </a:pPr>
            <a:endParaRPr lang="en-US" altLang="zh-CN" dirty="0">
              <a:cs typeface="宋体" panose="02010600030101010101" pitchFamily="2" charset="-122"/>
            </a:endParaRPr>
          </a:p>
        </p:txBody>
      </p:sp>
      <p:sp>
        <p:nvSpPr>
          <p:cNvPr id="241681" name="Text Box 17"/>
          <p:cNvSpPr txBox="1">
            <a:spLocks noChangeArrowheads="1"/>
          </p:cNvSpPr>
          <p:nvPr/>
        </p:nvSpPr>
        <p:spPr bwMode="black">
          <a:xfrm>
            <a:off x="1036583" y="5653637"/>
            <a:ext cx="8610600" cy="523862"/>
          </a:xfrm>
          <a:prstGeom prst="rect">
            <a:avLst/>
          </a:prstGeom>
          <a:solidFill>
            <a:srgbClr val="E9EDF4"/>
          </a:solidFill>
          <a:ln w="9525">
            <a:solidFill>
              <a:schemeClr val="tx2"/>
            </a:solidFill>
            <a:miter lim="800000"/>
          </a:ln>
          <a:effectLst/>
        </p:spPr>
        <p:txBody>
          <a:bodyPr lIns="92075" tIns="46038" rIns="92075" bIns="46038">
            <a:spAutoFit/>
          </a:bodyPr>
          <a:lstStyle>
            <a:lvl1pPr marL="342900" indent="-342900" eaLnBrk="0" hangingPunct="0">
              <a:defRPr sz="1400" b="1">
                <a:solidFill>
                  <a:schemeClr val="tx1"/>
                </a:solidFill>
                <a:latin typeface="Arial" panose="020B0604020202020204" pitchFamily="34" charset="0"/>
                <a:ea typeface="宋体" panose="02010600030101010101" pitchFamily="2" charset="-122"/>
                <a:cs typeface="Arial" panose="020B0604020202020204" pitchFamily="34" charset="0"/>
              </a:defRPr>
            </a:lvl1pPr>
            <a:lvl2pPr marL="8001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2pPr>
            <a:lvl3pPr marL="12573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3pPr>
            <a:lvl4pPr marL="17145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4pPr>
            <a:lvl5pPr marL="21717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5pPr>
            <a:lvl6pPr marL="26289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6pPr>
            <a:lvl7pPr marL="30861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7pPr>
            <a:lvl8pPr marL="35433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8pPr>
            <a:lvl9pPr marL="40005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r>
              <a:rPr lang="en-US" altLang="zh-CN" b="0" i="1" dirty="0">
                <a:cs typeface="宋体" panose="02010600030101010101" pitchFamily="2" charset="-122"/>
                <a:sym typeface="+mn-ea"/>
              </a:rPr>
              <a:t>(expression)</a:t>
            </a:r>
            <a:r>
              <a:rPr lang="en-US" altLang="zh-CN" b="0" i="1" dirty="0">
                <a:cs typeface="宋体" panose="02010600030101010101" pitchFamily="2" charset="-122"/>
              </a:rPr>
              <a:t>         	(expression)</a:t>
            </a:r>
          </a:p>
          <a:p>
            <a:pPr eaLnBrk="1" hangingPunct="1"/>
            <a:r>
              <a:rPr lang="en-US" altLang="zh-CN" b="0" dirty="0">
                <a:cs typeface="宋体" panose="02010600030101010101" pitchFamily="2" charset="-122"/>
              </a:rPr>
              <a:t>     -5                                    7</a:t>
            </a:r>
            <a:endParaRPr lang="zh-CN" altLang="en-US" b="0" dirty="0">
              <a:cs typeface="宋体" panose="02010600030101010101" pitchFamily="2" charset="-122"/>
            </a:endParaRPr>
          </a:p>
        </p:txBody>
      </p:sp>
      <p:sp>
        <p:nvSpPr>
          <p:cNvPr id="241682" name="Text Box 18"/>
          <p:cNvSpPr txBox="1">
            <a:spLocks noChangeArrowheads="1"/>
          </p:cNvSpPr>
          <p:nvPr/>
        </p:nvSpPr>
        <p:spPr bwMode="black">
          <a:xfrm>
            <a:off x="1035313" y="5056737"/>
            <a:ext cx="8610600" cy="585418"/>
          </a:xfrm>
          <a:prstGeom prst="rect">
            <a:avLst/>
          </a:prstGeom>
          <a:noFill/>
          <a:ln w="9525">
            <a:solidFill>
              <a:schemeClr val="tx2"/>
            </a:solidFill>
            <a:miter lim="800000"/>
          </a:ln>
          <a:effectLst/>
        </p:spPr>
        <p:txBody>
          <a:bodyPr lIns="92075" tIns="46038" rIns="92075" bIns="46038">
            <a:spAutoFit/>
          </a:bodyPr>
          <a:lstStyle>
            <a:lvl1pPr marL="342900" indent="-342900" eaLnBrk="0" hangingPunct="0">
              <a:defRPr sz="1400" b="1">
                <a:solidFill>
                  <a:schemeClr val="tx1"/>
                </a:solidFill>
                <a:latin typeface="Arial" panose="020B0604020202020204" pitchFamily="34" charset="0"/>
                <a:ea typeface="宋体" panose="02010600030101010101" pitchFamily="2" charset="-122"/>
                <a:cs typeface="Arial" panose="020B0604020202020204" pitchFamily="34" charset="0"/>
              </a:defRPr>
            </a:lvl1pPr>
            <a:lvl2pPr marL="8001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2pPr>
            <a:lvl3pPr marL="12573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3pPr>
            <a:lvl4pPr marL="17145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4pPr>
            <a:lvl5pPr marL="21717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5pPr>
            <a:lvl6pPr marL="26289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6pPr>
            <a:lvl7pPr marL="30861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7pPr>
            <a:lvl8pPr marL="35433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8pPr>
            <a:lvl9pPr marL="40005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pPr>
            <a:r>
              <a:rPr lang="en-US" altLang="en-US" sz="1600" b="0" dirty="0">
                <a:sym typeface="+mn-ea"/>
              </a:rPr>
              <a:t>select first 1 </a:t>
            </a:r>
            <a:r>
              <a:rPr lang="en-US" altLang="en-US" sz="1600" b="0" dirty="0" err="1">
                <a:sym typeface="+mn-ea"/>
              </a:rPr>
              <a:t>months_between</a:t>
            </a:r>
            <a:r>
              <a:rPr lang="en-US" altLang="en-US" sz="1600" b="0" dirty="0">
                <a:sym typeface="+mn-ea"/>
              </a:rPr>
              <a:t>(</a:t>
            </a:r>
            <a:r>
              <a:rPr lang="en-US" altLang="en-US" sz="1600" b="0" dirty="0" err="1">
                <a:sym typeface="+mn-ea"/>
              </a:rPr>
              <a:t>today,add_months</a:t>
            </a:r>
            <a:r>
              <a:rPr lang="en-US" altLang="en-US" sz="1600" b="0" dirty="0">
                <a:sym typeface="+mn-ea"/>
              </a:rPr>
              <a:t>(today,5)),</a:t>
            </a:r>
          </a:p>
          <a:p>
            <a:pPr eaLnBrk="1" hangingPunct="1">
              <a:spcBef>
                <a:spcPct val="0"/>
              </a:spcBef>
            </a:pPr>
            <a:r>
              <a:rPr lang="en-US" altLang="en-US" sz="1600" b="0" dirty="0" err="1">
                <a:sym typeface="+mn-ea"/>
              </a:rPr>
              <a:t>months_between</a:t>
            </a:r>
            <a:r>
              <a:rPr lang="en-US" altLang="en-US" sz="1600" b="0" dirty="0">
                <a:sym typeface="+mn-ea"/>
              </a:rPr>
              <a:t>(</a:t>
            </a:r>
            <a:r>
              <a:rPr lang="en-US" altLang="en-US" sz="1600" b="0" dirty="0" err="1">
                <a:sym typeface="+mn-ea"/>
              </a:rPr>
              <a:t>add_months</a:t>
            </a:r>
            <a:r>
              <a:rPr lang="en-US" altLang="en-US" sz="1600" b="0" dirty="0">
                <a:sym typeface="+mn-ea"/>
              </a:rPr>
              <a:t>(today,7),today)  from</a:t>
            </a:r>
            <a:r>
              <a:rPr lang="en-US" altLang="en-US" sz="1600" dirty="0">
                <a:sym typeface="+mn-ea"/>
              </a:rPr>
              <a:t> </a:t>
            </a:r>
            <a:r>
              <a:rPr lang="en-US" altLang="zh-CN" sz="1600" b="0" dirty="0" err="1">
                <a:cs typeface="宋体" panose="02010600030101010101" pitchFamily="2" charset="-122"/>
                <a:sym typeface="+mn-ea"/>
              </a:rPr>
              <a:t>sysmaster:sysdual</a:t>
            </a:r>
            <a:r>
              <a:rPr lang="en-US" altLang="zh-CN" sz="1600" b="0" dirty="0">
                <a:cs typeface="宋体" panose="02010600030101010101" pitchFamily="2" charset="-122"/>
                <a:sym typeface="+mn-ea"/>
              </a:rPr>
              <a:t>;</a:t>
            </a:r>
            <a:endParaRPr lang="en-US" altLang="zh-CN" sz="1600" b="0" dirty="0">
              <a:cs typeface="宋体" panose="0201060003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1778" name="Rectangle 2"/>
          <p:cNvSpPr>
            <a:spLocks noGrp="1" noChangeArrowheads="1"/>
          </p:cNvSpPr>
          <p:nvPr>
            <p:ph type="title"/>
          </p:nvPr>
        </p:nvSpPr>
        <p:spPr/>
        <p:txBody>
          <a:bodyPr/>
          <a:lstStyle/>
          <a:p>
            <a:r>
              <a:rPr lang="zh-CN" altLang="en-US">
                <a:latin typeface="Arial" panose="020B0604020202020204" pitchFamily="34" charset="0"/>
                <a:cs typeface="宋体" panose="02010600030101010101" pitchFamily="2" charset="-122"/>
              </a:rPr>
              <a:t>时间函数</a:t>
            </a:r>
          </a:p>
        </p:txBody>
      </p:sp>
      <p:sp>
        <p:nvSpPr>
          <p:cNvPr id="331779" name="Rectangle 3"/>
          <p:cNvSpPr>
            <a:spLocks noGrp="1" noChangeArrowheads="1"/>
          </p:cNvSpPr>
          <p:nvPr>
            <p:ph type="body" sz="quarter" idx="10"/>
          </p:nvPr>
        </p:nvSpPr>
        <p:spPr>
          <a:xfrm>
            <a:off x="755650" y="1138146"/>
            <a:ext cx="10718800" cy="4888767"/>
          </a:xfrm>
        </p:spPr>
        <p:txBody>
          <a:bodyPr/>
          <a:lstStyle/>
          <a:p>
            <a:pPr>
              <a:lnSpc>
                <a:spcPct val="150000"/>
              </a:lnSpc>
            </a:pPr>
            <a:r>
              <a:rPr lang="en-US" altLang="zh-CN" dirty="0">
                <a:latin typeface="Arial" panose="020B0604020202020204" pitchFamily="34" charset="0"/>
                <a:ea typeface="宋体" panose="02010600030101010101" pitchFamily="2" charset="-122"/>
                <a:cs typeface="宋体" panose="02010600030101010101" pitchFamily="2" charset="-122"/>
              </a:rPr>
              <a:t>NEXT_DAY</a:t>
            </a:r>
          </a:p>
          <a:p>
            <a:pPr marL="0" indent="0">
              <a:lnSpc>
                <a:spcPct val="150000"/>
              </a:lnSpc>
              <a:buNone/>
            </a:pPr>
            <a:r>
              <a:rPr lang="zh-CN" altLang="en-US" sz="1600" dirty="0">
                <a:cs typeface="宋体" panose="02010600030101010101" pitchFamily="2" charset="-122"/>
              </a:rPr>
              <a:t>   需要</a:t>
            </a:r>
            <a:r>
              <a:rPr lang="en-US" altLang="zh-CN" sz="1600" dirty="0" err="1">
                <a:cs typeface="宋体" panose="02010600030101010101" pitchFamily="2" charset="-122"/>
              </a:rPr>
              <a:t>dete</a:t>
            </a:r>
            <a:r>
              <a:rPr lang="zh-CN" altLang="en-US" sz="1600" dirty="0">
                <a:cs typeface="宋体" panose="02010600030101010101" pitchFamily="2" charset="-122"/>
              </a:rPr>
              <a:t>或</a:t>
            </a:r>
            <a:r>
              <a:rPr lang="en-US" altLang="zh-CN" sz="1600" dirty="0" err="1">
                <a:cs typeface="宋体" panose="02010600030101010101" pitchFamily="2" charset="-122"/>
              </a:rPr>
              <a:t>datetime</a:t>
            </a:r>
            <a:r>
              <a:rPr lang="zh-CN" altLang="en-US" sz="1600" dirty="0">
                <a:cs typeface="宋体" panose="02010600030101010101" pitchFamily="2" charset="-122"/>
              </a:rPr>
              <a:t>表达式作为其第一个参数，并且需要第二个</a:t>
            </a:r>
            <a:r>
              <a:rPr lang="en-US" altLang="zh-CN" sz="1600" dirty="0">
                <a:cs typeface="宋体" panose="02010600030101010101" pitchFamily="2" charset="-122"/>
              </a:rPr>
              <a:t>weekday</a:t>
            </a:r>
            <a:r>
              <a:rPr lang="zh-CN" altLang="en-US" sz="1600" dirty="0">
                <a:cs typeface="宋体" panose="02010600030101010101" pitchFamily="2" charset="-122"/>
              </a:rPr>
              <a:t>参数，该参数为表示星期英文名称缩写的引用字符串。</a:t>
            </a:r>
            <a:endParaRPr lang="en-US" altLang="zh-CN" sz="1600" dirty="0">
              <a:cs typeface="宋体" panose="02010600030101010101" pitchFamily="2" charset="-122"/>
            </a:endParaRPr>
          </a:p>
          <a:p>
            <a:pPr>
              <a:lnSpc>
                <a:spcPct val="90000"/>
              </a:lnSpc>
            </a:pPr>
            <a:endParaRPr lang="en-US" altLang="zh-CN" dirty="0">
              <a:latin typeface="Arial" panose="020B0604020202020204" pitchFamily="34" charset="0"/>
              <a:ea typeface="宋体" panose="02010600030101010101" pitchFamily="2" charset="-122"/>
              <a:cs typeface="宋体" panose="02010600030101010101" pitchFamily="2" charset="-122"/>
            </a:endParaRPr>
          </a:p>
          <a:p>
            <a:pPr marL="0" indent="0">
              <a:lnSpc>
                <a:spcPct val="90000"/>
              </a:lnSpc>
              <a:buNone/>
            </a:pPr>
            <a:endParaRPr lang="en-US" altLang="zh-CN" sz="3200" dirty="0">
              <a:latin typeface="Arial" panose="020B0604020202020204" pitchFamily="34" charset="0"/>
              <a:ea typeface="宋体" panose="02010600030101010101" pitchFamily="2" charset="-122"/>
              <a:cs typeface="宋体" panose="02010600030101010101" pitchFamily="2" charset="-122"/>
            </a:endParaRPr>
          </a:p>
          <a:p>
            <a:pPr>
              <a:lnSpc>
                <a:spcPct val="150000"/>
              </a:lnSpc>
            </a:pPr>
            <a:r>
              <a:rPr lang="en-US" altLang="zh-CN" dirty="0">
                <a:cs typeface="宋体" panose="02010600030101010101" pitchFamily="2" charset="-122"/>
              </a:rPr>
              <a:t>LAST_DAY</a:t>
            </a:r>
          </a:p>
          <a:p>
            <a:pPr marL="0" indent="0">
              <a:lnSpc>
                <a:spcPct val="150000"/>
              </a:lnSpc>
              <a:buNone/>
            </a:pPr>
            <a:r>
              <a:rPr lang="zh-CN" altLang="en-US" sz="1600" dirty="0">
                <a:cs typeface="宋体" panose="02010600030101010101" pitchFamily="2" charset="-122"/>
              </a:rPr>
              <a:t>   需要</a:t>
            </a:r>
            <a:r>
              <a:rPr lang="en-US" altLang="zh-CN" sz="1600" dirty="0" err="1">
                <a:cs typeface="宋体" panose="02010600030101010101" pitchFamily="2" charset="-122"/>
              </a:rPr>
              <a:t>dete</a:t>
            </a:r>
            <a:r>
              <a:rPr lang="zh-CN" altLang="en-US" sz="1600" dirty="0">
                <a:cs typeface="宋体" panose="02010600030101010101" pitchFamily="2" charset="-122"/>
              </a:rPr>
              <a:t>或</a:t>
            </a:r>
            <a:r>
              <a:rPr lang="en-US" altLang="zh-CN" sz="1600" dirty="0" err="1">
                <a:cs typeface="宋体" panose="02010600030101010101" pitchFamily="2" charset="-122"/>
              </a:rPr>
              <a:t>datetime</a:t>
            </a:r>
            <a:r>
              <a:rPr lang="zh-CN" altLang="en-US" sz="1600" dirty="0">
                <a:cs typeface="宋体" panose="02010600030101010101" pitchFamily="2" charset="-122"/>
              </a:rPr>
              <a:t>表达式作为其唯一参数，该函数返回其参数指定月份的最后一天的日期。返回值与该参数之差是当月的剩余天数。</a:t>
            </a:r>
            <a:endParaRPr lang="en-US" altLang="zh-CN" sz="1600" dirty="0">
              <a:cs typeface="宋体" panose="02010600030101010101" pitchFamily="2" charset="-122"/>
            </a:endParaRPr>
          </a:p>
          <a:p>
            <a:pPr>
              <a:lnSpc>
                <a:spcPct val="90000"/>
              </a:lnSpc>
            </a:pPr>
            <a:endParaRPr lang="en-US" altLang="zh-CN" dirty="0">
              <a:cs typeface="宋体" panose="02010600030101010101" pitchFamily="2" charset="-122"/>
            </a:endParaRPr>
          </a:p>
          <a:p>
            <a:pPr>
              <a:lnSpc>
                <a:spcPct val="90000"/>
              </a:lnSpc>
            </a:pPr>
            <a:endParaRPr lang="en-US" altLang="zh-CN" dirty="0">
              <a:cs typeface="宋体" panose="02010600030101010101" pitchFamily="2" charset="-122"/>
            </a:endParaRPr>
          </a:p>
          <a:p>
            <a:pPr>
              <a:lnSpc>
                <a:spcPct val="90000"/>
              </a:lnSpc>
            </a:pPr>
            <a:endParaRPr lang="en-US" altLang="zh-CN" dirty="0">
              <a:cs typeface="宋体" panose="02010600030101010101" pitchFamily="2" charset="-122"/>
            </a:endParaRPr>
          </a:p>
          <a:p>
            <a:pPr>
              <a:lnSpc>
                <a:spcPct val="90000"/>
              </a:lnSpc>
              <a:buNone/>
            </a:pPr>
            <a:endParaRPr lang="en-US" altLang="zh-CN" dirty="0">
              <a:cs typeface="宋体" panose="02010600030101010101" pitchFamily="2" charset="-122"/>
            </a:endParaRPr>
          </a:p>
          <a:p>
            <a:pPr>
              <a:lnSpc>
                <a:spcPct val="90000"/>
              </a:lnSpc>
            </a:pPr>
            <a:endParaRPr lang="en-US" altLang="zh-CN" dirty="0">
              <a:cs typeface="宋体" panose="02010600030101010101" pitchFamily="2" charset="-122"/>
            </a:endParaRPr>
          </a:p>
          <a:p>
            <a:pPr>
              <a:lnSpc>
                <a:spcPct val="90000"/>
              </a:lnSpc>
            </a:pPr>
            <a:endParaRPr lang="en-US" altLang="zh-CN" dirty="0">
              <a:latin typeface="Arial" panose="020B0604020202020204" pitchFamily="34" charset="0"/>
              <a:ea typeface="宋体" panose="02010600030101010101" pitchFamily="2" charset="-122"/>
              <a:cs typeface="宋体" panose="02010600030101010101" pitchFamily="2" charset="-122"/>
            </a:endParaRPr>
          </a:p>
        </p:txBody>
      </p:sp>
      <p:grpSp>
        <p:nvGrpSpPr>
          <p:cNvPr id="2" name="Group 9"/>
          <p:cNvGrpSpPr/>
          <p:nvPr/>
        </p:nvGrpSpPr>
        <p:grpSpPr bwMode="auto">
          <a:xfrm>
            <a:off x="1036583" y="2578535"/>
            <a:ext cx="8610600" cy="1109663"/>
            <a:chOff x="120" y="1548"/>
            <a:chExt cx="5424" cy="699"/>
          </a:xfrm>
        </p:grpSpPr>
        <p:sp>
          <p:nvSpPr>
            <p:cNvPr id="331780" name="Text Box 4"/>
            <p:cNvSpPr txBox="1">
              <a:spLocks noChangeArrowheads="1"/>
            </p:cNvSpPr>
            <p:nvPr/>
          </p:nvSpPr>
          <p:spPr bwMode="black">
            <a:xfrm>
              <a:off x="120" y="1917"/>
              <a:ext cx="5424" cy="330"/>
            </a:xfrm>
            <a:prstGeom prst="rect">
              <a:avLst/>
            </a:prstGeom>
            <a:solidFill>
              <a:srgbClr val="E9EDF4"/>
            </a:solidFill>
            <a:ln w="9525">
              <a:solidFill>
                <a:schemeClr val="tx2"/>
              </a:solidFill>
              <a:miter lim="800000"/>
            </a:ln>
            <a:effectLst/>
          </p:spPr>
          <p:txBody>
            <a:bodyPr lIns="92075" tIns="46038" rIns="92075" bIns="46038">
              <a:spAutoFit/>
            </a:bodyPr>
            <a:lstStyle>
              <a:lvl1pPr marL="342900" indent="-342900" eaLnBrk="0" hangingPunct="0">
                <a:defRPr sz="1400" b="1">
                  <a:solidFill>
                    <a:schemeClr val="tx1"/>
                  </a:solidFill>
                  <a:latin typeface="Arial" panose="020B0604020202020204" pitchFamily="34" charset="0"/>
                  <a:ea typeface="宋体" panose="02010600030101010101" pitchFamily="2" charset="-122"/>
                  <a:cs typeface="Arial" panose="020B0604020202020204" pitchFamily="34" charset="0"/>
                </a:defRPr>
              </a:lvl1pPr>
              <a:lvl2pPr marL="8001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2pPr>
              <a:lvl3pPr marL="12573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3pPr>
              <a:lvl4pPr marL="17145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4pPr>
              <a:lvl5pPr marL="21717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5pPr>
              <a:lvl6pPr marL="26289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6pPr>
              <a:lvl7pPr marL="30861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7pPr>
              <a:lvl8pPr marL="35433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8pPr>
              <a:lvl9pPr marL="40005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r>
                <a:rPr lang="en-US" altLang="zh-CN" b="0" i="1">
                  <a:cs typeface="宋体" panose="02010600030101010101" pitchFamily="2" charset="-122"/>
                </a:rPr>
                <a:t>(expression)       	                 next_saturday</a:t>
              </a:r>
            </a:p>
            <a:p>
              <a:pPr eaLnBrk="1" hangingPunct="1"/>
              <a:r>
                <a:rPr lang="en-US" altLang="zh-CN" b="0">
                  <a:cs typeface="宋体" panose="02010600030101010101" pitchFamily="2" charset="-122"/>
                </a:rPr>
                <a:t>2016-05-25 23:55:21.000       2016-05-28 23:55:21.00000</a:t>
              </a:r>
            </a:p>
          </p:txBody>
        </p:sp>
        <p:sp>
          <p:nvSpPr>
            <p:cNvPr id="331781" name="Text Box 5"/>
            <p:cNvSpPr txBox="1">
              <a:spLocks noChangeArrowheads="1"/>
            </p:cNvSpPr>
            <p:nvPr/>
          </p:nvSpPr>
          <p:spPr bwMode="black">
            <a:xfrm>
              <a:off x="120" y="1548"/>
              <a:ext cx="5424" cy="369"/>
            </a:xfrm>
            <a:prstGeom prst="rect">
              <a:avLst/>
            </a:prstGeom>
            <a:noFill/>
            <a:ln w="9525">
              <a:solidFill>
                <a:schemeClr val="tx2"/>
              </a:solidFill>
              <a:miter lim="800000"/>
            </a:ln>
            <a:effectLst/>
          </p:spPr>
          <p:txBody>
            <a:bodyPr lIns="92075" tIns="46038" rIns="92075" bIns="46038">
              <a:spAutoFit/>
            </a:bodyPr>
            <a:lstStyle>
              <a:lvl1pPr marL="342900" indent="-342900" eaLnBrk="0" hangingPunct="0">
                <a:defRPr sz="1400" b="1">
                  <a:solidFill>
                    <a:schemeClr val="tx1"/>
                  </a:solidFill>
                  <a:latin typeface="Arial" panose="020B0604020202020204" pitchFamily="34" charset="0"/>
                  <a:ea typeface="宋体" panose="02010600030101010101" pitchFamily="2" charset="-122"/>
                  <a:cs typeface="Arial" panose="020B0604020202020204" pitchFamily="34" charset="0"/>
                </a:defRPr>
              </a:lvl1pPr>
              <a:lvl2pPr marL="8001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2pPr>
              <a:lvl3pPr marL="12573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3pPr>
              <a:lvl4pPr marL="17145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4pPr>
              <a:lvl5pPr marL="21717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5pPr>
              <a:lvl6pPr marL="26289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6pPr>
              <a:lvl7pPr marL="30861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7pPr>
              <a:lvl8pPr marL="35433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8pPr>
              <a:lvl9pPr marL="40005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pPr>
              <a:r>
                <a:rPr lang="en-US" altLang="zh-CN" sz="1600" b="0" dirty="0">
                  <a:cs typeface="宋体" panose="02010600030101010101" pitchFamily="2" charset="-122"/>
                </a:rPr>
                <a:t>SELECT first 1 </a:t>
              </a:r>
              <a:r>
                <a:rPr lang="en-US" altLang="zh-CN" sz="1600" b="0" dirty="0" err="1">
                  <a:cs typeface="宋体" panose="02010600030101010101" pitchFamily="2" charset="-122"/>
                </a:rPr>
                <a:t>current</a:t>
              </a:r>
              <a:r>
                <a:rPr lang="en-US" altLang="zh-CN" sz="1600" b="0" dirty="0">
                  <a:cs typeface="宋体" panose="02010600030101010101" pitchFamily="2" charset="-122"/>
                </a:rPr>
                <a:t>, NEXT_DAY(</a:t>
              </a:r>
              <a:r>
                <a:rPr lang="en-US" altLang="zh-CN" sz="1600" b="0" dirty="0" err="1">
                  <a:cs typeface="宋体" panose="02010600030101010101" pitchFamily="2" charset="-122"/>
                </a:rPr>
                <a:t>current</a:t>
              </a:r>
              <a:r>
                <a:rPr lang="en-US" altLang="zh-CN" sz="1600" b="0" dirty="0">
                  <a:cs typeface="宋体" panose="02010600030101010101" pitchFamily="2" charset="-122"/>
                </a:rPr>
                <a:t>,  'SAT' ) </a:t>
              </a:r>
              <a:r>
                <a:rPr lang="en-US" altLang="zh-CN" sz="1600" b="0" dirty="0" err="1">
                  <a:cs typeface="宋体" panose="02010600030101010101" pitchFamily="2" charset="-122"/>
                </a:rPr>
                <a:t>next_saturday</a:t>
              </a:r>
              <a:endParaRPr lang="en-US" altLang="zh-CN" sz="1600" b="0" dirty="0">
                <a:cs typeface="宋体" panose="02010600030101010101" pitchFamily="2" charset="-122"/>
              </a:endParaRPr>
            </a:p>
            <a:p>
              <a:pPr eaLnBrk="1" hangingPunct="1">
                <a:spcBef>
                  <a:spcPct val="0"/>
                </a:spcBef>
              </a:pPr>
              <a:r>
                <a:rPr lang="en-US" altLang="zh-CN" sz="1600" b="0" dirty="0">
                  <a:cs typeface="宋体" panose="02010600030101010101" pitchFamily="2" charset="-122"/>
                </a:rPr>
                <a:t>FROM </a:t>
              </a:r>
              <a:r>
                <a:rPr lang="en-US" altLang="zh-CN" sz="1600" b="0" dirty="0" err="1">
                  <a:cs typeface="宋体" panose="02010600030101010101" pitchFamily="2" charset="-122"/>
                  <a:sym typeface="+mn-ea"/>
                </a:rPr>
                <a:t>sysmaster:sysdual</a:t>
              </a:r>
              <a:r>
                <a:rPr lang="en-US" altLang="zh-CN" sz="1600" b="0" dirty="0">
                  <a:cs typeface="宋体" panose="02010600030101010101" pitchFamily="2" charset="-122"/>
                  <a:sym typeface="+mn-ea"/>
                </a:rPr>
                <a:t>;</a:t>
              </a:r>
              <a:endParaRPr lang="en-US" altLang="zh-CN" sz="1600" b="0" dirty="0">
                <a:cs typeface="宋体" panose="02010600030101010101" pitchFamily="2" charset="-122"/>
              </a:endParaRPr>
            </a:p>
          </p:txBody>
        </p:sp>
      </p:grpSp>
      <p:sp>
        <p:nvSpPr>
          <p:cNvPr id="331782" name="Rectangle 6"/>
          <p:cNvSpPr>
            <a:spLocks noChangeArrowheads="1"/>
          </p:cNvSpPr>
          <p:nvPr/>
        </p:nvSpPr>
        <p:spPr bwMode="auto">
          <a:xfrm>
            <a:off x="1730376" y="2905725"/>
            <a:ext cx="8804275" cy="431800"/>
          </a:xfrm>
          <a:prstGeom prst="rect">
            <a:avLst/>
          </a:prstGeom>
          <a:noFill/>
          <a:ln>
            <a:noFill/>
          </a:ln>
        </p:spPr>
        <p:txBody>
          <a:bodyPr lIns="92075" tIns="46038" rIns="92075" bIns="46038"/>
          <a:lstStyle/>
          <a:p>
            <a:pPr marL="228600" indent="-228600" eaLnBrk="0" hangingPunct="0">
              <a:lnSpc>
                <a:spcPct val="90000"/>
              </a:lnSpc>
              <a:buClr>
                <a:schemeClr val="accent2"/>
              </a:buClr>
              <a:buFont typeface="Wingdings" panose="05000000000000000000" charset="0"/>
              <a:buChar char="§"/>
            </a:pPr>
            <a:endParaRPr lang="en-US" altLang="zh-CN" dirty="0">
              <a:cs typeface="宋体" panose="02010600030101010101" pitchFamily="2" charset="-122"/>
            </a:endParaRPr>
          </a:p>
        </p:txBody>
      </p:sp>
      <p:grpSp>
        <p:nvGrpSpPr>
          <p:cNvPr id="3" name="Group 10"/>
          <p:cNvGrpSpPr/>
          <p:nvPr/>
        </p:nvGrpSpPr>
        <p:grpSpPr bwMode="auto">
          <a:xfrm>
            <a:off x="1033408" y="5140742"/>
            <a:ext cx="8616950" cy="1109663"/>
            <a:chOff x="128" y="3498"/>
            <a:chExt cx="5428" cy="699"/>
          </a:xfrm>
        </p:grpSpPr>
        <p:sp>
          <p:nvSpPr>
            <p:cNvPr id="331783" name="Text Box 7"/>
            <p:cNvSpPr txBox="1">
              <a:spLocks noChangeArrowheads="1"/>
            </p:cNvSpPr>
            <p:nvPr/>
          </p:nvSpPr>
          <p:spPr bwMode="black">
            <a:xfrm>
              <a:off x="132" y="3867"/>
              <a:ext cx="5424" cy="330"/>
            </a:xfrm>
            <a:prstGeom prst="rect">
              <a:avLst/>
            </a:prstGeom>
            <a:solidFill>
              <a:srgbClr val="E9EDF4"/>
            </a:solidFill>
            <a:ln w="9525">
              <a:solidFill>
                <a:schemeClr val="tx2"/>
              </a:solidFill>
              <a:miter lim="800000"/>
            </a:ln>
            <a:effectLst/>
          </p:spPr>
          <p:txBody>
            <a:bodyPr lIns="92075" tIns="46038" rIns="92075" bIns="46038">
              <a:spAutoFit/>
            </a:bodyPr>
            <a:lstStyle>
              <a:lvl1pPr marL="342900" indent="-342900" eaLnBrk="0" hangingPunct="0">
                <a:defRPr sz="1400" b="1">
                  <a:solidFill>
                    <a:schemeClr val="tx1"/>
                  </a:solidFill>
                  <a:latin typeface="Arial" panose="020B0604020202020204" pitchFamily="34" charset="0"/>
                  <a:ea typeface="宋体" panose="02010600030101010101" pitchFamily="2" charset="-122"/>
                  <a:cs typeface="Arial" panose="020B0604020202020204" pitchFamily="34" charset="0"/>
                </a:defRPr>
              </a:lvl1pPr>
              <a:lvl2pPr marL="8001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2pPr>
              <a:lvl3pPr marL="12573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3pPr>
              <a:lvl4pPr marL="17145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4pPr>
              <a:lvl5pPr marL="21717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5pPr>
              <a:lvl6pPr marL="26289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6pPr>
              <a:lvl7pPr marL="30861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7pPr>
              <a:lvl8pPr marL="35433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8pPr>
              <a:lvl9pPr marL="40005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r>
                <a:rPr lang="en-US" altLang="zh-CN" b="0" i="1" dirty="0">
                  <a:cs typeface="宋体" panose="02010600030101010101" pitchFamily="2" charset="-122"/>
                </a:rPr>
                <a:t>today    	        last       	</a:t>
              </a:r>
              <a:r>
                <a:rPr lang="en-US" altLang="zh-CN" b="0" i="1" dirty="0" err="1">
                  <a:cs typeface="宋体" panose="02010600030101010101" pitchFamily="2" charset="-122"/>
                </a:rPr>
                <a:t>days_left</a:t>
              </a:r>
              <a:endParaRPr lang="en-US" altLang="zh-CN" b="0" i="1" dirty="0">
                <a:cs typeface="宋体" panose="02010600030101010101" pitchFamily="2" charset="-122"/>
              </a:endParaRPr>
            </a:p>
            <a:p>
              <a:pPr eaLnBrk="1" hangingPunct="1"/>
              <a:r>
                <a:rPr lang="en-US" altLang="zh-CN" b="0" dirty="0">
                  <a:cs typeface="宋体" panose="02010600030101010101" pitchFamily="2" charset="-122"/>
                </a:rPr>
                <a:t>05/25/2016    05/31/2016                      6</a:t>
              </a:r>
            </a:p>
          </p:txBody>
        </p:sp>
        <p:sp>
          <p:nvSpPr>
            <p:cNvPr id="331784" name="Text Box 8"/>
            <p:cNvSpPr txBox="1">
              <a:spLocks noChangeArrowheads="1"/>
            </p:cNvSpPr>
            <p:nvPr/>
          </p:nvSpPr>
          <p:spPr bwMode="black">
            <a:xfrm>
              <a:off x="128" y="3498"/>
              <a:ext cx="5424" cy="372"/>
            </a:xfrm>
            <a:prstGeom prst="rect">
              <a:avLst/>
            </a:prstGeom>
            <a:noFill/>
            <a:ln w="9525">
              <a:solidFill>
                <a:schemeClr val="tx2"/>
              </a:solidFill>
              <a:miter lim="800000"/>
            </a:ln>
            <a:effectLst/>
          </p:spPr>
          <p:txBody>
            <a:bodyPr lIns="92075" tIns="46038" rIns="92075" bIns="46038">
              <a:spAutoFit/>
            </a:bodyPr>
            <a:lstStyle>
              <a:lvl1pPr marL="342900" indent="-342900" eaLnBrk="0" hangingPunct="0">
                <a:defRPr sz="1400" b="1">
                  <a:solidFill>
                    <a:schemeClr val="tx1"/>
                  </a:solidFill>
                  <a:latin typeface="Arial" panose="020B0604020202020204" pitchFamily="34" charset="0"/>
                  <a:ea typeface="宋体" panose="02010600030101010101" pitchFamily="2" charset="-122"/>
                  <a:cs typeface="Arial" panose="020B0604020202020204" pitchFamily="34" charset="0"/>
                </a:defRPr>
              </a:lvl1pPr>
              <a:lvl2pPr marL="8001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2pPr>
              <a:lvl3pPr marL="12573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3pPr>
              <a:lvl4pPr marL="17145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4pPr>
              <a:lvl5pPr marL="21717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5pPr>
              <a:lvl6pPr marL="26289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6pPr>
              <a:lvl7pPr marL="30861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7pPr>
              <a:lvl8pPr marL="35433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8pPr>
              <a:lvl9pPr marL="40005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pPr>
              <a:r>
                <a:rPr lang="en-US" altLang="zh-CN" sz="1600" b="0" dirty="0">
                  <a:cs typeface="宋体" panose="02010600030101010101" pitchFamily="2" charset="-122"/>
                </a:rPr>
                <a:t>SELECT TODAY </a:t>
              </a:r>
              <a:r>
                <a:rPr lang="en-US" altLang="zh-CN" sz="1600" b="0" dirty="0" err="1">
                  <a:cs typeface="宋体" panose="02010600030101010101" pitchFamily="2" charset="-122"/>
                </a:rPr>
                <a:t>today</a:t>
              </a:r>
              <a:r>
                <a:rPr lang="en-US" altLang="zh-CN" sz="1600" b="0" dirty="0">
                  <a:cs typeface="宋体" panose="02010600030101010101" pitchFamily="2" charset="-122"/>
                </a:rPr>
                <a:t>, LAST_DAY(TODAY) </a:t>
              </a:r>
              <a:r>
                <a:rPr lang="en-US" altLang="zh-CN" sz="1600" b="0" dirty="0" err="1">
                  <a:cs typeface="宋体" panose="02010600030101010101" pitchFamily="2" charset="-122"/>
                </a:rPr>
                <a:t>last,LAST_DAY</a:t>
              </a:r>
              <a:r>
                <a:rPr lang="en-US" altLang="zh-CN" sz="1600" b="0" dirty="0">
                  <a:cs typeface="宋体" panose="02010600030101010101" pitchFamily="2" charset="-122"/>
                </a:rPr>
                <a:t>(TODAY) - TODAY </a:t>
              </a:r>
              <a:r>
                <a:rPr lang="en-US" altLang="zh-CN" sz="1600" b="0" dirty="0" err="1">
                  <a:cs typeface="宋体" panose="02010600030101010101" pitchFamily="2" charset="-122"/>
                </a:rPr>
                <a:t>days_left</a:t>
              </a:r>
              <a:endParaRPr lang="en-US" altLang="zh-CN" sz="1600" b="0" dirty="0">
                <a:cs typeface="宋体" panose="02010600030101010101" pitchFamily="2" charset="-122"/>
              </a:endParaRPr>
            </a:p>
            <a:p>
              <a:pPr eaLnBrk="1" hangingPunct="1">
                <a:spcBef>
                  <a:spcPct val="0"/>
                </a:spcBef>
              </a:pPr>
              <a:r>
                <a:rPr lang="en-US" altLang="zh-CN" sz="1600" b="0" dirty="0">
                  <a:cs typeface="宋体" panose="02010600030101010101" pitchFamily="2" charset="-122"/>
                </a:rPr>
                <a:t>FROM </a:t>
              </a:r>
              <a:r>
                <a:rPr lang="en-US" altLang="zh-CN" sz="1600" b="0" dirty="0" err="1">
                  <a:cs typeface="宋体" panose="02010600030101010101" pitchFamily="2" charset="-122"/>
                </a:rPr>
                <a:t>systables</a:t>
              </a:r>
              <a:r>
                <a:rPr lang="en-US" altLang="zh-CN" sz="1600" b="0" dirty="0">
                  <a:cs typeface="宋体" panose="02010600030101010101" pitchFamily="2" charset="-122"/>
                </a:rPr>
                <a:t> WHERE </a:t>
              </a:r>
              <a:r>
                <a:rPr lang="en-US" altLang="zh-CN" sz="1600" b="0" dirty="0" err="1">
                  <a:cs typeface="宋体" panose="02010600030101010101" pitchFamily="2" charset="-122"/>
                </a:rPr>
                <a:t>tabid</a:t>
              </a:r>
              <a:r>
                <a:rPr lang="en-US" altLang="zh-CN" sz="1600" b="0" dirty="0">
                  <a:cs typeface="宋体" panose="02010600030101010101" pitchFamily="2" charset="-122"/>
                </a:rPr>
                <a:t> = 1;</a:t>
              </a:r>
            </a:p>
          </p:txBody>
        </p:sp>
      </p:grpSp>
      <p:sp>
        <p:nvSpPr>
          <p:cNvPr id="331787" name="Rectangle 11"/>
          <p:cNvSpPr>
            <a:spLocks noChangeArrowheads="1"/>
          </p:cNvSpPr>
          <p:nvPr/>
        </p:nvSpPr>
        <p:spPr bwMode="auto">
          <a:xfrm>
            <a:off x="1717676" y="4490368"/>
            <a:ext cx="8804275" cy="431800"/>
          </a:xfrm>
          <a:prstGeom prst="rect">
            <a:avLst/>
          </a:prstGeom>
          <a:noFill/>
          <a:ln>
            <a:noFill/>
          </a:ln>
        </p:spPr>
        <p:txBody>
          <a:bodyPr lIns="92075" tIns="46038" rIns="92075" bIns="46038"/>
          <a:lstStyle/>
          <a:p>
            <a:pPr marL="228600" indent="-228600" eaLnBrk="0" hangingPunct="0">
              <a:lnSpc>
                <a:spcPct val="90000"/>
              </a:lnSpc>
              <a:buClr>
                <a:schemeClr val="accent2"/>
              </a:buClr>
              <a:buFont typeface="Wingdings" panose="05000000000000000000" charset="0"/>
              <a:buChar char="§"/>
            </a:pPr>
            <a:endParaRPr lang="en-US" altLang="zh-CN" dirty="0">
              <a:cs typeface="宋体" panose="0201060003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7730" name="Rectangle 2"/>
          <p:cNvSpPr>
            <a:spLocks noGrp="1" noChangeArrowheads="1"/>
          </p:cNvSpPr>
          <p:nvPr>
            <p:ph type="title"/>
          </p:nvPr>
        </p:nvSpPr>
        <p:spPr/>
        <p:txBody>
          <a:bodyPr/>
          <a:lstStyle/>
          <a:p>
            <a:r>
              <a:rPr lang="zh-CN" altLang="en-US">
                <a:latin typeface="Arial" panose="020B0604020202020204" pitchFamily="34" charset="0"/>
                <a:cs typeface="宋体" panose="02010600030101010101" pitchFamily="2" charset="-122"/>
              </a:rPr>
              <a:t>时间函数</a:t>
            </a:r>
          </a:p>
        </p:txBody>
      </p:sp>
      <p:sp>
        <p:nvSpPr>
          <p:cNvPr id="457731" name="Rectangle 3"/>
          <p:cNvSpPr>
            <a:spLocks noGrp="1" noChangeArrowheads="1"/>
          </p:cNvSpPr>
          <p:nvPr>
            <p:ph type="body" sz="quarter" idx="10"/>
          </p:nvPr>
        </p:nvSpPr>
        <p:spPr/>
        <p:txBody>
          <a:bodyPr/>
          <a:lstStyle/>
          <a:p>
            <a:pPr>
              <a:lnSpc>
                <a:spcPct val="125000"/>
              </a:lnSpc>
            </a:pPr>
            <a:r>
              <a:rPr lang="zh-CN" altLang="en-US" dirty="0">
                <a:cs typeface="宋体" panose="02010600030101010101" pitchFamily="2" charset="-122"/>
              </a:rPr>
              <a:t>日期的加减</a:t>
            </a:r>
          </a:p>
          <a:p>
            <a:pPr lvl="1">
              <a:lnSpc>
                <a:spcPct val="125000"/>
              </a:lnSpc>
            </a:pPr>
            <a:r>
              <a:rPr lang="en-US" altLang="zh-CN" sz="2000" dirty="0">
                <a:cs typeface="宋体" panose="02010600030101010101" pitchFamily="2" charset="-122"/>
              </a:rPr>
              <a:t>Interval  </a:t>
            </a:r>
          </a:p>
          <a:p>
            <a:pPr marL="341630" lvl="1" indent="0">
              <a:lnSpc>
                <a:spcPct val="125000"/>
              </a:lnSpc>
              <a:buNone/>
            </a:pPr>
            <a:r>
              <a:rPr lang="zh-CN" altLang="en-US" dirty="0">
                <a:cs typeface="宋体" panose="02010600030101010101" pitchFamily="2" charset="-122"/>
              </a:rPr>
              <a:t>   存储时间范围， 以年数和月份的形式</a:t>
            </a:r>
            <a:r>
              <a:rPr lang="en-US" altLang="zh-CN" dirty="0">
                <a:cs typeface="宋体" panose="02010600030101010101" pitchFamily="2" charset="-122"/>
              </a:rPr>
              <a:t> </a:t>
            </a:r>
          </a:p>
          <a:p>
            <a:pPr lvl="1">
              <a:lnSpc>
                <a:spcPct val="125000"/>
              </a:lnSpc>
            </a:pPr>
            <a:endParaRPr lang="en-US" altLang="zh-CN" sz="2000" dirty="0">
              <a:cs typeface="宋体" panose="02010600030101010101" pitchFamily="2" charset="-122"/>
            </a:endParaRPr>
          </a:p>
          <a:p>
            <a:pPr lvl="1">
              <a:lnSpc>
                <a:spcPct val="125000"/>
              </a:lnSpc>
            </a:pPr>
            <a:endParaRPr lang="en-US" altLang="zh-CN" sz="2000" dirty="0">
              <a:cs typeface="宋体" panose="02010600030101010101" pitchFamily="2" charset="-122"/>
            </a:endParaRPr>
          </a:p>
          <a:p>
            <a:pPr lvl="1">
              <a:lnSpc>
                <a:spcPct val="125000"/>
              </a:lnSpc>
              <a:buNone/>
            </a:pPr>
            <a:endParaRPr lang="en-US" altLang="zh-CN" sz="2000" dirty="0">
              <a:cs typeface="宋体" panose="02010600030101010101" pitchFamily="2" charset="-122"/>
            </a:endParaRPr>
          </a:p>
          <a:p>
            <a:pPr lvl="1">
              <a:lnSpc>
                <a:spcPct val="125000"/>
              </a:lnSpc>
            </a:pPr>
            <a:r>
              <a:rPr lang="en-US" altLang="zh-CN" sz="2000" dirty="0">
                <a:cs typeface="宋体" panose="02010600030101010101" pitchFamily="2" charset="-122"/>
              </a:rPr>
              <a:t>Units   </a:t>
            </a:r>
          </a:p>
          <a:p>
            <a:pPr marL="341630" lvl="1" indent="0">
              <a:lnSpc>
                <a:spcPct val="125000"/>
              </a:lnSpc>
              <a:buNone/>
            </a:pPr>
            <a:r>
              <a:rPr lang="zh-CN" altLang="en-US" dirty="0">
                <a:cs typeface="宋体" panose="02010600030101010101" pitchFamily="2" charset="-122"/>
              </a:rPr>
              <a:t>   运算符指定精度只包含一个时间单位的</a:t>
            </a:r>
            <a:r>
              <a:rPr lang="en-US" altLang="zh-CN" dirty="0">
                <a:cs typeface="宋体" panose="02010600030101010101" pitchFamily="2" charset="-122"/>
              </a:rPr>
              <a:t>interval</a:t>
            </a:r>
            <a:r>
              <a:rPr lang="zh-CN" altLang="en-US" dirty="0">
                <a:cs typeface="宋体" panose="02010600030101010101" pitchFamily="2" charset="-122"/>
              </a:rPr>
              <a:t>值， 可以在算术表达式中使用</a:t>
            </a:r>
            <a:r>
              <a:rPr lang="en-US" altLang="zh-CN" dirty="0">
                <a:cs typeface="宋体" panose="02010600030101010101" pitchFamily="2" charset="-122"/>
              </a:rPr>
              <a:t>units </a:t>
            </a:r>
            <a:r>
              <a:rPr lang="zh-CN" altLang="en-US" dirty="0">
                <a:cs typeface="宋体" panose="02010600030101010101" pitchFamily="2" charset="-122"/>
              </a:rPr>
              <a:t>在</a:t>
            </a:r>
            <a:r>
              <a:rPr lang="en-US" altLang="zh-CN" dirty="0">
                <a:cs typeface="宋体" panose="02010600030101010101" pitchFamily="2" charset="-122"/>
              </a:rPr>
              <a:t>interval</a:t>
            </a:r>
            <a:r>
              <a:rPr lang="zh-CN" altLang="en-US" dirty="0">
                <a:cs typeface="宋体" panose="02010600030101010101" pitchFamily="2" charset="-122"/>
              </a:rPr>
              <a:t>或</a:t>
            </a:r>
            <a:r>
              <a:rPr lang="en-US" altLang="zh-CN" dirty="0" err="1">
                <a:cs typeface="宋体" panose="02010600030101010101" pitchFamily="2" charset="-122"/>
              </a:rPr>
              <a:t>datetime</a:t>
            </a:r>
            <a:r>
              <a:rPr lang="zh-CN" altLang="en-US" dirty="0">
                <a:cs typeface="宋体" panose="02010600030101010101" pitchFamily="2" charset="-122"/>
              </a:rPr>
              <a:t>值中增加或减少一个时间单位</a:t>
            </a:r>
            <a:endParaRPr lang="en-US" altLang="zh-CN" dirty="0">
              <a:cs typeface="宋体" panose="02010600030101010101" pitchFamily="2" charset="-122"/>
            </a:endParaRPr>
          </a:p>
          <a:p>
            <a:pPr lvl="1">
              <a:lnSpc>
                <a:spcPct val="125000"/>
              </a:lnSpc>
            </a:pPr>
            <a:endParaRPr lang="en-US" altLang="zh-CN" sz="2000" dirty="0">
              <a:cs typeface="宋体" panose="02010600030101010101" pitchFamily="2" charset="-122"/>
            </a:endParaRPr>
          </a:p>
        </p:txBody>
      </p:sp>
      <p:sp>
        <p:nvSpPr>
          <p:cNvPr id="457733" name="Text Box 5"/>
          <p:cNvSpPr txBox="1">
            <a:spLocks noChangeArrowheads="1"/>
          </p:cNvSpPr>
          <p:nvPr/>
        </p:nvSpPr>
        <p:spPr bwMode="black">
          <a:xfrm>
            <a:off x="1414955" y="3242318"/>
            <a:ext cx="8610600" cy="523862"/>
          </a:xfrm>
          <a:prstGeom prst="rect">
            <a:avLst/>
          </a:prstGeom>
          <a:solidFill>
            <a:srgbClr val="E9EDF4"/>
          </a:solidFill>
          <a:ln w="9525">
            <a:solidFill>
              <a:schemeClr val="tx2"/>
            </a:solidFill>
            <a:miter lim="800000"/>
          </a:ln>
          <a:effectLst/>
        </p:spPr>
        <p:txBody>
          <a:bodyPr lIns="92075" tIns="46038" rIns="92075" bIns="46038">
            <a:spAutoFit/>
          </a:bodyPr>
          <a:lstStyle>
            <a:lvl1pPr marL="342900" indent="-342900" eaLnBrk="0" hangingPunct="0">
              <a:defRPr sz="1400" b="1">
                <a:solidFill>
                  <a:schemeClr val="tx1"/>
                </a:solidFill>
                <a:latin typeface="Arial" panose="020B0604020202020204" pitchFamily="34" charset="0"/>
                <a:ea typeface="宋体" panose="02010600030101010101" pitchFamily="2" charset="-122"/>
                <a:cs typeface="Arial" panose="020B0604020202020204" pitchFamily="34" charset="0"/>
              </a:defRPr>
            </a:lvl1pPr>
            <a:lvl2pPr marL="8001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2pPr>
            <a:lvl3pPr marL="12573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3pPr>
            <a:lvl4pPr marL="17145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4pPr>
            <a:lvl5pPr marL="21717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5pPr>
            <a:lvl6pPr marL="26289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6pPr>
            <a:lvl7pPr marL="30861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7pPr>
            <a:lvl8pPr marL="35433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8pPr>
            <a:lvl9pPr marL="40005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r>
              <a:rPr lang="fr-FR" altLang="zh-CN" b="0" i="1" dirty="0">
                <a:cs typeface="宋体" panose="02010600030101010101" pitchFamily="2" charset="-122"/>
              </a:rPr>
              <a:t>(expression) 		(expression) 		(expression) </a:t>
            </a:r>
          </a:p>
          <a:p>
            <a:pPr eaLnBrk="1" hangingPunct="1"/>
            <a:r>
              <a:rPr lang="fr-FR" altLang="zh-CN" b="0" dirty="0">
                <a:cs typeface="宋体" panose="02010600030101010101" pitchFamily="2" charset="-122"/>
              </a:rPr>
              <a:t>2016-05-25 23:57:48.000        2016-05-18 23:57:48.000             2016-05-25 21:57:48.000</a:t>
            </a:r>
          </a:p>
        </p:txBody>
      </p:sp>
      <p:sp>
        <p:nvSpPr>
          <p:cNvPr id="457734" name="Text Box 6"/>
          <p:cNvSpPr txBox="1">
            <a:spLocks noChangeArrowheads="1"/>
          </p:cNvSpPr>
          <p:nvPr/>
        </p:nvSpPr>
        <p:spPr bwMode="black">
          <a:xfrm>
            <a:off x="1414955" y="2658118"/>
            <a:ext cx="8610600" cy="585418"/>
          </a:xfrm>
          <a:prstGeom prst="rect">
            <a:avLst/>
          </a:prstGeom>
          <a:noFill/>
          <a:ln w="9525">
            <a:solidFill>
              <a:schemeClr val="tx2"/>
            </a:solidFill>
            <a:miter lim="800000"/>
          </a:ln>
          <a:effectLst/>
        </p:spPr>
        <p:txBody>
          <a:bodyPr lIns="92075" tIns="46038" rIns="92075" bIns="46038">
            <a:spAutoFit/>
          </a:bodyPr>
          <a:lstStyle>
            <a:lvl1pPr marL="342900" indent="-342900" eaLnBrk="0" hangingPunct="0">
              <a:defRPr sz="1400" b="1">
                <a:solidFill>
                  <a:schemeClr val="tx1"/>
                </a:solidFill>
                <a:latin typeface="Arial" panose="020B0604020202020204" pitchFamily="34" charset="0"/>
                <a:ea typeface="宋体" panose="02010600030101010101" pitchFamily="2" charset="-122"/>
                <a:cs typeface="Arial" panose="020B0604020202020204" pitchFamily="34" charset="0"/>
              </a:defRPr>
            </a:lvl1pPr>
            <a:lvl2pPr marL="8001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2pPr>
            <a:lvl3pPr marL="12573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3pPr>
            <a:lvl4pPr marL="17145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4pPr>
            <a:lvl5pPr marL="21717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5pPr>
            <a:lvl6pPr marL="26289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6pPr>
            <a:lvl7pPr marL="30861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7pPr>
            <a:lvl8pPr marL="35433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8pPr>
            <a:lvl9pPr marL="40005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r>
              <a:rPr lang="en-US" altLang="zh-CN" sz="1600" b="0" dirty="0">
                <a:cs typeface="宋体" panose="02010600030101010101" pitchFamily="2" charset="-122"/>
              </a:rPr>
              <a:t>select first 1 current, current- interval(7) day to day, current - interval(2) hour to hour </a:t>
            </a:r>
          </a:p>
          <a:p>
            <a:pPr eaLnBrk="1" hangingPunct="1"/>
            <a:r>
              <a:rPr lang="en-US" altLang="zh-CN" sz="1600" b="0" dirty="0">
                <a:cs typeface="宋体" panose="02010600030101010101" pitchFamily="2" charset="-122"/>
              </a:rPr>
              <a:t>from </a:t>
            </a:r>
            <a:r>
              <a:rPr lang="en-US" altLang="zh-CN" sz="1600" b="0" dirty="0" err="1">
                <a:cs typeface="宋体" panose="02010600030101010101" pitchFamily="2" charset="-122"/>
              </a:rPr>
              <a:t>systables</a:t>
            </a:r>
            <a:r>
              <a:rPr lang="en-US" altLang="zh-CN" sz="1600" b="0" dirty="0">
                <a:cs typeface="宋体" panose="02010600030101010101" pitchFamily="2" charset="-122"/>
              </a:rPr>
              <a:t>;</a:t>
            </a:r>
          </a:p>
        </p:txBody>
      </p:sp>
      <p:sp>
        <p:nvSpPr>
          <p:cNvPr id="457737" name="Text Box 9"/>
          <p:cNvSpPr txBox="1">
            <a:spLocks noChangeArrowheads="1"/>
          </p:cNvSpPr>
          <p:nvPr/>
        </p:nvSpPr>
        <p:spPr bwMode="black">
          <a:xfrm>
            <a:off x="1411889" y="5488653"/>
            <a:ext cx="8610600" cy="523862"/>
          </a:xfrm>
          <a:prstGeom prst="rect">
            <a:avLst/>
          </a:prstGeom>
          <a:solidFill>
            <a:srgbClr val="E9EDF4"/>
          </a:solidFill>
          <a:ln w="9525">
            <a:solidFill>
              <a:schemeClr val="tx2"/>
            </a:solidFill>
            <a:miter lim="800000"/>
          </a:ln>
          <a:effectLst/>
        </p:spPr>
        <p:txBody>
          <a:bodyPr lIns="92075" tIns="46038" rIns="92075" bIns="46038">
            <a:spAutoFit/>
          </a:bodyPr>
          <a:lstStyle>
            <a:lvl1pPr marL="342900" indent="-342900" eaLnBrk="0" hangingPunct="0">
              <a:defRPr sz="1400" b="1">
                <a:solidFill>
                  <a:schemeClr val="tx1"/>
                </a:solidFill>
                <a:latin typeface="Arial" panose="020B0604020202020204" pitchFamily="34" charset="0"/>
                <a:ea typeface="宋体" panose="02010600030101010101" pitchFamily="2" charset="-122"/>
                <a:cs typeface="Arial" panose="020B0604020202020204" pitchFamily="34" charset="0"/>
              </a:defRPr>
            </a:lvl1pPr>
            <a:lvl2pPr marL="8001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2pPr>
            <a:lvl3pPr marL="12573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3pPr>
            <a:lvl4pPr marL="17145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4pPr>
            <a:lvl5pPr marL="21717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5pPr>
            <a:lvl6pPr marL="26289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6pPr>
            <a:lvl7pPr marL="30861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7pPr>
            <a:lvl8pPr marL="35433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8pPr>
            <a:lvl9pPr marL="40005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r>
              <a:rPr lang="fr-FR" altLang="zh-CN" b="0" i="1" dirty="0">
                <a:cs typeface="宋体" panose="02010600030101010101" pitchFamily="2" charset="-122"/>
              </a:rPr>
              <a:t>(expression) 		(expression) 		(expression) </a:t>
            </a:r>
          </a:p>
          <a:p>
            <a:pPr eaLnBrk="1" hangingPunct="1"/>
            <a:r>
              <a:rPr lang="fr-FR" altLang="zh-CN" b="0" dirty="0">
                <a:cs typeface="宋体" panose="02010600030101010101" pitchFamily="2" charset="-122"/>
              </a:rPr>
              <a:t>2016-05-25 23:58:59.000         2016-05-25 21:58:59.000        2016-05-25 23:57:59.000</a:t>
            </a:r>
          </a:p>
        </p:txBody>
      </p:sp>
      <p:sp>
        <p:nvSpPr>
          <p:cNvPr id="457738" name="Text Box 10"/>
          <p:cNvSpPr txBox="1">
            <a:spLocks noChangeArrowheads="1"/>
          </p:cNvSpPr>
          <p:nvPr/>
        </p:nvSpPr>
        <p:spPr bwMode="black">
          <a:xfrm>
            <a:off x="1414955" y="5145754"/>
            <a:ext cx="8610600" cy="346075"/>
          </a:xfrm>
          <a:prstGeom prst="rect">
            <a:avLst/>
          </a:prstGeom>
          <a:noFill/>
          <a:ln w="9525">
            <a:solidFill>
              <a:schemeClr val="tx2"/>
            </a:solidFill>
            <a:miter lim="800000"/>
          </a:ln>
          <a:effectLst/>
        </p:spPr>
        <p:txBody>
          <a:bodyPr lIns="92075" tIns="46038" rIns="92075" bIns="46038">
            <a:spAutoFit/>
          </a:bodyPr>
          <a:lstStyle>
            <a:lvl1pPr marL="342900" indent="-342900" eaLnBrk="0" hangingPunct="0">
              <a:defRPr sz="1400" b="1">
                <a:solidFill>
                  <a:schemeClr val="tx1"/>
                </a:solidFill>
                <a:latin typeface="Arial" panose="020B0604020202020204" pitchFamily="34" charset="0"/>
                <a:ea typeface="宋体" panose="02010600030101010101" pitchFamily="2" charset="-122"/>
                <a:cs typeface="Arial" panose="020B0604020202020204" pitchFamily="34" charset="0"/>
              </a:defRPr>
            </a:lvl1pPr>
            <a:lvl2pPr marL="8001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2pPr>
            <a:lvl3pPr marL="12573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3pPr>
            <a:lvl4pPr marL="17145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4pPr>
            <a:lvl5pPr marL="21717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5pPr>
            <a:lvl6pPr marL="26289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6pPr>
            <a:lvl7pPr marL="30861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7pPr>
            <a:lvl8pPr marL="35433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8pPr>
            <a:lvl9pPr marL="40005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pPr>
            <a:r>
              <a:rPr lang="en-US" altLang="zh-CN" sz="1600" b="0" dirty="0">
                <a:cs typeface="宋体" panose="02010600030101010101" pitchFamily="2" charset="-122"/>
              </a:rPr>
              <a:t>select first 1 current, current - 2 units hour, current - 60 units second  from </a:t>
            </a:r>
            <a:r>
              <a:rPr lang="en-US" altLang="zh-CN" sz="1600" b="0" dirty="0" err="1">
                <a:cs typeface="宋体" panose="02010600030101010101" pitchFamily="2" charset="-122"/>
              </a:rPr>
              <a:t>systables</a:t>
            </a:r>
            <a:r>
              <a:rPr lang="en-US" altLang="zh-CN" sz="1600" b="0" dirty="0">
                <a:cs typeface="宋体" panose="02010600030101010101" pitchFamily="2" charset="-122"/>
              </a:rPr>
              <a:t>;</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9666" name="Rectangle 2"/>
          <p:cNvSpPr>
            <a:spLocks noGrp="1" noChangeArrowheads="1"/>
          </p:cNvSpPr>
          <p:nvPr>
            <p:ph type="title"/>
          </p:nvPr>
        </p:nvSpPr>
        <p:spPr/>
        <p:txBody>
          <a:bodyPr/>
          <a:lstStyle/>
          <a:p>
            <a:r>
              <a:rPr lang="zh-CN" altLang="en-US">
                <a:latin typeface="Arial" panose="020B0604020202020204" pitchFamily="34" charset="0"/>
                <a:cs typeface="宋体" panose="02010600030101010101" pitchFamily="2" charset="-122"/>
              </a:rPr>
              <a:t>字符串处理</a:t>
            </a:r>
            <a:r>
              <a:rPr lang="en-US" altLang="zh-CN">
                <a:latin typeface="Arial" panose="020B0604020202020204" pitchFamily="34" charset="0"/>
                <a:cs typeface="宋体" panose="02010600030101010101" pitchFamily="2" charset="-122"/>
              </a:rPr>
              <a:t>函数</a:t>
            </a:r>
            <a:endParaRPr lang="zh-CN" altLang="en-US">
              <a:latin typeface="Arial" panose="020B0604020202020204" pitchFamily="34" charset="0"/>
              <a:cs typeface="宋体" panose="02010600030101010101" pitchFamily="2" charset="-122"/>
            </a:endParaRPr>
          </a:p>
        </p:txBody>
      </p:sp>
      <p:graphicFrame>
        <p:nvGraphicFramePr>
          <p:cNvPr id="2" name="表格 1"/>
          <p:cNvGraphicFramePr/>
          <p:nvPr/>
        </p:nvGraphicFramePr>
        <p:xfrm>
          <a:off x="1016373" y="1266235"/>
          <a:ext cx="9972193" cy="4984115"/>
        </p:xfrm>
        <a:graphic>
          <a:graphicData uri="http://schemas.openxmlformats.org/drawingml/2006/table">
            <a:tbl>
              <a:tblPr firstRow="1" bandRow="1">
                <a:tableStyleId>{5940675A-B579-460E-94D1-54222C63F5DA}</a:tableStyleId>
              </a:tblPr>
              <a:tblGrid>
                <a:gridCol w="5472264"/>
                <a:gridCol w="4499929"/>
              </a:tblGrid>
              <a:tr h="0">
                <a:tc>
                  <a:txBody>
                    <a:bodyPr/>
                    <a:lstStyle/>
                    <a:p>
                      <a:pPr>
                        <a:buNone/>
                      </a:pPr>
                      <a:r>
                        <a:rPr lang="zh-CN" altLang="zh-CN" b="1" dirty="0"/>
                        <a:t>字符串函数</a:t>
                      </a:r>
                    </a:p>
                  </a:txBody>
                  <a:tcPr anchor="ctr">
                    <a:solidFill>
                      <a:schemeClr val="bg1">
                        <a:lumMod val="85000"/>
                      </a:schemeClr>
                    </a:solidFill>
                  </a:tcPr>
                </a:tc>
                <a:tc>
                  <a:txBody>
                    <a:bodyPr/>
                    <a:lstStyle/>
                    <a:p>
                      <a:pPr>
                        <a:buNone/>
                      </a:pPr>
                      <a:r>
                        <a:rPr lang="zh-CN" altLang="en-US" b="1" dirty="0"/>
                        <a:t>功能</a:t>
                      </a:r>
                    </a:p>
                  </a:txBody>
                  <a:tcPr anchor="ctr">
                    <a:solidFill>
                      <a:schemeClr val="bg1">
                        <a:lumMod val="85000"/>
                      </a:schemeClr>
                    </a:solidFill>
                  </a:tcPr>
                </a:tc>
              </a:tr>
              <a:tr h="481330">
                <a:tc>
                  <a:txBody>
                    <a:bodyPr/>
                    <a:lstStyle/>
                    <a:p>
                      <a:pPr>
                        <a:buNone/>
                      </a:pPr>
                      <a:r>
                        <a:rPr lang="en-US" altLang="zh-CN" sz="1600" dirty="0"/>
                        <a:t>LOWER</a:t>
                      </a:r>
                      <a:r>
                        <a:rPr lang="zh-CN" altLang="en-US" sz="1600" dirty="0"/>
                        <a:t>，</a:t>
                      </a:r>
                      <a:r>
                        <a:rPr lang="en-US" altLang="zh-CN" sz="1600" dirty="0"/>
                        <a:t>UPPER</a:t>
                      </a:r>
                      <a:r>
                        <a:rPr lang="zh-CN" altLang="en-US" sz="1600" dirty="0"/>
                        <a:t>，</a:t>
                      </a:r>
                      <a:r>
                        <a:rPr lang="en-US" altLang="zh-CN" sz="1600" dirty="0"/>
                        <a:t>INITCAP</a:t>
                      </a:r>
                    </a:p>
                  </a:txBody>
                  <a:tcPr anchor="ctr"/>
                </a:tc>
                <a:tc>
                  <a:txBody>
                    <a:bodyPr/>
                    <a:lstStyle/>
                    <a:p>
                      <a:pPr>
                        <a:buNone/>
                      </a:pPr>
                      <a:r>
                        <a:rPr lang="zh-CN" sz="1600" dirty="0"/>
                        <a:t>转换字母大小写</a:t>
                      </a:r>
                    </a:p>
                  </a:txBody>
                  <a:tcPr anchor="ctr"/>
                </a:tc>
              </a:tr>
              <a:tr h="480060">
                <a:tc>
                  <a:txBody>
                    <a:bodyPr/>
                    <a:lstStyle/>
                    <a:p>
                      <a:pPr>
                        <a:buNone/>
                      </a:pPr>
                      <a:r>
                        <a:rPr lang="en-US" altLang="zh-CN" sz="1600" dirty="0"/>
                        <a:t>REPLACE</a:t>
                      </a:r>
                    </a:p>
                  </a:txBody>
                  <a:tcPr anchor="ctr"/>
                </a:tc>
                <a:tc>
                  <a:txBody>
                    <a:bodyPr/>
                    <a:lstStyle/>
                    <a:p>
                      <a:pPr>
                        <a:buNone/>
                      </a:pPr>
                      <a:r>
                        <a:rPr lang="zh-CN" altLang="en-US" sz="1600" dirty="0"/>
                        <a:t>替换字符串中指定的字符串</a:t>
                      </a:r>
                    </a:p>
                  </a:txBody>
                  <a:tcPr anchor="ctr"/>
                </a:tc>
              </a:tr>
              <a:tr h="480695">
                <a:tc>
                  <a:txBody>
                    <a:bodyPr/>
                    <a:lstStyle/>
                    <a:p>
                      <a:pPr>
                        <a:buNone/>
                      </a:pPr>
                      <a:r>
                        <a:rPr lang="en-US" altLang="zh-CN" sz="1600" dirty="0"/>
                        <a:t>ASCII</a:t>
                      </a:r>
                    </a:p>
                  </a:txBody>
                  <a:tcPr anchor="ctr"/>
                </a:tc>
                <a:tc>
                  <a:txBody>
                    <a:bodyPr/>
                    <a:lstStyle/>
                    <a:p>
                      <a:pPr>
                        <a:buNone/>
                      </a:pPr>
                      <a:r>
                        <a:rPr lang="zh-CN" altLang="en-US" sz="1600" dirty="0"/>
                        <a:t>取</a:t>
                      </a:r>
                      <a:r>
                        <a:rPr lang="en-US" altLang="zh-CN" sz="1600" dirty="0"/>
                        <a:t>ASCII</a:t>
                      </a:r>
                      <a:r>
                        <a:rPr lang="zh-CN" altLang="en-US" sz="1600" dirty="0"/>
                        <a:t>码</a:t>
                      </a:r>
                    </a:p>
                  </a:txBody>
                  <a:tcPr anchor="ctr"/>
                </a:tc>
              </a:tr>
              <a:tr h="480695">
                <a:tc>
                  <a:txBody>
                    <a:bodyPr/>
                    <a:lstStyle/>
                    <a:p>
                      <a:pPr>
                        <a:buNone/>
                      </a:pPr>
                      <a:r>
                        <a:rPr lang="en-US" altLang="zh-CN" sz="1600" dirty="0"/>
                        <a:t>CONCAT</a:t>
                      </a:r>
                    </a:p>
                  </a:txBody>
                  <a:tcPr anchor="ctr"/>
                </a:tc>
                <a:tc>
                  <a:txBody>
                    <a:bodyPr/>
                    <a:lstStyle/>
                    <a:p>
                      <a:pPr>
                        <a:buNone/>
                      </a:pPr>
                      <a:r>
                        <a:rPr lang="zh-CN" altLang="en-US" sz="1600" dirty="0"/>
                        <a:t>合并字符串</a:t>
                      </a:r>
                    </a:p>
                  </a:txBody>
                  <a:tcPr anchor="ctr"/>
                </a:tc>
              </a:tr>
              <a:tr h="481330">
                <a:tc>
                  <a:txBody>
                    <a:bodyPr/>
                    <a:lstStyle/>
                    <a:p>
                      <a:pPr>
                        <a:buNone/>
                      </a:pPr>
                      <a:r>
                        <a:rPr lang="en-US" altLang="zh-CN" sz="1600" dirty="0"/>
                        <a:t>SUBSTRING</a:t>
                      </a:r>
                      <a:r>
                        <a:rPr lang="zh-CN" altLang="en-US" sz="1600" dirty="0"/>
                        <a:t>，</a:t>
                      </a:r>
                      <a:r>
                        <a:rPr lang="en-US" altLang="zh-CN" sz="1600" dirty="0"/>
                        <a:t>SUBSTR</a:t>
                      </a:r>
                      <a:r>
                        <a:rPr lang="zh-CN" altLang="en-US" sz="1600" dirty="0"/>
                        <a:t>，</a:t>
                      </a:r>
                    </a:p>
                    <a:p>
                      <a:pPr>
                        <a:buNone/>
                      </a:pPr>
                      <a:r>
                        <a:rPr lang="en-US" altLang="zh-CN" sz="1600" dirty="0"/>
                        <a:t>SUBSTRING_INDEX</a:t>
                      </a:r>
                      <a:r>
                        <a:rPr lang="zh-CN" altLang="en-US" sz="1600" dirty="0"/>
                        <a:t>，</a:t>
                      </a:r>
                      <a:r>
                        <a:rPr lang="en-US" altLang="zh-CN" sz="1600" dirty="0"/>
                        <a:t>LEFT</a:t>
                      </a:r>
                      <a:r>
                        <a:rPr lang="zh-CN" altLang="en-US" sz="1600" dirty="0"/>
                        <a:t>，</a:t>
                      </a:r>
                      <a:r>
                        <a:rPr lang="en-US" altLang="zh-CN" sz="1600" dirty="0"/>
                        <a:t>RIGHT</a:t>
                      </a:r>
                    </a:p>
                  </a:txBody>
                  <a:tcPr anchor="ctr"/>
                </a:tc>
                <a:tc>
                  <a:txBody>
                    <a:bodyPr/>
                    <a:lstStyle/>
                    <a:p>
                      <a:pPr>
                        <a:buNone/>
                      </a:pPr>
                      <a:r>
                        <a:rPr lang="zh-CN" altLang="en-US" sz="1600" dirty="0"/>
                        <a:t>字符串截取</a:t>
                      </a:r>
                    </a:p>
                  </a:txBody>
                  <a:tcPr anchor="ctr"/>
                </a:tc>
              </a:tr>
              <a:tr h="480695">
                <a:tc>
                  <a:txBody>
                    <a:bodyPr/>
                    <a:lstStyle/>
                    <a:p>
                      <a:pPr>
                        <a:buNone/>
                      </a:pPr>
                      <a:r>
                        <a:rPr lang="en-US" altLang="zh-CN" sz="1600" dirty="0"/>
                        <a:t>INSTR</a:t>
                      </a:r>
                    </a:p>
                  </a:txBody>
                  <a:tcPr anchor="ctr"/>
                </a:tc>
                <a:tc>
                  <a:txBody>
                    <a:bodyPr/>
                    <a:lstStyle/>
                    <a:p>
                      <a:pPr>
                        <a:buNone/>
                      </a:pPr>
                      <a:r>
                        <a:rPr lang="zh-CN" altLang="en-US" sz="1600" dirty="0"/>
                        <a:t>取字符串位置</a:t>
                      </a:r>
                    </a:p>
                  </a:txBody>
                  <a:tcPr anchor="ctr"/>
                </a:tc>
              </a:tr>
              <a:tr h="480695">
                <a:tc>
                  <a:txBody>
                    <a:bodyPr/>
                    <a:lstStyle/>
                    <a:p>
                      <a:pPr>
                        <a:buNone/>
                      </a:pPr>
                      <a:r>
                        <a:rPr lang="en-US" altLang="zh-CN" sz="1600" dirty="0"/>
                        <a:t>LPAD</a:t>
                      </a:r>
                      <a:r>
                        <a:rPr lang="zh-CN" altLang="en-US" sz="1600" dirty="0"/>
                        <a:t>，</a:t>
                      </a:r>
                      <a:r>
                        <a:rPr lang="en-US" altLang="zh-CN" sz="1600" dirty="0"/>
                        <a:t>RPAD</a:t>
                      </a:r>
                      <a:r>
                        <a:rPr lang="zh-CN" altLang="en-US" sz="1600" dirty="0"/>
                        <a:t>，</a:t>
                      </a:r>
                      <a:r>
                        <a:rPr lang="en-US" altLang="zh-CN" sz="1600" dirty="0"/>
                        <a:t>SPACE</a:t>
                      </a:r>
                    </a:p>
                  </a:txBody>
                  <a:tcPr anchor="ctr"/>
                </a:tc>
                <a:tc>
                  <a:txBody>
                    <a:bodyPr/>
                    <a:lstStyle/>
                    <a:p>
                      <a:pPr>
                        <a:buNone/>
                      </a:pPr>
                      <a:r>
                        <a:rPr lang="zh-CN" altLang="en-US" sz="1600" dirty="0"/>
                        <a:t>填充字符串</a:t>
                      </a:r>
                    </a:p>
                  </a:txBody>
                  <a:tcPr anchor="ctr"/>
                </a:tc>
              </a:tr>
              <a:tr h="454025">
                <a:tc>
                  <a:txBody>
                    <a:bodyPr/>
                    <a:lstStyle/>
                    <a:p>
                      <a:pPr>
                        <a:buNone/>
                      </a:pPr>
                      <a:r>
                        <a:rPr lang="en-US" altLang="zh-CN" sz="1600" dirty="0"/>
                        <a:t>TRIM</a:t>
                      </a:r>
                      <a:r>
                        <a:rPr lang="zh-CN" altLang="en-US" sz="1600" dirty="0"/>
                        <a:t>，</a:t>
                      </a:r>
                      <a:r>
                        <a:rPr lang="en-US" altLang="zh-CN" sz="1600" dirty="0"/>
                        <a:t>LTRIM</a:t>
                      </a:r>
                      <a:r>
                        <a:rPr lang="zh-CN" altLang="en-US" sz="1600" dirty="0"/>
                        <a:t>，</a:t>
                      </a:r>
                      <a:r>
                        <a:rPr lang="en-US" altLang="zh-CN" sz="1600" dirty="0"/>
                        <a:t>RTRIM</a:t>
                      </a:r>
                    </a:p>
                  </a:txBody>
                  <a:tcPr anchor="ctr"/>
                </a:tc>
                <a:tc>
                  <a:txBody>
                    <a:bodyPr/>
                    <a:lstStyle/>
                    <a:p>
                      <a:pPr marL="0" lvl="1">
                        <a:buNone/>
                      </a:pPr>
                      <a:r>
                        <a:rPr lang="zh-CN" altLang="en-US" sz="1600" dirty="0"/>
                        <a:t>去除字符串中空格</a:t>
                      </a:r>
                    </a:p>
                  </a:txBody>
                  <a:tcPr anchor="ctr"/>
                </a:tc>
              </a:tr>
              <a:tr h="645795">
                <a:tc>
                  <a:txBody>
                    <a:bodyPr/>
                    <a:lstStyle/>
                    <a:p>
                      <a:pPr indent="0" eaLnBrk="0" hangingPunct="0">
                        <a:lnSpc>
                          <a:spcPct val="125000"/>
                        </a:lnSpc>
                        <a:spcBef>
                          <a:spcPct val="0"/>
                        </a:spcBef>
                        <a:buClr>
                          <a:schemeClr val="accent1"/>
                        </a:buClr>
                        <a:buFont typeface="Arial" panose="020B0604020202020204" pitchFamily="34" charset="0"/>
                        <a:buNone/>
                      </a:pPr>
                      <a:r>
                        <a:rPr lang="en-US" altLang="zh-CN" sz="1600" dirty="0"/>
                        <a:t>LENGTH </a:t>
                      </a:r>
                      <a:r>
                        <a:rPr lang="zh-CN" altLang="en-US" sz="1600" dirty="0"/>
                        <a:t>，</a:t>
                      </a:r>
                      <a:r>
                        <a:rPr lang="en-US" altLang="zh-CN" sz="1600" dirty="0"/>
                        <a:t>OCTET_LENGTH</a:t>
                      </a:r>
                      <a:r>
                        <a:rPr lang="zh-CN" altLang="en-US" sz="1600" dirty="0"/>
                        <a:t>，</a:t>
                      </a:r>
                    </a:p>
                    <a:p>
                      <a:pPr indent="0" eaLnBrk="0" hangingPunct="0">
                        <a:lnSpc>
                          <a:spcPct val="125000"/>
                        </a:lnSpc>
                        <a:spcBef>
                          <a:spcPct val="0"/>
                        </a:spcBef>
                        <a:buClr>
                          <a:schemeClr val="accent1"/>
                        </a:buClr>
                        <a:buFont typeface="Arial" panose="020B0604020202020204" pitchFamily="34" charset="0"/>
                        <a:buNone/>
                      </a:pPr>
                      <a:r>
                        <a:rPr lang="en-US" altLang="zh-CN" sz="1600" dirty="0"/>
                        <a:t>CHAR_LENGTH</a:t>
                      </a:r>
                    </a:p>
                  </a:txBody>
                  <a:tcPr anchor="ctr"/>
                </a:tc>
                <a:tc>
                  <a:txBody>
                    <a:bodyPr/>
                    <a:lstStyle/>
                    <a:p>
                      <a:pPr marL="0" lvl="1">
                        <a:buNone/>
                      </a:pPr>
                      <a:r>
                        <a:rPr lang="zh-CN" altLang="en-US" sz="1600" dirty="0"/>
                        <a:t>取字符串长度</a:t>
                      </a:r>
                    </a:p>
                  </a:txBody>
                  <a:tcPr anchor="ctr"/>
                </a:tc>
              </a:tr>
            </a:tbl>
          </a:graphicData>
        </a:graphic>
      </p:graphicFrame>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1362" name="Rectangle 2"/>
          <p:cNvSpPr>
            <a:spLocks noGrp="1" noChangeArrowheads="1"/>
          </p:cNvSpPr>
          <p:nvPr>
            <p:ph type="title"/>
          </p:nvPr>
        </p:nvSpPr>
        <p:spPr/>
        <p:txBody>
          <a:bodyPr/>
          <a:lstStyle/>
          <a:p>
            <a:r>
              <a:rPr lang="zh-CN" altLang="en-US">
                <a:latin typeface="Arial" panose="020B0604020202020204" pitchFamily="34" charset="0"/>
                <a:cs typeface="宋体" panose="02010600030101010101" pitchFamily="2" charset="-122"/>
              </a:rPr>
              <a:t>字符串处理函数</a:t>
            </a:r>
          </a:p>
        </p:txBody>
      </p:sp>
      <p:sp>
        <p:nvSpPr>
          <p:cNvPr id="271363" name="Rectangle 3"/>
          <p:cNvSpPr>
            <a:spLocks noGrp="1" noChangeArrowheads="1"/>
          </p:cNvSpPr>
          <p:nvPr>
            <p:ph type="body" sz="quarter" idx="10"/>
          </p:nvPr>
        </p:nvSpPr>
        <p:spPr/>
        <p:txBody>
          <a:bodyPr/>
          <a:lstStyle/>
          <a:p>
            <a:pPr>
              <a:lnSpc>
                <a:spcPct val="150000"/>
              </a:lnSpc>
            </a:pPr>
            <a:r>
              <a:rPr lang="en-US" altLang="zh-CN" dirty="0">
                <a:cs typeface="宋体" panose="02010600030101010101" pitchFamily="2" charset="-122"/>
              </a:rPr>
              <a:t>INITCAP    </a:t>
            </a:r>
            <a:r>
              <a:rPr lang="zh-CN" altLang="en-US" sz="1600" dirty="0">
                <a:cs typeface="宋体" panose="02010600030101010101" pitchFamily="2" charset="-122"/>
              </a:rPr>
              <a:t>函数返回</a:t>
            </a:r>
            <a:r>
              <a:rPr lang="en-US" altLang="zh-CN" sz="1600" dirty="0">
                <a:cs typeface="宋体" panose="02010600030101010101" pitchFamily="2" charset="-122"/>
              </a:rPr>
              <a:t>expression </a:t>
            </a:r>
            <a:r>
              <a:rPr lang="zh-CN" altLang="en-US" sz="1600" dirty="0">
                <a:cs typeface="宋体" panose="02010600030101010101" pitchFamily="2" charset="-122"/>
              </a:rPr>
              <a:t>参数的一个副本，其中</a:t>
            </a:r>
            <a:r>
              <a:rPr lang="en-US" altLang="zh-CN" sz="1600" dirty="0">
                <a:cs typeface="宋体" panose="02010600030101010101" pitchFamily="2" charset="-122"/>
              </a:rPr>
              <a:t>expression </a:t>
            </a:r>
            <a:r>
              <a:rPr lang="zh-CN" altLang="en-US" sz="1600" dirty="0">
                <a:cs typeface="宋体" panose="02010600030101010101" pitchFamily="2" charset="-122"/>
              </a:rPr>
              <a:t>中每个单词都以大写字母开头。</a:t>
            </a:r>
            <a:endParaRPr lang="en-US" altLang="zh-CN" sz="1600" dirty="0">
              <a:cs typeface="宋体" panose="02010600030101010101" pitchFamily="2" charset="-122"/>
            </a:endParaRPr>
          </a:p>
          <a:p>
            <a:pPr>
              <a:lnSpc>
                <a:spcPct val="90000"/>
              </a:lnSpc>
            </a:pPr>
            <a:endParaRPr lang="en-US" altLang="zh-CN" dirty="0">
              <a:cs typeface="宋体" panose="02010600030101010101" pitchFamily="2" charset="-122"/>
            </a:endParaRPr>
          </a:p>
          <a:p>
            <a:pPr>
              <a:lnSpc>
                <a:spcPct val="90000"/>
              </a:lnSpc>
            </a:pPr>
            <a:endParaRPr lang="en-US" altLang="zh-CN" dirty="0">
              <a:cs typeface="宋体" panose="02010600030101010101" pitchFamily="2" charset="-122"/>
            </a:endParaRPr>
          </a:p>
          <a:p>
            <a:pPr marL="0" indent="0">
              <a:lnSpc>
                <a:spcPct val="90000"/>
              </a:lnSpc>
              <a:buNone/>
            </a:pPr>
            <a:endParaRPr lang="en-US" altLang="zh-CN" dirty="0">
              <a:cs typeface="宋体" panose="02010600030101010101" pitchFamily="2" charset="-122"/>
            </a:endParaRPr>
          </a:p>
          <a:p>
            <a:pPr>
              <a:lnSpc>
                <a:spcPct val="90000"/>
              </a:lnSpc>
            </a:pPr>
            <a:endParaRPr lang="en-US" altLang="zh-CN" dirty="0">
              <a:cs typeface="宋体" panose="02010600030101010101" pitchFamily="2" charset="-122"/>
            </a:endParaRPr>
          </a:p>
          <a:p>
            <a:pPr>
              <a:lnSpc>
                <a:spcPct val="90000"/>
              </a:lnSpc>
            </a:pPr>
            <a:r>
              <a:rPr lang="en-US" altLang="zh-CN" dirty="0">
                <a:cs typeface="宋体" panose="02010600030101010101" pitchFamily="2" charset="-122"/>
              </a:rPr>
              <a:t>REPLACE    </a:t>
            </a:r>
            <a:r>
              <a:rPr lang="zh-CN" altLang="en-US" sz="1600" dirty="0">
                <a:cs typeface="宋体" panose="02010600030101010101" pitchFamily="2" charset="-122"/>
              </a:rPr>
              <a:t>函数用不同字符替换原字符串中的指定字符</a:t>
            </a:r>
            <a:endParaRPr lang="en-US" altLang="zh-CN" sz="1600" dirty="0">
              <a:cs typeface="宋体" panose="02010600030101010101" pitchFamily="2" charset="-122"/>
            </a:endParaRPr>
          </a:p>
          <a:p>
            <a:pPr>
              <a:lnSpc>
                <a:spcPct val="90000"/>
              </a:lnSpc>
            </a:pPr>
            <a:endParaRPr lang="en-US" altLang="zh-CN" dirty="0">
              <a:cs typeface="宋体" panose="02010600030101010101" pitchFamily="2" charset="-122"/>
            </a:endParaRPr>
          </a:p>
          <a:p>
            <a:pPr>
              <a:lnSpc>
                <a:spcPct val="90000"/>
              </a:lnSpc>
            </a:pPr>
            <a:endParaRPr lang="en-US" altLang="zh-CN" dirty="0">
              <a:cs typeface="宋体" panose="02010600030101010101" pitchFamily="2" charset="-122"/>
            </a:endParaRPr>
          </a:p>
        </p:txBody>
      </p:sp>
      <p:sp>
        <p:nvSpPr>
          <p:cNvPr id="271371" name="Rectangle 11"/>
          <p:cNvSpPr>
            <a:spLocks noChangeArrowheads="1"/>
          </p:cNvSpPr>
          <p:nvPr/>
        </p:nvSpPr>
        <p:spPr bwMode="auto">
          <a:xfrm>
            <a:off x="1153183" y="4741974"/>
            <a:ext cx="8804275" cy="431800"/>
          </a:xfrm>
          <a:prstGeom prst="rect">
            <a:avLst/>
          </a:prstGeom>
          <a:noFill/>
          <a:ln>
            <a:noFill/>
          </a:ln>
        </p:spPr>
        <p:txBody>
          <a:bodyPr lIns="92075" tIns="46038" rIns="92075" bIns="46038"/>
          <a:lstStyle/>
          <a:p>
            <a:pPr marL="228600" indent="-228600" eaLnBrk="0" hangingPunct="0">
              <a:lnSpc>
                <a:spcPct val="90000"/>
              </a:lnSpc>
              <a:buClr>
                <a:schemeClr val="accent2"/>
              </a:buClr>
              <a:buFont typeface="Wingdings" panose="05000000000000000000" charset="0"/>
              <a:buChar char="§"/>
            </a:pPr>
            <a:endParaRPr lang="en-US" altLang="zh-CN" dirty="0">
              <a:cs typeface="宋体" panose="02010600030101010101" pitchFamily="2" charset="-122"/>
            </a:endParaRPr>
          </a:p>
        </p:txBody>
      </p:sp>
      <p:sp>
        <p:nvSpPr>
          <p:cNvPr id="271373" name="Text Box 13"/>
          <p:cNvSpPr txBox="1">
            <a:spLocks noChangeArrowheads="1"/>
          </p:cNvSpPr>
          <p:nvPr/>
        </p:nvSpPr>
        <p:spPr bwMode="black">
          <a:xfrm>
            <a:off x="1162707" y="2529397"/>
            <a:ext cx="8610600" cy="523862"/>
          </a:xfrm>
          <a:prstGeom prst="rect">
            <a:avLst/>
          </a:prstGeom>
          <a:solidFill>
            <a:srgbClr val="E9EDF4"/>
          </a:solidFill>
          <a:ln w="9525">
            <a:solidFill>
              <a:schemeClr val="tx2"/>
            </a:solidFill>
            <a:miter lim="800000"/>
          </a:ln>
          <a:effectLst/>
        </p:spPr>
        <p:txBody>
          <a:bodyPr lIns="92075" tIns="46038" rIns="92075" bIns="46038">
            <a:spAutoFit/>
          </a:bodyPr>
          <a:lstStyle>
            <a:lvl1pPr marL="342900" indent="-342900" eaLnBrk="0" hangingPunct="0">
              <a:defRPr sz="1400" b="1">
                <a:solidFill>
                  <a:schemeClr val="tx1"/>
                </a:solidFill>
                <a:latin typeface="Arial" panose="020B0604020202020204" pitchFamily="34" charset="0"/>
                <a:ea typeface="宋体" panose="02010600030101010101" pitchFamily="2" charset="-122"/>
                <a:cs typeface="Arial" panose="020B0604020202020204" pitchFamily="34" charset="0"/>
              </a:defRPr>
            </a:lvl1pPr>
            <a:lvl2pPr marL="8001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2pPr>
            <a:lvl3pPr marL="12573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3pPr>
            <a:lvl4pPr marL="17145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4pPr>
            <a:lvl5pPr marL="21717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5pPr>
            <a:lvl6pPr marL="26289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6pPr>
            <a:lvl7pPr marL="30861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7pPr>
            <a:lvl8pPr marL="35433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8pPr>
            <a:lvl9pPr marL="40005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r>
              <a:rPr lang="en-US" altLang="zh-CN" b="0" i="1" dirty="0">
                <a:cs typeface="宋体" panose="02010600030101010101" pitchFamily="2" charset="-122"/>
              </a:rPr>
              <a:t>(constant)   (constant)    (constant)</a:t>
            </a:r>
          </a:p>
          <a:p>
            <a:pPr eaLnBrk="1" hangingPunct="1"/>
            <a:r>
              <a:rPr lang="en-US" altLang="zh-CN" b="0" dirty="0">
                <a:cs typeface="宋体" panose="02010600030101010101" pitchFamily="2" charset="-122"/>
              </a:rPr>
              <a:t>gbase          GBASE         Gbase</a:t>
            </a:r>
          </a:p>
        </p:txBody>
      </p:sp>
      <p:sp>
        <p:nvSpPr>
          <p:cNvPr id="271374" name="Text Box 14"/>
          <p:cNvSpPr txBox="1">
            <a:spLocks noChangeArrowheads="1"/>
          </p:cNvSpPr>
          <p:nvPr/>
        </p:nvSpPr>
        <p:spPr bwMode="black">
          <a:xfrm>
            <a:off x="1162707" y="2188084"/>
            <a:ext cx="8610600" cy="339196"/>
          </a:xfrm>
          <a:prstGeom prst="rect">
            <a:avLst/>
          </a:prstGeom>
          <a:noFill/>
          <a:ln w="9525">
            <a:solidFill>
              <a:schemeClr val="tx2"/>
            </a:solidFill>
            <a:miter lim="800000"/>
          </a:ln>
          <a:effectLst/>
        </p:spPr>
        <p:txBody>
          <a:bodyPr lIns="92075" tIns="46038" rIns="92075" bIns="46038">
            <a:spAutoFit/>
          </a:bodyPr>
          <a:lstStyle>
            <a:lvl1pPr marL="342900" indent="-342900" eaLnBrk="0" hangingPunct="0">
              <a:defRPr sz="1400" b="1">
                <a:solidFill>
                  <a:schemeClr val="tx1"/>
                </a:solidFill>
                <a:latin typeface="Arial" panose="020B0604020202020204" pitchFamily="34" charset="0"/>
                <a:ea typeface="宋体" panose="02010600030101010101" pitchFamily="2" charset="-122"/>
                <a:cs typeface="Arial" panose="020B0604020202020204" pitchFamily="34" charset="0"/>
              </a:defRPr>
            </a:lvl1pPr>
            <a:lvl2pPr marL="8001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2pPr>
            <a:lvl3pPr marL="12573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3pPr>
            <a:lvl4pPr marL="17145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4pPr>
            <a:lvl5pPr marL="21717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5pPr>
            <a:lvl6pPr marL="26289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6pPr>
            <a:lvl7pPr marL="30861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7pPr>
            <a:lvl8pPr marL="35433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8pPr>
            <a:lvl9pPr marL="40005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pPr>
            <a:r>
              <a:rPr lang="en-US" altLang="en-US" sz="1600" b="0" dirty="0">
                <a:sym typeface="+mn-ea"/>
              </a:rPr>
              <a:t>select first 1 lower('GBASE'), upper('</a:t>
            </a:r>
            <a:r>
              <a:rPr lang="en-US" altLang="en-US" sz="1600" b="0" dirty="0" err="1">
                <a:sym typeface="+mn-ea"/>
              </a:rPr>
              <a:t>gbase</a:t>
            </a:r>
            <a:r>
              <a:rPr lang="en-US" altLang="en-US" sz="1600" b="0" dirty="0">
                <a:sym typeface="+mn-ea"/>
              </a:rPr>
              <a:t>'), </a:t>
            </a:r>
            <a:r>
              <a:rPr lang="en-US" altLang="en-US" sz="1600" b="0" dirty="0" err="1">
                <a:sym typeface="+mn-ea"/>
              </a:rPr>
              <a:t>initcap</a:t>
            </a:r>
            <a:r>
              <a:rPr lang="en-US" altLang="en-US" sz="1600" b="0" dirty="0">
                <a:sym typeface="+mn-ea"/>
              </a:rPr>
              <a:t>('</a:t>
            </a:r>
            <a:r>
              <a:rPr lang="en-US" altLang="en-US" sz="1600" b="0" dirty="0" err="1">
                <a:sym typeface="+mn-ea"/>
              </a:rPr>
              <a:t>gbase</a:t>
            </a:r>
            <a:r>
              <a:rPr lang="en-US" altLang="en-US" sz="1600" b="0" dirty="0">
                <a:sym typeface="+mn-ea"/>
              </a:rPr>
              <a:t>') from student;</a:t>
            </a:r>
            <a:endParaRPr lang="en-US" altLang="en-US" sz="1600" b="0" dirty="0">
              <a:cs typeface="宋体" panose="02010600030101010101" pitchFamily="2" charset="-122"/>
              <a:sym typeface="+mn-ea"/>
            </a:endParaRPr>
          </a:p>
        </p:txBody>
      </p:sp>
      <p:grpSp>
        <p:nvGrpSpPr>
          <p:cNvPr id="11" name="Group 10"/>
          <p:cNvGrpSpPr/>
          <p:nvPr/>
        </p:nvGrpSpPr>
        <p:grpSpPr bwMode="auto">
          <a:xfrm>
            <a:off x="1162707" y="4361495"/>
            <a:ext cx="8610600" cy="1109662"/>
            <a:chOff x="128" y="2747"/>
            <a:chExt cx="5424" cy="699"/>
          </a:xfrm>
        </p:grpSpPr>
        <p:sp>
          <p:nvSpPr>
            <p:cNvPr id="12" name="Text Box 7"/>
            <p:cNvSpPr txBox="1">
              <a:spLocks noChangeArrowheads="1"/>
            </p:cNvSpPr>
            <p:nvPr/>
          </p:nvSpPr>
          <p:spPr bwMode="black">
            <a:xfrm>
              <a:off x="128" y="3116"/>
              <a:ext cx="5424" cy="330"/>
            </a:xfrm>
            <a:prstGeom prst="rect">
              <a:avLst/>
            </a:prstGeom>
            <a:solidFill>
              <a:srgbClr val="E9EDF4"/>
            </a:solidFill>
            <a:ln w="9525">
              <a:solidFill>
                <a:schemeClr val="tx2"/>
              </a:solidFill>
              <a:miter lim="800000"/>
            </a:ln>
            <a:effectLst/>
          </p:spPr>
          <p:txBody>
            <a:bodyPr lIns="92075" tIns="46038" rIns="92075" bIns="46038">
              <a:spAutoFit/>
            </a:bodyPr>
            <a:lstStyle>
              <a:lvl1pPr marL="342900" indent="-342900" eaLnBrk="0" hangingPunct="0">
                <a:defRPr sz="1400" b="1">
                  <a:solidFill>
                    <a:schemeClr val="tx1"/>
                  </a:solidFill>
                  <a:latin typeface="Arial" panose="020B0604020202020204" pitchFamily="34" charset="0"/>
                  <a:ea typeface="宋体" panose="02010600030101010101" pitchFamily="2" charset="-122"/>
                  <a:cs typeface="Arial" panose="020B0604020202020204" pitchFamily="34" charset="0"/>
                </a:defRPr>
              </a:lvl1pPr>
              <a:lvl2pPr marL="8001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2pPr>
              <a:lvl3pPr marL="12573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3pPr>
              <a:lvl4pPr marL="17145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4pPr>
              <a:lvl5pPr marL="21717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5pPr>
              <a:lvl6pPr marL="26289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6pPr>
              <a:lvl7pPr marL="30861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7pPr>
              <a:lvl8pPr marL="35433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8pPr>
              <a:lvl9pPr marL="40005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r>
                <a:rPr lang="en-US" altLang="zh-CN" b="0" i="1" dirty="0">
                  <a:cs typeface="宋体" panose="02010600030101010101" pitchFamily="2" charset="-122"/>
                  <a:sym typeface="+mn-ea"/>
                </a:rPr>
                <a:t>(constant)  </a:t>
              </a:r>
              <a:endParaRPr lang="en-US" altLang="zh-CN" b="0" dirty="0">
                <a:cs typeface="宋体" panose="02010600030101010101" pitchFamily="2" charset="-122"/>
              </a:endParaRPr>
            </a:p>
            <a:p>
              <a:pPr eaLnBrk="1" hangingPunct="1"/>
              <a:r>
                <a:rPr lang="en-US" altLang="zh-CN" b="0" dirty="0">
                  <a:cs typeface="宋体" panose="02010600030101010101" pitchFamily="2" charset="-122"/>
                </a:rPr>
                <a:t>1114567 </a:t>
              </a:r>
              <a:endParaRPr lang="zh-CN" altLang="en-US" b="0" dirty="0">
                <a:cs typeface="宋体" panose="02010600030101010101" pitchFamily="2" charset="-122"/>
              </a:endParaRPr>
            </a:p>
          </p:txBody>
        </p:sp>
        <p:sp>
          <p:nvSpPr>
            <p:cNvPr id="13" name="Text Box 8"/>
            <p:cNvSpPr txBox="1">
              <a:spLocks noChangeArrowheads="1"/>
            </p:cNvSpPr>
            <p:nvPr/>
          </p:nvSpPr>
          <p:spPr bwMode="black">
            <a:xfrm>
              <a:off x="128" y="2747"/>
              <a:ext cx="5424" cy="369"/>
            </a:xfrm>
            <a:prstGeom prst="rect">
              <a:avLst/>
            </a:prstGeom>
            <a:noFill/>
            <a:ln w="9525">
              <a:solidFill>
                <a:schemeClr val="tx2"/>
              </a:solidFill>
              <a:miter lim="800000"/>
            </a:ln>
            <a:effectLst/>
          </p:spPr>
          <p:txBody>
            <a:bodyPr lIns="92075" tIns="46038" rIns="92075" bIns="46038">
              <a:spAutoFit/>
            </a:bodyPr>
            <a:lstStyle>
              <a:lvl1pPr marL="342900" indent="-342900" eaLnBrk="0" hangingPunct="0">
                <a:defRPr sz="1400" b="1">
                  <a:solidFill>
                    <a:schemeClr val="tx1"/>
                  </a:solidFill>
                  <a:latin typeface="Arial" panose="020B0604020202020204" pitchFamily="34" charset="0"/>
                  <a:ea typeface="宋体" panose="02010600030101010101" pitchFamily="2" charset="-122"/>
                  <a:cs typeface="Arial" panose="020B0604020202020204" pitchFamily="34" charset="0"/>
                </a:defRPr>
              </a:lvl1pPr>
              <a:lvl2pPr marL="8001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2pPr>
              <a:lvl3pPr marL="12573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3pPr>
              <a:lvl4pPr marL="17145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4pPr>
              <a:lvl5pPr marL="21717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5pPr>
              <a:lvl6pPr marL="26289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6pPr>
              <a:lvl7pPr marL="30861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7pPr>
              <a:lvl8pPr marL="35433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8pPr>
              <a:lvl9pPr marL="40005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pPr>
              <a:r>
                <a:rPr lang="en-US" altLang="en-US" sz="1600" b="0">
                  <a:sym typeface="+mn-ea"/>
                </a:rPr>
                <a:t>select first 1 replace('1234567','23','11') from student;</a:t>
              </a:r>
            </a:p>
            <a:p>
              <a:pPr eaLnBrk="1" hangingPunct="1">
                <a:spcBef>
                  <a:spcPct val="0"/>
                </a:spcBef>
              </a:pPr>
              <a:endParaRPr lang="en-US" altLang="zh-CN" sz="1600" b="0">
                <a:cs typeface="宋体" panose="02010600030101010101" pitchFamily="2" charset="-122"/>
              </a:endParaRPr>
            </a:p>
          </p:txBody>
        </p:sp>
      </p:gr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5746" name="Rectangle 2"/>
          <p:cNvSpPr>
            <a:spLocks noGrp="1" noChangeArrowheads="1"/>
          </p:cNvSpPr>
          <p:nvPr>
            <p:ph type="title"/>
          </p:nvPr>
        </p:nvSpPr>
        <p:spPr/>
        <p:txBody>
          <a:bodyPr/>
          <a:lstStyle/>
          <a:p>
            <a:r>
              <a:rPr lang="zh-CN" altLang="en-US">
                <a:latin typeface="Arial" panose="020B0604020202020204" pitchFamily="34" charset="0"/>
                <a:cs typeface="宋体" panose="02010600030101010101" pitchFamily="2" charset="-122"/>
              </a:rPr>
              <a:t>字符串处理函数</a:t>
            </a:r>
          </a:p>
        </p:txBody>
      </p:sp>
      <p:sp>
        <p:nvSpPr>
          <p:cNvPr id="415747" name="Rectangle 3"/>
          <p:cNvSpPr>
            <a:spLocks noGrp="1" noChangeArrowheads="1"/>
          </p:cNvSpPr>
          <p:nvPr>
            <p:ph type="body" sz="quarter" idx="10"/>
          </p:nvPr>
        </p:nvSpPr>
        <p:spPr>
          <a:xfrm>
            <a:off x="755650" y="1469228"/>
            <a:ext cx="10718800" cy="4888767"/>
          </a:xfrm>
        </p:spPr>
        <p:txBody>
          <a:bodyPr/>
          <a:lstStyle/>
          <a:p>
            <a:pPr>
              <a:lnSpc>
                <a:spcPct val="90000"/>
              </a:lnSpc>
            </a:pPr>
            <a:r>
              <a:rPr lang="en-US" altLang="zh-CN" dirty="0">
                <a:cs typeface="宋体" panose="02010600030101010101" pitchFamily="2" charset="-122"/>
              </a:rPr>
              <a:t>LENGTH / LEN(</a:t>
            </a:r>
            <a:r>
              <a:rPr lang="zh-CN" altLang="en-US" dirty="0">
                <a:cs typeface="宋体" panose="02010600030101010101" pitchFamily="2" charset="-122"/>
              </a:rPr>
              <a:t>返回字符串长度</a:t>
            </a:r>
            <a:r>
              <a:rPr lang="en-US" altLang="zh-CN" dirty="0">
                <a:cs typeface="宋体" panose="02010600030101010101" pitchFamily="2" charset="-122"/>
              </a:rPr>
              <a:t>--</a:t>
            </a:r>
            <a:r>
              <a:rPr lang="zh-CN" altLang="en-US" dirty="0">
                <a:cs typeface="宋体" panose="02010600030101010101" pitchFamily="2" charset="-122"/>
              </a:rPr>
              <a:t>不包含空格</a:t>
            </a:r>
            <a:r>
              <a:rPr lang="en-US" altLang="zh-CN" dirty="0">
                <a:cs typeface="宋体" panose="02010600030101010101" pitchFamily="2" charset="-122"/>
              </a:rPr>
              <a:t>)</a:t>
            </a:r>
          </a:p>
          <a:p>
            <a:pPr>
              <a:lnSpc>
                <a:spcPct val="90000"/>
              </a:lnSpc>
            </a:pPr>
            <a:endParaRPr lang="en-US" altLang="zh-CN" dirty="0">
              <a:cs typeface="宋体" panose="02010600030101010101" pitchFamily="2" charset="-122"/>
            </a:endParaRPr>
          </a:p>
          <a:p>
            <a:pPr marL="0" indent="0">
              <a:lnSpc>
                <a:spcPct val="90000"/>
              </a:lnSpc>
              <a:buNone/>
            </a:pPr>
            <a:endParaRPr lang="en-US" altLang="zh-CN" sz="3200" dirty="0">
              <a:cs typeface="宋体" panose="02010600030101010101" pitchFamily="2" charset="-122"/>
            </a:endParaRPr>
          </a:p>
          <a:p>
            <a:pPr>
              <a:lnSpc>
                <a:spcPct val="90000"/>
              </a:lnSpc>
            </a:pPr>
            <a:r>
              <a:rPr lang="en-US" altLang="zh-CN" dirty="0">
                <a:cs typeface="宋体" panose="02010600030101010101" pitchFamily="2" charset="-122"/>
              </a:rPr>
              <a:t>OCTET_LENGTH</a:t>
            </a:r>
            <a:r>
              <a:rPr lang="en-US" altLang="zh-CN" dirty="0">
                <a:cs typeface="宋体" panose="02010600030101010101" pitchFamily="2" charset="-122"/>
                <a:sym typeface="+mn-ea"/>
              </a:rPr>
              <a:t>(</a:t>
            </a:r>
            <a:r>
              <a:rPr lang="zh-CN" altLang="en-US" dirty="0">
                <a:cs typeface="宋体" panose="02010600030101010101" pitchFamily="2" charset="-122"/>
                <a:sym typeface="+mn-ea"/>
              </a:rPr>
              <a:t>返回字符串长度</a:t>
            </a:r>
            <a:r>
              <a:rPr lang="en-US" altLang="zh-CN" dirty="0">
                <a:cs typeface="宋体" panose="02010600030101010101" pitchFamily="2" charset="-122"/>
                <a:sym typeface="+mn-ea"/>
              </a:rPr>
              <a:t>--</a:t>
            </a:r>
            <a:r>
              <a:rPr lang="zh-CN" altLang="en-US" dirty="0">
                <a:cs typeface="宋体" panose="02010600030101010101" pitchFamily="2" charset="-122"/>
                <a:sym typeface="+mn-ea"/>
              </a:rPr>
              <a:t>包含空</a:t>
            </a:r>
            <a:r>
              <a:rPr lang="zh-CN" altLang="en-US" dirty="0" smtClean="0">
                <a:cs typeface="宋体" panose="02010600030101010101" pitchFamily="2" charset="-122"/>
                <a:sym typeface="+mn-ea"/>
              </a:rPr>
              <a:t>格</a:t>
            </a:r>
            <a:r>
              <a:rPr lang="en-US" altLang="zh-CN" dirty="0" smtClean="0">
                <a:cs typeface="宋体" panose="02010600030101010101" pitchFamily="2" charset="-122"/>
                <a:sym typeface="+mn-ea"/>
              </a:rPr>
              <a:t>)</a:t>
            </a:r>
            <a:endParaRPr lang="en-US" altLang="zh-CN" dirty="0" smtClean="0">
              <a:cs typeface="宋体" panose="02010600030101010101" pitchFamily="2" charset="-122"/>
            </a:endParaRPr>
          </a:p>
          <a:p>
            <a:pPr marL="0" indent="0">
              <a:lnSpc>
                <a:spcPct val="90000"/>
              </a:lnSpc>
              <a:buNone/>
            </a:pPr>
            <a:endParaRPr lang="en-US" altLang="zh-CN" sz="3200" dirty="0">
              <a:cs typeface="宋体" panose="02010600030101010101" pitchFamily="2" charset="-122"/>
            </a:endParaRPr>
          </a:p>
          <a:p>
            <a:pPr>
              <a:lnSpc>
                <a:spcPct val="90000"/>
              </a:lnSpc>
            </a:pPr>
            <a:endParaRPr lang="en-US" altLang="zh-CN" dirty="0">
              <a:cs typeface="宋体" panose="02010600030101010101" pitchFamily="2" charset="-122"/>
            </a:endParaRPr>
          </a:p>
          <a:p>
            <a:pPr>
              <a:lnSpc>
                <a:spcPct val="90000"/>
              </a:lnSpc>
            </a:pPr>
            <a:r>
              <a:rPr lang="en-US" altLang="zh-CN" dirty="0">
                <a:cs typeface="宋体" panose="02010600030101010101" pitchFamily="2" charset="-122"/>
              </a:rPr>
              <a:t>CHAR_LENGTH</a:t>
            </a:r>
            <a:r>
              <a:rPr lang="en-US" altLang="zh-CN" dirty="0">
                <a:cs typeface="宋体" panose="02010600030101010101" pitchFamily="2" charset="-122"/>
                <a:sym typeface="+mn-ea"/>
              </a:rPr>
              <a:t>(</a:t>
            </a:r>
            <a:r>
              <a:rPr lang="zh-CN" altLang="en-US" dirty="0">
                <a:cs typeface="宋体" panose="02010600030101010101" pitchFamily="2" charset="-122"/>
                <a:sym typeface="+mn-ea"/>
              </a:rPr>
              <a:t>返回字符个数</a:t>
            </a:r>
            <a:r>
              <a:rPr lang="en-US" altLang="zh-CN" dirty="0">
                <a:cs typeface="宋体" panose="02010600030101010101" pitchFamily="2" charset="-122"/>
                <a:sym typeface="+mn-ea"/>
              </a:rPr>
              <a:t>--</a:t>
            </a:r>
            <a:r>
              <a:rPr lang="zh-CN" altLang="en-US" dirty="0">
                <a:cs typeface="宋体" panose="02010600030101010101" pitchFamily="2" charset="-122"/>
                <a:sym typeface="+mn-ea"/>
              </a:rPr>
              <a:t>包含空格</a:t>
            </a:r>
            <a:r>
              <a:rPr lang="en-US" altLang="zh-CN" dirty="0">
                <a:cs typeface="宋体" panose="02010600030101010101" pitchFamily="2" charset="-122"/>
                <a:sym typeface="+mn-ea"/>
              </a:rPr>
              <a:t>)</a:t>
            </a:r>
            <a:endParaRPr lang="en-US" altLang="zh-CN" dirty="0">
              <a:cs typeface="宋体" panose="02010600030101010101" pitchFamily="2" charset="-122"/>
            </a:endParaRPr>
          </a:p>
          <a:p>
            <a:pPr>
              <a:lnSpc>
                <a:spcPct val="90000"/>
              </a:lnSpc>
              <a:buNone/>
            </a:pPr>
            <a:endParaRPr lang="en-US" altLang="zh-CN" dirty="0">
              <a:cs typeface="宋体" panose="02010600030101010101" pitchFamily="2" charset="-122"/>
            </a:endParaRPr>
          </a:p>
          <a:p>
            <a:pPr>
              <a:lnSpc>
                <a:spcPct val="90000"/>
              </a:lnSpc>
            </a:pPr>
            <a:endParaRPr lang="en-US" altLang="zh-CN" dirty="0">
              <a:cs typeface="宋体" panose="02010600030101010101" pitchFamily="2" charset="-122"/>
            </a:endParaRPr>
          </a:p>
        </p:txBody>
      </p:sp>
      <p:sp>
        <p:nvSpPr>
          <p:cNvPr id="415748" name="Text Box 4"/>
          <p:cNvSpPr txBox="1">
            <a:spLocks noChangeArrowheads="1"/>
          </p:cNvSpPr>
          <p:nvPr/>
        </p:nvSpPr>
        <p:spPr bwMode="black">
          <a:xfrm>
            <a:off x="1040918" y="2274465"/>
            <a:ext cx="8610600" cy="523862"/>
          </a:xfrm>
          <a:prstGeom prst="rect">
            <a:avLst/>
          </a:prstGeom>
          <a:solidFill>
            <a:srgbClr val="E9EDF4"/>
          </a:solidFill>
          <a:ln w="9525">
            <a:solidFill>
              <a:schemeClr val="tx2"/>
            </a:solidFill>
            <a:miter lim="800000"/>
          </a:ln>
          <a:effectLst/>
        </p:spPr>
        <p:txBody>
          <a:bodyPr lIns="92075" tIns="46038" rIns="92075" bIns="46038">
            <a:spAutoFit/>
          </a:bodyPr>
          <a:lstStyle>
            <a:lvl1pPr marL="342900" indent="-342900" eaLnBrk="0" hangingPunct="0">
              <a:defRPr sz="1400" b="1">
                <a:solidFill>
                  <a:schemeClr val="tx1"/>
                </a:solidFill>
                <a:latin typeface="Arial" panose="020B0604020202020204" pitchFamily="34" charset="0"/>
                <a:ea typeface="宋体" panose="02010600030101010101" pitchFamily="2" charset="-122"/>
                <a:cs typeface="Arial" panose="020B0604020202020204" pitchFamily="34" charset="0"/>
              </a:defRPr>
            </a:lvl1pPr>
            <a:lvl2pPr marL="8001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2pPr>
            <a:lvl3pPr marL="12573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3pPr>
            <a:lvl4pPr marL="17145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4pPr>
            <a:lvl5pPr marL="21717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5pPr>
            <a:lvl6pPr marL="26289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6pPr>
            <a:lvl7pPr marL="30861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7pPr>
            <a:lvl8pPr marL="35433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8pPr>
            <a:lvl9pPr marL="40005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r>
              <a:rPr lang="en-US" altLang="zh-CN" b="0" i="1" dirty="0">
                <a:cs typeface="宋体" panose="02010600030101010101" pitchFamily="2" charset="-122"/>
                <a:sym typeface="+mn-ea"/>
              </a:rPr>
              <a:t>(constant) </a:t>
            </a:r>
            <a:endParaRPr lang="en-US" altLang="zh-CN" b="0" i="1">
              <a:cs typeface="宋体" panose="02010600030101010101" pitchFamily="2" charset="-122"/>
            </a:endParaRPr>
          </a:p>
          <a:p>
            <a:pPr eaLnBrk="1" hangingPunct="1"/>
            <a:r>
              <a:rPr lang="en-US" altLang="zh-CN" b="0">
                <a:cs typeface="宋体" panose="02010600030101010101" pitchFamily="2" charset="-122"/>
              </a:rPr>
              <a:t>    7                  </a:t>
            </a:r>
            <a:endParaRPr lang="zh-CN" altLang="en-US" b="0">
              <a:cs typeface="宋体" panose="02010600030101010101" pitchFamily="2" charset="-122"/>
            </a:endParaRPr>
          </a:p>
        </p:txBody>
      </p:sp>
      <p:sp>
        <p:nvSpPr>
          <p:cNvPr id="415749" name="Text Box 5"/>
          <p:cNvSpPr txBox="1">
            <a:spLocks noChangeArrowheads="1"/>
          </p:cNvSpPr>
          <p:nvPr/>
        </p:nvSpPr>
        <p:spPr bwMode="black">
          <a:xfrm>
            <a:off x="1040918" y="1960457"/>
            <a:ext cx="8610600" cy="289952"/>
          </a:xfrm>
          <a:prstGeom prst="rect">
            <a:avLst/>
          </a:prstGeom>
          <a:noFill/>
          <a:ln w="9525">
            <a:solidFill>
              <a:schemeClr val="tx2"/>
            </a:solidFill>
            <a:miter lim="800000"/>
          </a:ln>
          <a:effectLst/>
        </p:spPr>
        <p:txBody>
          <a:bodyPr wrap="square" lIns="92075" tIns="46038" rIns="92075" bIns="46038">
            <a:spAutoFit/>
          </a:bodyPr>
          <a:lstStyle>
            <a:lvl1pPr marL="342900" indent="-342900" eaLnBrk="0" hangingPunct="0">
              <a:defRPr sz="1400" b="1">
                <a:solidFill>
                  <a:schemeClr val="tx1"/>
                </a:solidFill>
                <a:latin typeface="Arial" panose="020B0604020202020204" pitchFamily="34" charset="0"/>
                <a:ea typeface="宋体" panose="02010600030101010101" pitchFamily="2" charset="-122"/>
                <a:cs typeface="Arial" panose="020B0604020202020204" pitchFamily="34" charset="0"/>
              </a:defRPr>
            </a:lvl1pPr>
            <a:lvl2pPr marL="8001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2pPr>
            <a:lvl3pPr marL="12573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3pPr>
            <a:lvl4pPr marL="17145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4pPr>
            <a:lvl5pPr marL="21717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5pPr>
            <a:lvl6pPr marL="26289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6pPr>
            <a:lvl7pPr marL="30861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7pPr>
            <a:lvl8pPr marL="35433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8pPr>
            <a:lvl9pPr marL="40005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marL="119380" indent="-119380" eaLnBrk="1" hangingPunct="1">
              <a:lnSpc>
                <a:spcPct val="80000"/>
              </a:lnSpc>
              <a:spcBef>
                <a:spcPct val="50000"/>
              </a:spcBef>
              <a:buClr>
                <a:schemeClr val="accent1"/>
              </a:buClr>
            </a:pPr>
            <a:r>
              <a:rPr lang="en-US" altLang="en-US" sz="1600" b="0">
                <a:sym typeface="+mn-ea"/>
              </a:rPr>
              <a:t>select first 1 length('1234567   ')  from student;</a:t>
            </a:r>
            <a:endParaRPr lang="en-US" altLang="en-US" sz="1600" b="0">
              <a:cs typeface="宋体" panose="02010600030101010101" pitchFamily="2" charset="-122"/>
              <a:sym typeface="+mn-ea"/>
            </a:endParaRPr>
          </a:p>
        </p:txBody>
      </p:sp>
      <p:sp>
        <p:nvSpPr>
          <p:cNvPr id="415750" name="Rectangle 6"/>
          <p:cNvSpPr>
            <a:spLocks noChangeArrowheads="1"/>
          </p:cNvSpPr>
          <p:nvPr/>
        </p:nvSpPr>
        <p:spPr bwMode="auto">
          <a:xfrm>
            <a:off x="1703071" y="2929660"/>
            <a:ext cx="8804275" cy="431800"/>
          </a:xfrm>
          <a:prstGeom prst="rect">
            <a:avLst/>
          </a:prstGeom>
          <a:noFill/>
          <a:ln>
            <a:noFill/>
          </a:ln>
        </p:spPr>
        <p:txBody>
          <a:bodyPr lIns="92075" tIns="46038" rIns="92075" bIns="46038"/>
          <a:lstStyle/>
          <a:p>
            <a:pPr marL="228600" indent="-228600" eaLnBrk="0" hangingPunct="0">
              <a:buClr>
                <a:schemeClr val="accent2"/>
              </a:buClr>
              <a:buFont typeface="Wingdings" panose="05000000000000000000" charset="0"/>
              <a:buChar char="§"/>
            </a:pPr>
            <a:endParaRPr lang="en-US" altLang="zh-CN" dirty="0">
              <a:cs typeface="宋体" panose="02010600030101010101" pitchFamily="2" charset="-122"/>
            </a:endParaRPr>
          </a:p>
        </p:txBody>
      </p:sp>
      <p:sp>
        <p:nvSpPr>
          <p:cNvPr id="415751" name="Text Box 7"/>
          <p:cNvSpPr txBox="1">
            <a:spLocks noChangeArrowheads="1"/>
          </p:cNvSpPr>
          <p:nvPr/>
        </p:nvSpPr>
        <p:spPr bwMode="black">
          <a:xfrm>
            <a:off x="1040918" y="3738299"/>
            <a:ext cx="8610600" cy="523862"/>
          </a:xfrm>
          <a:prstGeom prst="rect">
            <a:avLst/>
          </a:prstGeom>
          <a:solidFill>
            <a:srgbClr val="E9EDF4"/>
          </a:solidFill>
          <a:ln w="9525">
            <a:solidFill>
              <a:schemeClr val="tx2"/>
            </a:solidFill>
            <a:miter lim="800000"/>
          </a:ln>
          <a:effectLst/>
        </p:spPr>
        <p:txBody>
          <a:bodyPr lIns="92075" tIns="46038" rIns="92075" bIns="46038">
            <a:spAutoFit/>
          </a:bodyPr>
          <a:lstStyle>
            <a:lvl1pPr marL="342900" indent="-342900" eaLnBrk="0" hangingPunct="0">
              <a:defRPr sz="1400" b="1">
                <a:solidFill>
                  <a:schemeClr val="tx1"/>
                </a:solidFill>
                <a:latin typeface="Arial" panose="020B0604020202020204" pitchFamily="34" charset="0"/>
                <a:ea typeface="宋体" panose="02010600030101010101" pitchFamily="2" charset="-122"/>
                <a:cs typeface="Arial" panose="020B0604020202020204" pitchFamily="34" charset="0"/>
              </a:defRPr>
            </a:lvl1pPr>
            <a:lvl2pPr marL="8001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2pPr>
            <a:lvl3pPr marL="12573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3pPr>
            <a:lvl4pPr marL="17145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4pPr>
            <a:lvl5pPr marL="21717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5pPr>
            <a:lvl6pPr marL="26289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6pPr>
            <a:lvl7pPr marL="30861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7pPr>
            <a:lvl8pPr marL="35433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8pPr>
            <a:lvl9pPr marL="40005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r>
              <a:rPr lang="en-US" altLang="zh-CN" b="0" i="1">
                <a:cs typeface="宋体" panose="02010600030101010101" pitchFamily="2" charset="-122"/>
              </a:rPr>
              <a:t>(constant)</a:t>
            </a:r>
          </a:p>
          <a:p>
            <a:pPr eaLnBrk="1" hangingPunct="1"/>
            <a:r>
              <a:rPr lang="en-US" altLang="zh-CN" b="0">
                <a:cs typeface="宋体" panose="02010600030101010101" pitchFamily="2" charset="-122"/>
              </a:rPr>
              <a:t>    10</a:t>
            </a:r>
            <a:endParaRPr lang="zh-CN" altLang="en-US" b="0">
              <a:cs typeface="宋体" panose="02010600030101010101" pitchFamily="2" charset="-122"/>
            </a:endParaRPr>
          </a:p>
        </p:txBody>
      </p:sp>
      <p:sp>
        <p:nvSpPr>
          <p:cNvPr id="415752" name="Text Box 8"/>
          <p:cNvSpPr txBox="1">
            <a:spLocks noChangeArrowheads="1"/>
          </p:cNvSpPr>
          <p:nvPr/>
        </p:nvSpPr>
        <p:spPr bwMode="black">
          <a:xfrm>
            <a:off x="1040918" y="3404924"/>
            <a:ext cx="8610600" cy="339196"/>
          </a:xfrm>
          <a:prstGeom prst="rect">
            <a:avLst/>
          </a:prstGeom>
          <a:noFill/>
          <a:ln w="9525">
            <a:solidFill>
              <a:schemeClr val="tx2"/>
            </a:solidFill>
            <a:miter lim="800000"/>
          </a:ln>
          <a:effectLst/>
        </p:spPr>
        <p:txBody>
          <a:bodyPr lIns="92075" tIns="46038" rIns="92075" bIns="46038">
            <a:spAutoFit/>
          </a:bodyPr>
          <a:lstStyle>
            <a:lvl1pPr marL="342900" indent="-342900" eaLnBrk="0" hangingPunct="0">
              <a:defRPr sz="1400" b="1">
                <a:solidFill>
                  <a:schemeClr val="tx1"/>
                </a:solidFill>
                <a:latin typeface="Arial" panose="020B0604020202020204" pitchFamily="34" charset="0"/>
                <a:ea typeface="宋体" panose="02010600030101010101" pitchFamily="2" charset="-122"/>
                <a:cs typeface="Arial" panose="020B0604020202020204" pitchFamily="34" charset="0"/>
              </a:defRPr>
            </a:lvl1pPr>
            <a:lvl2pPr marL="8001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2pPr>
            <a:lvl3pPr marL="12573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3pPr>
            <a:lvl4pPr marL="17145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4pPr>
            <a:lvl5pPr marL="21717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5pPr>
            <a:lvl6pPr marL="26289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6pPr>
            <a:lvl7pPr marL="30861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7pPr>
            <a:lvl8pPr marL="35433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8pPr>
            <a:lvl9pPr marL="40005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pPr>
            <a:r>
              <a:rPr lang="en-US" altLang="en-US" sz="1600" b="0">
                <a:sym typeface="+mn-ea"/>
              </a:rPr>
              <a:t>select first 1 </a:t>
            </a:r>
            <a:r>
              <a:rPr lang="en-US" altLang="zh-CN" sz="1600" b="0">
                <a:cs typeface="宋体" panose="02010600030101010101" pitchFamily="2" charset="-122"/>
                <a:sym typeface="+mn-ea"/>
              </a:rPr>
              <a:t>OCTET_LENGTH</a:t>
            </a:r>
            <a:r>
              <a:rPr lang="en-US" altLang="en-US" sz="1600" b="0">
                <a:sym typeface="+mn-ea"/>
              </a:rPr>
              <a:t>('1234567   ')  from student;</a:t>
            </a:r>
            <a:endParaRPr lang="en-US" altLang="zh-CN" sz="1600" b="0">
              <a:cs typeface="宋体" panose="02010600030101010101" pitchFamily="2" charset="-122"/>
            </a:endParaRPr>
          </a:p>
        </p:txBody>
      </p:sp>
      <p:sp>
        <p:nvSpPr>
          <p:cNvPr id="415754" name="Text Box 10"/>
          <p:cNvSpPr txBox="1">
            <a:spLocks noChangeArrowheads="1"/>
          </p:cNvSpPr>
          <p:nvPr/>
        </p:nvSpPr>
        <p:spPr bwMode="black">
          <a:xfrm>
            <a:off x="1056684" y="5219597"/>
            <a:ext cx="8610600" cy="523862"/>
          </a:xfrm>
          <a:prstGeom prst="rect">
            <a:avLst/>
          </a:prstGeom>
          <a:solidFill>
            <a:srgbClr val="E9EDF4"/>
          </a:solidFill>
          <a:ln w="9525">
            <a:solidFill>
              <a:schemeClr val="tx2"/>
            </a:solidFill>
            <a:miter lim="800000"/>
          </a:ln>
          <a:effectLst/>
        </p:spPr>
        <p:txBody>
          <a:bodyPr wrap="square" lIns="92075" tIns="46038" rIns="92075" bIns="46038">
            <a:spAutoFit/>
          </a:bodyPr>
          <a:lstStyle>
            <a:lvl1pPr marL="342900" indent="-342900" eaLnBrk="0" hangingPunct="0">
              <a:defRPr sz="1400" b="1">
                <a:solidFill>
                  <a:schemeClr val="tx1"/>
                </a:solidFill>
                <a:latin typeface="Arial" panose="020B0604020202020204" pitchFamily="34" charset="0"/>
                <a:ea typeface="宋体" panose="02010600030101010101" pitchFamily="2" charset="-122"/>
                <a:cs typeface="Arial" panose="020B0604020202020204" pitchFamily="34" charset="0"/>
              </a:defRPr>
            </a:lvl1pPr>
            <a:lvl2pPr marL="8001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2pPr>
            <a:lvl3pPr marL="12573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3pPr>
            <a:lvl4pPr marL="17145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4pPr>
            <a:lvl5pPr marL="21717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5pPr>
            <a:lvl6pPr marL="26289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6pPr>
            <a:lvl7pPr marL="30861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7pPr>
            <a:lvl8pPr marL="35433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8pPr>
            <a:lvl9pPr marL="40005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r>
              <a:rPr lang="en-US" altLang="zh-CN" b="0" i="1">
                <a:cs typeface="宋体" panose="02010600030101010101" pitchFamily="2" charset="-122"/>
              </a:rPr>
              <a:t>(constant)</a:t>
            </a:r>
          </a:p>
          <a:p>
            <a:pPr eaLnBrk="1" hangingPunct="1"/>
            <a:r>
              <a:rPr lang="en-US" altLang="zh-CN" b="0">
                <a:cs typeface="宋体" panose="02010600030101010101" pitchFamily="2" charset="-122"/>
              </a:rPr>
              <a:t>      10</a:t>
            </a:r>
            <a:endParaRPr lang="zh-CN" altLang="en-US" b="0">
              <a:cs typeface="宋体" panose="02010600030101010101" pitchFamily="2" charset="-122"/>
            </a:endParaRPr>
          </a:p>
        </p:txBody>
      </p:sp>
      <p:sp>
        <p:nvSpPr>
          <p:cNvPr id="415755" name="Text Box 11"/>
          <p:cNvSpPr txBox="1">
            <a:spLocks noChangeArrowheads="1"/>
          </p:cNvSpPr>
          <p:nvPr/>
        </p:nvSpPr>
        <p:spPr bwMode="black">
          <a:xfrm>
            <a:off x="1052348" y="4876697"/>
            <a:ext cx="8610600" cy="339196"/>
          </a:xfrm>
          <a:prstGeom prst="rect">
            <a:avLst/>
          </a:prstGeom>
          <a:noFill/>
          <a:ln w="9525">
            <a:solidFill>
              <a:schemeClr val="tx2"/>
            </a:solidFill>
            <a:miter lim="800000"/>
          </a:ln>
          <a:effectLst/>
        </p:spPr>
        <p:txBody>
          <a:bodyPr wrap="square" lIns="92075" tIns="46038" rIns="92075" bIns="46038">
            <a:spAutoFit/>
          </a:bodyPr>
          <a:lstStyle>
            <a:lvl1pPr marL="342900" indent="-342900" eaLnBrk="0" hangingPunct="0">
              <a:defRPr sz="1400" b="1">
                <a:solidFill>
                  <a:schemeClr val="tx1"/>
                </a:solidFill>
                <a:latin typeface="Arial" panose="020B0604020202020204" pitchFamily="34" charset="0"/>
                <a:ea typeface="宋体" panose="02010600030101010101" pitchFamily="2" charset="-122"/>
                <a:cs typeface="Arial" panose="020B0604020202020204" pitchFamily="34" charset="0"/>
              </a:defRPr>
            </a:lvl1pPr>
            <a:lvl2pPr marL="8001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2pPr>
            <a:lvl3pPr marL="12573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3pPr>
            <a:lvl4pPr marL="17145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4pPr>
            <a:lvl5pPr marL="21717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5pPr>
            <a:lvl6pPr marL="26289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6pPr>
            <a:lvl7pPr marL="30861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7pPr>
            <a:lvl8pPr marL="35433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8pPr>
            <a:lvl9pPr marL="40005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pPr>
            <a:r>
              <a:rPr lang="en-US" altLang="en-US" sz="1600" b="0">
                <a:sym typeface="+mn-ea"/>
              </a:rPr>
              <a:t>select first 1 </a:t>
            </a:r>
            <a:r>
              <a:rPr lang="en-US" altLang="zh-CN" sz="1600" b="0">
                <a:cs typeface="宋体" panose="02010600030101010101" pitchFamily="2" charset="-122"/>
                <a:sym typeface="+mn-ea"/>
              </a:rPr>
              <a:t>char_LENGTH</a:t>
            </a:r>
            <a:r>
              <a:rPr lang="en-US" altLang="en-US" sz="1600" b="0">
                <a:sym typeface="+mn-ea"/>
              </a:rPr>
              <a:t>('1234567   ')  from student;</a:t>
            </a:r>
            <a:endParaRPr lang="en-US" altLang="zh-CN" sz="1600" b="0">
              <a:cs typeface="宋体" panose="0201060003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858" name="Rectangle 2"/>
          <p:cNvSpPr>
            <a:spLocks noGrp="1" noChangeArrowheads="1"/>
          </p:cNvSpPr>
          <p:nvPr>
            <p:ph type="title"/>
          </p:nvPr>
        </p:nvSpPr>
        <p:spPr/>
        <p:txBody>
          <a:bodyPr/>
          <a:lstStyle/>
          <a:p>
            <a:r>
              <a:rPr lang="zh-CN" altLang="en-US">
                <a:latin typeface="Arial" panose="020B0604020202020204" pitchFamily="34" charset="0"/>
                <a:cs typeface="宋体" panose="02010600030101010101" pitchFamily="2" charset="-122"/>
              </a:rPr>
              <a:t>数据转换函数</a:t>
            </a:r>
          </a:p>
        </p:txBody>
      </p:sp>
      <p:graphicFrame>
        <p:nvGraphicFramePr>
          <p:cNvPr id="2" name="表格 1"/>
          <p:cNvGraphicFramePr/>
          <p:nvPr/>
        </p:nvGraphicFramePr>
        <p:xfrm>
          <a:off x="1360739" y="2678627"/>
          <a:ext cx="9265220" cy="1524000"/>
        </p:xfrm>
        <a:graphic>
          <a:graphicData uri="http://schemas.openxmlformats.org/drawingml/2006/table">
            <a:tbl>
              <a:tblPr firstRow="1" bandRow="1">
                <a:tableStyleId>{5940675A-B579-460E-94D1-54222C63F5DA}</a:tableStyleId>
              </a:tblPr>
              <a:tblGrid>
                <a:gridCol w="3314687"/>
                <a:gridCol w="5950533"/>
              </a:tblGrid>
              <a:tr h="381000">
                <a:tc>
                  <a:txBody>
                    <a:bodyPr/>
                    <a:lstStyle/>
                    <a:p>
                      <a:pPr algn="ctr">
                        <a:buNone/>
                      </a:pPr>
                      <a:r>
                        <a:rPr lang="zh-CN" altLang="en-US" b="1"/>
                        <a:t>函  数</a:t>
                      </a:r>
                    </a:p>
                  </a:txBody>
                  <a:tcPr>
                    <a:solidFill>
                      <a:schemeClr val="bg1">
                        <a:lumMod val="85000"/>
                      </a:schemeClr>
                    </a:solidFill>
                  </a:tcPr>
                </a:tc>
                <a:tc>
                  <a:txBody>
                    <a:bodyPr/>
                    <a:lstStyle/>
                    <a:p>
                      <a:pPr algn="ctr">
                        <a:buNone/>
                      </a:pPr>
                      <a:r>
                        <a:rPr lang="zh-CN" altLang="en-US" b="1"/>
                        <a:t>功  能</a:t>
                      </a:r>
                    </a:p>
                  </a:txBody>
                  <a:tcPr>
                    <a:solidFill>
                      <a:schemeClr val="bg1">
                        <a:lumMod val="85000"/>
                      </a:schemeClr>
                    </a:solidFill>
                  </a:tcPr>
                </a:tc>
              </a:tr>
              <a:tr h="381000">
                <a:tc>
                  <a:txBody>
                    <a:bodyPr/>
                    <a:lstStyle/>
                    <a:p>
                      <a:pPr>
                        <a:buNone/>
                      </a:pPr>
                      <a:r>
                        <a:rPr lang="en-US" altLang="zh-CN" sz="1600"/>
                        <a:t>TO_NUMBER</a:t>
                      </a:r>
                    </a:p>
                  </a:txBody>
                  <a:tcPr/>
                </a:tc>
                <a:tc>
                  <a:txBody>
                    <a:bodyPr/>
                    <a:lstStyle/>
                    <a:p>
                      <a:pPr>
                        <a:buNone/>
                      </a:pPr>
                      <a:r>
                        <a:rPr lang="zh-CN" altLang="en-US" sz="1600" dirty="0"/>
                        <a:t>将数值或字符表达式转换成</a:t>
                      </a:r>
                      <a:r>
                        <a:rPr lang="en-US" altLang="zh-CN" sz="1600" dirty="0"/>
                        <a:t>decimal</a:t>
                      </a:r>
                      <a:r>
                        <a:rPr lang="zh-CN" altLang="en-US" sz="1600" dirty="0"/>
                        <a:t>数据类型</a:t>
                      </a:r>
                    </a:p>
                  </a:txBody>
                  <a:tcPr/>
                </a:tc>
              </a:tr>
              <a:tr h="381000">
                <a:tc>
                  <a:txBody>
                    <a:bodyPr/>
                    <a:lstStyle/>
                    <a:p>
                      <a:pPr>
                        <a:buNone/>
                      </a:pPr>
                      <a:r>
                        <a:rPr lang="en-US" altLang="zh-CN" sz="1600"/>
                        <a:t>TO_CHAR</a:t>
                      </a:r>
                    </a:p>
                  </a:txBody>
                  <a:tcPr/>
                </a:tc>
                <a:tc>
                  <a:txBody>
                    <a:bodyPr/>
                    <a:lstStyle/>
                    <a:p>
                      <a:pPr>
                        <a:buNone/>
                      </a:pPr>
                      <a:r>
                        <a:rPr lang="zh-CN" altLang="en-US" sz="1600" dirty="0"/>
                        <a:t>将</a:t>
                      </a:r>
                      <a:r>
                        <a:rPr lang="en-US" altLang="zh-CN" sz="1600" dirty="0"/>
                        <a:t>date</a:t>
                      </a:r>
                      <a:r>
                        <a:rPr lang="zh-CN" altLang="en-US" sz="1600" dirty="0"/>
                        <a:t>、</a:t>
                      </a:r>
                      <a:r>
                        <a:rPr lang="en-US" altLang="zh-CN" sz="1600" dirty="0" err="1"/>
                        <a:t>datetime</a:t>
                      </a:r>
                      <a:r>
                        <a:rPr lang="zh-CN" altLang="en-US" sz="1600" dirty="0"/>
                        <a:t>或数值的表达式转换为字符串</a:t>
                      </a:r>
                    </a:p>
                  </a:txBody>
                  <a:tcPr/>
                </a:tc>
              </a:tr>
              <a:tr h="381000">
                <a:tc>
                  <a:txBody>
                    <a:bodyPr/>
                    <a:lstStyle/>
                    <a:p>
                      <a:pPr>
                        <a:buNone/>
                      </a:pPr>
                      <a:r>
                        <a:rPr lang="en-US" altLang="zh-CN" sz="1600"/>
                        <a:t>TO_DATE</a:t>
                      </a:r>
                    </a:p>
                  </a:txBody>
                  <a:tcPr/>
                </a:tc>
                <a:tc>
                  <a:txBody>
                    <a:bodyPr/>
                    <a:lstStyle/>
                    <a:p>
                      <a:pPr>
                        <a:buNone/>
                      </a:pPr>
                      <a:r>
                        <a:rPr lang="zh-CN" altLang="en-US" sz="1600" dirty="0"/>
                        <a:t>函数将字符串转换成</a:t>
                      </a:r>
                      <a:r>
                        <a:rPr lang="en-US" altLang="zh-CN" sz="1600" dirty="0" err="1"/>
                        <a:t>datetime</a:t>
                      </a:r>
                      <a:r>
                        <a:rPr lang="zh-CN" altLang="en-US" sz="1600" dirty="0"/>
                        <a:t>值</a:t>
                      </a:r>
                    </a:p>
                  </a:txBody>
                  <a:tcPr/>
                </a:tc>
              </a:tr>
            </a:tbl>
          </a:graphicData>
        </a:graphic>
      </p:graphicFrame>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386" name="Rectangle 2"/>
          <p:cNvSpPr>
            <a:spLocks noGrp="1" noChangeArrowheads="1"/>
          </p:cNvSpPr>
          <p:nvPr>
            <p:ph type="title"/>
          </p:nvPr>
        </p:nvSpPr>
        <p:spPr/>
        <p:txBody>
          <a:bodyPr/>
          <a:lstStyle/>
          <a:p>
            <a:r>
              <a:rPr lang="zh-CN" altLang="en-US">
                <a:latin typeface="Arial" panose="020B0604020202020204" pitchFamily="34" charset="0"/>
                <a:cs typeface="宋体" panose="02010600030101010101" pitchFamily="2" charset="-122"/>
              </a:rPr>
              <a:t>数据转换函数</a:t>
            </a:r>
          </a:p>
        </p:txBody>
      </p:sp>
      <p:sp>
        <p:nvSpPr>
          <p:cNvPr id="400387" name="Rectangle 3"/>
          <p:cNvSpPr>
            <a:spLocks noGrp="1" noChangeArrowheads="1"/>
          </p:cNvSpPr>
          <p:nvPr>
            <p:ph type="body" sz="quarter" idx="10"/>
          </p:nvPr>
        </p:nvSpPr>
        <p:spPr>
          <a:xfrm>
            <a:off x="755650" y="1421934"/>
            <a:ext cx="10718800" cy="4888767"/>
          </a:xfrm>
        </p:spPr>
        <p:txBody>
          <a:bodyPr/>
          <a:lstStyle/>
          <a:p>
            <a:pPr>
              <a:lnSpc>
                <a:spcPct val="90000"/>
              </a:lnSpc>
            </a:pPr>
            <a:r>
              <a:rPr lang="en-US" altLang="zh-CN" dirty="0">
                <a:cs typeface="宋体" panose="02010600030101010101" pitchFamily="2" charset="-122"/>
              </a:rPr>
              <a:t>TO_NUMBER    </a:t>
            </a:r>
            <a:r>
              <a:rPr lang="zh-CN" altLang="en-US" sz="1600" dirty="0">
                <a:cs typeface="宋体" panose="02010600030101010101" pitchFamily="2" charset="-122"/>
              </a:rPr>
              <a:t>函数可以将代表数值的数字或字符表达式转换成</a:t>
            </a:r>
            <a:r>
              <a:rPr lang="en-US" altLang="zh-CN" sz="1600" dirty="0">
                <a:cs typeface="宋体" panose="02010600030101010101" pitchFamily="2" charset="-122"/>
              </a:rPr>
              <a:t>decimal</a:t>
            </a:r>
            <a:r>
              <a:rPr lang="zh-CN" altLang="en-US" sz="1600" dirty="0">
                <a:cs typeface="宋体" panose="02010600030101010101" pitchFamily="2" charset="-122"/>
              </a:rPr>
              <a:t>数据类型</a:t>
            </a:r>
            <a:endParaRPr lang="en-US" altLang="zh-CN" dirty="0">
              <a:cs typeface="宋体" panose="02010600030101010101" pitchFamily="2" charset="-122"/>
            </a:endParaRPr>
          </a:p>
          <a:p>
            <a:pPr marL="0" indent="0">
              <a:lnSpc>
                <a:spcPct val="90000"/>
              </a:lnSpc>
              <a:buNone/>
            </a:pPr>
            <a:endParaRPr lang="en-US" altLang="zh-CN" sz="3200" dirty="0">
              <a:cs typeface="宋体" panose="02010600030101010101" pitchFamily="2" charset="-122"/>
            </a:endParaRPr>
          </a:p>
          <a:p>
            <a:pPr>
              <a:lnSpc>
                <a:spcPct val="90000"/>
              </a:lnSpc>
            </a:pPr>
            <a:endParaRPr lang="en-US" altLang="zh-CN" dirty="0">
              <a:cs typeface="宋体" panose="02010600030101010101" pitchFamily="2" charset="-122"/>
            </a:endParaRPr>
          </a:p>
          <a:p>
            <a:pPr>
              <a:lnSpc>
                <a:spcPct val="90000"/>
              </a:lnSpc>
            </a:pPr>
            <a:r>
              <a:rPr lang="en-US" altLang="zh-CN" dirty="0">
                <a:cs typeface="宋体" panose="02010600030101010101" pitchFamily="2" charset="-122"/>
              </a:rPr>
              <a:t>TO_CHAR    </a:t>
            </a:r>
            <a:r>
              <a:rPr lang="zh-CN" altLang="en-US" sz="1600" dirty="0">
                <a:cs typeface="宋体" panose="02010600030101010101" pitchFamily="2" charset="-122"/>
              </a:rPr>
              <a:t>函数将计算为</a:t>
            </a:r>
            <a:r>
              <a:rPr lang="en-US" altLang="zh-CN" sz="1600" dirty="0">
                <a:cs typeface="宋体" panose="02010600030101010101" pitchFamily="2" charset="-122"/>
              </a:rPr>
              <a:t>date</a:t>
            </a:r>
            <a:r>
              <a:rPr lang="zh-CN" altLang="en-US" sz="1600" dirty="0">
                <a:cs typeface="宋体" panose="02010600030101010101" pitchFamily="2" charset="-122"/>
              </a:rPr>
              <a:t>、</a:t>
            </a:r>
            <a:r>
              <a:rPr lang="en-US" altLang="zh-CN" sz="1600" dirty="0" err="1">
                <a:cs typeface="宋体" panose="02010600030101010101" pitchFamily="2" charset="-122"/>
              </a:rPr>
              <a:t>datetime</a:t>
            </a:r>
            <a:r>
              <a:rPr lang="zh-CN" altLang="en-US" sz="1600" dirty="0">
                <a:cs typeface="宋体" panose="02010600030101010101" pitchFamily="2" charset="-122"/>
              </a:rPr>
              <a:t>或数值的表达式转换为字符串。</a:t>
            </a:r>
            <a:endParaRPr lang="en-US" altLang="zh-CN" sz="1600" dirty="0">
              <a:cs typeface="宋体" panose="02010600030101010101" pitchFamily="2" charset="-122"/>
            </a:endParaRPr>
          </a:p>
          <a:p>
            <a:pPr marL="0" indent="0">
              <a:lnSpc>
                <a:spcPct val="90000"/>
              </a:lnSpc>
              <a:buNone/>
            </a:pPr>
            <a:endParaRPr lang="en-US" altLang="zh-CN" sz="3200" dirty="0">
              <a:cs typeface="宋体" panose="02010600030101010101" pitchFamily="2" charset="-122"/>
            </a:endParaRPr>
          </a:p>
          <a:p>
            <a:pPr>
              <a:lnSpc>
                <a:spcPct val="90000"/>
              </a:lnSpc>
            </a:pPr>
            <a:endParaRPr lang="en-US" altLang="zh-CN" dirty="0">
              <a:cs typeface="宋体" panose="02010600030101010101" pitchFamily="2" charset="-122"/>
            </a:endParaRPr>
          </a:p>
          <a:p>
            <a:pPr>
              <a:lnSpc>
                <a:spcPct val="90000"/>
              </a:lnSpc>
            </a:pPr>
            <a:r>
              <a:rPr lang="en-US" altLang="zh-CN" dirty="0">
                <a:cs typeface="宋体" panose="02010600030101010101" pitchFamily="2" charset="-122"/>
              </a:rPr>
              <a:t>TO_DATE    </a:t>
            </a:r>
            <a:r>
              <a:rPr lang="zh-CN" altLang="en-US" sz="1600" dirty="0">
                <a:cs typeface="宋体" panose="02010600030101010101" pitchFamily="2" charset="-122"/>
              </a:rPr>
              <a:t>函数将字符串转换成</a:t>
            </a:r>
            <a:r>
              <a:rPr lang="en-US" altLang="zh-CN" sz="1600" dirty="0" err="1">
                <a:cs typeface="宋体" panose="02010600030101010101" pitchFamily="2" charset="-122"/>
              </a:rPr>
              <a:t>datetime</a:t>
            </a:r>
            <a:r>
              <a:rPr lang="zh-CN" altLang="en-US" sz="1600" dirty="0">
                <a:cs typeface="宋体" panose="02010600030101010101" pitchFamily="2" charset="-122"/>
              </a:rPr>
              <a:t>值</a:t>
            </a:r>
            <a:endParaRPr lang="en-US" altLang="zh-CN" sz="1600" dirty="0">
              <a:cs typeface="宋体" panose="02010600030101010101" pitchFamily="2" charset="-122"/>
            </a:endParaRPr>
          </a:p>
        </p:txBody>
      </p:sp>
      <p:sp>
        <p:nvSpPr>
          <p:cNvPr id="400388" name="Text Box 4"/>
          <p:cNvSpPr txBox="1">
            <a:spLocks noChangeArrowheads="1"/>
          </p:cNvSpPr>
          <p:nvPr/>
        </p:nvSpPr>
        <p:spPr bwMode="black">
          <a:xfrm>
            <a:off x="1005052" y="2209005"/>
            <a:ext cx="8610600" cy="523862"/>
          </a:xfrm>
          <a:prstGeom prst="rect">
            <a:avLst/>
          </a:prstGeom>
          <a:solidFill>
            <a:srgbClr val="E9EDF4"/>
          </a:solidFill>
          <a:ln w="9525">
            <a:solidFill>
              <a:schemeClr val="tx2"/>
            </a:solidFill>
            <a:miter lim="800000"/>
          </a:ln>
          <a:effectLst/>
        </p:spPr>
        <p:txBody>
          <a:bodyPr lIns="92075" tIns="46038" rIns="92075" bIns="46038">
            <a:spAutoFit/>
          </a:bodyPr>
          <a:lstStyle>
            <a:lvl1pPr marL="342900" indent="-342900" eaLnBrk="0" hangingPunct="0">
              <a:defRPr sz="1400" b="1">
                <a:solidFill>
                  <a:schemeClr val="tx1"/>
                </a:solidFill>
                <a:latin typeface="Arial" panose="020B0604020202020204" pitchFamily="34" charset="0"/>
                <a:ea typeface="宋体" panose="02010600030101010101" pitchFamily="2" charset="-122"/>
                <a:cs typeface="Arial" panose="020B0604020202020204" pitchFamily="34" charset="0"/>
              </a:defRPr>
            </a:lvl1pPr>
            <a:lvl2pPr marL="8001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2pPr>
            <a:lvl3pPr marL="12573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3pPr>
            <a:lvl4pPr marL="17145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4pPr>
            <a:lvl5pPr marL="21717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5pPr>
            <a:lvl6pPr marL="26289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6pPr>
            <a:lvl7pPr marL="30861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7pPr>
            <a:lvl8pPr marL="35433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8pPr>
            <a:lvl9pPr marL="40005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r>
              <a:rPr lang="en-US" altLang="zh-CN" b="0" i="1">
                <a:cs typeface="宋体" panose="02010600030101010101" pitchFamily="2" charset="-122"/>
              </a:rPr>
              <a:t> (constant)</a:t>
            </a:r>
          </a:p>
          <a:p>
            <a:pPr eaLnBrk="1" hangingPunct="1"/>
            <a:r>
              <a:rPr lang="en-US" altLang="zh-CN" b="0">
                <a:cs typeface="宋体" panose="02010600030101010101" pitchFamily="2" charset="-122"/>
              </a:rPr>
              <a:t>100.000000000000</a:t>
            </a:r>
            <a:endParaRPr lang="zh-CN" altLang="en-US" b="0">
              <a:cs typeface="宋体" panose="02010600030101010101" pitchFamily="2" charset="-122"/>
            </a:endParaRPr>
          </a:p>
        </p:txBody>
      </p:sp>
      <p:sp>
        <p:nvSpPr>
          <p:cNvPr id="400389" name="Text Box 5"/>
          <p:cNvSpPr txBox="1">
            <a:spLocks noChangeArrowheads="1"/>
          </p:cNvSpPr>
          <p:nvPr/>
        </p:nvSpPr>
        <p:spPr bwMode="black">
          <a:xfrm>
            <a:off x="1005052" y="1876265"/>
            <a:ext cx="8610600" cy="339196"/>
          </a:xfrm>
          <a:prstGeom prst="rect">
            <a:avLst/>
          </a:prstGeom>
          <a:noFill/>
          <a:ln w="9525">
            <a:solidFill>
              <a:schemeClr val="tx2"/>
            </a:solidFill>
            <a:miter lim="800000"/>
          </a:ln>
          <a:effectLst/>
        </p:spPr>
        <p:txBody>
          <a:bodyPr lIns="92075" tIns="46038" rIns="92075" bIns="46038">
            <a:spAutoFit/>
          </a:bodyPr>
          <a:lstStyle>
            <a:lvl1pPr marL="342900" indent="-342900" eaLnBrk="0" hangingPunct="0">
              <a:defRPr sz="1400" b="1">
                <a:solidFill>
                  <a:schemeClr val="tx1"/>
                </a:solidFill>
                <a:latin typeface="Arial" panose="020B0604020202020204" pitchFamily="34" charset="0"/>
                <a:ea typeface="宋体" panose="02010600030101010101" pitchFamily="2" charset="-122"/>
                <a:cs typeface="Arial" panose="020B0604020202020204" pitchFamily="34" charset="0"/>
              </a:defRPr>
            </a:lvl1pPr>
            <a:lvl2pPr marL="8001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2pPr>
            <a:lvl3pPr marL="12573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3pPr>
            <a:lvl4pPr marL="17145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4pPr>
            <a:lvl5pPr marL="21717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5pPr>
            <a:lvl6pPr marL="26289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6pPr>
            <a:lvl7pPr marL="30861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7pPr>
            <a:lvl8pPr marL="35433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8pPr>
            <a:lvl9pPr marL="40005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r>
              <a:rPr lang="en-US" altLang="zh-CN" sz="1600" b="0" dirty="0">
                <a:cs typeface="宋体" panose="02010600030101010101" pitchFamily="2" charset="-122"/>
              </a:rPr>
              <a:t>SELECT TO_NUMBER('</a:t>
            </a:r>
            <a:r>
              <a:rPr lang="zh-CN" altLang="en-US" sz="1600" b="0" dirty="0">
                <a:cs typeface="宋体" panose="02010600030101010101" pitchFamily="2" charset="-122"/>
              </a:rPr>
              <a:t>￥</a:t>
            </a:r>
            <a:r>
              <a:rPr lang="en-US" altLang="zh-CN" sz="1600" b="0" dirty="0">
                <a:cs typeface="宋体" panose="02010600030101010101" pitchFamily="2" charset="-122"/>
              </a:rPr>
              <a:t>100') FROM </a:t>
            </a:r>
            <a:r>
              <a:rPr lang="en-US" altLang="zh-CN" sz="1600" b="0" dirty="0" err="1">
                <a:cs typeface="宋体" panose="02010600030101010101" pitchFamily="2" charset="-122"/>
              </a:rPr>
              <a:t>systables</a:t>
            </a:r>
            <a:r>
              <a:rPr lang="en-US" altLang="zh-CN" sz="1600" b="0" dirty="0">
                <a:cs typeface="宋体" panose="02010600030101010101" pitchFamily="2" charset="-122"/>
              </a:rPr>
              <a:t> WHERE </a:t>
            </a:r>
            <a:r>
              <a:rPr lang="en-US" altLang="zh-CN" sz="1600" b="0" dirty="0" err="1">
                <a:cs typeface="宋体" panose="02010600030101010101" pitchFamily="2" charset="-122"/>
              </a:rPr>
              <a:t>tabid</a:t>
            </a:r>
            <a:r>
              <a:rPr lang="en-US" altLang="zh-CN" sz="1600" b="0" dirty="0">
                <a:cs typeface="宋体" panose="02010600030101010101" pitchFamily="2" charset="-122"/>
              </a:rPr>
              <a:t> = 1;</a:t>
            </a:r>
          </a:p>
        </p:txBody>
      </p:sp>
      <p:sp>
        <p:nvSpPr>
          <p:cNvPr id="400393" name="Rectangle 9"/>
          <p:cNvSpPr>
            <a:spLocks noChangeArrowheads="1"/>
          </p:cNvSpPr>
          <p:nvPr/>
        </p:nvSpPr>
        <p:spPr bwMode="auto">
          <a:xfrm>
            <a:off x="1009498" y="2939359"/>
            <a:ext cx="8804275" cy="431800"/>
          </a:xfrm>
          <a:prstGeom prst="rect">
            <a:avLst/>
          </a:prstGeom>
          <a:noFill/>
          <a:ln>
            <a:noFill/>
          </a:ln>
        </p:spPr>
        <p:txBody>
          <a:bodyPr lIns="92075" tIns="46038" rIns="92075" bIns="46038"/>
          <a:lstStyle/>
          <a:p>
            <a:pPr marL="228600" indent="-228600" eaLnBrk="0" hangingPunct="0">
              <a:lnSpc>
                <a:spcPct val="90000"/>
              </a:lnSpc>
              <a:buClr>
                <a:schemeClr val="accent2"/>
              </a:buClr>
              <a:buFont typeface="Wingdings" panose="05000000000000000000" charset="0"/>
              <a:buChar char="§"/>
            </a:pPr>
            <a:endParaRPr lang="en-US" altLang="zh-CN" dirty="0">
              <a:cs typeface="宋体" panose="02010600030101010101" pitchFamily="2" charset="-122"/>
            </a:endParaRPr>
          </a:p>
        </p:txBody>
      </p:sp>
      <p:sp>
        <p:nvSpPr>
          <p:cNvPr id="400394" name="Text Box 10"/>
          <p:cNvSpPr txBox="1">
            <a:spLocks noChangeArrowheads="1"/>
          </p:cNvSpPr>
          <p:nvPr/>
        </p:nvSpPr>
        <p:spPr bwMode="black">
          <a:xfrm>
            <a:off x="1005052" y="3693739"/>
            <a:ext cx="8610600" cy="523862"/>
          </a:xfrm>
          <a:prstGeom prst="rect">
            <a:avLst/>
          </a:prstGeom>
          <a:solidFill>
            <a:srgbClr val="E9EDF4"/>
          </a:solidFill>
          <a:ln w="9525">
            <a:solidFill>
              <a:schemeClr val="tx2"/>
            </a:solidFill>
            <a:miter lim="800000"/>
          </a:ln>
          <a:effectLst/>
        </p:spPr>
        <p:txBody>
          <a:bodyPr lIns="92075" tIns="46038" rIns="92075" bIns="46038">
            <a:spAutoFit/>
          </a:bodyPr>
          <a:lstStyle>
            <a:lvl1pPr marL="342900" indent="-342900" eaLnBrk="0" hangingPunct="0">
              <a:defRPr sz="1400" b="1">
                <a:solidFill>
                  <a:schemeClr val="tx1"/>
                </a:solidFill>
                <a:latin typeface="Arial" panose="020B0604020202020204" pitchFamily="34" charset="0"/>
                <a:ea typeface="宋体" panose="02010600030101010101" pitchFamily="2" charset="-122"/>
                <a:cs typeface="Arial" panose="020B0604020202020204" pitchFamily="34" charset="0"/>
              </a:defRPr>
            </a:lvl1pPr>
            <a:lvl2pPr marL="8001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2pPr>
            <a:lvl3pPr marL="12573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3pPr>
            <a:lvl4pPr marL="17145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4pPr>
            <a:lvl5pPr marL="21717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5pPr>
            <a:lvl6pPr marL="26289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6pPr>
            <a:lvl7pPr marL="30861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7pPr>
            <a:lvl8pPr marL="35433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8pPr>
            <a:lvl9pPr marL="40005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r>
              <a:rPr lang="en-US" altLang="zh-CN" b="0" i="1">
                <a:cs typeface="宋体" panose="02010600030101010101" pitchFamily="2" charset="-122"/>
              </a:rPr>
              <a:t>(expression)       2016-05-26 00:33:13.000</a:t>
            </a:r>
          </a:p>
          <a:p>
            <a:pPr eaLnBrk="1" hangingPunct="1"/>
            <a:r>
              <a:rPr lang="en-US" altLang="zh-CN" b="0">
                <a:cs typeface="宋体" panose="02010600030101010101" pitchFamily="2" charset="-122"/>
              </a:rPr>
              <a:t>(expression)       2016 05 26 00 33 13 星期四  5月 00:33</a:t>
            </a:r>
          </a:p>
        </p:txBody>
      </p:sp>
      <p:sp>
        <p:nvSpPr>
          <p:cNvPr id="400395" name="Text Box 11"/>
          <p:cNvSpPr txBox="1">
            <a:spLocks noChangeArrowheads="1"/>
          </p:cNvSpPr>
          <p:nvPr/>
        </p:nvSpPr>
        <p:spPr bwMode="black">
          <a:xfrm>
            <a:off x="1006322" y="3367984"/>
            <a:ext cx="8610600" cy="339196"/>
          </a:xfrm>
          <a:prstGeom prst="rect">
            <a:avLst/>
          </a:prstGeom>
          <a:noFill/>
          <a:ln w="9525">
            <a:solidFill>
              <a:schemeClr val="tx2"/>
            </a:solidFill>
            <a:miter lim="800000"/>
          </a:ln>
          <a:effectLst/>
        </p:spPr>
        <p:txBody>
          <a:bodyPr wrap="square" lIns="92075" tIns="46038" rIns="92075" bIns="46038">
            <a:spAutoFit/>
          </a:bodyPr>
          <a:lstStyle>
            <a:lvl1pPr marL="342900" indent="-342900" eaLnBrk="0" hangingPunct="0">
              <a:defRPr sz="1400" b="1">
                <a:solidFill>
                  <a:schemeClr val="tx1"/>
                </a:solidFill>
                <a:latin typeface="Arial" panose="020B0604020202020204" pitchFamily="34" charset="0"/>
                <a:ea typeface="宋体" panose="02010600030101010101" pitchFamily="2" charset="-122"/>
                <a:cs typeface="Arial" panose="020B0604020202020204" pitchFamily="34" charset="0"/>
              </a:defRPr>
            </a:lvl1pPr>
            <a:lvl2pPr marL="8001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2pPr>
            <a:lvl3pPr marL="12573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3pPr>
            <a:lvl4pPr marL="17145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4pPr>
            <a:lvl5pPr marL="21717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5pPr>
            <a:lvl6pPr marL="26289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6pPr>
            <a:lvl7pPr marL="30861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7pPr>
            <a:lvl8pPr marL="35433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8pPr>
            <a:lvl9pPr marL="40005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pPr>
            <a:r>
              <a:rPr lang="en-US" altLang="zh-CN" sz="1600" b="0">
                <a:cs typeface="宋体" panose="02010600030101010101" pitchFamily="2" charset="-122"/>
              </a:rPr>
              <a:t>select first 1 current, to_char(current,'%Y %m %d %H %M %S %A %B %R') from student;</a:t>
            </a:r>
          </a:p>
        </p:txBody>
      </p:sp>
      <p:sp>
        <p:nvSpPr>
          <p:cNvPr id="400396" name="Rectangle 12"/>
          <p:cNvSpPr>
            <a:spLocks noChangeArrowheads="1"/>
          </p:cNvSpPr>
          <p:nvPr/>
        </p:nvSpPr>
        <p:spPr bwMode="auto">
          <a:xfrm>
            <a:off x="1008228" y="4591455"/>
            <a:ext cx="8804275" cy="431800"/>
          </a:xfrm>
          <a:prstGeom prst="rect">
            <a:avLst/>
          </a:prstGeom>
          <a:noFill/>
          <a:ln>
            <a:noFill/>
          </a:ln>
        </p:spPr>
        <p:txBody>
          <a:bodyPr lIns="92075" tIns="46038" rIns="92075" bIns="46038"/>
          <a:lstStyle/>
          <a:p>
            <a:pPr marL="228600" indent="-228600" eaLnBrk="0" hangingPunct="0">
              <a:lnSpc>
                <a:spcPct val="90000"/>
              </a:lnSpc>
              <a:buClr>
                <a:schemeClr val="accent2"/>
              </a:buClr>
              <a:buFont typeface="Wingdings" panose="05000000000000000000" charset="0"/>
              <a:buChar char="§"/>
            </a:pPr>
            <a:endParaRPr lang="en-US" altLang="zh-CN" dirty="0">
              <a:cs typeface="宋体" panose="02010600030101010101" pitchFamily="2" charset="-122"/>
            </a:endParaRPr>
          </a:p>
        </p:txBody>
      </p:sp>
      <p:sp>
        <p:nvSpPr>
          <p:cNvPr id="400397" name="Text Box 13"/>
          <p:cNvSpPr txBox="1">
            <a:spLocks noChangeArrowheads="1"/>
          </p:cNvSpPr>
          <p:nvPr/>
        </p:nvSpPr>
        <p:spPr bwMode="black">
          <a:xfrm>
            <a:off x="1005052" y="5178473"/>
            <a:ext cx="8610600" cy="523862"/>
          </a:xfrm>
          <a:prstGeom prst="rect">
            <a:avLst/>
          </a:prstGeom>
          <a:solidFill>
            <a:srgbClr val="E9EDF4"/>
          </a:solidFill>
          <a:ln w="9525">
            <a:solidFill>
              <a:schemeClr val="tx2"/>
            </a:solidFill>
            <a:miter lim="800000"/>
          </a:ln>
          <a:effectLst/>
        </p:spPr>
        <p:txBody>
          <a:bodyPr lIns="92075" tIns="46038" rIns="92075" bIns="46038">
            <a:spAutoFit/>
          </a:bodyPr>
          <a:lstStyle>
            <a:lvl1pPr marL="342900" indent="-342900" eaLnBrk="0" hangingPunct="0">
              <a:defRPr sz="1400" b="1">
                <a:solidFill>
                  <a:schemeClr val="tx1"/>
                </a:solidFill>
                <a:latin typeface="Arial" panose="020B0604020202020204" pitchFamily="34" charset="0"/>
                <a:ea typeface="宋体" panose="02010600030101010101" pitchFamily="2" charset="-122"/>
                <a:cs typeface="Arial" panose="020B0604020202020204" pitchFamily="34" charset="0"/>
              </a:defRPr>
            </a:lvl1pPr>
            <a:lvl2pPr marL="8001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2pPr>
            <a:lvl3pPr marL="12573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3pPr>
            <a:lvl4pPr marL="17145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4pPr>
            <a:lvl5pPr marL="21717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5pPr>
            <a:lvl6pPr marL="26289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6pPr>
            <a:lvl7pPr marL="30861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7pPr>
            <a:lvl8pPr marL="35433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8pPr>
            <a:lvl9pPr marL="40005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r>
              <a:rPr lang="en-US" altLang="zh-CN" b="0" i="1">
                <a:cs typeface="宋体" panose="02010600030101010101" pitchFamily="2" charset="-122"/>
              </a:rPr>
              <a:t>(constant)</a:t>
            </a:r>
          </a:p>
          <a:p>
            <a:pPr eaLnBrk="1" hangingPunct="1"/>
            <a:r>
              <a:rPr lang="en-US" altLang="zh-CN" b="0">
                <a:cs typeface="宋体" panose="02010600030101010101" pitchFamily="2" charset="-122"/>
              </a:rPr>
              <a:t>2008-06-12 08:20:00.00000</a:t>
            </a:r>
          </a:p>
        </p:txBody>
      </p:sp>
      <p:sp>
        <p:nvSpPr>
          <p:cNvPr id="400398" name="Text Box 14"/>
          <p:cNvSpPr txBox="1">
            <a:spLocks noChangeArrowheads="1"/>
          </p:cNvSpPr>
          <p:nvPr/>
        </p:nvSpPr>
        <p:spPr bwMode="black">
          <a:xfrm>
            <a:off x="1005052" y="4833350"/>
            <a:ext cx="8610600" cy="339196"/>
          </a:xfrm>
          <a:prstGeom prst="rect">
            <a:avLst/>
          </a:prstGeom>
          <a:noFill/>
          <a:ln w="9525">
            <a:solidFill>
              <a:schemeClr val="tx2"/>
            </a:solidFill>
            <a:miter lim="800000"/>
          </a:ln>
          <a:effectLst/>
        </p:spPr>
        <p:txBody>
          <a:bodyPr lIns="92075" tIns="46038" rIns="92075" bIns="46038">
            <a:spAutoFit/>
          </a:bodyPr>
          <a:lstStyle>
            <a:lvl1pPr marL="342900" indent="-342900" eaLnBrk="0" hangingPunct="0">
              <a:defRPr sz="1400" b="1">
                <a:solidFill>
                  <a:schemeClr val="tx1"/>
                </a:solidFill>
                <a:latin typeface="Arial" panose="020B0604020202020204" pitchFamily="34" charset="0"/>
                <a:ea typeface="宋体" panose="02010600030101010101" pitchFamily="2" charset="-122"/>
                <a:cs typeface="Arial" panose="020B0604020202020204" pitchFamily="34" charset="0"/>
              </a:defRPr>
            </a:lvl1pPr>
            <a:lvl2pPr marL="8001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2pPr>
            <a:lvl3pPr marL="12573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3pPr>
            <a:lvl4pPr marL="17145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4pPr>
            <a:lvl5pPr marL="21717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5pPr>
            <a:lvl6pPr marL="26289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6pPr>
            <a:lvl7pPr marL="30861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7pPr>
            <a:lvl8pPr marL="35433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8pPr>
            <a:lvl9pPr marL="40005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pPr>
            <a:r>
              <a:rPr lang="en-US" altLang="en-US" sz="1600" b="0">
                <a:sym typeface="+mn-ea"/>
              </a:rPr>
              <a:t>select first 1  to_date('2008/6/12 8:20','%Y/%m/%d %H:%M') from student;</a:t>
            </a:r>
            <a:endParaRPr lang="en-US" altLang="en-US" sz="1600" b="0" dirty="0">
              <a:cs typeface="宋体" panose="02010600030101010101" pitchFamily="2" charset="-122"/>
              <a:sym typeface="+mn-ea"/>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3170" name="Rectangle 2"/>
          <p:cNvSpPr>
            <a:spLocks noGrp="1" noChangeArrowheads="1"/>
          </p:cNvSpPr>
          <p:nvPr>
            <p:ph type="title"/>
          </p:nvPr>
        </p:nvSpPr>
        <p:spPr/>
        <p:txBody>
          <a:bodyPr/>
          <a:lstStyle/>
          <a:p>
            <a:r>
              <a:rPr lang="zh-CN" altLang="en-US">
                <a:latin typeface="Arial" panose="020B0604020202020204" pitchFamily="34" charset="0"/>
                <a:cs typeface="宋体" panose="02010600030101010101" pitchFamily="2" charset="-122"/>
              </a:rPr>
              <a:t>基数函数</a:t>
            </a:r>
          </a:p>
        </p:txBody>
      </p:sp>
      <p:sp>
        <p:nvSpPr>
          <p:cNvPr id="263171" name="Rectangle 3"/>
          <p:cNvSpPr>
            <a:spLocks noGrp="1" noChangeArrowheads="1"/>
          </p:cNvSpPr>
          <p:nvPr>
            <p:ph type="body" sz="quarter" idx="10"/>
          </p:nvPr>
        </p:nvSpPr>
        <p:spPr>
          <a:xfrm>
            <a:off x="670456" y="1579584"/>
            <a:ext cx="10812298" cy="4888767"/>
          </a:xfrm>
        </p:spPr>
        <p:txBody>
          <a:bodyPr/>
          <a:lstStyle/>
          <a:p>
            <a:pPr>
              <a:lnSpc>
                <a:spcPct val="90000"/>
              </a:lnSpc>
            </a:pPr>
            <a:r>
              <a:rPr lang="en-US" altLang="zh-CN" dirty="0">
                <a:cs typeface="宋体" panose="02010600030101010101" pitchFamily="2" charset="-122"/>
              </a:rPr>
              <a:t>CARDINALITY    </a:t>
            </a:r>
            <a:r>
              <a:rPr lang="zh-CN" altLang="en-US" dirty="0">
                <a:cs typeface="宋体" panose="02010600030101010101" pitchFamily="2" charset="-122"/>
              </a:rPr>
              <a:t>函数返回集合列（</a:t>
            </a:r>
            <a:r>
              <a:rPr lang="en-US" altLang="zh-CN" dirty="0">
                <a:cs typeface="宋体" panose="02010600030101010101" pitchFamily="2" charset="-122"/>
              </a:rPr>
              <a:t>SET</a:t>
            </a:r>
            <a:r>
              <a:rPr lang="zh-CN" altLang="en-US" dirty="0">
                <a:cs typeface="宋体" panose="02010600030101010101" pitchFamily="2" charset="-122"/>
              </a:rPr>
              <a:t>、</a:t>
            </a:r>
            <a:r>
              <a:rPr lang="en-US" altLang="zh-CN" dirty="0">
                <a:cs typeface="宋体" panose="02010600030101010101" pitchFamily="2" charset="-122"/>
              </a:rPr>
              <a:t>MULTISET</a:t>
            </a:r>
            <a:r>
              <a:rPr lang="zh-CN" altLang="en-US" dirty="0">
                <a:cs typeface="宋体" panose="02010600030101010101" pitchFamily="2" charset="-122"/>
              </a:rPr>
              <a:t>、</a:t>
            </a:r>
            <a:r>
              <a:rPr lang="en-US" altLang="zh-CN" dirty="0">
                <a:cs typeface="宋体" panose="02010600030101010101" pitchFamily="2" charset="-122"/>
              </a:rPr>
              <a:t>LIST</a:t>
            </a:r>
            <a:r>
              <a:rPr lang="zh-CN" altLang="en-US" dirty="0">
                <a:cs typeface="宋体" panose="02010600030101010101" pitchFamily="2" charset="-122"/>
              </a:rPr>
              <a:t>）中元素个数</a:t>
            </a:r>
            <a:endParaRPr lang="en-US" altLang="zh-CN" dirty="0">
              <a:cs typeface="宋体" panose="02010600030101010101" pitchFamily="2" charset="-122"/>
            </a:endParaRPr>
          </a:p>
        </p:txBody>
      </p:sp>
      <p:sp>
        <p:nvSpPr>
          <p:cNvPr id="263172" name="Text Box 4"/>
          <p:cNvSpPr txBox="1">
            <a:spLocks noChangeArrowheads="1"/>
          </p:cNvSpPr>
          <p:nvPr/>
        </p:nvSpPr>
        <p:spPr bwMode="black">
          <a:xfrm>
            <a:off x="1730265" y="3248025"/>
            <a:ext cx="8610600" cy="523862"/>
          </a:xfrm>
          <a:prstGeom prst="rect">
            <a:avLst/>
          </a:prstGeom>
          <a:solidFill>
            <a:srgbClr val="E9EDF4"/>
          </a:solidFill>
          <a:ln w="9525">
            <a:solidFill>
              <a:schemeClr val="tx2"/>
            </a:solidFill>
            <a:miter lim="800000"/>
          </a:ln>
          <a:effectLst/>
        </p:spPr>
        <p:txBody>
          <a:bodyPr lIns="92075" tIns="46038" rIns="92075" bIns="46038">
            <a:spAutoFit/>
          </a:bodyPr>
          <a:lstStyle>
            <a:lvl1pPr marL="342900" indent="-342900" eaLnBrk="0" hangingPunct="0">
              <a:defRPr sz="1400" b="1">
                <a:solidFill>
                  <a:schemeClr val="tx1"/>
                </a:solidFill>
                <a:latin typeface="Arial" panose="020B0604020202020204" pitchFamily="34" charset="0"/>
                <a:ea typeface="宋体" panose="02010600030101010101" pitchFamily="2" charset="-122"/>
                <a:cs typeface="Arial" panose="020B0604020202020204" pitchFamily="34" charset="0"/>
              </a:defRPr>
            </a:lvl1pPr>
            <a:lvl2pPr marL="8001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2pPr>
            <a:lvl3pPr marL="12573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3pPr>
            <a:lvl4pPr marL="17145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4pPr>
            <a:lvl5pPr marL="21717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5pPr>
            <a:lvl6pPr marL="26289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6pPr>
            <a:lvl7pPr marL="30861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7pPr>
            <a:lvl8pPr marL="35433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8pPr>
            <a:lvl9pPr marL="40005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r>
              <a:rPr lang="en-US" altLang="zh-CN" b="0">
                <a:cs typeface="宋体" panose="02010600030101010101" pitchFamily="2" charset="-122"/>
              </a:rPr>
              <a:t>(expression) 	(expression)</a:t>
            </a:r>
          </a:p>
          <a:p>
            <a:pPr eaLnBrk="1" hangingPunct="1"/>
            <a:r>
              <a:rPr lang="en-US" altLang="zh-CN" b="0">
                <a:cs typeface="宋体" panose="02010600030101010101" pitchFamily="2" charset="-122"/>
              </a:rPr>
              <a:t>           4            	    2</a:t>
            </a:r>
            <a:endParaRPr lang="zh-CN" altLang="en-US" b="0">
              <a:cs typeface="宋体" panose="02010600030101010101" pitchFamily="2" charset="-122"/>
            </a:endParaRPr>
          </a:p>
        </p:txBody>
      </p:sp>
      <p:sp>
        <p:nvSpPr>
          <p:cNvPr id="263173" name="Text Box 5"/>
          <p:cNvSpPr txBox="1">
            <a:spLocks noChangeArrowheads="1"/>
          </p:cNvSpPr>
          <p:nvPr/>
        </p:nvSpPr>
        <p:spPr bwMode="black">
          <a:xfrm>
            <a:off x="1730265" y="2836863"/>
            <a:ext cx="8610600" cy="400752"/>
          </a:xfrm>
          <a:prstGeom prst="rect">
            <a:avLst/>
          </a:prstGeom>
          <a:noFill/>
          <a:ln w="9525">
            <a:solidFill>
              <a:schemeClr val="tx2"/>
            </a:solidFill>
            <a:miter lim="800000"/>
          </a:ln>
          <a:effectLst/>
        </p:spPr>
        <p:txBody>
          <a:bodyPr lIns="92075" tIns="46038" rIns="92075" bIns="46038">
            <a:spAutoFit/>
          </a:bodyPr>
          <a:lstStyle>
            <a:lvl1pPr marL="342900" indent="-342900" eaLnBrk="0" hangingPunct="0">
              <a:defRPr sz="1400" b="1">
                <a:solidFill>
                  <a:schemeClr val="tx1"/>
                </a:solidFill>
                <a:latin typeface="Arial" panose="020B0604020202020204" pitchFamily="34" charset="0"/>
                <a:ea typeface="宋体" panose="02010600030101010101" pitchFamily="2" charset="-122"/>
                <a:cs typeface="Arial" panose="020B0604020202020204" pitchFamily="34" charset="0"/>
              </a:defRPr>
            </a:lvl1pPr>
            <a:lvl2pPr marL="8001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2pPr>
            <a:lvl3pPr marL="12573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3pPr>
            <a:lvl4pPr marL="17145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4pPr>
            <a:lvl5pPr marL="21717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5pPr>
            <a:lvl6pPr marL="26289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6pPr>
            <a:lvl7pPr marL="30861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7pPr>
            <a:lvl8pPr marL="35433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8pPr>
            <a:lvl9pPr marL="40005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lnSpc>
                <a:spcPct val="125000"/>
              </a:lnSpc>
              <a:spcBef>
                <a:spcPct val="0"/>
              </a:spcBef>
            </a:pPr>
            <a:r>
              <a:rPr lang="en-US" sz="1600" b="0">
                <a:cs typeface="宋体" panose="02010600030101010101" pitchFamily="2" charset="-122"/>
              </a:rPr>
              <a:t>select cardinality(s_set),cardinality(s_setrow) from customer;</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9554" name="Rectangle 2"/>
          <p:cNvSpPr>
            <a:spLocks noGrp="1" noChangeArrowheads="1"/>
          </p:cNvSpPr>
          <p:nvPr>
            <p:ph type="title"/>
          </p:nvPr>
        </p:nvSpPr>
        <p:spPr/>
        <p:txBody>
          <a:bodyPr/>
          <a:lstStyle/>
          <a:p>
            <a:r>
              <a:rPr lang="zh-CN" altLang="en-US">
                <a:latin typeface="Arial" panose="020B0604020202020204" pitchFamily="34" charset="0"/>
                <a:cs typeface="宋体" panose="02010600030101010101" pitchFamily="2" charset="-122"/>
              </a:rPr>
              <a:t>其它函数</a:t>
            </a:r>
          </a:p>
        </p:txBody>
      </p:sp>
      <p:sp>
        <p:nvSpPr>
          <p:cNvPr id="279555" name="Rectangle 3"/>
          <p:cNvSpPr>
            <a:spLocks noGrp="1" noChangeArrowheads="1"/>
          </p:cNvSpPr>
          <p:nvPr>
            <p:ph type="body" sz="quarter" idx="10"/>
          </p:nvPr>
        </p:nvSpPr>
        <p:spPr>
          <a:xfrm>
            <a:off x="763954" y="1484991"/>
            <a:ext cx="10718800" cy="4888767"/>
          </a:xfrm>
        </p:spPr>
        <p:txBody>
          <a:bodyPr/>
          <a:lstStyle/>
          <a:p>
            <a:pPr>
              <a:lnSpc>
                <a:spcPct val="90000"/>
              </a:lnSpc>
            </a:pPr>
            <a:r>
              <a:rPr lang="en-US" altLang="zh-CN" dirty="0">
                <a:cs typeface="宋体" panose="02010600030101010101" pitchFamily="2" charset="-122"/>
              </a:rPr>
              <a:t>USER   </a:t>
            </a:r>
            <a:r>
              <a:rPr lang="zh-CN" altLang="en-US" sz="1600" dirty="0">
                <a:cs typeface="宋体" panose="02010600030101010101" pitchFamily="2" charset="-122"/>
              </a:rPr>
              <a:t>返回当前用户名</a:t>
            </a:r>
            <a:endParaRPr lang="en-US" altLang="zh-CN" sz="1600" dirty="0">
              <a:cs typeface="宋体" panose="02010600030101010101" pitchFamily="2" charset="-122"/>
            </a:endParaRPr>
          </a:p>
          <a:p>
            <a:pPr marL="0" indent="0">
              <a:lnSpc>
                <a:spcPct val="90000"/>
              </a:lnSpc>
              <a:buNone/>
            </a:pPr>
            <a:endParaRPr lang="en-US" altLang="zh-CN" dirty="0">
              <a:cs typeface="宋体" panose="02010600030101010101" pitchFamily="2" charset="-122"/>
            </a:endParaRPr>
          </a:p>
          <a:p>
            <a:pPr>
              <a:lnSpc>
                <a:spcPct val="90000"/>
              </a:lnSpc>
            </a:pPr>
            <a:endParaRPr lang="en-US" altLang="zh-CN" sz="2800" dirty="0">
              <a:cs typeface="宋体" panose="02010600030101010101" pitchFamily="2" charset="-122"/>
            </a:endParaRPr>
          </a:p>
          <a:p>
            <a:pPr>
              <a:lnSpc>
                <a:spcPct val="90000"/>
              </a:lnSpc>
            </a:pPr>
            <a:r>
              <a:rPr lang="en-US" altLang="zh-CN" dirty="0">
                <a:cs typeface="宋体" panose="02010600030101010101" pitchFamily="2" charset="-122"/>
              </a:rPr>
              <a:t>DBSERVERNAME / SITENAME  </a:t>
            </a:r>
            <a:r>
              <a:rPr lang="zh-CN" altLang="en-US" sz="1600" dirty="0">
                <a:cs typeface="宋体" panose="02010600030101010101" pitchFamily="2" charset="-122"/>
              </a:rPr>
              <a:t>返回当前实例名</a:t>
            </a:r>
            <a:endParaRPr lang="en-US" altLang="zh-CN" sz="1600" dirty="0">
              <a:cs typeface="宋体" panose="02010600030101010101" pitchFamily="2" charset="-122"/>
            </a:endParaRPr>
          </a:p>
          <a:p>
            <a:pPr>
              <a:lnSpc>
                <a:spcPct val="90000"/>
              </a:lnSpc>
            </a:pPr>
            <a:endParaRPr lang="en-US" altLang="zh-CN" dirty="0">
              <a:cs typeface="宋体" panose="02010600030101010101" pitchFamily="2" charset="-122"/>
            </a:endParaRPr>
          </a:p>
          <a:p>
            <a:pPr marL="0" indent="0">
              <a:lnSpc>
                <a:spcPct val="90000"/>
              </a:lnSpc>
              <a:buNone/>
            </a:pPr>
            <a:endParaRPr lang="en-US" altLang="zh-CN" sz="2800" dirty="0">
              <a:cs typeface="宋体" panose="02010600030101010101" pitchFamily="2" charset="-122"/>
            </a:endParaRPr>
          </a:p>
          <a:p>
            <a:pPr>
              <a:lnSpc>
                <a:spcPct val="90000"/>
              </a:lnSpc>
            </a:pPr>
            <a:r>
              <a:rPr lang="en-US" altLang="zh-CN" dirty="0">
                <a:cs typeface="宋体" panose="02010600030101010101" pitchFamily="2" charset="-122"/>
              </a:rPr>
              <a:t>HEX    </a:t>
            </a:r>
            <a:r>
              <a:rPr lang="zh-CN" altLang="en-US" sz="1600" dirty="0">
                <a:cs typeface="宋体" panose="02010600030101010101" pitchFamily="2" charset="-122"/>
              </a:rPr>
              <a:t>函数返回一个整数值的十六进制编码</a:t>
            </a:r>
          </a:p>
          <a:p>
            <a:pPr>
              <a:lnSpc>
                <a:spcPct val="90000"/>
              </a:lnSpc>
            </a:pPr>
            <a:endParaRPr lang="zh-CN" altLang="en-US" dirty="0">
              <a:cs typeface="宋体" panose="02010600030101010101" pitchFamily="2" charset="-122"/>
            </a:endParaRPr>
          </a:p>
          <a:p>
            <a:pPr>
              <a:lnSpc>
                <a:spcPct val="90000"/>
              </a:lnSpc>
            </a:pPr>
            <a:endParaRPr lang="en-US" altLang="zh-CN" dirty="0">
              <a:cs typeface="宋体" panose="02010600030101010101" pitchFamily="2" charset="-122"/>
            </a:endParaRPr>
          </a:p>
          <a:p>
            <a:pPr>
              <a:lnSpc>
                <a:spcPct val="90000"/>
              </a:lnSpc>
            </a:pPr>
            <a:endParaRPr lang="en-US" altLang="zh-CN" dirty="0">
              <a:cs typeface="宋体" panose="02010600030101010101" pitchFamily="2" charset="-122"/>
            </a:endParaRPr>
          </a:p>
          <a:p>
            <a:pPr>
              <a:lnSpc>
                <a:spcPct val="90000"/>
              </a:lnSpc>
            </a:pPr>
            <a:endParaRPr lang="en-US" altLang="zh-CN" dirty="0">
              <a:cs typeface="宋体" panose="02010600030101010101" pitchFamily="2" charset="-122"/>
            </a:endParaRPr>
          </a:p>
        </p:txBody>
      </p:sp>
      <p:sp>
        <p:nvSpPr>
          <p:cNvPr id="279557" name="Text Box 5"/>
          <p:cNvSpPr txBox="1">
            <a:spLocks noChangeArrowheads="1"/>
          </p:cNvSpPr>
          <p:nvPr/>
        </p:nvSpPr>
        <p:spPr bwMode="black">
          <a:xfrm>
            <a:off x="1060652" y="1890342"/>
            <a:ext cx="8610600" cy="346075"/>
          </a:xfrm>
          <a:prstGeom prst="rect">
            <a:avLst/>
          </a:prstGeom>
          <a:noFill/>
          <a:ln w="9525">
            <a:solidFill>
              <a:schemeClr val="tx2"/>
            </a:solidFill>
            <a:miter lim="800000"/>
          </a:ln>
          <a:effectLst/>
        </p:spPr>
        <p:txBody>
          <a:bodyPr lIns="92075" tIns="46038" rIns="92075" bIns="46038">
            <a:spAutoFit/>
          </a:bodyPr>
          <a:lstStyle>
            <a:lvl1pPr marL="342900" indent="-342900" eaLnBrk="0" hangingPunct="0">
              <a:defRPr sz="1400" b="1">
                <a:solidFill>
                  <a:schemeClr val="tx1"/>
                </a:solidFill>
                <a:latin typeface="Arial" panose="020B0604020202020204" pitchFamily="34" charset="0"/>
                <a:ea typeface="宋体" panose="02010600030101010101" pitchFamily="2" charset="-122"/>
                <a:cs typeface="Arial" panose="020B0604020202020204" pitchFamily="34" charset="0"/>
              </a:defRPr>
            </a:lvl1pPr>
            <a:lvl2pPr marL="8001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2pPr>
            <a:lvl3pPr marL="12573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3pPr>
            <a:lvl4pPr marL="17145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4pPr>
            <a:lvl5pPr marL="21717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5pPr>
            <a:lvl6pPr marL="26289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6pPr>
            <a:lvl7pPr marL="30861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7pPr>
            <a:lvl8pPr marL="35433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8pPr>
            <a:lvl9pPr marL="40005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pPr>
            <a:r>
              <a:rPr lang="en-US" altLang="zh-CN" sz="1600" b="0">
                <a:cs typeface="宋体" panose="02010600030101010101" pitchFamily="2" charset="-122"/>
              </a:rPr>
              <a:t>SELECT USER from sysmaster:sysdual;</a:t>
            </a:r>
          </a:p>
        </p:txBody>
      </p:sp>
      <p:sp>
        <p:nvSpPr>
          <p:cNvPr id="279559" name="Text Box 7"/>
          <p:cNvSpPr txBox="1">
            <a:spLocks noChangeArrowheads="1"/>
          </p:cNvSpPr>
          <p:nvPr/>
        </p:nvSpPr>
        <p:spPr bwMode="black">
          <a:xfrm>
            <a:off x="1060652" y="2233241"/>
            <a:ext cx="8610600" cy="523862"/>
          </a:xfrm>
          <a:prstGeom prst="rect">
            <a:avLst/>
          </a:prstGeom>
          <a:solidFill>
            <a:srgbClr val="E9EDF4"/>
          </a:solidFill>
          <a:ln w="9525">
            <a:solidFill>
              <a:schemeClr val="tx2"/>
            </a:solidFill>
            <a:miter lim="800000"/>
          </a:ln>
          <a:effectLst/>
        </p:spPr>
        <p:txBody>
          <a:bodyPr lIns="92075" tIns="46038" rIns="92075" bIns="46038">
            <a:spAutoFit/>
          </a:bodyPr>
          <a:lstStyle>
            <a:lvl1pPr marL="342900" indent="-342900" eaLnBrk="0" hangingPunct="0">
              <a:defRPr sz="1400" b="1">
                <a:solidFill>
                  <a:schemeClr val="tx1"/>
                </a:solidFill>
                <a:latin typeface="Arial" panose="020B0604020202020204" pitchFamily="34" charset="0"/>
                <a:ea typeface="宋体" panose="02010600030101010101" pitchFamily="2" charset="-122"/>
                <a:cs typeface="Arial" panose="020B0604020202020204" pitchFamily="34" charset="0"/>
              </a:defRPr>
            </a:lvl1pPr>
            <a:lvl2pPr marL="8001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2pPr>
            <a:lvl3pPr marL="12573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3pPr>
            <a:lvl4pPr marL="17145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4pPr>
            <a:lvl5pPr marL="21717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5pPr>
            <a:lvl6pPr marL="26289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6pPr>
            <a:lvl7pPr marL="30861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7pPr>
            <a:lvl8pPr marL="35433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8pPr>
            <a:lvl9pPr marL="40005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r>
              <a:rPr lang="en-US" altLang="zh-CN" b="0" i="1" dirty="0">
                <a:cs typeface="宋体" panose="02010600030101010101" pitchFamily="2" charset="-122"/>
              </a:rPr>
              <a:t>(expression)</a:t>
            </a:r>
          </a:p>
          <a:p>
            <a:pPr eaLnBrk="1" hangingPunct="1"/>
            <a:r>
              <a:rPr lang="en-US" altLang="zh-CN" b="0" dirty="0" err="1" smtClean="0">
                <a:cs typeface="宋体" panose="02010600030101010101" pitchFamily="2" charset="-122"/>
              </a:rPr>
              <a:t>gbasedbt</a:t>
            </a:r>
            <a:endParaRPr lang="zh-CN" altLang="en-US" b="0" dirty="0">
              <a:cs typeface="宋体" panose="02010600030101010101" pitchFamily="2" charset="-122"/>
            </a:endParaRPr>
          </a:p>
        </p:txBody>
      </p:sp>
      <p:sp>
        <p:nvSpPr>
          <p:cNvPr id="279563" name="Text Box 11"/>
          <p:cNvSpPr txBox="1">
            <a:spLocks noChangeArrowheads="1"/>
          </p:cNvSpPr>
          <p:nvPr/>
        </p:nvSpPr>
        <p:spPr bwMode="black">
          <a:xfrm>
            <a:off x="1060652" y="3685593"/>
            <a:ext cx="8610600" cy="523862"/>
          </a:xfrm>
          <a:prstGeom prst="rect">
            <a:avLst/>
          </a:prstGeom>
          <a:solidFill>
            <a:srgbClr val="E9EDF4"/>
          </a:solidFill>
          <a:ln w="9525">
            <a:solidFill>
              <a:schemeClr val="tx2"/>
            </a:solidFill>
            <a:miter lim="800000"/>
          </a:ln>
          <a:effectLst/>
        </p:spPr>
        <p:txBody>
          <a:bodyPr lIns="92075" tIns="46038" rIns="92075" bIns="46038">
            <a:spAutoFit/>
          </a:bodyPr>
          <a:lstStyle>
            <a:lvl1pPr marL="342900" indent="-342900" eaLnBrk="0" hangingPunct="0">
              <a:defRPr sz="1400" b="1">
                <a:solidFill>
                  <a:schemeClr val="tx1"/>
                </a:solidFill>
                <a:latin typeface="Arial" panose="020B0604020202020204" pitchFamily="34" charset="0"/>
                <a:ea typeface="宋体" panose="02010600030101010101" pitchFamily="2" charset="-122"/>
                <a:cs typeface="Arial" panose="020B0604020202020204" pitchFamily="34" charset="0"/>
              </a:defRPr>
            </a:lvl1pPr>
            <a:lvl2pPr marL="8001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2pPr>
            <a:lvl3pPr marL="12573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3pPr>
            <a:lvl4pPr marL="17145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4pPr>
            <a:lvl5pPr marL="21717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5pPr>
            <a:lvl6pPr marL="26289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6pPr>
            <a:lvl7pPr marL="30861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7pPr>
            <a:lvl8pPr marL="35433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8pPr>
            <a:lvl9pPr marL="40005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r>
              <a:rPr lang="en-US" altLang="zh-CN" b="0" i="1">
                <a:cs typeface="宋体" panose="02010600030101010101" pitchFamily="2" charset="-122"/>
              </a:rPr>
              <a:t>(expression)</a:t>
            </a:r>
            <a:r>
              <a:rPr lang="en-US" altLang="zh-CN" b="0">
                <a:cs typeface="宋体" panose="02010600030101010101" pitchFamily="2" charset="-122"/>
              </a:rPr>
              <a:t>  </a:t>
            </a:r>
          </a:p>
          <a:p>
            <a:pPr eaLnBrk="1" hangingPunct="1"/>
            <a:r>
              <a:rPr lang="en-US" altLang="zh-CN" b="0">
                <a:cs typeface="宋体" panose="02010600030101010101" pitchFamily="2" charset="-122"/>
              </a:rPr>
              <a:t>demoserver</a:t>
            </a:r>
            <a:endParaRPr lang="zh-CN" altLang="en-US" b="0">
              <a:cs typeface="宋体" panose="02010600030101010101" pitchFamily="2" charset="-122"/>
            </a:endParaRPr>
          </a:p>
        </p:txBody>
      </p:sp>
      <p:sp>
        <p:nvSpPr>
          <p:cNvPr id="279564" name="Text Box 12"/>
          <p:cNvSpPr txBox="1">
            <a:spLocks noChangeArrowheads="1"/>
          </p:cNvSpPr>
          <p:nvPr/>
        </p:nvSpPr>
        <p:spPr bwMode="black">
          <a:xfrm>
            <a:off x="1060652" y="3344282"/>
            <a:ext cx="8610600" cy="346075"/>
          </a:xfrm>
          <a:prstGeom prst="rect">
            <a:avLst/>
          </a:prstGeom>
          <a:noFill/>
          <a:ln w="9525">
            <a:solidFill>
              <a:schemeClr val="tx2"/>
            </a:solidFill>
            <a:miter lim="800000"/>
          </a:ln>
          <a:effectLst/>
        </p:spPr>
        <p:txBody>
          <a:bodyPr lIns="92075" tIns="46038" rIns="92075" bIns="46038">
            <a:spAutoFit/>
          </a:bodyPr>
          <a:lstStyle>
            <a:lvl1pPr marL="342900" indent="-342900" eaLnBrk="0" hangingPunct="0">
              <a:defRPr sz="1400" b="1">
                <a:solidFill>
                  <a:schemeClr val="tx1"/>
                </a:solidFill>
                <a:latin typeface="Arial" panose="020B0604020202020204" pitchFamily="34" charset="0"/>
                <a:ea typeface="宋体" panose="02010600030101010101" pitchFamily="2" charset="-122"/>
                <a:cs typeface="Arial" panose="020B0604020202020204" pitchFamily="34" charset="0"/>
              </a:defRPr>
            </a:lvl1pPr>
            <a:lvl2pPr marL="8001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2pPr>
            <a:lvl3pPr marL="12573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3pPr>
            <a:lvl4pPr marL="17145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4pPr>
            <a:lvl5pPr marL="21717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5pPr>
            <a:lvl6pPr marL="26289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6pPr>
            <a:lvl7pPr marL="30861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7pPr>
            <a:lvl8pPr marL="35433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8pPr>
            <a:lvl9pPr marL="40005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pPr>
            <a:r>
              <a:rPr lang="en-US" altLang="zh-CN" sz="1600" b="0" dirty="0">
                <a:cs typeface="宋体" panose="02010600030101010101" pitchFamily="2" charset="-122"/>
              </a:rPr>
              <a:t>SELECT DBSERVERNAME FROM </a:t>
            </a:r>
            <a:r>
              <a:rPr lang="en-US" altLang="zh-CN" sz="1600" b="0" dirty="0" err="1">
                <a:cs typeface="宋体" panose="02010600030101010101" pitchFamily="2" charset="-122"/>
              </a:rPr>
              <a:t>systables</a:t>
            </a:r>
            <a:r>
              <a:rPr lang="en-US" altLang="zh-CN" sz="1600" b="0" dirty="0">
                <a:cs typeface="宋体" panose="02010600030101010101" pitchFamily="2" charset="-122"/>
              </a:rPr>
              <a:t> WHERE </a:t>
            </a:r>
            <a:r>
              <a:rPr lang="en-US" altLang="zh-CN" sz="1600" b="0" dirty="0" err="1">
                <a:cs typeface="宋体" panose="02010600030101010101" pitchFamily="2" charset="-122"/>
              </a:rPr>
              <a:t>tabid</a:t>
            </a:r>
            <a:r>
              <a:rPr lang="en-US" altLang="zh-CN" sz="1600" b="0" dirty="0">
                <a:cs typeface="宋体" panose="02010600030101010101" pitchFamily="2" charset="-122"/>
              </a:rPr>
              <a:t> =1;</a:t>
            </a:r>
          </a:p>
        </p:txBody>
      </p:sp>
      <p:sp>
        <p:nvSpPr>
          <p:cNvPr id="279565" name="Rectangle 13"/>
          <p:cNvSpPr>
            <a:spLocks noChangeArrowheads="1"/>
          </p:cNvSpPr>
          <p:nvPr/>
        </p:nvSpPr>
        <p:spPr bwMode="auto">
          <a:xfrm>
            <a:off x="1095578" y="4596656"/>
            <a:ext cx="8804275" cy="431800"/>
          </a:xfrm>
          <a:prstGeom prst="rect">
            <a:avLst/>
          </a:prstGeom>
          <a:noFill/>
          <a:ln>
            <a:noFill/>
          </a:ln>
        </p:spPr>
        <p:txBody>
          <a:bodyPr lIns="92075" tIns="46038" rIns="92075" bIns="46038"/>
          <a:lstStyle/>
          <a:p>
            <a:pPr marL="228600" indent="-228600" eaLnBrk="0" hangingPunct="0">
              <a:buClr>
                <a:schemeClr val="accent2"/>
              </a:buClr>
              <a:buFont typeface="Wingdings" panose="05000000000000000000" charset="0"/>
              <a:buChar char="§"/>
            </a:pPr>
            <a:endParaRPr lang="en-US" altLang="zh-CN" dirty="0">
              <a:cs typeface="宋体" panose="02010600030101010101" pitchFamily="2" charset="-122"/>
            </a:endParaRPr>
          </a:p>
        </p:txBody>
      </p:sp>
      <p:sp>
        <p:nvSpPr>
          <p:cNvPr id="279566" name="Text Box 14"/>
          <p:cNvSpPr txBox="1">
            <a:spLocks noChangeArrowheads="1"/>
          </p:cNvSpPr>
          <p:nvPr/>
        </p:nvSpPr>
        <p:spPr bwMode="black">
          <a:xfrm>
            <a:off x="1060652" y="5081583"/>
            <a:ext cx="8610600" cy="523862"/>
          </a:xfrm>
          <a:prstGeom prst="rect">
            <a:avLst/>
          </a:prstGeom>
          <a:solidFill>
            <a:srgbClr val="E9EDF4"/>
          </a:solidFill>
          <a:ln w="9525">
            <a:solidFill>
              <a:schemeClr val="tx2"/>
            </a:solidFill>
            <a:miter lim="800000"/>
          </a:ln>
          <a:effectLst/>
        </p:spPr>
        <p:txBody>
          <a:bodyPr lIns="92075" tIns="46038" rIns="92075" bIns="46038">
            <a:spAutoFit/>
          </a:bodyPr>
          <a:lstStyle>
            <a:lvl1pPr marL="342900" indent="-342900" eaLnBrk="0" hangingPunct="0">
              <a:defRPr sz="1400" b="1">
                <a:solidFill>
                  <a:schemeClr val="tx1"/>
                </a:solidFill>
                <a:latin typeface="Arial" panose="020B0604020202020204" pitchFamily="34" charset="0"/>
                <a:ea typeface="宋体" panose="02010600030101010101" pitchFamily="2" charset="-122"/>
                <a:cs typeface="Arial" panose="020B0604020202020204" pitchFamily="34" charset="0"/>
              </a:defRPr>
            </a:lvl1pPr>
            <a:lvl2pPr marL="8001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2pPr>
            <a:lvl3pPr marL="12573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3pPr>
            <a:lvl4pPr marL="17145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4pPr>
            <a:lvl5pPr marL="21717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5pPr>
            <a:lvl6pPr marL="26289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6pPr>
            <a:lvl7pPr marL="30861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7pPr>
            <a:lvl8pPr marL="35433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8pPr>
            <a:lvl9pPr marL="40005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r>
              <a:rPr lang="en-US" altLang="zh-CN" b="0" i="1">
                <a:cs typeface="宋体" panose="02010600030101010101" pitchFamily="2" charset="-122"/>
              </a:rPr>
              <a:t>source 		(constance)</a:t>
            </a:r>
          </a:p>
          <a:p>
            <a:pPr eaLnBrk="1" hangingPunct="1"/>
            <a:r>
              <a:rPr lang="en-US" altLang="zh-CN" b="0">
                <a:cs typeface="宋体" panose="02010600030101010101" pitchFamily="2" charset="-122"/>
              </a:rPr>
              <a:t>280 		0x00000118</a:t>
            </a:r>
            <a:endParaRPr lang="zh-CN" altLang="en-US" b="0">
              <a:cs typeface="宋体" panose="02010600030101010101" pitchFamily="2" charset="-122"/>
            </a:endParaRPr>
          </a:p>
        </p:txBody>
      </p:sp>
      <p:sp>
        <p:nvSpPr>
          <p:cNvPr id="279567" name="Text Box 15"/>
          <p:cNvSpPr txBox="1">
            <a:spLocks noChangeArrowheads="1"/>
          </p:cNvSpPr>
          <p:nvPr/>
        </p:nvSpPr>
        <p:spPr bwMode="black">
          <a:xfrm>
            <a:off x="1060652" y="4728840"/>
            <a:ext cx="8610600" cy="339196"/>
          </a:xfrm>
          <a:prstGeom prst="rect">
            <a:avLst/>
          </a:prstGeom>
          <a:noFill/>
          <a:ln w="9525">
            <a:solidFill>
              <a:schemeClr val="tx2"/>
            </a:solidFill>
            <a:miter lim="800000"/>
          </a:ln>
          <a:effectLst/>
        </p:spPr>
        <p:txBody>
          <a:bodyPr lIns="92075" tIns="46038" rIns="92075" bIns="46038">
            <a:spAutoFit/>
          </a:bodyPr>
          <a:lstStyle>
            <a:lvl1pPr marL="342900" indent="-342900" eaLnBrk="0" hangingPunct="0">
              <a:defRPr sz="1400" b="1">
                <a:solidFill>
                  <a:schemeClr val="tx1"/>
                </a:solidFill>
                <a:latin typeface="Arial" panose="020B0604020202020204" pitchFamily="34" charset="0"/>
                <a:ea typeface="宋体" panose="02010600030101010101" pitchFamily="2" charset="-122"/>
                <a:cs typeface="Arial" panose="020B0604020202020204" pitchFamily="34" charset="0"/>
              </a:defRPr>
            </a:lvl1pPr>
            <a:lvl2pPr marL="8001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2pPr>
            <a:lvl3pPr marL="12573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3pPr>
            <a:lvl4pPr marL="17145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4pPr>
            <a:lvl5pPr marL="21717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5pPr>
            <a:lvl6pPr marL="26289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6pPr>
            <a:lvl7pPr marL="30861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7pPr>
            <a:lvl8pPr marL="35433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8pPr>
            <a:lvl9pPr marL="40005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pPr>
            <a:r>
              <a:rPr lang="en-US" altLang="zh-CN" sz="1600" b="0">
                <a:cs typeface="宋体" panose="02010600030101010101" pitchFamily="2" charset="-122"/>
              </a:rPr>
              <a:t>select first 1 280 source, hex(280) from student;</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3650" name="Rectangle 2"/>
          <p:cNvSpPr>
            <a:spLocks noGrp="1" noChangeArrowheads="1"/>
          </p:cNvSpPr>
          <p:nvPr>
            <p:ph type="title"/>
          </p:nvPr>
        </p:nvSpPr>
        <p:spPr/>
        <p:txBody>
          <a:bodyPr/>
          <a:lstStyle/>
          <a:p>
            <a:r>
              <a:rPr lang="zh-CN" altLang="en-US">
                <a:latin typeface="Arial" panose="020B0604020202020204" pitchFamily="34" charset="0"/>
                <a:cs typeface="宋体" panose="02010600030101010101" pitchFamily="2" charset="-122"/>
              </a:rPr>
              <a:t>其它函数</a:t>
            </a:r>
          </a:p>
        </p:txBody>
      </p:sp>
      <p:sp>
        <p:nvSpPr>
          <p:cNvPr id="283651" name="Rectangle 3"/>
          <p:cNvSpPr>
            <a:spLocks noGrp="1" noChangeArrowheads="1"/>
          </p:cNvSpPr>
          <p:nvPr>
            <p:ph type="body" sz="quarter" idx="10"/>
          </p:nvPr>
        </p:nvSpPr>
        <p:spPr/>
        <p:txBody>
          <a:bodyPr/>
          <a:lstStyle/>
          <a:p>
            <a:pPr>
              <a:lnSpc>
                <a:spcPct val="90000"/>
              </a:lnSpc>
            </a:pPr>
            <a:r>
              <a:rPr lang="en-US" altLang="zh-CN" dirty="0">
                <a:cs typeface="宋体" panose="02010600030101010101" pitchFamily="2" charset="-122"/>
              </a:rPr>
              <a:t>DBINFO    </a:t>
            </a:r>
            <a:r>
              <a:rPr lang="zh-CN" altLang="en-US" sz="1600" dirty="0">
                <a:cs typeface="宋体" panose="02010600030101010101" pitchFamily="2" charset="-122"/>
              </a:rPr>
              <a:t>函数返回数据库不同类型信息的一组函数集。</a:t>
            </a:r>
            <a:endParaRPr lang="en-US" altLang="zh-CN" sz="1600" dirty="0">
              <a:cs typeface="宋体" panose="02010600030101010101" pitchFamily="2" charset="-122"/>
            </a:endParaRPr>
          </a:p>
        </p:txBody>
      </p:sp>
      <p:sp>
        <p:nvSpPr>
          <p:cNvPr id="283652" name="Text Box 4"/>
          <p:cNvSpPr txBox="1">
            <a:spLocks noChangeArrowheads="1"/>
          </p:cNvSpPr>
          <p:nvPr/>
        </p:nvSpPr>
        <p:spPr bwMode="black">
          <a:xfrm>
            <a:off x="1714500" y="3255964"/>
            <a:ext cx="8610600" cy="636905"/>
          </a:xfrm>
          <a:prstGeom prst="rect">
            <a:avLst/>
          </a:prstGeom>
          <a:solidFill>
            <a:srgbClr val="E9EDF4"/>
          </a:solidFill>
          <a:ln w="9525">
            <a:solidFill>
              <a:schemeClr val="tx2"/>
            </a:solidFill>
            <a:miter lim="800000"/>
          </a:ln>
          <a:effectLst/>
        </p:spPr>
        <p:txBody>
          <a:bodyPr wrap="square" lIns="92075" tIns="46038" rIns="92075" bIns="46038">
            <a:spAutoFit/>
          </a:bodyPr>
          <a:lstStyle>
            <a:lvl1pPr marL="342900" indent="-342900" eaLnBrk="0" hangingPunct="0">
              <a:defRPr sz="1400" b="1">
                <a:solidFill>
                  <a:schemeClr val="tx1"/>
                </a:solidFill>
                <a:latin typeface="Arial" panose="020B0604020202020204" pitchFamily="34" charset="0"/>
                <a:ea typeface="宋体" panose="02010600030101010101" pitchFamily="2" charset="-122"/>
                <a:cs typeface="Arial" panose="020B0604020202020204" pitchFamily="34" charset="0"/>
              </a:defRPr>
            </a:lvl1pPr>
            <a:lvl2pPr marL="8001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2pPr>
            <a:lvl3pPr marL="12573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3pPr>
            <a:lvl4pPr marL="17145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4pPr>
            <a:lvl5pPr marL="21717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5pPr>
            <a:lvl6pPr marL="26289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6pPr>
            <a:lvl7pPr marL="30861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7pPr>
            <a:lvl8pPr marL="35433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8pPr>
            <a:lvl9pPr marL="40005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spcAft>
                <a:spcPct val="50000"/>
              </a:spcAft>
            </a:pPr>
            <a:r>
              <a:rPr lang="en-US" altLang="zh-CN" b="0" i="1">
                <a:cs typeface="宋体" panose="02010600030101010101" pitchFamily="2" charset="-122"/>
              </a:rPr>
              <a:t>tabname 	     (expression) </a:t>
            </a:r>
          </a:p>
          <a:p>
            <a:pPr eaLnBrk="1" hangingPunct="1">
              <a:spcBef>
                <a:spcPct val="0"/>
              </a:spcBef>
              <a:spcAft>
                <a:spcPct val="50000"/>
              </a:spcAft>
            </a:pPr>
            <a:r>
              <a:rPr lang="en-US" altLang="zh-CN" b="0">
                <a:cs typeface="宋体" panose="02010600030101010101" pitchFamily="2" charset="-122"/>
              </a:rPr>
              <a:t>student   	       rootdbs  </a:t>
            </a:r>
            <a:endParaRPr lang="zh-CN" altLang="en-US" b="0">
              <a:solidFill>
                <a:srgbClr val="FF0000"/>
              </a:solidFill>
              <a:cs typeface="宋体" panose="02010600030101010101" pitchFamily="2" charset="-122"/>
            </a:endParaRPr>
          </a:p>
        </p:txBody>
      </p:sp>
      <p:sp>
        <p:nvSpPr>
          <p:cNvPr id="283653" name="Text Box 5"/>
          <p:cNvSpPr txBox="1">
            <a:spLocks noChangeArrowheads="1"/>
          </p:cNvSpPr>
          <p:nvPr/>
        </p:nvSpPr>
        <p:spPr bwMode="black">
          <a:xfrm>
            <a:off x="1714500" y="2917826"/>
            <a:ext cx="8610600" cy="339196"/>
          </a:xfrm>
          <a:prstGeom prst="rect">
            <a:avLst/>
          </a:prstGeom>
          <a:noFill/>
          <a:ln w="9525">
            <a:solidFill>
              <a:schemeClr val="tx2"/>
            </a:solidFill>
            <a:miter lim="800000"/>
          </a:ln>
          <a:effectLst/>
        </p:spPr>
        <p:txBody>
          <a:bodyPr wrap="square" lIns="92075" tIns="46038" rIns="92075" bIns="46038">
            <a:spAutoFit/>
          </a:bodyPr>
          <a:lstStyle>
            <a:lvl1pPr marL="342900" indent="-342900" eaLnBrk="0" hangingPunct="0">
              <a:defRPr sz="1400" b="1">
                <a:solidFill>
                  <a:schemeClr val="tx1"/>
                </a:solidFill>
                <a:latin typeface="Arial" panose="020B0604020202020204" pitchFamily="34" charset="0"/>
                <a:ea typeface="宋体" panose="02010600030101010101" pitchFamily="2" charset="-122"/>
                <a:cs typeface="Arial" panose="020B0604020202020204" pitchFamily="34" charset="0"/>
              </a:defRPr>
            </a:lvl1pPr>
            <a:lvl2pPr marL="8001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2pPr>
            <a:lvl3pPr marL="12573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3pPr>
            <a:lvl4pPr marL="17145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4pPr>
            <a:lvl5pPr marL="21717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5pPr>
            <a:lvl6pPr marL="26289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6pPr>
            <a:lvl7pPr marL="30861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7pPr>
            <a:lvl8pPr marL="35433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8pPr>
            <a:lvl9pPr marL="40005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spcAft>
                <a:spcPct val="50000"/>
              </a:spcAft>
            </a:pPr>
            <a:r>
              <a:rPr lang="en-US" altLang="zh-CN" sz="1600" b="0">
                <a:cs typeface="宋体" panose="02010600030101010101" pitchFamily="2" charset="-122"/>
              </a:rPr>
              <a:t>select tabname, DBINFO('dbspace', partnum) from systables where tabname='student';</a:t>
            </a:r>
          </a:p>
        </p:txBody>
      </p:sp>
      <p:sp>
        <p:nvSpPr>
          <p:cNvPr id="283657" name="Text Box 9"/>
          <p:cNvSpPr txBox="1">
            <a:spLocks noChangeArrowheads="1"/>
          </p:cNvSpPr>
          <p:nvPr/>
        </p:nvSpPr>
        <p:spPr bwMode="black">
          <a:xfrm>
            <a:off x="1724025" y="4489452"/>
            <a:ext cx="8610600" cy="636905"/>
          </a:xfrm>
          <a:prstGeom prst="rect">
            <a:avLst/>
          </a:prstGeom>
          <a:solidFill>
            <a:srgbClr val="E9EDF4"/>
          </a:solidFill>
          <a:ln w="9525">
            <a:solidFill>
              <a:schemeClr val="tx2"/>
            </a:solidFill>
            <a:miter lim="800000"/>
          </a:ln>
          <a:effectLst/>
        </p:spPr>
        <p:txBody>
          <a:bodyPr wrap="square" lIns="92075" tIns="46038" rIns="92075" bIns="46038">
            <a:spAutoFit/>
          </a:bodyPr>
          <a:lstStyle>
            <a:lvl1pPr marL="342900" indent="-342900" eaLnBrk="0" hangingPunct="0">
              <a:defRPr sz="1400" b="1">
                <a:solidFill>
                  <a:schemeClr val="tx1"/>
                </a:solidFill>
                <a:latin typeface="Arial" panose="020B0604020202020204" pitchFamily="34" charset="0"/>
                <a:ea typeface="宋体" panose="02010600030101010101" pitchFamily="2" charset="-122"/>
                <a:cs typeface="Arial" panose="020B0604020202020204" pitchFamily="34" charset="0"/>
              </a:defRPr>
            </a:lvl1pPr>
            <a:lvl2pPr marL="8001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2pPr>
            <a:lvl3pPr marL="12573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3pPr>
            <a:lvl4pPr marL="17145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4pPr>
            <a:lvl5pPr marL="21717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5pPr>
            <a:lvl6pPr marL="26289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6pPr>
            <a:lvl7pPr marL="30861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7pPr>
            <a:lvl8pPr marL="35433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8pPr>
            <a:lvl9pPr marL="40005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spcAft>
                <a:spcPct val="50000"/>
              </a:spcAft>
            </a:pPr>
            <a:r>
              <a:rPr lang="fr-FR" altLang="zh-CN" b="0" i="1">
                <a:cs typeface="宋体" panose="02010600030101010101" pitchFamily="2" charset="-122"/>
              </a:rPr>
              <a:t>my_sessionid</a:t>
            </a:r>
          </a:p>
          <a:p>
            <a:pPr eaLnBrk="1" hangingPunct="1">
              <a:spcBef>
                <a:spcPct val="0"/>
              </a:spcBef>
              <a:spcAft>
                <a:spcPct val="50000"/>
              </a:spcAft>
            </a:pPr>
            <a:r>
              <a:rPr lang="fr-FR" altLang="zh-CN" b="0">
                <a:cs typeface="宋体" panose="02010600030101010101" pitchFamily="2" charset="-122"/>
              </a:rPr>
              <a:t>        </a:t>
            </a:r>
            <a:r>
              <a:rPr lang="en-US" altLang="fr-FR" b="0">
                <a:cs typeface="宋体" panose="02010600030101010101" pitchFamily="2" charset="-122"/>
              </a:rPr>
              <a:t>42</a:t>
            </a:r>
          </a:p>
        </p:txBody>
      </p:sp>
      <p:sp>
        <p:nvSpPr>
          <p:cNvPr id="283658" name="Text Box 10"/>
          <p:cNvSpPr txBox="1">
            <a:spLocks noChangeArrowheads="1"/>
          </p:cNvSpPr>
          <p:nvPr/>
        </p:nvSpPr>
        <p:spPr bwMode="black">
          <a:xfrm>
            <a:off x="1724025" y="4140202"/>
            <a:ext cx="8610600" cy="346075"/>
          </a:xfrm>
          <a:prstGeom prst="rect">
            <a:avLst/>
          </a:prstGeom>
          <a:noFill/>
          <a:ln w="9525">
            <a:solidFill>
              <a:schemeClr val="tx2"/>
            </a:solidFill>
            <a:miter lim="800000"/>
          </a:ln>
          <a:effectLst/>
        </p:spPr>
        <p:txBody>
          <a:bodyPr wrap="square" lIns="92075" tIns="46038" rIns="92075" bIns="46038">
            <a:spAutoFit/>
          </a:bodyPr>
          <a:lstStyle>
            <a:lvl1pPr marL="342900" indent="-342900" eaLnBrk="0" hangingPunct="0">
              <a:defRPr sz="1400" b="1">
                <a:solidFill>
                  <a:schemeClr val="tx1"/>
                </a:solidFill>
                <a:latin typeface="Arial" panose="020B0604020202020204" pitchFamily="34" charset="0"/>
                <a:ea typeface="宋体" panose="02010600030101010101" pitchFamily="2" charset="-122"/>
                <a:cs typeface="Arial" panose="020B0604020202020204" pitchFamily="34" charset="0"/>
              </a:defRPr>
            </a:lvl1pPr>
            <a:lvl2pPr marL="8001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2pPr>
            <a:lvl3pPr marL="12573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3pPr>
            <a:lvl4pPr marL="17145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4pPr>
            <a:lvl5pPr marL="21717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5pPr>
            <a:lvl6pPr marL="26289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6pPr>
            <a:lvl7pPr marL="30861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7pPr>
            <a:lvl8pPr marL="35433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8pPr>
            <a:lvl9pPr marL="40005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spcAft>
                <a:spcPct val="50000"/>
              </a:spcAft>
            </a:pPr>
            <a:r>
              <a:rPr lang="en-US" altLang="zh-CN" sz="1600" b="0">
                <a:cs typeface="宋体" panose="02010600030101010101" pitchFamily="2" charset="-122"/>
              </a:rPr>
              <a:t>SELECT FIRST 1 DBINFO('sessionid') my_sessionid FROM systables;</a:t>
            </a:r>
          </a:p>
        </p:txBody>
      </p:sp>
      <p:sp>
        <p:nvSpPr>
          <p:cNvPr id="283659" name="Text Box 11"/>
          <p:cNvSpPr txBox="1">
            <a:spLocks noChangeArrowheads="1"/>
          </p:cNvSpPr>
          <p:nvPr/>
        </p:nvSpPr>
        <p:spPr bwMode="black">
          <a:xfrm>
            <a:off x="1727200" y="5732464"/>
            <a:ext cx="8610600" cy="633413"/>
          </a:xfrm>
          <a:prstGeom prst="rect">
            <a:avLst/>
          </a:prstGeom>
          <a:solidFill>
            <a:srgbClr val="E9EDF4"/>
          </a:solidFill>
          <a:ln w="9525">
            <a:solidFill>
              <a:schemeClr val="tx2"/>
            </a:solidFill>
            <a:miter lim="800000"/>
          </a:ln>
          <a:effectLst/>
        </p:spPr>
        <p:txBody>
          <a:bodyPr wrap="square" lIns="92075" tIns="46038" rIns="92075" bIns="46038">
            <a:spAutoFit/>
          </a:bodyPr>
          <a:lstStyle>
            <a:lvl1pPr marL="342900" indent="-342900" eaLnBrk="0" hangingPunct="0">
              <a:defRPr sz="1400" b="1">
                <a:solidFill>
                  <a:schemeClr val="tx1"/>
                </a:solidFill>
                <a:latin typeface="Arial" panose="020B0604020202020204" pitchFamily="34" charset="0"/>
                <a:ea typeface="宋体" panose="02010600030101010101" pitchFamily="2" charset="-122"/>
                <a:cs typeface="Arial" panose="020B0604020202020204" pitchFamily="34" charset="0"/>
              </a:defRPr>
            </a:lvl1pPr>
            <a:lvl2pPr marL="8001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2pPr>
            <a:lvl3pPr marL="12573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3pPr>
            <a:lvl4pPr marL="17145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4pPr>
            <a:lvl5pPr marL="21717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5pPr>
            <a:lvl6pPr marL="26289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6pPr>
            <a:lvl7pPr marL="30861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7pPr>
            <a:lvl8pPr marL="35433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8pPr>
            <a:lvl9pPr marL="40005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spcAft>
                <a:spcPct val="50000"/>
              </a:spcAft>
            </a:pPr>
            <a:r>
              <a:rPr lang="fr-FR" altLang="zh-CN" b="0" i="1">
                <a:cs typeface="宋体" panose="02010600030101010101" pitchFamily="2" charset="-122"/>
              </a:rPr>
              <a:t>(expression)</a:t>
            </a:r>
            <a:r>
              <a:rPr lang="fr-FR" altLang="zh-CN" b="0">
                <a:cs typeface="宋体" panose="02010600030101010101" pitchFamily="2" charset="-122"/>
              </a:rPr>
              <a:t>  </a:t>
            </a:r>
          </a:p>
          <a:p>
            <a:pPr eaLnBrk="1" hangingPunct="1">
              <a:spcBef>
                <a:spcPct val="0"/>
              </a:spcBef>
              <a:spcAft>
                <a:spcPct val="50000"/>
              </a:spcAft>
            </a:pPr>
            <a:r>
              <a:rPr lang="fr-FR" altLang="zh-CN" b="0">
                <a:cs typeface="宋体" panose="02010600030101010101" pitchFamily="2" charset="-122"/>
              </a:rPr>
              <a:t>testdb</a:t>
            </a:r>
            <a:endParaRPr lang="zh-CN" altLang="en-US" b="0">
              <a:cs typeface="宋体" panose="02010600030101010101" pitchFamily="2" charset="-122"/>
            </a:endParaRPr>
          </a:p>
        </p:txBody>
      </p:sp>
      <p:sp>
        <p:nvSpPr>
          <p:cNvPr id="283660" name="Text Box 12"/>
          <p:cNvSpPr txBox="1">
            <a:spLocks noChangeArrowheads="1"/>
          </p:cNvSpPr>
          <p:nvPr/>
        </p:nvSpPr>
        <p:spPr bwMode="black">
          <a:xfrm>
            <a:off x="1727200" y="5397502"/>
            <a:ext cx="8610600" cy="346075"/>
          </a:xfrm>
          <a:prstGeom prst="rect">
            <a:avLst/>
          </a:prstGeom>
          <a:noFill/>
          <a:ln w="9525">
            <a:solidFill>
              <a:schemeClr val="tx2"/>
            </a:solidFill>
            <a:miter lim="800000"/>
          </a:ln>
          <a:effectLst/>
        </p:spPr>
        <p:txBody>
          <a:bodyPr wrap="square" lIns="92075" tIns="46038" rIns="92075" bIns="46038">
            <a:spAutoFit/>
          </a:bodyPr>
          <a:lstStyle>
            <a:lvl1pPr marL="342900" indent="-342900" eaLnBrk="0" hangingPunct="0">
              <a:defRPr sz="1400" b="1">
                <a:solidFill>
                  <a:schemeClr val="tx1"/>
                </a:solidFill>
                <a:latin typeface="Arial" panose="020B0604020202020204" pitchFamily="34" charset="0"/>
                <a:ea typeface="宋体" panose="02010600030101010101" pitchFamily="2" charset="-122"/>
                <a:cs typeface="Arial" panose="020B0604020202020204" pitchFamily="34" charset="0"/>
              </a:defRPr>
            </a:lvl1pPr>
            <a:lvl2pPr marL="8001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2pPr>
            <a:lvl3pPr marL="12573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3pPr>
            <a:lvl4pPr marL="17145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4pPr>
            <a:lvl5pPr marL="21717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5pPr>
            <a:lvl6pPr marL="26289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6pPr>
            <a:lvl7pPr marL="30861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7pPr>
            <a:lvl8pPr marL="35433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8pPr>
            <a:lvl9pPr marL="40005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spcAft>
                <a:spcPct val="50000"/>
              </a:spcAft>
            </a:pPr>
            <a:r>
              <a:rPr lang="en-US" altLang="zh-CN" sz="1600" b="0">
                <a:cs typeface="宋体" panose="02010600030101010101" pitchFamily="2" charset="-122"/>
              </a:rPr>
              <a:t>SELECT FIRST 1 DBINFO('dbname') FROM systables;</a:t>
            </a:r>
          </a:p>
        </p:txBody>
      </p:sp>
      <p:sp>
        <p:nvSpPr>
          <p:cNvPr id="283661" name="Text Box 13"/>
          <p:cNvSpPr txBox="1">
            <a:spLocks noChangeArrowheads="1"/>
          </p:cNvSpPr>
          <p:nvPr/>
        </p:nvSpPr>
        <p:spPr bwMode="black">
          <a:xfrm>
            <a:off x="1714500" y="2084388"/>
            <a:ext cx="8610600" cy="523862"/>
          </a:xfrm>
          <a:prstGeom prst="rect">
            <a:avLst/>
          </a:prstGeom>
          <a:solidFill>
            <a:srgbClr val="E9EDF4"/>
          </a:solidFill>
          <a:ln w="9525">
            <a:solidFill>
              <a:schemeClr val="tx2"/>
            </a:solidFill>
            <a:miter lim="800000"/>
          </a:ln>
          <a:effectLst/>
        </p:spPr>
        <p:txBody>
          <a:bodyPr wrap="square" lIns="92075" tIns="46038" rIns="92075" bIns="46038">
            <a:spAutoFit/>
          </a:bodyPr>
          <a:lstStyle>
            <a:lvl1pPr marL="342900" indent="-342900" eaLnBrk="0" hangingPunct="0">
              <a:defRPr sz="1400" b="1">
                <a:solidFill>
                  <a:schemeClr val="tx1"/>
                </a:solidFill>
                <a:latin typeface="Arial" panose="020B0604020202020204" pitchFamily="34" charset="0"/>
                <a:ea typeface="宋体" panose="02010600030101010101" pitchFamily="2" charset="-122"/>
                <a:cs typeface="Arial" panose="020B0604020202020204" pitchFamily="34" charset="0"/>
              </a:defRPr>
            </a:lvl1pPr>
            <a:lvl2pPr marL="8001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2pPr>
            <a:lvl3pPr marL="12573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3pPr>
            <a:lvl4pPr marL="17145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4pPr>
            <a:lvl5pPr marL="21717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5pPr>
            <a:lvl6pPr marL="26289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6pPr>
            <a:lvl7pPr marL="30861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7pPr>
            <a:lvl8pPr marL="35433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8pPr>
            <a:lvl9pPr marL="40005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r>
              <a:rPr lang="en-US" altLang="zh-CN" b="0" i="1">
                <a:cs typeface="宋体" panose="02010600030101010101" pitchFamily="2" charset="-122"/>
              </a:rPr>
              <a:t>(constant)</a:t>
            </a:r>
          </a:p>
          <a:p>
            <a:pPr eaLnBrk="1" hangingPunct="1"/>
            <a:r>
              <a:rPr lang="en-US" altLang="zh-CN" b="0">
                <a:cs typeface="宋体" panose="02010600030101010101" pitchFamily="2" charset="-122"/>
              </a:rPr>
              <a:t>localhost.localdomain</a:t>
            </a:r>
          </a:p>
        </p:txBody>
      </p:sp>
      <p:sp>
        <p:nvSpPr>
          <p:cNvPr id="283662" name="Text Box 14"/>
          <p:cNvSpPr txBox="1">
            <a:spLocks noChangeArrowheads="1"/>
          </p:cNvSpPr>
          <p:nvPr/>
        </p:nvSpPr>
        <p:spPr bwMode="black">
          <a:xfrm>
            <a:off x="1714500" y="1746252"/>
            <a:ext cx="8610600" cy="346075"/>
          </a:xfrm>
          <a:prstGeom prst="rect">
            <a:avLst/>
          </a:prstGeom>
          <a:noFill/>
          <a:ln w="9525">
            <a:solidFill>
              <a:schemeClr val="tx2"/>
            </a:solidFill>
            <a:miter lim="800000"/>
          </a:ln>
          <a:effectLst/>
        </p:spPr>
        <p:txBody>
          <a:bodyPr wrap="square" lIns="92075" tIns="46038" rIns="92075" bIns="46038">
            <a:spAutoFit/>
          </a:bodyPr>
          <a:lstStyle>
            <a:lvl1pPr marL="342900" indent="-342900" eaLnBrk="0" hangingPunct="0">
              <a:defRPr sz="1400" b="1">
                <a:solidFill>
                  <a:schemeClr val="tx1"/>
                </a:solidFill>
                <a:latin typeface="Arial" panose="020B0604020202020204" pitchFamily="34" charset="0"/>
                <a:ea typeface="宋体" panose="02010600030101010101" pitchFamily="2" charset="-122"/>
                <a:cs typeface="Arial" panose="020B0604020202020204" pitchFamily="34" charset="0"/>
              </a:defRPr>
            </a:lvl1pPr>
            <a:lvl2pPr marL="8001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2pPr>
            <a:lvl3pPr marL="12573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3pPr>
            <a:lvl4pPr marL="17145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4pPr>
            <a:lvl5pPr marL="21717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5pPr>
            <a:lvl6pPr marL="26289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6pPr>
            <a:lvl7pPr marL="30861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7pPr>
            <a:lvl8pPr marL="35433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8pPr>
            <a:lvl9pPr marL="40005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pPr>
            <a:r>
              <a:rPr lang="en-US" altLang="zh-CN" sz="1600" b="0">
                <a:cs typeface="宋体" panose="02010600030101010101" pitchFamily="2" charset="-122"/>
              </a:rPr>
              <a:t>SELECT FIRST 1 DBINFO('dbhostname') FROM systables;</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9250" name="Rectangle 2"/>
          <p:cNvSpPr>
            <a:spLocks noGrp="1" noChangeArrowheads="1"/>
          </p:cNvSpPr>
          <p:nvPr>
            <p:ph type="title"/>
          </p:nvPr>
        </p:nvSpPr>
        <p:spPr/>
        <p:txBody>
          <a:bodyPr/>
          <a:lstStyle/>
          <a:p>
            <a:r>
              <a:rPr lang="zh-CN" altLang="en-US">
                <a:latin typeface="Arial" panose="020B0604020202020204" pitchFamily="34" charset="0"/>
                <a:cs typeface="宋体" panose="02010600030101010101" pitchFamily="2" charset="-122"/>
              </a:rPr>
              <a:t>其它函数</a:t>
            </a:r>
          </a:p>
        </p:txBody>
      </p:sp>
      <p:sp>
        <p:nvSpPr>
          <p:cNvPr id="309251" name="Rectangle 3"/>
          <p:cNvSpPr>
            <a:spLocks noGrp="1" noChangeArrowheads="1"/>
          </p:cNvSpPr>
          <p:nvPr>
            <p:ph type="body" sz="quarter" idx="10"/>
          </p:nvPr>
        </p:nvSpPr>
        <p:spPr/>
        <p:txBody>
          <a:bodyPr/>
          <a:lstStyle/>
          <a:p>
            <a:pPr>
              <a:lnSpc>
                <a:spcPct val="90000"/>
              </a:lnSpc>
            </a:pPr>
            <a:r>
              <a:rPr lang="en-US" altLang="zh-CN" dirty="0">
                <a:cs typeface="宋体" panose="02010600030101010101" pitchFamily="2" charset="-122"/>
              </a:rPr>
              <a:t>DBINFO    </a:t>
            </a:r>
            <a:r>
              <a:rPr lang="zh-CN" altLang="en-US" sz="1600" dirty="0">
                <a:cs typeface="宋体" panose="02010600030101010101" pitchFamily="2" charset="-122"/>
              </a:rPr>
              <a:t>函数返回数据库不同类型信息的一组函数集。</a:t>
            </a:r>
            <a:endParaRPr lang="en-US" altLang="zh-CN" sz="1600" dirty="0">
              <a:cs typeface="宋体" panose="02010600030101010101" pitchFamily="2" charset="-122"/>
            </a:endParaRPr>
          </a:p>
          <a:p>
            <a:pPr marL="0" indent="0">
              <a:lnSpc>
                <a:spcPct val="90000"/>
              </a:lnSpc>
              <a:buNone/>
            </a:pPr>
            <a:endParaRPr lang="en-US" altLang="zh-CN" sz="3200" dirty="0">
              <a:cs typeface="宋体" panose="02010600030101010101" pitchFamily="2" charset="-122"/>
            </a:endParaRPr>
          </a:p>
          <a:p>
            <a:pPr>
              <a:lnSpc>
                <a:spcPct val="90000"/>
              </a:lnSpc>
            </a:pPr>
            <a:endParaRPr lang="en-US" altLang="zh-CN" dirty="0">
              <a:cs typeface="宋体" panose="02010600030101010101" pitchFamily="2" charset="-122"/>
            </a:endParaRPr>
          </a:p>
          <a:p>
            <a:pPr marL="228600" lvl="1">
              <a:lnSpc>
                <a:spcPct val="90000"/>
              </a:lnSpc>
              <a:spcBef>
                <a:spcPts val="1000"/>
              </a:spcBef>
              <a:buBlip>
                <a:blip r:embed="rId3"/>
              </a:buBlip>
            </a:pPr>
            <a:r>
              <a:rPr lang="zh-CN" altLang="en-US" sz="2400" dirty="0">
                <a:cs typeface="宋体" panose="02010600030101010101" pitchFamily="2" charset="-122"/>
              </a:rPr>
              <a:t>返回任何表中插入的最后一个</a:t>
            </a:r>
            <a:r>
              <a:rPr lang="en-US" altLang="zh-CN" sz="2400" dirty="0">
                <a:cs typeface="宋体" panose="02010600030101010101" pitchFamily="2" charset="-122"/>
              </a:rPr>
              <a:t>SERIAL</a:t>
            </a:r>
            <a:r>
              <a:rPr lang="zh-CN" altLang="en-US" sz="2400" dirty="0">
                <a:cs typeface="宋体" panose="02010600030101010101" pitchFamily="2" charset="-122"/>
              </a:rPr>
              <a:t>值</a:t>
            </a:r>
            <a:endParaRPr lang="en-US" altLang="zh-CN" sz="2400" dirty="0">
              <a:cs typeface="宋体" panose="02010600030101010101" pitchFamily="2" charset="-122"/>
            </a:endParaRPr>
          </a:p>
          <a:p>
            <a:pPr marL="0" lvl="1" indent="0">
              <a:lnSpc>
                <a:spcPct val="90000"/>
              </a:lnSpc>
              <a:spcBef>
                <a:spcPts val="1000"/>
              </a:spcBef>
              <a:buNone/>
            </a:pPr>
            <a:endParaRPr lang="en-US" altLang="zh-CN" sz="3200" dirty="0">
              <a:cs typeface="宋体" panose="02010600030101010101" pitchFamily="2" charset="-122"/>
            </a:endParaRPr>
          </a:p>
          <a:p>
            <a:pPr marL="0" lvl="1" indent="0">
              <a:lnSpc>
                <a:spcPct val="90000"/>
              </a:lnSpc>
              <a:spcBef>
                <a:spcPts val="1000"/>
              </a:spcBef>
              <a:buNone/>
            </a:pPr>
            <a:endParaRPr lang="en-US" altLang="zh-CN" sz="2400" dirty="0">
              <a:cs typeface="宋体" panose="02010600030101010101" pitchFamily="2" charset="-122"/>
            </a:endParaRPr>
          </a:p>
          <a:p>
            <a:pPr marL="228600" lvl="1">
              <a:lnSpc>
                <a:spcPct val="90000"/>
              </a:lnSpc>
              <a:spcBef>
                <a:spcPts val="1000"/>
              </a:spcBef>
              <a:buBlip>
                <a:blip r:embed="rId3"/>
              </a:buBlip>
            </a:pPr>
            <a:r>
              <a:rPr lang="en-US" altLang="zh-CN" sz="2400" dirty="0">
                <a:cs typeface="宋体" panose="02010600030101010101" pitchFamily="2" charset="-122"/>
              </a:rPr>
              <a:t>DBINFO</a:t>
            </a:r>
            <a:r>
              <a:rPr lang="zh-CN" altLang="en-US" sz="2400" dirty="0">
                <a:cs typeface="宋体" panose="02010600030101010101" pitchFamily="2" charset="-122"/>
              </a:rPr>
              <a:t>返回最后一个</a:t>
            </a:r>
            <a:r>
              <a:rPr lang="en-US" altLang="zh-CN" sz="2400" dirty="0">
                <a:cs typeface="宋体" panose="02010600030101010101" pitchFamily="2" charset="-122"/>
              </a:rPr>
              <a:t>SELECT</a:t>
            </a:r>
            <a:r>
              <a:rPr lang="zh-CN" altLang="en-US" sz="2400" dirty="0">
                <a:cs typeface="宋体" panose="02010600030101010101" pitchFamily="2" charset="-122"/>
              </a:rPr>
              <a:t>，</a:t>
            </a:r>
            <a:r>
              <a:rPr lang="en-US" altLang="zh-CN" sz="2400" dirty="0">
                <a:cs typeface="宋体" panose="02010600030101010101" pitchFamily="2" charset="-122"/>
              </a:rPr>
              <a:t>INSERT</a:t>
            </a:r>
            <a:r>
              <a:rPr lang="zh-CN" altLang="en-US" sz="2400" dirty="0">
                <a:cs typeface="宋体" panose="02010600030101010101" pitchFamily="2" charset="-122"/>
              </a:rPr>
              <a:t>，</a:t>
            </a:r>
            <a:r>
              <a:rPr lang="en-US" altLang="zh-CN" sz="2400" dirty="0">
                <a:cs typeface="宋体" panose="02010600030101010101" pitchFamily="2" charset="-122"/>
              </a:rPr>
              <a:t>UPDATE</a:t>
            </a:r>
            <a:r>
              <a:rPr lang="zh-CN" altLang="en-US" sz="2400" dirty="0">
                <a:cs typeface="宋体" panose="02010600030101010101" pitchFamily="2" charset="-122"/>
              </a:rPr>
              <a:t>，</a:t>
            </a:r>
            <a:r>
              <a:rPr lang="en-US" altLang="zh-CN" sz="2400" dirty="0">
                <a:cs typeface="宋体" panose="02010600030101010101" pitchFamily="2" charset="-122"/>
              </a:rPr>
              <a:t>DELETE</a:t>
            </a:r>
            <a:r>
              <a:rPr lang="zh-CN" altLang="en-US" sz="2400" dirty="0">
                <a:cs typeface="宋体" panose="02010600030101010101" pitchFamily="2" charset="-122"/>
              </a:rPr>
              <a:t>或</a:t>
            </a:r>
            <a:r>
              <a:rPr lang="en-US" altLang="zh-CN" sz="2400" dirty="0">
                <a:cs typeface="宋体" panose="02010600030101010101" pitchFamily="2" charset="-122"/>
              </a:rPr>
              <a:t>EXECUTE PROCEDURE</a:t>
            </a:r>
            <a:r>
              <a:rPr lang="zh-CN" altLang="en-US" sz="2400" dirty="0">
                <a:cs typeface="宋体" panose="02010600030101010101" pitchFamily="2" charset="-122"/>
              </a:rPr>
              <a:t>语句处理的行数； </a:t>
            </a:r>
            <a:endParaRPr lang="en-US" altLang="zh-CN" sz="2400" dirty="0">
              <a:cs typeface="宋体" panose="02010600030101010101" pitchFamily="2" charset="-122"/>
            </a:endParaRPr>
          </a:p>
          <a:p>
            <a:pPr marL="227330" lvl="1" indent="-227330"/>
            <a:endParaRPr lang="en-US" altLang="zh-CN" sz="2000" dirty="0">
              <a:cs typeface="宋体" panose="02010600030101010101" pitchFamily="2" charset="-122"/>
            </a:endParaRPr>
          </a:p>
          <a:p>
            <a:pPr>
              <a:lnSpc>
                <a:spcPct val="90000"/>
              </a:lnSpc>
            </a:pPr>
            <a:endParaRPr lang="en-US" altLang="zh-CN" dirty="0">
              <a:cs typeface="宋体" panose="02010600030101010101" pitchFamily="2" charset="-122"/>
            </a:endParaRPr>
          </a:p>
        </p:txBody>
      </p:sp>
      <p:sp>
        <p:nvSpPr>
          <p:cNvPr id="309254" name="Text Box 6"/>
          <p:cNvSpPr txBox="1">
            <a:spLocks noChangeArrowheads="1"/>
          </p:cNvSpPr>
          <p:nvPr/>
        </p:nvSpPr>
        <p:spPr bwMode="black">
          <a:xfrm>
            <a:off x="1017752" y="1988524"/>
            <a:ext cx="8610600" cy="636905"/>
          </a:xfrm>
          <a:prstGeom prst="rect">
            <a:avLst/>
          </a:prstGeom>
          <a:solidFill>
            <a:srgbClr val="E9EDF4"/>
          </a:solidFill>
          <a:ln w="9525">
            <a:solidFill>
              <a:schemeClr val="tx2"/>
            </a:solidFill>
            <a:miter lim="800000"/>
          </a:ln>
          <a:effectLst/>
        </p:spPr>
        <p:txBody>
          <a:bodyPr lIns="92075" tIns="46038" rIns="92075" bIns="46038">
            <a:spAutoFit/>
          </a:bodyPr>
          <a:lstStyle>
            <a:lvl1pPr marL="342900" indent="-342900" eaLnBrk="0" hangingPunct="0">
              <a:defRPr sz="1400" b="1">
                <a:solidFill>
                  <a:schemeClr val="tx1"/>
                </a:solidFill>
                <a:latin typeface="Arial" panose="020B0604020202020204" pitchFamily="34" charset="0"/>
                <a:ea typeface="宋体" panose="02010600030101010101" pitchFamily="2" charset="-122"/>
                <a:cs typeface="Arial" panose="020B0604020202020204" pitchFamily="34" charset="0"/>
              </a:defRPr>
            </a:lvl1pPr>
            <a:lvl2pPr marL="8001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2pPr>
            <a:lvl3pPr marL="12573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3pPr>
            <a:lvl4pPr marL="17145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4pPr>
            <a:lvl5pPr marL="21717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5pPr>
            <a:lvl6pPr marL="26289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6pPr>
            <a:lvl7pPr marL="30861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7pPr>
            <a:lvl8pPr marL="35433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8pPr>
            <a:lvl9pPr marL="40005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spcAft>
                <a:spcPct val="50000"/>
              </a:spcAft>
            </a:pPr>
            <a:r>
              <a:rPr lang="fr-FR" altLang="zh-CN" b="0" i="1" dirty="0">
                <a:cs typeface="宋体" panose="02010600030101010101" pitchFamily="2" charset="-122"/>
              </a:rPr>
              <a:t>(constant)</a:t>
            </a:r>
          </a:p>
          <a:p>
            <a:pPr eaLnBrk="1" hangingPunct="1">
              <a:spcBef>
                <a:spcPct val="0"/>
              </a:spcBef>
              <a:spcAft>
                <a:spcPct val="50000"/>
              </a:spcAft>
            </a:pPr>
            <a:r>
              <a:rPr lang="fr-FR" altLang="zh-CN" b="0" dirty="0">
                <a:cs typeface="宋体" panose="02010600030101010101" pitchFamily="2" charset="-122"/>
              </a:rPr>
              <a:t>GBase </a:t>
            </a:r>
            <a:r>
              <a:rPr lang="fr-FR" altLang="zh-CN" b="0" dirty="0" smtClean="0">
                <a:cs typeface="宋体" panose="02010600030101010101" pitchFamily="2" charset="-122"/>
              </a:rPr>
              <a:t>8s </a:t>
            </a:r>
            <a:r>
              <a:rPr lang="fr-FR" altLang="zh-CN" b="0" dirty="0">
                <a:cs typeface="宋体" panose="02010600030101010101" pitchFamily="2" charset="-122"/>
              </a:rPr>
              <a:t>Database Server Version 12.10.FC4G1TL</a:t>
            </a:r>
          </a:p>
        </p:txBody>
      </p:sp>
      <p:sp>
        <p:nvSpPr>
          <p:cNvPr id="309255" name="Text Box 7"/>
          <p:cNvSpPr txBox="1">
            <a:spLocks noChangeArrowheads="1"/>
          </p:cNvSpPr>
          <p:nvPr/>
        </p:nvSpPr>
        <p:spPr bwMode="black">
          <a:xfrm>
            <a:off x="1017752" y="1642449"/>
            <a:ext cx="8610600" cy="346075"/>
          </a:xfrm>
          <a:prstGeom prst="rect">
            <a:avLst/>
          </a:prstGeom>
          <a:noFill/>
          <a:ln w="9525">
            <a:solidFill>
              <a:schemeClr val="tx2"/>
            </a:solidFill>
            <a:miter lim="800000"/>
          </a:ln>
          <a:effectLst/>
        </p:spPr>
        <p:txBody>
          <a:bodyPr lIns="92075" tIns="46038" rIns="92075" bIns="46038">
            <a:spAutoFit/>
          </a:bodyPr>
          <a:lstStyle>
            <a:lvl1pPr marL="342900" indent="-342900" eaLnBrk="0" hangingPunct="0">
              <a:defRPr sz="1400" b="1">
                <a:solidFill>
                  <a:schemeClr val="tx1"/>
                </a:solidFill>
                <a:latin typeface="Arial" panose="020B0604020202020204" pitchFamily="34" charset="0"/>
                <a:ea typeface="宋体" panose="02010600030101010101" pitchFamily="2" charset="-122"/>
                <a:cs typeface="Arial" panose="020B0604020202020204" pitchFamily="34" charset="0"/>
              </a:defRPr>
            </a:lvl1pPr>
            <a:lvl2pPr marL="8001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2pPr>
            <a:lvl3pPr marL="12573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3pPr>
            <a:lvl4pPr marL="17145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4pPr>
            <a:lvl5pPr marL="21717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5pPr>
            <a:lvl6pPr marL="26289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6pPr>
            <a:lvl7pPr marL="30861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7pPr>
            <a:lvl8pPr marL="35433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8pPr>
            <a:lvl9pPr marL="40005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spcAft>
                <a:spcPct val="50000"/>
              </a:spcAft>
            </a:pPr>
            <a:r>
              <a:rPr lang="en-US" altLang="zh-CN" sz="1600" b="0" dirty="0">
                <a:cs typeface="宋体" panose="02010600030101010101" pitchFamily="2" charset="-122"/>
              </a:rPr>
              <a:t>SELECT FIRST 1 DBINFO('</a:t>
            </a:r>
            <a:r>
              <a:rPr lang="en-US" altLang="zh-CN" sz="1600" b="0" dirty="0" err="1">
                <a:cs typeface="宋体" panose="02010600030101010101" pitchFamily="2" charset="-122"/>
              </a:rPr>
              <a:t>version','full</a:t>
            </a:r>
            <a:r>
              <a:rPr lang="en-US" altLang="zh-CN" sz="1600" b="0" dirty="0">
                <a:cs typeface="宋体" panose="02010600030101010101" pitchFamily="2" charset="-122"/>
              </a:rPr>
              <a:t>') FROM </a:t>
            </a:r>
            <a:r>
              <a:rPr lang="en-US" altLang="zh-CN" sz="1600" b="0" dirty="0" err="1">
                <a:cs typeface="宋体" panose="02010600030101010101" pitchFamily="2" charset="-122"/>
              </a:rPr>
              <a:t>systables</a:t>
            </a:r>
            <a:r>
              <a:rPr lang="en-US" altLang="zh-CN" sz="1600" b="0" dirty="0">
                <a:cs typeface="宋体" panose="02010600030101010101" pitchFamily="2" charset="-122"/>
              </a:rPr>
              <a:t>;</a:t>
            </a:r>
          </a:p>
        </p:txBody>
      </p:sp>
      <p:sp>
        <p:nvSpPr>
          <p:cNvPr id="309256" name="Text Box 8"/>
          <p:cNvSpPr txBox="1">
            <a:spLocks noChangeArrowheads="1"/>
          </p:cNvSpPr>
          <p:nvPr/>
        </p:nvSpPr>
        <p:spPr bwMode="black">
          <a:xfrm>
            <a:off x="1017752" y="3493230"/>
            <a:ext cx="8610600" cy="633413"/>
          </a:xfrm>
          <a:prstGeom prst="rect">
            <a:avLst/>
          </a:prstGeom>
          <a:solidFill>
            <a:srgbClr val="E9EDF4"/>
          </a:solidFill>
          <a:ln w="9525">
            <a:solidFill>
              <a:schemeClr val="tx2"/>
            </a:solidFill>
            <a:miter lim="800000"/>
          </a:ln>
          <a:effectLst/>
        </p:spPr>
        <p:txBody>
          <a:bodyPr lIns="92075" tIns="46038" rIns="92075" bIns="46038">
            <a:spAutoFit/>
          </a:bodyPr>
          <a:lstStyle>
            <a:lvl1pPr marL="342900" indent="-342900" eaLnBrk="0" hangingPunct="0">
              <a:defRPr sz="1400" b="1">
                <a:solidFill>
                  <a:schemeClr val="tx1"/>
                </a:solidFill>
                <a:latin typeface="Arial" panose="020B0604020202020204" pitchFamily="34" charset="0"/>
                <a:ea typeface="宋体" panose="02010600030101010101" pitchFamily="2" charset="-122"/>
                <a:cs typeface="Arial" panose="020B0604020202020204" pitchFamily="34" charset="0"/>
              </a:defRPr>
            </a:lvl1pPr>
            <a:lvl2pPr marL="8001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2pPr>
            <a:lvl3pPr marL="12573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3pPr>
            <a:lvl4pPr marL="17145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4pPr>
            <a:lvl5pPr marL="21717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5pPr>
            <a:lvl6pPr marL="26289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6pPr>
            <a:lvl7pPr marL="30861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7pPr>
            <a:lvl8pPr marL="35433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8pPr>
            <a:lvl9pPr marL="40005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spcAft>
                <a:spcPct val="50000"/>
              </a:spcAft>
            </a:pPr>
            <a:r>
              <a:rPr lang="fr-FR" altLang="zh-CN" b="0" i="1">
                <a:cs typeface="宋体" panose="02010600030101010101" pitchFamily="2" charset="-122"/>
              </a:rPr>
              <a:t>(expression) </a:t>
            </a:r>
          </a:p>
          <a:p>
            <a:pPr eaLnBrk="1" hangingPunct="1">
              <a:spcBef>
                <a:spcPct val="0"/>
              </a:spcBef>
              <a:spcAft>
                <a:spcPct val="50000"/>
              </a:spcAft>
            </a:pPr>
            <a:r>
              <a:rPr lang="fr-FR" altLang="zh-CN" b="0">
                <a:cs typeface="宋体" panose="02010600030101010101" pitchFamily="2" charset="-122"/>
              </a:rPr>
              <a:t>           0</a:t>
            </a:r>
            <a:endParaRPr lang="zh-CN" altLang="en-US" b="0">
              <a:cs typeface="宋体" panose="02010600030101010101" pitchFamily="2" charset="-122"/>
            </a:endParaRPr>
          </a:p>
        </p:txBody>
      </p:sp>
      <p:sp>
        <p:nvSpPr>
          <p:cNvPr id="309257" name="Text Box 9"/>
          <p:cNvSpPr txBox="1">
            <a:spLocks noChangeArrowheads="1"/>
          </p:cNvSpPr>
          <p:nvPr/>
        </p:nvSpPr>
        <p:spPr bwMode="black">
          <a:xfrm>
            <a:off x="1017752" y="3143980"/>
            <a:ext cx="8610600" cy="346075"/>
          </a:xfrm>
          <a:prstGeom prst="rect">
            <a:avLst/>
          </a:prstGeom>
          <a:noFill/>
          <a:ln w="9525">
            <a:solidFill>
              <a:schemeClr val="tx2"/>
            </a:solidFill>
            <a:miter lim="800000"/>
          </a:ln>
          <a:effectLst/>
        </p:spPr>
        <p:txBody>
          <a:bodyPr lIns="92075" tIns="46038" rIns="92075" bIns="46038">
            <a:spAutoFit/>
          </a:bodyPr>
          <a:lstStyle>
            <a:lvl1pPr marL="342900" indent="-342900" eaLnBrk="0" hangingPunct="0">
              <a:defRPr sz="1400" b="1">
                <a:solidFill>
                  <a:schemeClr val="tx1"/>
                </a:solidFill>
                <a:latin typeface="Arial" panose="020B0604020202020204" pitchFamily="34" charset="0"/>
                <a:ea typeface="宋体" panose="02010600030101010101" pitchFamily="2" charset="-122"/>
                <a:cs typeface="Arial" panose="020B0604020202020204" pitchFamily="34" charset="0"/>
              </a:defRPr>
            </a:lvl1pPr>
            <a:lvl2pPr marL="8001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2pPr>
            <a:lvl3pPr marL="12573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3pPr>
            <a:lvl4pPr marL="17145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4pPr>
            <a:lvl5pPr marL="21717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5pPr>
            <a:lvl6pPr marL="26289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6pPr>
            <a:lvl7pPr marL="30861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7pPr>
            <a:lvl8pPr marL="35433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8pPr>
            <a:lvl9pPr marL="40005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spcAft>
                <a:spcPct val="50000"/>
              </a:spcAft>
            </a:pPr>
            <a:r>
              <a:rPr lang="en-US" altLang="zh-CN" sz="1600" b="0">
                <a:cs typeface="宋体" panose="02010600030101010101" pitchFamily="2" charset="-122"/>
              </a:rPr>
              <a:t>SELECT FIRST 1 DBINFO('sqlca.sqlerrd1') FROM systables;</a:t>
            </a:r>
          </a:p>
        </p:txBody>
      </p:sp>
      <p:sp>
        <p:nvSpPr>
          <p:cNvPr id="309258" name="Text Box 10"/>
          <p:cNvSpPr txBox="1">
            <a:spLocks noChangeArrowheads="1"/>
          </p:cNvSpPr>
          <p:nvPr/>
        </p:nvSpPr>
        <p:spPr bwMode="black">
          <a:xfrm>
            <a:off x="1017752" y="5278952"/>
            <a:ext cx="8610600" cy="633412"/>
          </a:xfrm>
          <a:prstGeom prst="rect">
            <a:avLst/>
          </a:prstGeom>
          <a:solidFill>
            <a:srgbClr val="E9EDF4"/>
          </a:solidFill>
          <a:ln w="9525">
            <a:solidFill>
              <a:schemeClr val="tx2"/>
            </a:solidFill>
            <a:miter lim="800000"/>
          </a:ln>
          <a:effectLst/>
        </p:spPr>
        <p:txBody>
          <a:bodyPr lIns="92075" tIns="46038" rIns="92075" bIns="46038">
            <a:spAutoFit/>
          </a:bodyPr>
          <a:lstStyle>
            <a:lvl1pPr marL="342900" indent="-342900" eaLnBrk="0" hangingPunct="0">
              <a:defRPr sz="1400" b="1">
                <a:solidFill>
                  <a:schemeClr val="tx1"/>
                </a:solidFill>
                <a:latin typeface="Arial" panose="020B0604020202020204" pitchFamily="34" charset="0"/>
                <a:ea typeface="宋体" panose="02010600030101010101" pitchFamily="2" charset="-122"/>
                <a:cs typeface="Arial" panose="020B0604020202020204" pitchFamily="34" charset="0"/>
              </a:defRPr>
            </a:lvl1pPr>
            <a:lvl2pPr marL="8001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2pPr>
            <a:lvl3pPr marL="12573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3pPr>
            <a:lvl4pPr marL="17145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4pPr>
            <a:lvl5pPr marL="21717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5pPr>
            <a:lvl6pPr marL="26289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6pPr>
            <a:lvl7pPr marL="30861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7pPr>
            <a:lvl8pPr marL="35433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8pPr>
            <a:lvl9pPr marL="40005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spcAft>
                <a:spcPct val="50000"/>
              </a:spcAft>
            </a:pPr>
            <a:r>
              <a:rPr lang="fr-FR" altLang="zh-CN" b="0" i="1">
                <a:cs typeface="宋体" panose="02010600030101010101" pitchFamily="2" charset="-122"/>
              </a:rPr>
              <a:t>(expression) </a:t>
            </a:r>
          </a:p>
          <a:p>
            <a:pPr eaLnBrk="1" hangingPunct="1">
              <a:spcBef>
                <a:spcPct val="0"/>
              </a:spcBef>
              <a:spcAft>
                <a:spcPct val="50000"/>
              </a:spcAft>
            </a:pPr>
            <a:r>
              <a:rPr lang="fr-FR" altLang="zh-CN" b="0">
                <a:cs typeface="宋体" panose="02010600030101010101" pitchFamily="2" charset="-122"/>
              </a:rPr>
              <a:t>           1</a:t>
            </a:r>
            <a:endParaRPr lang="zh-CN" altLang="en-US" b="0">
              <a:cs typeface="宋体" panose="02010600030101010101" pitchFamily="2" charset="-122"/>
            </a:endParaRPr>
          </a:p>
        </p:txBody>
      </p:sp>
      <p:sp>
        <p:nvSpPr>
          <p:cNvPr id="309259" name="Text Box 11"/>
          <p:cNvSpPr txBox="1">
            <a:spLocks noChangeArrowheads="1"/>
          </p:cNvSpPr>
          <p:nvPr/>
        </p:nvSpPr>
        <p:spPr bwMode="black">
          <a:xfrm>
            <a:off x="1017752" y="4943990"/>
            <a:ext cx="8610600" cy="346075"/>
          </a:xfrm>
          <a:prstGeom prst="rect">
            <a:avLst/>
          </a:prstGeom>
          <a:noFill/>
          <a:ln w="9525">
            <a:solidFill>
              <a:schemeClr val="tx2"/>
            </a:solidFill>
            <a:miter lim="800000"/>
          </a:ln>
          <a:effectLst/>
        </p:spPr>
        <p:txBody>
          <a:bodyPr lIns="92075" tIns="46038" rIns="92075" bIns="46038">
            <a:spAutoFit/>
          </a:bodyPr>
          <a:lstStyle>
            <a:lvl1pPr marL="342900" indent="-342900" eaLnBrk="0" hangingPunct="0">
              <a:defRPr sz="1400" b="1">
                <a:solidFill>
                  <a:schemeClr val="tx1"/>
                </a:solidFill>
                <a:latin typeface="Arial" panose="020B0604020202020204" pitchFamily="34" charset="0"/>
                <a:ea typeface="宋体" panose="02010600030101010101" pitchFamily="2" charset="-122"/>
                <a:cs typeface="Arial" panose="020B0604020202020204" pitchFamily="34" charset="0"/>
              </a:defRPr>
            </a:lvl1pPr>
            <a:lvl2pPr marL="8001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2pPr>
            <a:lvl3pPr marL="12573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3pPr>
            <a:lvl4pPr marL="17145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4pPr>
            <a:lvl5pPr marL="21717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5pPr>
            <a:lvl6pPr marL="26289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6pPr>
            <a:lvl7pPr marL="30861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7pPr>
            <a:lvl8pPr marL="35433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8pPr>
            <a:lvl9pPr marL="40005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spcAft>
                <a:spcPct val="50000"/>
              </a:spcAft>
            </a:pPr>
            <a:r>
              <a:rPr lang="en-US" altLang="zh-CN" sz="1600" b="0">
                <a:cs typeface="宋体" panose="02010600030101010101" pitchFamily="2" charset="-122"/>
              </a:rPr>
              <a:t>SELECT FIRST 1 DBINFO('sqlca.sqlerrd2') FROM systables;</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1298" name="Rectangle 2"/>
          <p:cNvSpPr>
            <a:spLocks noGrp="1" noChangeArrowheads="1"/>
          </p:cNvSpPr>
          <p:nvPr>
            <p:ph type="title"/>
          </p:nvPr>
        </p:nvSpPr>
        <p:spPr/>
        <p:txBody>
          <a:bodyPr/>
          <a:lstStyle/>
          <a:p>
            <a:r>
              <a:rPr lang="zh-CN" altLang="en-US">
                <a:latin typeface="Arial" panose="020B0604020202020204" pitchFamily="34" charset="0"/>
                <a:cs typeface="宋体" panose="02010600030101010101" pitchFamily="2" charset="-122"/>
              </a:rPr>
              <a:t>其它函数</a:t>
            </a:r>
          </a:p>
        </p:txBody>
      </p:sp>
      <p:sp>
        <p:nvSpPr>
          <p:cNvPr id="311299" name="Rectangle 3"/>
          <p:cNvSpPr>
            <a:spLocks noGrp="1" noChangeArrowheads="1"/>
          </p:cNvSpPr>
          <p:nvPr>
            <p:ph type="body" sz="quarter" idx="10"/>
          </p:nvPr>
        </p:nvSpPr>
        <p:spPr>
          <a:xfrm>
            <a:off x="763954" y="1737239"/>
            <a:ext cx="10718800" cy="4888767"/>
          </a:xfrm>
        </p:spPr>
        <p:txBody>
          <a:bodyPr/>
          <a:lstStyle/>
          <a:p>
            <a:pPr>
              <a:lnSpc>
                <a:spcPct val="90000"/>
              </a:lnSpc>
            </a:pPr>
            <a:r>
              <a:rPr lang="en-US" altLang="zh-CN" dirty="0">
                <a:cs typeface="宋体" panose="02010600030101010101" pitchFamily="2" charset="-122"/>
              </a:rPr>
              <a:t>DBINFO</a:t>
            </a:r>
          </a:p>
        </p:txBody>
      </p:sp>
      <p:sp>
        <p:nvSpPr>
          <p:cNvPr id="311300" name="Text Box 4"/>
          <p:cNvSpPr txBox="1">
            <a:spLocks noChangeArrowheads="1"/>
          </p:cNvSpPr>
          <p:nvPr/>
        </p:nvSpPr>
        <p:spPr bwMode="black">
          <a:xfrm>
            <a:off x="1722804" y="2749332"/>
            <a:ext cx="8610600" cy="636905"/>
          </a:xfrm>
          <a:prstGeom prst="rect">
            <a:avLst/>
          </a:prstGeom>
          <a:solidFill>
            <a:srgbClr val="E9EDF4"/>
          </a:solidFill>
          <a:ln w="9525">
            <a:solidFill>
              <a:schemeClr val="tx2"/>
            </a:solidFill>
            <a:miter lim="800000"/>
          </a:ln>
          <a:effectLst/>
        </p:spPr>
        <p:txBody>
          <a:bodyPr lIns="92075" tIns="46038" rIns="92075" bIns="46038">
            <a:spAutoFit/>
          </a:bodyPr>
          <a:lstStyle>
            <a:lvl1pPr marL="342900" indent="-342900" eaLnBrk="0" hangingPunct="0">
              <a:defRPr sz="1400" b="1">
                <a:solidFill>
                  <a:schemeClr val="tx1"/>
                </a:solidFill>
                <a:latin typeface="Arial" panose="020B0604020202020204" pitchFamily="34" charset="0"/>
                <a:ea typeface="宋体" panose="02010600030101010101" pitchFamily="2" charset="-122"/>
                <a:cs typeface="Arial" panose="020B0604020202020204" pitchFamily="34" charset="0"/>
              </a:defRPr>
            </a:lvl1pPr>
            <a:lvl2pPr marL="8001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2pPr>
            <a:lvl3pPr marL="12573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3pPr>
            <a:lvl4pPr marL="17145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4pPr>
            <a:lvl5pPr marL="21717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5pPr>
            <a:lvl6pPr marL="26289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6pPr>
            <a:lvl7pPr marL="30861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7pPr>
            <a:lvl8pPr marL="35433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8pPr>
            <a:lvl9pPr marL="40005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spcAft>
                <a:spcPct val="50000"/>
              </a:spcAft>
            </a:pPr>
            <a:r>
              <a:rPr lang="fr-FR" altLang="zh-CN" b="0" i="1">
                <a:cs typeface="宋体" panose="02010600030101010101" pitchFamily="2" charset="-122"/>
              </a:rPr>
              <a:t>(expression)            	       	(expression)</a:t>
            </a:r>
          </a:p>
          <a:p>
            <a:pPr eaLnBrk="1" hangingPunct="1">
              <a:spcBef>
                <a:spcPct val="0"/>
              </a:spcBef>
              <a:spcAft>
                <a:spcPct val="50000"/>
              </a:spcAft>
            </a:pPr>
            <a:r>
              <a:rPr lang="fr-FR" altLang="zh-CN" b="0">
                <a:cs typeface="宋体" panose="02010600030101010101" pitchFamily="2" charset="-122"/>
              </a:rPr>
              <a:t>2016-05-26 01:00:30.000                1464249630</a:t>
            </a:r>
          </a:p>
        </p:txBody>
      </p:sp>
      <p:sp>
        <p:nvSpPr>
          <p:cNvPr id="311301" name="Text Box 5"/>
          <p:cNvSpPr txBox="1">
            <a:spLocks noChangeArrowheads="1"/>
          </p:cNvSpPr>
          <p:nvPr/>
        </p:nvSpPr>
        <p:spPr bwMode="black">
          <a:xfrm>
            <a:off x="1722804" y="2411195"/>
            <a:ext cx="8610600" cy="346075"/>
          </a:xfrm>
          <a:prstGeom prst="rect">
            <a:avLst/>
          </a:prstGeom>
          <a:noFill/>
          <a:ln w="9525">
            <a:solidFill>
              <a:schemeClr val="tx2"/>
            </a:solidFill>
            <a:miter lim="800000"/>
          </a:ln>
          <a:effectLst/>
        </p:spPr>
        <p:txBody>
          <a:bodyPr lIns="92075" tIns="46038" rIns="92075" bIns="46038">
            <a:spAutoFit/>
          </a:bodyPr>
          <a:lstStyle>
            <a:lvl1pPr marL="342900" indent="-342900" eaLnBrk="0" hangingPunct="0">
              <a:defRPr sz="1400" b="1">
                <a:solidFill>
                  <a:schemeClr val="tx1"/>
                </a:solidFill>
                <a:latin typeface="Arial" panose="020B0604020202020204" pitchFamily="34" charset="0"/>
                <a:ea typeface="宋体" panose="02010600030101010101" pitchFamily="2" charset="-122"/>
                <a:cs typeface="Arial" panose="020B0604020202020204" pitchFamily="34" charset="0"/>
              </a:defRPr>
            </a:lvl1pPr>
            <a:lvl2pPr marL="8001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2pPr>
            <a:lvl3pPr marL="12573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3pPr>
            <a:lvl4pPr marL="17145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4pPr>
            <a:lvl5pPr marL="21717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5pPr>
            <a:lvl6pPr marL="26289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6pPr>
            <a:lvl7pPr marL="30861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7pPr>
            <a:lvl8pPr marL="35433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8pPr>
            <a:lvl9pPr marL="40005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spcAft>
                <a:spcPct val="50000"/>
              </a:spcAft>
            </a:pPr>
            <a:r>
              <a:rPr lang="en-US" altLang="zh-CN" sz="1600" b="0">
                <a:cs typeface="宋体" panose="02010600030101010101" pitchFamily="2" charset="-122"/>
              </a:rPr>
              <a:t>SELECT FIRST 1 CURRENT, DBINFO( 'utc_current') FROM systables;</a:t>
            </a:r>
          </a:p>
        </p:txBody>
      </p:sp>
      <p:sp>
        <p:nvSpPr>
          <p:cNvPr id="311302" name="Text Box 6"/>
          <p:cNvSpPr txBox="1">
            <a:spLocks noChangeArrowheads="1"/>
          </p:cNvSpPr>
          <p:nvPr/>
        </p:nvSpPr>
        <p:spPr bwMode="black">
          <a:xfrm>
            <a:off x="1735504" y="4032032"/>
            <a:ext cx="8610600" cy="636905"/>
          </a:xfrm>
          <a:prstGeom prst="rect">
            <a:avLst/>
          </a:prstGeom>
          <a:solidFill>
            <a:srgbClr val="E9EDF4"/>
          </a:solidFill>
          <a:ln w="9525">
            <a:solidFill>
              <a:schemeClr val="tx2"/>
            </a:solidFill>
            <a:miter lim="800000"/>
          </a:ln>
          <a:effectLst/>
        </p:spPr>
        <p:txBody>
          <a:bodyPr lIns="92075" tIns="46038" rIns="92075" bIns="46038">
            <a:spAutoFit/>
          </a:bodyPr>
          <a:lstStyle>
            <a:lvl1pPr marL="342900" indent="-342900" eaLnBrk="0" hangingPunct="0">
              <a:defRPr sz="1400" b="1">
                <a:solidFill>
                  <a:schemeClr val="tx1"/>
                </a:solidFill>
                <a:latin typeface="Arial" panose="020B0604020202020204" pitchFamily="34" charset="0"/>
                <a:ea typeface="宋体" panose="02010600030101010101" pitchFamily="2" charset="-122"/>
                <a:cs typeface="Arial" panose="020B0604020202020204" pitchFamily="34" charset="0"/>
              </a:defRPr>
            </a:lvl1pPr>
            <a:lvl2pPr marL="8001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2pPr>
            <a:lvl3pPr marL="12573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3pPr>
            <a:lvl4pPr marL="17145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4pPr>
            <a:lvl5pPr marL="21717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5pPr>
            <a:lvl6pPr marL="26289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6pPr>
            <a:lvl7pPr marL="30861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7pPr>
            <a:lvl8pPr marL="35433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8pPr>
            <a:lvl9pPr marL="40005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spcAft>
                <a:spcPct val="50000"/>
              </a:spcAft>
            </a:pPr>
            <a:r>
              <a:rPr lang="fr-FR" altLang="zh-CN" b="0" i="1">
                <a:cs typeface="宋体" panose="02010600030101010101" pitchFamily="2" charset="-122"/>
              </a:rPr>
              <a:t>(constant)</a:t>
            </a:r>
          </a:p>
          <a:p>
            <a:pPr eaLnBrk="1" hangingPunct="1">
              <a:spcBef>
                <a:spcPct val="0"/>
              </a:spcBef>
              <a:spcAft>
                <a:spcPct val="50000"/>
              </a:spcAft>
            </a:pPr>
            <a:r>
              <a:rPr lang="fr-FR" altLang="zh-CN" b="0">
                <a:cs typeface="宋体" panose="02010600030101010101" pitchFamily="2" charset="-122"/>
              </a:rPr>
              <a:t>2012-08-24 1</a:t>
            </a:r>
            <a:r>
              <a:rPr lang="en-US" altLang="fr-FR" b="0">
                <a:cs typeface="宋体" panose="02010600030101010101" pitchFamily="2" charset="-122"/>
              </a:rPr>
              <a:t>9</a:t>
            </a:r>
            <a:r>
              <a:rPr lang="fr-FR" altLang="zh-CN" b="0">
                <a:cs typeface="宋体" panose="02010600030101010101" pitchFamily="2" charset="-122"/>
              </a:rPr>
              <a:t>:09:28</a:t>
            </a:r>
            <a:endParaRPr lang="zh-CN" altLang="en-US" b="0">
              <a:cs typeface="宋体" panose="02010600030101010101" pitchFamily="2" charset="-122"/>
            </a:endParaRPr>
          </a:p>
        </p:txBody>
      </p:sp>
      <p:sp>
        <p:nvSpPr>
          <p:cNvPr id="311303" name="Text Box 7"/>
          <p:cNvSpPr txBox="1">
            <a:spLocks noChangeArrowheads="1"/>
          </p:cNvSpPr>
          <p:nvPr/>
        </p:nvSpPr>
        <p:spPr bwMode="black">
          <a:xfrm>
            <a:off x="1735504" y="3693895"/>
            <a:ext cx="8610600" cy="346075"/>
          </a:xfrm>
          <a:prstGeom prst="rect">
            <a:avLst/>
          </a:prstGeom>
          <a:noFill/>
          <a:ln w="9525">
            <a:solidFill>
              <a:schemeClr val="tx2"/>
            </a:solidFill>
            <a:miter lim="800000"/>
          </a:ln>
          <a:effectLst/>
        </p:spPr>
        <p:txBody>
          <a:bodyPr lIns="92075" tIns="46038" rIns="92075" bIns="46038">
            <a:spAutoFit/>
          </a:bodyPr>
          <a:lstStyle>
            <a:lvl1pPr marL="342900" indent="-342900" eaLnBrk="0" hangingPunct="0">
              <a:defRPr sz="1400" b="1">
                <a:solidFill>
                  <a:schemeClr val="tx1"/>
                </a:solidFill>
                <a:latin typeface="Arial" panose="020B0604020202020204" pitchFamily="34" charset="0"/>
                <a:ea typeface="宋体" panose="02010600030101010101" pitchFamily="2" charset="-122"/>
                <a:cs typeface="Arial" panose="020B0604020202020204" pitchFamily="34" charset="0"/>
              </a:defRPr>
            </a:lvl1pPr>
            <a:lvl2pPr marL="8001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2pPr>
            <a:lvl3pPr marL="12573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3pPr>
            <a:lvl4pPr marL="17145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4pPr>
            <a:lvl5pPr marL="21717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5pPr>
            <a:lvl6pPr marL="26289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6pPr>
            <a:lvl7pPr marL="30861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7pPr>
            <a:lvl8pPr marL="35433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8pPr>
            <a:lvl9pPr marL="40005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spcAft>
                <a:spcPct val="50000"/>
              </a:spcAft>
            </a:pPr>
            <a:r>
              <a:rPr lang="en-US" altLang="zh-CN" sz="1600" b="0">
                <a:cs typeface="宋体" panose="02010600030101010101" pitchFamily="2" charset="-122"/>
              </a:rPr>
              <a:t>SELECT FIRST 1 DBINFO('utc_to_datetime', 1345774168) FROM systables;</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5698" name="Rectangle 2"/>
          <p:cNvSpPr>
            <a:spLocks noGrp="1" noChangeArrowheads="1"/>
          </p:cNvSpPr>
          <p:nvPr>
            <p:ph type="title"/>
          </p:nvPr>
        </p:nvSpPr>
        <p:spPr/>
        <p:txBody>
          <a:bodyPr/>
          <a:lstStyle/>
          <a:p>
            <a:r>
              <a:rPr lang="zh-CN" altLang="en-US">
                <a:latin typeface="Arial" panose="020B0604020202020204" pitchFamily="34" charset="0"/>
                <a:cs typeface="宋体" panose="02010600030101010101" pitchFamily="2" charset="-122"/>
              </a:rPr>
              <a:t>其它函数</a:t>
            </a:r>
          </a:p>
        </p:txBody>
      </p:sp>
      <p:sp>
        <p:nvSpPr>
          <p:cNvPr id="285699" name="Rectangle 3"/>
          <p:cNvSpPr>
            <a:spLocks noGrp="1" noChangeArrowheads="1"/>
          </p:cNvSpPr>
          <p:nvPr>
            <p:ph type="body" sz="quarter" idx="10"/>
          </p:nvPr>
        </p:nvSpPr>
        <p:spPr/>
        <p:txBody>
          <a:bodyPr/>
          <a:lstStyle/>
          <a:p>
            <a:pPr>
              <a:lnSpc>
                <a:spcPct val="125000"/>
              </a:lnSpc>
            </a:pPr>
            <a:r>
              <a:rPr lang="en-US" altLang="zh-CN" dirty="0">
                <a:cs typeface="宋体" panose="02010600030101010101" pitchFamily="2" charset="-122"/>
              </a:rPr>
              <a:t>DECODE    </a:t>
            </a:r>
            <a:r>
              <a:rPr lang="zh-CN" altLang="en-US" sz="1600" dirty="0">
                <a:cs typeface="宋体" panose="02010600030101010101" pitchFamily="2" charset="-122"/>
              </a:rPr>
              <a:t>表达式与</a:t>
            </a:r>
            <a:r>
              <a:rPr lang="en-US" altLang="zh-CN" sz="1600" dirty="0">
                <a:cs typeface="宋体" panose="02010600030101010101" pitchFamily="2" charset="-122"/>
              </a:rPr>
              <a:t>case</a:t>
            </a:r>
            <a:r>
              <a:rPr lang="zh-CN" altLang="en-US" sz="1600" dirty="0">
                <a:cs typeface="宋体" panose="02010600030101010101" pitchFamily="2" charset="-122"/>
              </a:rPr>
              <a:t>表达式类似，它能根据指定列中找到的值打印不同的结果</a:t>
            </a:r>
            <a:endParaRPr lang="en-US" altLang="zh-CN" sz="1600" dirty="0">
              <a:cs typeface="宋体" panose="02010600030101010101" pitchFamily="2" charset="-122"/>
            </a:endParaRPr>
          </a:p>
          <a:p>
            <a:pPr lvl="1">
              <a:lnSpc>
                <a:spcPct val="125000"/>
              </a:lnSpc>
            </a:pPr>
            <a:r>
              <a:rPr lang="en-US" altLang="zh-CN" sz="1800" dirty="0">
                <a:cs typeface="宋体" panose="02010600030101010101" pitchFamily="2" charset="-122"/>
              </a:rPr>
              <a:t>DECODE(</a:t>
            </a:r>
            <a:r>
              <a:rPr lang="en-US" altLang="zh-CN" sz="1800" i="1" dirty="0">
                <a:cs typeface="宋体" panose="02010600030101010101" pitchFamily="2" charset="-122"/>
              </a:rPr>
              <a:t>test</a:t>
            </a:r>
            <a:r>
              <a:rPr lang="en-US" altLang="zh-CN" sz="1800" dirty="0">
                <a:cs typeface="宋体" panose="02010600030101010101" pitchFamily="2" charset="-122"/>
              </a:rPr>
              <a:t>, </a:t>
            </a:r>
            <a:r>
              <a:rPr lang="en-US" altLang="zh-CN" sz="1800" i="1" dirty="0">
                <a:cs typeface="宋体" panose="02010600030101010101" pitchFamily="2" charset="-122"/>
              </a:rPr>
              <a:t>a</a:t>
            </a:r>
            <a:r>
              <a:rPr lang="en-US" altLang="zh-CN" sz="1800" dirty="0">
                <a:cs typeface="宋体" panose="02010600030101010101" pitchFamily="2" charset="-122"/>
              </a:rPr>
              <a:t>, </a:t>
            </a:r>
            <a:r>
              <a:rPr lang="en-US" altLang="zh-CN" sz="1800" i="1" dirty="0" err="1">
                <a:cs typeface="宋体" panose="02010600030101010101" pitchFamily="2" charset="-122"/>
              </a:rPr>
              <a:t>a_value</a:t>
            </a:r>
            <a:r>
              <a:rPr lang="en-US" altLang="zh-CN" sz="1800" dirty="0">
                <a:cs typeface="宋体" panose="02010600030101010101" pitchFamily="2" charset="-122"/>
              </a:rPr>
              <a:t>, </a:t>
            </a:r>
            <a:r>
              <a:rPr lang="en-US" altLang="zh-CN" sz="1800" i="1" dirty="0">
                <a:cs typeface="宋体" panose="02010600030101010101" pitchFamily="2" charset="-122"/>
              </a:rPr>
              <a:t>b</a:t>
            </a:r>
            <a:r>
              <a:rPr lang="en-US" altLang="zh-CN" sz="1800" dirty="0">
                <a:cs typeface="宋体" panose="02010600030101010101" pitchFamily="2" charset="-122"/>
              </a:rPr>
              <a:t>, </a:t>
            </a:r>
            <a:r>
              <a:rPr lang="en-US" altLang="zh-CN" sz="1800" i="1" dirty="0" err="1">
                <a:cs typeface="宋体" panose="02010600030101010101" pitchFamily="2" charset="-122"/>
              </a:rPr>
              <a:t>b_value</a:t>
            </a:r>
            <a:r>
              <a:rPr lang="en-US" altLang="zh-CN" sz="1800" dirty="0">
                <a:cs typeface="宋体" panose="02010600030101010101" pitchFamily="2" charset="-122"/>
              </a:rPr>
              <a:t>, ..., </a:t>
            </a:r>
            <a:r>
              <a:rPr lang="en-US" altLang="zh-CN" sz="1800" i="1" dirty="0">
                <a:cs typeface="宋体" panose="02010600030101010101" pitchFamily="2" charset="-122"/>
              </a:rPr>
              <a:t>n</a:t>
            </a:r>
            <a:r>
              <a:rPr lang="en-US" altLang="zh-CN" sz="1800" dirty="0">
                <a:cs typeface="宋体" panose="02010600030101010101" pitchFamily="2" charset="-122"/>
              </a:rPr>
              <a:t>, </a:t>
            </a:r>
            <a:r>
              <a:rPr lang="en-US" altLang="zh-CN" sz="1800" i="1" dirty="0" err="1">
                <a:cs typeface="宋体" panose="02010600030101010101" pitchFamily="2" charset="-122"/>
              </a:rPr>
              <a:t>n_value</a:t>
            </a:r>
            <a:r>
              <a:rPr lang="en-US" altLang="zh-CN" sz="1800" dirty="0">
                <a:cs typeface="宋体" panose="02010600030101010101" pitchFamily="2" charset="-122"/>
              </a:rPr>
              <a:t>, </a:t>
            </a:r>
            <a:r>
              <a:rPr lang="en-US" altLang="zh-CN" sz="1800" i="1" dirty="0" err="1">
                <a:cs typeface="宋体" panose="02010600030101010101" pitchFamily="2" charset="-122"/>
              </a:rPr>
              <a:t>exp_m</a:t>
            </a:r>
            <a:r>
              <a:rPr lang="en-US" altLang="zh-CN" sz="1800" i="1" dirty="0">
                <a:cs typeface="宋体" panose="02010600030101010101" pitchFamily="2" charset="-122"/>
              </a:rPr>
              <a:t> )</a:t>
            </a:r>
          </a:p>
          <a:p>
            <a:pPr lvl="1">
              <a:lnSpc>
                <a:spcPct val="125000"/>
              </a:lnSpc>
            </a:pPr>
            <a:endParaRPr lang="en-US" altLang="zh-CN" sz="1800" i="1" dirty="0">
              <a:cs typeface="宋体" panose="02010600030101010101" pitchFamily="2" charset="-122"/>
            </a:endParaRPr>
          </a:p>
          <a:p>
            <a:pPr lvl="1">
              <a:lnSpc>
                <a:spcPct val="125000"/>
              </a:lnSpc>
            </a:pPr>
            <a:endParaRPr lang="en-US" altLang="zh-CN" sz="1800" i="1" dirty="0">
              <a:cs typeface="宋体" panose="02010600030101010101" pitchFamily="2" charset="-122"/>
            </a:endParaRPr>
          </a:p>
          <a:p>
            <a:pPr lvl="1">
              <a:lnSpc>
                <a:spcPct val="125000"/>
              </a:lnSpc>
            </a:pPr>
            <a:endParaRPr lang="en-US" altLang="zh-CN" sz="1800" i="1" dirty="0">
              <a:cs typeface="宋体" panose="02010600030101010101" pitchFamily="2" charset="-122"/>
            </a:endParaRPr>
          </a:p>
          <a:p>
            <a:pPr marL="457200" lvl="1" indent="0">
              <a:lnSpc>
                <a:spcPct val="125000"/>
              </a:lnSpc>
              <a:buNone/>
            </a:pPr>
            <a:endParaRPr lang="en-US" altLang="zh-CN" i="1" dirty="0">
              <a:cs typeface="宋体" panose="02010600030101010101" pitchFamily="2" charset="-122"/>
            </a:endParaRPr>
          </a:p>
          <a:p>
            <a:pPr marL="457200" lvl="1" indent="0">
              <a:lnSpc>
                <a:spcPct val="125000"/>
              </a:lnSpc>
              <a:buNone/>
            </a:pPr>
            <a:endParaRPr lang="en-US" altLang="zh-CN" sz="1100" i="1" dirty="0">
              <a:cs typeface="宋体" panose="02010600030101010101" pitchFamily="2" charset="-122"/>
            </a:endParaRPr>
          </a:p>
          <a:p>
            <a:pPr lvl="1">
              <a:lnSpc>
                <a:spcPct val="125000"/>
              </a:lnSpc>
            </a:pPr>
            <a:r>
              <a:rPr lang="en-US" altLang="zh-CN" sz="1800" dirty="0">
                <a:cs typeface="宋体" panose="02010600030101010101" pitchFamily="2" charset="-122"/>
              </a:rPr>
              <a:t>NVL</a:t>
            </a:r>
            <a:endParaRPr lang="en-US" altLang="zh-CN" sz="1800" i="1" dirty="0">
              <a:cs typeface="宋体" panose="02010600030101010101" pitchFamily="2" charset="-122"/>
            </a:endParaRPr>
          </a:p>
        </p:txBody>
      </p:sp>
      <p:sp>
        <p:nvSpPr>
          <p:cNvPr id="285700" name="Text Box 4"/>
          <p:cNvSpPr txBox="1">
            <a:spLocks noChangeArrowheads="1"/>
          </p:cNvSpPr>
          <p:nvPr/>
        </p:nvSpPr>
        <p:spPr bwMode="black">
          <a:xfrm>
            <a:off x="1714500" y="2670494"/>
            <a:ext cx="8610600" cy="1276985"/>
          </a:xfrm>
          <a:prstGeom prst="rect">
            <a:avLst/>
          </a:prstGeom>
          <a:solidFill>
            <a:srgbClr val="E9EDF4"/>
          </a:solidFill>
          <a:ln w="9525">
            <a:solidFill>
              <a:schemeClr val="tx2"/>
            </a:solidFill>
            <a:miter lim="800000"/>
          </a:ln>
          <a:effectLst/>
        </p:spPr>
        <p:txBody>
          <a:bodyPr lIns="92075" tIns="46038" rIns="92075" bIns="46038">
            <a:spAutoFit/>
          </a:bodyPr>
          <a:lstStyle>
            <a:lvl1pPr marL="342900" indent="-342900" eaLnBrk="0" hangingPunct="0">
              <a:defRPr sz="1400" b="1">
                <a:solidFill>
                  <a:schemeClr val="tx1"/>
                </a:solidFill>
                <a:latin typeface="Arial" panose="020B0604020202020204" pitchFamily="34" charset="0"/>
                <a:ea typeface="宋体" panose="02010600030101010101" pitchFamily="2" charset="-122"/>
                <a:cs typeface="Arial" panose="020B0604020202020204" pitchFamily="34" charset="0"/>
              </a:defRPr>
            </a:lvl1pPr>
            <a:lvl2pPr marL="8001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2pPr>
            <a:lvl3pPr marL="12573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3pPr>
            <a:lvl4pPr marL="17145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4pPr>
            <a:lvl5pPr marL="21717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5pPr>
            <a:lvl6pPr marL="26289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6pPr>
            <a:lvl7pPr marL="30861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7pPr>
            <a:lvl8pPr marL="35433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8pPr>
            <a:lvl9pPr marL="40005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spcAft>
                <a:spcPct val="50000"/>
              </a:spcAft>
            </a:pPr>
            <a:r>
              <a:rPr lang="en-US" altLang="zh-CN" b="0" i="1">
                <a:cs typeface="宋体" panose="02010600030101010101" pitchFamily="2" charset="-122"/>
              </a:rPr>
              <a:t>sdept          	(expression)</a:t>
            </a:r>
          </a:p>
          <a:p>
            <a:pPr eaLnBrk="1" hangingPunct="1">
              <a:spcBef>
                <a:spcPct val="0"/>
              </a:spcBef>
            </a:pPr>
            <a:r>
              <a:rPr lang="en-US" altLang="zh-CN" b="0">
                <a:cs typeface="宋体" panose="02010600030101010101" pitchFamily="2" charset="-122"/>
              </a:rPr>
              <a:t>CS       		</a:t>
            </a:r>
            <a:r>
              <a:rPr lang="zh-CN" altLang="zh-CN" b="0">
                <a:cs typeface="宋体" panose="02010600030101010101" pitchFamily="2" charset="-122"/>
              </a:rPr>
              <a:t>计算机科学系</a:t>
            </a:r>
          </a:p>
          <a:p>
            <a:pPr eaLnBrk="1" hangingPunct="1">
              <a:spcBef>
                <a:spcPct val="0"/>
              </a:spcBef>
            </a:pPr>
            <a:r>
              <a:rPr lang="en-US" altLang="zh-CN" b="0">
                <a:cs typeface="宋体" panose="02010600030101010101" pitchFamily="2" charset="-122"/>
              </a:rPr>
              <a:t>MA       		</a:t>
            </a:r>
            <a:r>
              <a:rPr lang="zh-CN" altLang="en-US" b="0">
                <a:cs typeface="宋体" panose="02010600030101010101" pitchFamily="2" charset="-122"/>
              </a:rPr>
              <a:t>数学系</a:t>
            </a:r>
          </a:p>
          <a:p>
            <a:pPr eaLnBrk="1" hangingPunct="1">
              <a:spcBef>
                <a:spcPct val="0"/>
              </a:spcBef>
            </a:pPr>
            <a:r>
              <a:rPr lang="en-US" altLang="zh-CN" b="0">
                <a:cs typeface="宋体" panose="02010600030101010101" pitchFamily="2" charset="-122"/>
              </a:rPr>
              <a:t>IS                                 </a:t>
            </a:r>
            <a:r>
              <a:rPr lang="zh-CN" altLang="en-US" b="0">
                <a:cs typeface="宋体" panose="02010600030101010101" pitchFamily="2" charset="-122"/>
              </a:rPr>
              <a:t>信息系</a:t>
            </a:r>
          </a:p>
          <a:p>
            <a:pPr eaLnBrk="1" hangingPunct="1">
              <a:spcBef>
                <a:spcPct val="0"/>
              </a:spcBef>
            </a:pPr>
            <a:r>
              <a:rPr lang="en-US" altLang="zh-CN" b="0">
                <a:cs typeface="宋体" panose="02010600030101010101" pitchFamily="2" charset="-122"/>
              </a:rPr>
              <a:t>CS     		</a:t>
            </a:r>
            <a:r>
              <a:rPr lang="zh-CN" altLang="en-US" b="0">
                <a:cs typeface="宋体" panose="02010600030101010101" pitchFamily="2" charset="-122"/>
              </a:rPr>
              <a:t>计算机科学系</a:t>
            </a:r>
          </a:p>
        </p:txBody>
      </p:sp>
      <p:sp>
        <p:nvSpPr>
          <p:cNvPr id="285701" name="Text Box 5"/>
          <p:cNvSpPr txBox="1">
            <a:spLocks noChangeArrowheads="1"/>
          </p:cNvSpPr>
          <p:nvPr/>
        </p:nvSpPr>
        <p:spPr bwMode="black">
          <a:xfrm>
            <a:off x="1714500" y="2273300"/>
            <a:ext cx="8610600" cy="400752"/>
          </a:xfrm>
          <a:prstGeom prst="rect">
            <a:avLst/>
          </a:prstGeom>
          <a:noFill/>
          <a:ln w="9525">
            <a:solidFill>
              <a:schemeClr val="tx2"/>
            </a:solidFill>
            <a:miter lim="800000"/>
          </a:ln>
          <a:effectLst/>
        </p:spPr>
        <p:txBody>
          <a:bodyPr lIns="92075" tIns="46038" rIns="92075" bIns="46038">
            <a:spAutoFit/>
          </a:bodyPr>
          <a:lstStyle>
            <a:lvl1pPr marL="342900" indent="-342900" eaLnBrk="0" hangingPunct="0">
              <a:defRPr sz="1400" b="1">
                <a:solidFill>
                  <a:schemeClr val="tx1"/>
                </a:solidFill>
                <a:latin typeface="Arial" panose="020B0604020202020204" pitchFamily="34" charset="0"/>
                <a:ea typeface="宋体" panose="02010600030101010101" pitchFamily="2" charset="-122"/>
                <a:cs typeface="Arial" panose="020B0604020202020204" pitchFamily="34" charset="0"/>
              </a:defRPr>
            </a:lvl1pPr>
            <a:lvl2pPr marL="8001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2pPr>
            <a:lvl3pPr marL="12573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3pPr>
            <a:lvl4pPr marL="17145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4pPr>
            <a:lvl5pPr marL="21717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5pPr>
            <a:lvl6pPr marL="26289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6pPr>
            <a:lvl7pPr marL="30861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7pPr>
            <a:lvl8pPr marL="35433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8pPr>
            <a:lvl9pPr marL="40005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lnSpc>
                <a:spcPct val="125000"/>
              </a:lnSpc>
              <a:spcBef>
                <a:spcPct val="0"/>
              </a:spcBef>
            </a:pPr>
            <a:r>
              <a:rPr lang="en-US" altLang="en-US" sz="1600" b="0">
                <a:sym typeface="+mn-ea"/>
              </a:rPr>
              <a:t>select sdept, decode(sdept,'CS','</a:t>
            </a:r>
            <a:r>
              <a:rPr lang="zh-CN" altLang="en-US" sz="1600" b="0">
                <a:sym typeface="+mn-ea"/>
              </a:rPr>
              <a:t>计算机科学系</a:t>
            </a:r>
            <a:r>
              <a:rPr lang="en-US" altLang="en-US" sz="1600" b="0">
                <a:sym typeface="+mn-ea"/>
              </a:rPr>
              <a:t>'</a:t>
            </a:r>
            <a:r>
              <a:rPr lang="en-US" altLang="zh-CN" sz="1600" b="0">
                <a:sym typeface="+mn-ea"/>
              </a:rPr>
              <a:t>,'MA','</a:t>
            </a:r>
            <a:r>
              <a:rPr lang="zh-CN" altLang="zh-CN" sz="1600" b="0">
                <a:sym typeface="+mn-ea"/>
              </a:rPr>
              <a:t>数学系</a:t>
            </a:r>
            <a:r>
              <a:rPr lang="en-US" altLang="zh-CN" sz="1600" b="0">
                <a:sym typeface="+mn-ea"/>
              </a:rPr>
              <a:t>','</a:t>
            </a:r>
            <a:r>
              <a:rPr lang="zh-CN" altLang="zh-CN" sz="1600" b="0">
                <a:sym typeface="+mn-ea"/>
              </a:rPr>
              <a:t>信息系</a:t>
            </a:r>
            <a:r>
              <a:rPr lang="en-US" altLang="zh-CN" sz="1600" b="0">
                <a:sym typeface="+mn-ea"/>
              </a:rPr>
              <a:t>'</a:t>
            </a:r>
            <a:r>
              <a:rPr lang="en-US" altLang="en-US" sz="1600" b="0">
                <a:sym typeface="+mn-ea"/>
              </a:rPr>
              <a:t>) from student;</a:t>
            </a:r>
            <a:endParaRPr lang="en-US" altLang="en-US" sz="1600" b="0">
              <a:cs typeface="宋体" panose="02010600030101010101" pitchFamily="2" charset="-122"/>
              <a:sym typeface="+mn-ea"/>
            </a:endParaRPr>
          </a:p>
        </p:txBody>
      </p:sp>
      <p:sp>
        <p:nvSpPr>
          <p:cNvPr id="285702" name="Rectangle 6"/>
          <p:cNvSpPr>
            <a:spLocks noChangeArrowheads="1"/>
          </p:cNvSpPr>
          <p:nvPr/>
        </p:nvSpPr>
        <p:spPr bwMode="auto">
          <a:xfrm>
            <a:off x="1692276" y="4224338"/>
            <a:ext cx="8804275" cy="431800"/>
          </a:xfrm>
          <a:prstGeom prst="rect">
            <a:avLst/>
          </a:prstGeom>
          <a:noFill/>
          <a:ln>
            <a:noFill/>
          </a:ln>
        </p:spPr>
        <p:txBody>
          <a:bodyPr lIns="92075" tIns="46038" rIns="92075" bIns="46038"/>
          <a:lstStyle/>
          <a:p>
            <a:pPr marL="228600" indent="-228600" eaLnBrk="0" hangingPunct="0">
              <a:buClr>
                <a:schemeClr val="accent2"/>
              </a:buClr>
              <a:buFont typeface="Wingdings" panose="05000000000000000000" charset="0"/>
              <a:buChar char="§"/>
            </a:pPr>
            <a:endParaRPr lang="en-US" altLang="zh-CN" dirty="0">
              <a:cs typeface="宋体" panose="02010600030101010101" pitchFamily="2" charset="-122"/>
            </a:endParaRPr>
          </a:p>
        </p:txBody>
      </p:sp>
      <p:sp>
        <p:nvSpPr>
          <p:cNvPr id="285703" name="Text Box 7"/>
          <p:cNvSpPr txBox="1">
            <a:spLocks noChangeArrowheads="1"/>
          </p:cNvSpPr>
          <p:nvPr/>
        </p:nvSpPr>
        <p:spPr bwMode="black">
          <a:xfrm>
            <a:off x="1725930" y="4906631"/>
            <a:ext cx="8610600" cy="1063625"/>
          </a:xfrm>
          <a:prstGeom prst="rect">
            <a:avLst/>
          </a:prstGeom>
          <a:solidFill>
            <a:srgbClr val="E9EDF4"/>
          </a:solidFill>
          <a:ln w="9525">
            <a:solidFill>
              <a:schemeClr val="tx2"/>
            </a:solidFill>
            <a:miter lim="800000"/>
          </a:ln>
          <a:effectLst/>
        </p:spPr>
        <p:txBody>
          <a:bodyPr lIns="92075" tIns="46038" rIns="92075" bIns="46038">
            <a:spAutoFit/>
          </a:bodyPr>
          <a:lstStyle>
            <a:lvl1pPr marL="342900" indent="-342900" eaLnBrk="0" hangingPunct="0">
              <a:defRPr sz="1400" b="1">
                <a:solidFill>
                  <a:schemeClr val="tx1"/>
                </a:solidFill>
                <a:latin typeface="Arial" panose="020B0604020202020204" pitchFamily="34" charset="0"/>
                <a:ea typeface="宋体" panose="02010600030101010101" pitchFamily="2" charset="-122"/>
                <a:cs typeface="Arial" panose="020B0604020202020204" pitchFamily="34" charset="0"/>
              </a:defRPr>
            </a:lvl1pPr>
            <a:lvl2pPr marL="8001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2pPr>
            <a:lvl3pPr marL="12573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3pPr>
            <a:lvl4pPr marL="17145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4pPr>
            <a:lvl5pPr marL="21717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5pPr>
            <a:lvl6pPr marL="26289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6pPr>
            <a:lvl7pPr marL="30861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7pPr>
            <a:lvl8pPr marL="35433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8pPr>
            <a:lvl9pPr marL="40005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spcAft>
                <a:spcPct val="50000"/>
              </a:spcAft>
            </a:pPr>
            <a:r>
              <a:rPr lang="en-US" altLang="zh-CN" b="0" i="1">
                <a:cs typeface="宋体" panose="02010600030101010101" pitchFamily="2" charset="-122"/>
              </a:rPr>
              <a:t>cno   	(expression)</a:t>
            </a:r>
            <a:r>
              <a:rPr lang="en-US" altLang="zh-CN" b="0">
                <a:cs typeface="宋体" panose="02010600030101010101" pitchFamily="2" charset="-122"/>
              </a:rPr>
              <a:t>       </a:t>
            </a:r>
          </a:p>
          <a:p>
            <a:pPr eaLnBrk="1" hangingPunct="1">
              <a:spcBef>
                <a:spcPct val="0"/>
              </a:spcBef>
            </a:pPr>
            <a:r>
              <a:rPr lang="en-US" altLang="zh-CN" b="0">
                <a:cs typeface="宋体" panose="02010600030101010101" pitchFamily="2" charset="-122"/>
              </a:rPr>
              <a:t>1                 5</a:t>
            </a:r>
          </a:p>
          <a:p>
            <a:pPr eaLnBrk="1" hangingPunct="1">
              <a:spcBef>
                <a:spcPct val="0"/>
              </a:spcBef>
            </a:pPr>
            <a:r>
              <a:rPr lang="en-US" altLang="zh-CN" b="0">
                <a:cs typeface="宋体" panose="02010600030101010101" pitchFamily="2" charset="-122"/>
              </a:rPr>
              <a:t>2                 </a:t>
            </a:r>
            <a:r>
              <a:rPr lang="zh-CN" altLang="en-US" b="0">
                <a:cs typeface="宋体" panose="02010600030101010101" pitchFamily="2" charset="-122"/>
              </a:rPr>
              <a:t>无</a:t>
            </a:r>
          </a:p>
          <a:p>
            <a:pPr eaLnBrk="1" hangingPunct="1">
              <a:spcBef>
                <a:spcPct val="0"/>
              </a:spcBef>
            </a:pPr>
            <a:r>
              <a:rPr lang="en-US" altLang="zh-CN" b="0">
                <a:cs typeface="宋体" panose="02010600030101010101" pitchFamily="2" charset="-122"/>
              </a:rPr>
              <a:t>3 	            1</a:t>
            </a:r>
            <a:endParaRPr lang="zh-CN" altLang="en-US" b="0">
              <a:cs typeface="宋体" panose="02010600030101010101" pitchFamily="2" charset="-122"/>
            </a:endParaRPr>
          </a:p>
        </p:txBody>
      </p:sp>
      <p:sp>
        <p:nvSpPr>
          <p:cNvPr id="285704" name="Text Box 8"/>
          <p:cNvSpPr txBox="1">
            <a:spLocks noChangeArrowheads="1"/>
          </p:cNvSpPr>
          <p:nvPr/>
        </p:nvSpPr>
        <p:spPr bwMode="black">
          <a:xfrm>
            <a:off x="1725930" y="4509120"/>
            <a:ext cx="8611870" cy="400752"/>
          </a:xfrm>
          <a:prstGeom prst="rect">
            <a:avLst/>
          </a:prstGeom>
          <a:noFill/>
          <a:ln w="9525">
            <a:solidFill>
              <a:schemeClr val="tx2"/>
            </a:solidFill>
            <a:miter lim="800000"/>
          </a:ln>
          <a:effectLst/>
        </p:spPr>
        <p:txBody>
          <a:bodyPr wrap="square" lIns="92075" tIns="46038" rIns="92075" bIns="46038">
            <a:spAutoFit/>
          </a:bodyPr>
          <a:lstStyle>
            <a:lvl1pPr marL="342900" indent="-342900" eaLnBrk="0" hangingPunct="0">
              <a:defRPr sz="1400" b="1">
                <a:solidFill>
                  <a:schemeClr val="tx1"/>
                </a:solidFill>
                <a:latin typeface="Arial" panose="020B0604020202020204" pitchFamily="34" charset="0"/>
                <a:ea typeface="宋体" panose="02010600030101010101" pitchFamily="2" charset="-122"/>
                <a:cs typeface="Arial" panose="020B0604020202020204" pitchFamily="34" charset="0"/>
              </a:defRPr>
            </a:lvl1pPr>
            <a:lvl2pPr marL="8001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2pPr>
            <a:lvl3pPr marL="12573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3pPr>
            <a:lvl4pPr marL="17145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4pPr>
            <a:lvl5pPr marL="21717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5pPr>
            <a:lvl6pPr marL="26289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6pPr>
            <a:lvl7pPr marL="30861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7pPr>
            <a:lvl8pPr marL="35433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8pPr>
            <a:lvl9pPr marL="40005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lnSpc>
                <a:spcPct val="125000"/>
              </a:lnSpc>
              <a:spcBef>
                <a:spcPct val="0"/>
              </a:spcBef>
            </a:pPr>
            <a:r>
              <a:rPr lang="en-US" altLang="en-US" sz="1600" b="0" dirty="0">
                <a:sym typeface="+mn-ea"/>
              </a:rPr>
              <a:t>select first  3 </a:t>
            </a:r>
            <a:r>
              <a:rPr lang="en-US" altLang="en-US" sz="1600" b="0" dirty="0" err="1">
                <a:sym typeface="+mn-ea"/>
              </a:rPr>
              <a:t>cno</a:t>
            </a:r>
            <a:r>
              <a:rPr lang="en-US" altLang="en-US" sz="1600" b="0" dirty="0">
                <a:sym typeface="+mn-ea"/>
              </a:rPr>
              <a:t>, </a:t>
            </a:r>
            <a:r>
              <a:rPr lang="en-US" altLang="en-US" sz="1600" b="0" dirty="0" err="1">
                <a:sym typeface="+mn-ea"/>
              </a:rPr>
              <a:t>nvl</a:t>
            </a:r>
            <a:r>
              <a:rPr lang="en-US" altLang="en-US" sz="1600" b="0" dirty="0">
                <a:sym typeface="+mn-ea"/>
              </a:rPr>
              <a:t>(</a:t>
            </a:r>
            <a:r>
              <a:rPr lang="en-US" altLang="en-US" sz="1600" b="0" dirty="0" err="1">
                <a:sym typeface="+mn-ea"/>
              </a:rPr>
              <a:t>cpno</a:t>
            </a:r>
            <a:r>
              <a:rPr lang="en-US" altLang="en-US" sz="1600" b="0" dirty="0">
                <a:sym typeface="+mn-ea"/>
              </a:rPr>
              <a:t>,'</a:t>
            </a:r>
            <a:r>
              <a:rPr lang="zh-CN" altLang="en-US" sz="1600" b="0" dirty="0">
                <a:sym typeface="+mn-ea"/>
              </a:rPr>
              <a:t>无</a:t>
            </a:r>
            <a:r>
              <a:rPr lang="en-US" altLang="en-US" sz="1600" b="0" dirty="0">
                <a:sym typeface="+mn-ea"/>
              </a:rPr>
              <a:t>') from  course order by </a:t>
            </a:r>
            <a:r>
              <a:rPr lang="en-US" altLang="en-US" sz="1600" b="0" dirty="0" err="1">
                <a:sym typeface="+mn-ea"/>
              </a:rPr>
              <a:t>cno</a:t>
            </a:r>
            <a:r>
              <a:rPr lang="en-US" altLang="en-US" sz="1600" b="0" dirty="0">
                <a:sym typeface="+mn-ea"/>
              </a:rPr>
              <a:t>;</a:t>
            </a:r>
            <a:endParaRPr lang="en-US" altLang="en-US" sz="1600" b="0" dirty="0">
              <a:cs typeface="宋体" panose="02010600030101010101" pitchFamily="2" charset="-122"/>
              <a:sym typeface="+mn-ea"/>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3522" name="Rectangle 2"/>
          <p:cNvSpPr>
            <a:spLocks noGrp="1" noChangeArrowheads="1"/>
          </p:cNvSpPr>
          <p:nvPr>
            <p:ph type="title"/>
          </p:nvPr>
        </p:nvSpPr>
        <p:spPr/>
        <p:txBody>
          <a:bodyPr/>
          <a:lstStyle/>
          <a:p>
            <a:r>
              <a:rPr lang="zh-CN" altLang="en-US">
                <a:latin typeface="Arial" panose="020B0604020202020204" pitchFamily="34" charset="0"/>
                <a:cs typeface="宋体" panose="02010600030101010101" pitchFamily="2" charset="-122"/>
              </a:rPr>
              <a:t>其它函数</a:t>
            </a:r>
          </a:p>
        </p:txBody>
      </p:sp>
      <p:sp>
        <p:nvSpPr>
          <p:cNvPr id="363523" name="Rectangle 3"/>
          <p:cNvSpPr>
            <a:spLocks noGrp="1" noChangeArrowheads="1"/>
          </p:cNvSpPr>
          <p:nvPr>
            <p:ph type="body" sz="quarter" idx="10"/>
          </p:nvPr>
        </p:nvSpPr>
        <p:spPr>
          <a:xfrm>
            <a:off x="763954" y="1753005"/>
            <a:ext cx="10718800" cy="4888767"/>
          </a:xfrm>
        </p:spPr>
        <p:txBody>
          <a:bodyPr/>
          <a:lstStyle/>
          <a:p>
            <a:pPr>
              <a:lnSpc>
                <a:spcPct val="90000"/>
              </a:lnSpc>
            </a:pPr>
            <a:r>
              <a:rPr lang="en-US" altLang="zh-CN" dirty="0">
                <a:cs typeface="宋体" panose="02010600030101010101" pitchFamily="2" charset="-122"/>
              </a:rPr>
              <a:t>FORMAT_UNITS</a:t>
            </a:r>
            <a:r>
              <a:rPr lang="zh-CN" altLang="en-US" sz="1600" dirty="0">
                <a:cs typeface="宋体" panose="02010600030101010101" pitchFamily="2" charset="-122"/>
              </a:rPr>
              <a:t>可以解释指定内存或存储器缩写单位的数目和名称的字符串</a:t>
            </a:r>
            <a:endParaRPr lang="en-US" altLang="zh-CN" sz="1600" dirty="0">
              <a:cs typeface="宋体" panose="02010600030101010101" pitchFamily="2" charset="-122"/>
            </a:endParaRPr>
          </a:p>
        </p:txBody>
      </p:sp>
      <p:sp>
        <p:nvSpPr>
          <p:cNvPr id="363524" name="Text Box 4"/>
          <p:cNvSpPr txBox="1">
            <a:spLocks noChangeArrowheads="1"/>
          </p:cNvSpPr>
          <p:nvPr/>
        </p:nvSpPr>
        <p:spPr bwMode="black">
          <a:xfrm>
            <a:off x="1722804" y="3453437"/>
            <a:ext cx="8610600" cy="523862"/>
          </a:xfrm>
          <a:prstGeom prst="rect">
            <a:avLst/>
          </a:prstGeom>
          <a:solidFill>
            <a:srgbClr val="E9EDF4"/>
          </a:solidFill>
          <a:ln w="9525">
            <a:solidFill>
              <a:schemeClr val="tx2"/>
            </a:solidFill>
            <a:miter lim="800000"/>
          </a:ln>
          <a:effectLst/>
        </p:spPr>
        <p:txBody>
          <a:bodyPr lIns="92075" tIns="46038" rIns="92075" bIns="46038">
            <a:spAutoFit/>
          </a:bodyPr>
          <a:lstStyle>
            <a:lvl1pPr marL="342900" indent="-342900" eaLnBrk="0" hangingPunct="0">
              <a:defRPr sz="1400" b="1">
                <a:solidFill>
                  <a:schemeClr val="tx1"/>
                </a:solidFill>
                <a:latin typeface="Arial" panose="020B0604020202020204" pitchFamily="34" charset="0"/>
                <a:ea typeface="宋体" panose="02010600030101010101" pitchFamily="2" charset="-122"/>
                <a:cs typeface="Arial" panose="020B0604020202020204" pitchFamily="34" charset="0"/>
              </a:defRPr>
            </a:lvl1pPr>
            <a:lvl2pPr marL="8001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2pPr>
            <a:lvl3pPr marL="12573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3pPr>
            <a:lvl4pPr marL="17145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4pPr>
            <a:lvl5pPr marL="21717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5pPr>
            <a:lvl6pPr marL="26289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6pPr>
            <a:lvl7pPr marL="30861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7pPr>
            <a:lvl8pPr marL="35433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8pPr>
            <a:lvl9pPr marL="40005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r>
              <a:rPr lang="fr-FR" altLang="zh-CN" b="0">
                <a:cs typeface="宋体" panose="02010600030101010101" pitchFamily="2" charset="-122"/>
              </a:rPr>
              <a:t>(constant) (constant)</a:t>
            </a:r>
          </a:p>
          <a:p>
            <a:pPr eaLnBrk="1" hangingPunct="1"/>
            <a:r>
              <a:rPr lang="fr-FR" altLang="zh-CN" b="0">
                <a:cs typeface="宋体" panose="02010600030101010101" pitchFamily="2" charset="-122"/>
              </a:rPr>
              <a:t>1.00 GB    1.00 GB</a:t>
            </a:r>
            <a:endParaRPr lang="zh-CN" altLang="en-US" b="0">
              <a:cs typeface="宋体" panose="02010600030101010101" pitchFamily="2" charset="-122"/>
            </a:endParaRPr>
          </a:p>
        </p:txBody>
      </p:sp>
      <p:sp>
        <p:nvSpPr>
          <p:cNvPr id="363525" name="Text Box 5"/>
          <p:cNvSpPr txBox="1">
            <a:spLocks noChangeArrowheads="1"/>
          </p:cNvSpPr>
          <p:nvPr/>
        </p:nvSpPr>
        <p:spPr bwMode="black">
          <a:xfrm>
            <a:off x="1722804" y="2884160"/>
            <a:ext cx="8610600" cy="585418"/>
          </a:xfrm>
          <a:prstGeom prst="rect">
            <a:avLst/>
          </a:prstGeom>
          <a:noFill/>
          <a:ln w="9525">
            <a:solidFill>
              <a:schemeClr val="tx2"/>
            </a:solidFill>
            <a:miter lim="800000"/>
          </a:ln>
          <a:effectLst/>
        </p:spPr>
        <p:txBody>
          <a:bodyPr lIns="92075" tIns="46038" rIns="92075" bIns="46038">
            <a:spAutoFit/>
          </a:bodyPr>
          <a:lstStyle>
            <a:lvl1pPr marL="342900" indent="-342900" eaLnBrk="0" hangingPunct="0">
              <a:defRPr sz="1400" b="1">
                <a:solidFill>
                  <a:schemeClr val="tx1"/>
                </a:solidFill>
                <a:latin typeface="Arial" panose="020B0604020202020204" pitchFamily="34" charset="0"/>
                <a:ea typeface="宋体" panose="02010600030101010101" pitchFamily="2" charset="-122"/>
                <a:cs typeface="Arial" panose="020B0604020202020204" pitchFamily="34" charset="0"/>
              </a:defRPr>
            </a:lvl1pPr>
            <a:lvl2pPr marL="8001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2pPr>
            <a:lvl3pPr marL="12573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3pPr>
            <a:lvl4pPr marL="17145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4pPr>
            <a:lvl5pPr marL="2171700" indent="-342900" eaLnBrk="0" hangingPunct="0">
              <a:defRPr sz="1400" b="1">
                <a:solidFill>
                  <a:schemeClr val="tx1"/>
                </a:solidFill>
                <a:latin typeface="Arial" panose="020B0604020202020204" pitchFamily="34" charset="0"/>
                <a:ea typeface="Arial" panose="020B0604020202020204" pitchFamily="34" charset="0"/>
                <a:cs typeface="Arial" panose="020B0604020202020204" pitchFamily="34" charset="0"/>
              </a:defRPr>
            </a:lvl5pPr>
            <a:lvl6pPr marL="26289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6pPr>
            <a:lvl7pPr marL="30861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7pPr>
            <a:lvl8pPr marL="35433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8pPr>
            <a:lvl9pPr marL="4000500" indent="-342900" eaLnBrk="0" fontAlgn="base" hangingPunct="0">
              <a:spcBef>
                <a:spcPct val="50000"/>
              </a:spcBef>
              <a:spcAft>
                <a:spcPct val="0"/>
              </a:spcAft>
              <a:defRPr sz="1400" b="1">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pPr>
            <a:r>
              <a:rPr lang="en-US" altLang="zh-CN" sz="1600" b="0" dirty="0">
                <a:cs typeface="宋体" panose="02010600030101010101" pitchFamily="2" charset="-122"/>
              </a:rPr>
              <a:t>SELECT FORMAT_UNITS( '1024 M' ), FORMAT_UNITS(1024,  'M' ) FROM </a:t>
            </a:r>
            <a:r>
              <a:rPr lang="en-US" altLang="zh-CN" sz="1600" b="0" dirty="0" err="1">
                <a:cs typeface="宋体" panose="02010600030101010101" pitchFamily="2" charset="-122"/>
              </a:rPr>
              <a:t>systables</a:t>
            </a:r>
            <a:endParaRPr lang="en-US" altLang="zh-CN" sz="1600" b="0" dirty="0">
              <a:cs typeface="宋体" panose="02010600030101010101" pitchFamily="2" charset="-122"/>
            </a:endParaRPr>
          </a:p>
          <a:p>
            <a:pPr eaLnBrk="1" hangingPunct="1">
              <a:spcBef>
                <a:spcPct val="0"/>
              </a:spcBef>
            </a:pPr>
            <a:r>
              <a:rPr lang="en-US" altLang="zh-CN" sz="1600" b="0" dirty="0">
                <a:cs typeface="宋体" panose="02010600030101010101" pitchFamily="2" charset="-122"/>
              </a:rPr>
              <a:t>WHERE </a:t>
            </a:r>
            <a:r>
              <a:rPr lang="en-US" altLang="zh-CN" sz="1600" b="0" dirty="0" err="1">
                <a:cs typeface="宋体" panose="02010600030101010101" pitchFamily="2" charset="-122"/>
              </a:rPr>
              <a:t>tabid</a:t>
            </a:r>
            <a:r>
              <a:rPr lang="en-US" altLang="zh-CN" sz="1600" b="0" dirty="0">
                <a:cs typeface="宋体" panose="02010600030101010101" pitchFamily="2" charset="-122"/>
              </a:rPr>
              <a:t> = 1;</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目录</a:t>
            </a:r>
            <a:endParaRPr lang="zh-CN" altLang="en-US" dirty="0"/>
          </a:p>
        </p:txBody>
      </p:sp>
      <p:sp>
        <p:nvSpPr>
          <p:cNvPr id="4" name="矩形 3"/>
          <p:cNvSpPr/>
          <p:nvPr/>
        </p:nvSpPr>
        <p:spPr bwMode="auto">
          <a:xfrm>
            <a:off x="3307617" y="2891045"/>
            <a:ext cx="722312" cy="662940"/>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5" name="矩形 4"/>
          <p:cNvSpPr/>
          <p:nvPr/>
        </p:nvSpPr>
        <p:spPr bwMode="auto">
          <a:xfrm>
            <a:off x="4171217" y="2891045"/>
            <a:ext cx="4570412" cy="662940"/>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6" name="矩形 5"/>
          <p:cNvSpPr/>
          <p:nvPr/>
        </p:nvSpPr>
        <p:spPr bwMode="auto">
          <a:xfrm>
            <a:off x="3307617" y="3508265"/>
            <a:ext cx="722312" cy="45719"/>
          </a:xfrm>
          <a:prstGeom prst="rect">
            <a:avLst/>
          </a:prstGeom>
          <a:solidFill>
            <a:srgbClr val="5A565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7" name="矩形 6"/>
          <p:cNvSpPr/>
          <p:nvPr/>
        </p:nvSpPr>
        <p:spPr bwMode="auto">
          <a:xfrm>
            <a:off x="4171217" y="3508265"/>
            <a:ext cx="4570412" cy="45719"/>
          </a:xfrm>
          <a:prstGeom prst="rect">
            <a:avLst/>
          </a:prstGeom>
          <a:solidFill>
            <a:srgbClr val="5A565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8" name="文本框 3"/>
          <p:cNvSpPr txBox="1">
            <a:spLocks noChangeArrowheads="1"/>
          </p:cNvSpPr>
          <p:nvPr/>
        </p:nvSpPr>
        <p:spPr bwMode="auto">
          <a:xfrm>
            <a:off x="3438854" y="3003410"/>
            <a:ext cx="441146" cy="400110"/>
          </a:xfrm>
          <a:prstGeom prst="rect">
            <a:avLst/>
          </a:prstGeom>
          <a:noFill/>
          <a:ln w="9525">
            <a:noFill/>
            <a:miter lim="800000"/>
          </a:ln>
        </p:spPr>
        <p:txBody>
          <a:bodyPr wrap="none">
            <a:spAutoFit/>
          </a:bodyPr>
          <a:lstStyle/>
          <a:p>
            <a:r>
              <a:rPr lang="zh-CN" altLang="en-US" sz="2000" b="1">
                <a:solidFill>
                  <a:schemeClr val="bg1"/>
                </a:solidFill>
                <a:latin typeface="微软雅黑" panose="020B0503020204020204" pitchFamily="34" charset="-122"/>
                <a:ea typeface="微软雅黑" panose="020B0503020204020204" pitchFamily="34" charset="-122"/>
              </a:rPr>
              <a:t>一</a:t>
            </a:r>
          </a:p>
        </p:txBody>
      </p:sp>
      <p:sp>
        <p:nvSpPr>
          <p:cNvPr id="9" name="矩形 8"/>
          <p:cNvSpPr/>
          <p:nvPr/>
        </p:nvSpPr>
        <p:spPr bwMode="auto">
          <a:xfrm>
            <a:off x="3307617" y="3785125"/>
            <a:ext cx="722312" cy="664210"/>
          </a:xfrm>
          <a:prstGeom prst="rect">
            <a:avLst/>
          </a:prstGeom>
          <a:solidFill>
            <a:srgbClr val="DE120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0" name="矩形 9"/>
          <p:cNvSpPr/>
          <p:nvPr/>
        </p:nvSpPr>
        <p:spPr bwMode="auto">
          <a:xfrm>
            <a:off x="4171217" y="3785125"/>
            <a:ext cx="4570412" cy="664210"/>
          </a:xfrm>
          <a:prstGeom prst="rect">
            <a:avLst/>
          </a:prstGeom>
          <a:solidFill>
            <a:srgbClr val="DE120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1" name="矩形 10"/>
          <p:cNvSpPr/>
          <p:nvPr/>
        </p:nvSpPr>
        <p:spPr bwMode="auto">
          <a:xfrm>
            <a:off x="3307617" y="4403615"/>
            <a:ext cx="722312" cy="45719"/>
          </a:xfrm>
          <a:prstGeom prst="rect">
            <a:avLst/>
          </a:pr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2" name="矩形 11"/>
          <p:cNvSpPr/>
          <p:nvPr/>
        </p:nvSpPr>
        <p:spPr bwMode="auto">
          <a:xfrm>
            <a:off x="4171217" y="4403615"/>
            <a:ext cx="4570412" cy="45719"/>
          </a:xfrm>
          <a:prstGeom prst="rect">
            <a:avLst/>
          </a:pr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3" name="文本框 48"/>
          <p:cNvSpPr txBox="1">
            <a:spLocks noChangeArrowheads="1"/>
          </p:cNvSpPr>
          <p:nvPr/>
        </p:nvSpPr>
        <p:spPr bwMode="auto">
          <a:xfrm>
            <a:off x="3438854" y="3898760"/>
            <a:ext cx="441146" cy="400110"/>
          </a:xfrm>
          <a:prstGeom prst="rect">
            <a:avLst/>
          </a:prstGeom>
          <a:noFill/>
          <a:ln w="9525">
            <a:noFill/>
            <a:miter lim="800000"/>
          </a:ln>
        </p:spPr>
        <p:txBody>
          <a:bodyPr wrap="none">
            <a:spAutoFit/>
          </a:bodyPr>
          <a:lstStyle/>
          <a:p>
            <a:r>
              <a:rPr lang="zh-CN" altLang="en-US" sz="2000" b="1">
                <a:solidFill>
                  <a:schemeClr val="bg1"/>
                </a:solidFill>
                <a:latin typeface="微软雅黑" panose="020B0503020204020204" pitchFamily="34" charset="-122"/>
                <a:ea typeface="微软雅黑" panose="020B0503020204020204" pitchFamily="34" charset="-122"/>
              </a:rPr>
              <a:t>二</a:t>
            </a:r>
          </a:p>
        </p:txBody>
      </p:sp>
      <p:sp>
        <p:nvSpPr>
          <p:cNvPr id="24" name="文本框 55"/>
          <p:cNvSpPr txBox="1">
            <a:spLocks noChangeArrowheads="1"/>
          </p:cNvSpPr>
          <p:nvPr/>
        </p:nvSpPr>
        <p:spPr bwMode="auto">
          <a:xfrm>
            <a:off x="4347429" y="3010559"/>
            <a:ext cx="4236720" cy="400110"/>
          </a:xfrm>
          <a:prstGeom prst="rect">
            <a:avLst/>
          </a:prstGeom>
          <a:noFill/>
          <a:ln w="9525">
            <a:noFill/>
            <a:miter lim="800000"/>
          </a:ln>
        </p:spPr>
        <p:txBody>
          <a:bodyPr wrap="square">
            <a:spAutoFit/>
          </a:bodyPr>
          <a:lstStyle/>
          <a:p>
            <a:pPr algn="ctr"/>
            <a:r>
              <a:rPr lang="zh-CN" altLang="en-US" sz="2000" spc="200" dirty="0">
                <a:solidFill>
                  <a:schemeClr val="bg1"/>
                </a:solidFill>
                <a:latin typeface="微软雅黑" panose="020B0503020204020204" pitchFamily="34" charset="-122"/>
                <a:ea typeface="微软雅黑" panose="020B0503020204020204" pitchFamily="34" charset="-122"/>
              </a:rPr>
              <a:t> 系统函数</a:t>
            </a:r>
          </a:p>
        </p:txBody>
      </p:sp>
      <p:sp>
        <p:nvSpPr>
          <p:cNvPr id="25" name="文本框 55"/>
          <p:cNvSpPr txBox="1">
            <a:spLocks noChangeArrowheads="1"/>
          </p:cNvSpPr>
          <p:nvPr/>
        </p:nvSpPr>
        <p:spPr bwMode="auto">
          <a:xfrm>
            <a:off x="4347429" y="3895749"/>
            <a:ext cx="4236720" cy="400110"/>
          </a:xfrm>
          <a:prstGeom prst="rect">
            <a:avLst/>
          </a:prstGeom>
          <a:noFill/>
          <a:ln w="9525">
            <a:noFill/>
            <a:miter lim="800000"/>
          </a:ln>
        </p:spPr>
        <p:txBody>
          <a:bodyPr wrap="square">
            <a:spAutoFit/>
          </a:bodyPr>
          <a:lstStyle/>
          <a:p>
            <a:pPr algn="ctr"/>
            <a:r>
              <a:rPr lang="zh-CN" altLang="en-US" sz="2000" spc="200" dirty="0">
                <a:solidFill>
                  <a:schemeClr val="bg1"/>
                </a:solidFill>
                <a:latin typeface="微软雅黑" panose="020B0503020204020204" pitchFamily="34" charset="-122"/>
                <a:ea typeface="微软雅黑" panose="020B0503020204020204" pitchFamily="34" charset="-122"/>
              </a:rPr>
              <a:t> 自定义存储过程和函数</a:t>
            </a: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3200" dirty="0">
                <a:cs typeface="宋体" panose="02010600030101010101" pitchFamily="2" charset="-122"/>
                <a:sym typeface="+mn-ea"/>
              </a:rPr>
              <a:t>存储过程与函数</a:t>
            </a:r>
            <a:r>
              <a:rPr lang="zh-CN" altLang="en-US" sz="3200" kern="0" dirty="0">
                <a:cs typeface="宋体" panose="02010600030101010101" pitchFamily="2" charset="-122"/>
                <a:sym typeface="+mn-ea"/>
              </a:rPr>
              <a:t/>
            </a:r>
            <a:br>
              <a:rPr lang="zh-CN" altLang="en-US" sz="3200" kern="0" dirty="0">
                <a:cs typeface="宋体" panose="02010600030101010101" pitchFamily="2" charset="-122"/>
                <a:sym typeface="+mn-ea"/>
              </a:rPr>
            </a:br>
            <a:endParaRPr lang="zh-CN" altLang="en-US" dirty="0"/>
          </a:p>
        </p:txBody>
      </p:sp>
      <p:sp>
        <p:nvSpPr>
          <p:cNvPr id="480259" name="Rectangle 3"/>
          <p:cNvSpPr>
            <a:spLocks noGrp="1" noChangeArrowheads="1"/>
          </p:cNvSpPr>
          <p:nvPr>
            <p:ph type="body" sz="quarter" idx="10"/>
          </p:nvPr>
        </p:nvSpPr>
        <p:spPr>
          <a:noFill/>
        </p:spPr>
        <p:txBody>
          <a:bodyPr lIns="111125" tIns="55563" rIns="111125" bIns="55563">
            <a:normAutofit fontScale="62500" lnSpcReduction="20000"/>
          </a:bodyPr>
          <a:lstStyle/>
          <a:p>
            <a:pPr>
              <a:lnSpc>
                <a:spcPct val="150000"/>
              </a:lnSpc>
            </a:pPr>
            <a:r>
              <a:rPr lang="zh-CN" altLang="en-US" sz="2900" b="1" dirty="0">
                <a:latin typeface="微软雅黑" panose="020B0503020204020204" pitchFamily="34" charset="-122"/>
                <a:ea typeface="微软雅黑" panose="020B0503020204020204" pitchFamily="34" charset="-122"/>
                <a:cs typeface="宋体" panose="02010600030101010101" pitchFamily="2" charset="-122"/>
                <a:sym typeface="+mn-ea"/>
              </a:rPr>
              <a:t>存储过程或函数</a:t>
            </a:r>
            <a:r>
              <a:rPr lang="zh-CN" altLang="en-US" sz="2900" dirty="0">
                <a:latin typeface="微软雅黑" panose="020B0503020204020204" pitchFamily="34" charset="-122"/>
                <a:ea typeface="微软雅黑" panose="020B0503020204020204" pitchFamily="34" charset="-122"/>
                <a:cs typeface="宋体" panose="02010600030101010101" pitchFamily="2" charset="-122"/>
                <a:sym typeface="+mn-ea"/>
              </a:rPr>
              <a:t>是一种能完成特定功能的</a:t>
            </a:r>
            <a:r>
              <a:rPr lang="en-US" altLang="zh-CN" sz="2900" dirty="0">
                <a:latin typeface="微软雅黑" panose="020B0503020204020204" pitchFamily="34" charset="-122"/>
                <a:ea typeface="微软雅黑" panose="020B0503020204020204" pitchFamily="34" charset="-122"/>
                <a:cs typeface="宋体" panose="02010600030101010101" pitchFamily="2" charset="-122"/>
                <a:sym typeface="+mn-ea"/>
              </a:rPr>
              <a:t>SQL</a:t>
            </a:r>
            <a:r>
              <a:rPr lang="zh-CN" altLang="en-US" sz="2900" dirty="0">
                <a:latin typeface="微软雅黑" panose="020B0503020204020204" pitchFamily="34" charset="-122"/>
                <a:ea typeface="微软雅黑" panose="020B0503020204020204" pitchFamily="34" charset="-122"/>
                <a:cs typeface="宋体" panose="02010600030101010101" pitchFamily="2" charset="-122"/>
                <a:sym typeface="+mn-ea"/>
              </a:rPr>
              <a:t>语句集合，是一个独立的数据库对象。我们通过存储过程或函数按照自定义的方式对数据进行操作或自定义的算法得到想要的结果；</a:t>
            </a:r>
          </a:p>
          <a:p>
            <a:pPr>
              <a:lnSpc>
                <a:spcPct val="150000"/>
              </a:lnSpc>
            </a:pPr>
            <a:endParaRPr lang="zh-CN" altLang="en-US" sz="1600" dirty="0">
              <a:latin typeface="微软雅黑" panose="020B0503020204020204" pitchFamily="34" charset="-122"/>
              <a:ea typeface="微软雅黑" panose="020B0503020204020204" pitchFamily="34" charset="-122"/>
              <a:cs typeface="宋体" panose="02010600030101010101" pitchFamily="2" charset="-122"/>
            </a:endParaRPr>
          </a:p>
          <a:p>
            <a:pPr>
              <a:lnSpc>
                <a:spcPct val="135000"/>
              </a:lnSpc>
            </a:pPr>
            <a:r>
              <a:rPr lang="zh-CN" altLang="en-US" sz="2900" dirty="0">
                <a:latin typeface="微软雅黑" panose="020B0503020204020204" pitchFamily="34" charset="-122"/>
                <a:ea typeface="微软雅黑" panose="020B0503020204020204" pitchFamily="34" charset="-122"/>
                <a:cs typeface="宋体" panose="02010600030101010101" pitchFamily="2" charset="-122"/>
                <a:sym typeface="+mn-ea"/>
              </a:rPr>
              <a:t>语法：</a:t>
            </a:r>
          </a:p>
          <a:p>
            <a:pPr>
              <a:lnSpc>
                <a:spcPct val="120000"/>
              </a:lnSpc>
              <a:buFont typeface="Wingdings" panose="05000000000000000000" charset="0"/>
              <a:buNone/>
            </a:pPr>
            <a:r>
              <a:rPr lang="en-US" altLang="zh-CN" sz="1600" dirty="0">
                <a:solidFill>
                  <a:srgbClr val="0070C0"/>
                </a:solidFill>
                <a:latin typeface="微软雅黑" panose="020B0503020204020204" pitchFamily="34" charset="-122"/>
                <a:ea typeface="微软雅黑" panose="020B0503020204020204" pitchFamily="34" charset="-122"/>
                <a:cs typeface="宋体" panose="02010600030101010101" pitchFamily="2" charset="-122"/>
                <a:sym typeface="+mn-ea"/>
              </a:rPr>
              <a:t>     </a:t>
            </a:r>
            <a:r>
              <a:rPr lang="en-US" altLang="zh-CN" sz="1700" dirty="0">
                <a:solidFill>
                  <a:srgbClr val="0070C0"/>
                </a:solidFill>
                <a:latin typeface="微软雅黑" panose="020B0503020204020204" pitchFamily="34" charset="-122"/>
                <a:ea typeface="微软雅黑" panose="020B0503020204020204" pitchFamily="34" charset="-122"/>
                <a:cs typeface="宋体" panose="02010600030101010101" pitchFamily="2" charset="-122"/>
                <a:sym typeface="+mn-ea"/>
              </a:rPr>
              <a:t>CREATE [DBA] PROCEDURE </a:t>
            </a:r>
            <a:r>
              <a:rPr lang="zh-CN" altLang="en-US" sz="1700" dirty="0">
                <a:latin typeface="微软雅黑" panose="020B0503020204020204" pitchFamily="34" charset="-122"/>
                <a:ea typeface="微软雅黑" panose="020B0503020204020204" pitchFamily="34" charset="-122"/>
                <a:cs typeface="宋体" panose="02010600030101010101" pitchFamily="2" charset="-122"/>
                <a:sym typeface="+mn-ea"/>
              </a:rPr>
              <a:t>过程名</a:t>
            </a:r>
            <a:r>
              <a:rPr lang="en-US" altLang="zh-CN" sz="1700" dirty="0">
                <a:latin typeface="微软雅黑" panose="020B0503020204020204" pitchFamily="34" charset="-122"/>
                <a:ea typeface="微软雅黑" panose="020B0503020204020204" pitchFamily="34" charset="-122"/>
                <a:cs typeface="宋体" panose="02010600030101010101" pitchFamily="2" charset="-122"/>
                <a:sym typeface="+mn-ea"/>
              </a:rPr>
              <a:t> (</a:t>
            </a:r>
            <a:r>
              <a:rPr lang="zh-CN" altLang="en-US" sz="1700" dirty="0">
                <a:latin typeface="微软雅黑" panose="020B0503020204020204" pitchFamily="34" charset="-122"/>
                <a:ea typeface="微软雅黑" panose="020B0503020204020204" pitchFamily="34" charset="-122"/>
                <a:cs typeface="宋体" panose="02010600030101010101" pitchFamily="2" charset="-122"/>
                <a:sym typeface="+mn-ea"/>
              </a:rPr>
              <a:t>参数</a:t>
            </a:r>
            <a:r>
              <a:rPr lang="en-US" altLang="zh-CN" sz="1700" dirty="0">
                <a:latin typeface="微软雅黑" panose="020B0503020204020204" pitchFamily="34" charset="-122"/>
                <a:ea typeface="微软雅黑" panose="020B0503020204020204" pitchFamily="34" charset="-122"/>
                <a:cs typeface="宋体" panose="02010600030101010101" pitchFamily="2" charset="-122"/>
                <a:sym typeface="+mn-ea"/>
              </a:rPr>
              <a:t>[, </a:t>
            </a:r>
            <a:r>
              <a:rPr lang="zh-CN" altLang="en-US" sz="1700" dirty="0">
                <a:latin typeface="微软雅黑" panose="020B0503020204020204" pitchFamily="34" charset="-122"/>
                <a:ea typeface="微软雅黑" panose="020B0503020204020204" pitchFamily="34" charset="-122"/>
                <a:cs typeface="宋体" panose="02010600030101010101" pitchFamily="2" charset="-122"/>
                <a:sym typeface="+mn-ea"/>
              </a:rPr>
              <a:t>参数</a:t>
            </a:r>
            <a:r>
              <a:rPr lang="en-US" altLang="zh-CN" sz="1700" dirty="0">
                <a:latin typeface="微软雅黑" panose="020B0503020204020204" pitchFamily="34" charset="-122"/>
                <a:ea typeface="微软雅黑" panose="020B0503020204020204" pitchFamily="34" charset="-122"/>
                <a:cs typeface="宋体" panose="02010600030101010101" pitchFamily="2" charset="-122"/>
                <a:sym typeface="+mn-ea"/>
              </a:rPr>
              <a:t> [ ,...]] DEFAULT …)</a:t>
            </a:r>
            <a:endParaRPr lang="en-US" altLang="zh-CN" sz="1700" dirty="0">
              <a:latin typeface="微软雅黑" panose="020B0503020204020204" pitchFamily="34" charset="-122"/>
              <a:ea typeface="微软雅黑" panose="020B0503020204020204" pitchFamily="34" charset="-122"/>
              <a:cs typeface="宋体" panose="02010600030101010101" pitchFamily="2" charset="-122"/>
            </a:endParaRPr>
          </a:p>
          <a:p>
            <a:pPr>
              <a:lnSpc>
                <a:spcPct val="120000"/>
              </a:lnSpc>
              <a:buFont typeface="Wingdings" panose="05000000000000000000" charset="0"/>
              <a:buNone/>
            </a:pPr>
            <a:r>
              <a:rPr lang="en-US" altLang="zh-CN" sz="1700" dirty="0">
                <a:latin typeface="微软雅黑" panose="020B0503020204020204" pitchFamily="34" charset="-122"/>
                <a:ea typeface="微软雅黑" panose="020B0503020204020204" pitchFamily="34" charset="-122"/>
                <a:cs typeface="宋体" panose="02010600030101010101" pitchFamily="2" charset="-122"/>
                <a:sym typeface="+mn-ea"/>
              </a:rPr>
              <a:t>           </a:t>
            </a:r>
            <a:r>
              <a:rPr lang="en-US" altLang="zh-CN" sz="1700" dirty="0">
                <a:solidFill>
                  <a:srgbClr val="0070C0"/>
                </a:solidFill>
                <a:latin typeface="微软雅黑" panose="020B0503020204020204" pitchFamily="34" charset="-122"/>
                <a:ea typeface="微软雅黑" panose="020B0503020204020204" pitchFamily="34" charset="-122"/>
                <a:cs typeface="宋体" panose="02010600030101010101" pitchFamily="2" charset="-122"/>
                <a:sym typeface="+mn-ea"/>
              </a:rPr>
              <a:t>RETURNING</a:t>
            </a:r>
            <a:r>
              <a:rPr lang="en-US" altLang="zh-CN" sz="1700" dirty="0">
                <a:latin typeface="微软雅黑" panose="020B0503020204020204" pitchFamily="34" charset="-122"/>
                <a:ea typeface="微软雅黑" panose="020B0503020204020204" pitchFamily="34" charset="-122"/>
                <a:cs typeface="宋体" panose="02010600030101010101" pitchFamily="2" charset="-122"/>
                <a:sym typeface="+mn-ea"/>
              </a:rPr>
              <a:t> </a:t>
            </a:r>
            <a:r>
              <a:rPr lang="zh-CN" altLang="en-US" sz="1700" dirty="0">
                <a:latin typeface="微软雅黑" panose="020B0503020204020204" pitchFamily="34" charset="-122"/>
                <a:ea typeface="微软雅黑" panose="020B0503020204020204" pitchFamily="34" charset="-122"/>
                <a:cs typeface="宋体" panose="02010600030101010101" pitchFamily="2" charset="-122"/>
                <a:sym typeface="+mn-ea"/>
              </a:rPr>
              <a:t>子句</a:t>
            </a:r>
            <a:endParaRPr lang="zh-CN" altLang="en-US" sz="1700" dirty="0">
              <a:latin typeface="微软雅黑" panose="020B0503020204020204" pitchFamily="34" charset="-122"/>
              <a:ea typeface="微软雅黑" panose="020B0503020204020204" pitchFamily="34" charset="-122"/>
              <a:cs typeface="宋体" panose="02010600030101010101" pitchFamily="2" charset="-122"/>
            </a:endParaRPr>
          </a:p>
          <a:p>
            <a:pPr>
              <a:lnSpc>
                <a:spcPct val="120000"/>
              </a:lnSpc>
              <a:buFont typeface="Wingdings" panose="05000000000000000000" charset="0"/>
              <a:buNone/>
            </a:pPr>
            <a:r>
              <a:rPr lang="en-US" altLang="zh-CN" sz="1700" dirty="0">
                <a:latin typeface="微软雅黑" panose="020B0503020204020204" pitchFamily="34" charset="-122"/>
                <a:ea typeface="微软雅黑" panose="020B0503020204020204" pitchFamily="34" charset="-122"/>
                <a:cs typeface="宋体" panose="02010600030101010101" pitchFamily="2" charset="-122"/>
                <a:sym typeface="+mn-ea"/>
              </a:rPr>
              <a:t>           </a:t>
            </a:r>
            <a:r>
              <a:rPr lang="zh-CN" altLang="en-US" sz="1700" dirty="0">
                <a:latin typeface="微软雅黑" panose="020B0503020204020204" pitchFamily="34" charset="-122"/>
                <a:ea typeface="微软雅黑" panose="020B0503020204020204" pitchFamily="34" charset="-122"/>
                <a:cs typeface="宋体" panose="02010600030101010101" pitchFamily="2" charset="-122"/>
                <a:sym typeface="+mn-ea"/>
              </a:rPr>
              <a:t>语句块</a:t>
            </a:r>
            <a:endParaRPr lang="zh-CN" altLang="en-US" sz="1700" dirty="0">
              <a:latin typeface="微软雅黑" panose="020B0503020204020204" pitchFamily="34" charset="-122"/>
              <a:ea typeface="微软雅黑" panose="020B0503020204020204" pitchFamily="34" charset="-122"/>
              <a:cs typeface="宋体" panose="02010600030101010101" pitchFamily="2" charset="-122"/>
            </a:endParaRPr>
          </a:p>
          <a:p>
            <a:pPr>
              <a:lnSpc>
                <a:spcPct val="120000"/>
              </a:lnSpc>
              <a:buFont typeface="Wingdings" panose="05000000000000000000" charset="0"/>
              <a:buNone/>
            </a:pPr>
            <a:r>
              <a:rPr lang="en-US" altLang="zh-CN" sz="1700" dirty="0">
                <a:latin typeface="微软雅黑" panose="020B0503020204020204" pitchFamily="34" charset="-122"/>
                <a:ea typeface="微软雅黑" panose="020B0503020204020204" pitchFamily="34" charset="-122"/>
                <a:cs typeface="宋体" panose="02010600030101010101" pitchFamily="2" charset="-122"/>
                <a:sym typeface="+mn-ea"/>
              </a:rPr>
              <a:t>          </a:t>
            </a:r>
            <a:r>
              <a:rPr lang="en-US" altLang="zh-CN" sz="1700" dirty="0">
                <a:solidFill>
                  <a:srgbClr val="0070C0"/>
                </a:solidFill>
                <a:latin typeface="微软雅黑" panose="020B0503020204020204" pitchFamily="34" charset="-122"/>
                <a:ea typeface="微软雅黑" panose="020B0503020204020204" pitchFamily="34" charset="-122"/>
                <a:cs typeface="宋体" panose="02010600030101010101" pitchFamily="2" charset="-122"/>
                <a:sym typeface="+mn-ea"/>
              </a:rPr>
              <a:t> RETURN </a:t>
            </a:r>
            <a:r>
              <a:rPr lang="zh-CN" altLang="en-US" sz="1700" dirty="0">
                <a:latin typeface="微软雅黑" panose="020B0503020204020204" pitchFamily="34" charset="-122"/>
                <a:ea typeface="微软雅黑" panose="020B0503020204020204" pitchFamily="34" charset="-122"/>
                <a:cs typeface="宋体" panose="02010600030101010101" pitchFamily="2" charset="-122"/>
                <a:sym typeface="+mn-ea"/>
              </a:rPr>
              <a:t>字句</a:t>
            </a:r>
            <a:endParaRPr lang="zh-CN" altLang="en-US" sz="1700" dirty="0">
              <a:latin typeface="微软雅黑" panose="020B0503020204020204" pitchFamily="34" charset="-122"/>
              <a:ea typeface="微软雅黑" panose="020B0503020204020204" pitchFamily="34" charset="-122"/>
              <a:cs typeface="宋体" panose="02010600030101010101" pitchFamily="2" charset="-122"/>
            </a:endParaRPr>
          </a:p>
          <a:p>
            <a:pPr>
              <a:lnSpc>
                <a:spcPct val="120000"/>
              </a:lnSpc>
              <a:buFont typeface="Wingdings" panose="05000000000000000000" charset="0"/>
              <a:buNone/>
            </a:pPr>
            <a:r>
              <a:rPr lang="en-US" altLang="zh-CN" sz="1700" dirty="0">
                <a:latin typeface="微软雅黑" panose="020B0503020204020204" pitchFamily="34" charset="-122"/>
                <a:ea typeface="微软雅黑" panose="020B0503020204020204" pitchFamily="34" charset="-122"/>
                <a:cs typeface="宋体" panose="02010600030101010101" pitchFamily="2" charset="-122"/>
                <a:sym typeface="+mn-ea"/>
              </a:rPr>
              <a:t>      </a:t>
            </a:r>
            <a:r>
              <a:rPr lang="en-US" altLang="zh-CN" sz="1700" dirty="0">
                <a:solidFill>
                  <a:srgbClr val="0070C0"/>
                </a:solidFill>
                <a:latin typeface="微软雅黑" panose="020B0503020204020204" pitchFamily="34" charset="-122"/>
                <a:ea typeface="微软雅黑" panose="020B0503020204020204" pitchFamily="34" charset="-122"/>
                <a:cs typeface="宋体" panose="02010600030101010101" pitchFamily="2" charset="-122"/>
                <a:sym typeface="+mn-ea"/>
              </a:rPr>
              <a:t> END   PROCEDURE </a:t>
            </a:r>
            <a:endParaRPr lang="en-US" altLang="zh-CN" sz="1700" dirty="0">
              <a:solidFill>
                <a:srgbClr val="0070C0"/>
              </a:solidFill>
              <a:latin typeface="微软雅黑" panose="020B0503020204020204" pitchFamily="34" charset="-122"/>
              <a:ea typeface="微软雅黑" panose="020B0503020204020204" pitchFamily="34" charset="-122"/>
              <a:cs typeface="宋体" panose="02010600030101010101" pitchFamily="2" charset="-122"/>
            </a:endParaRPr>
          </a:p>
          <a:p>
            <a:pPr>
              <a:lnSpc>
                <a:spcPct val="120000"/>
              </a:lnSpc>
              <a:buFont typeface="Wingdings" panose="05000000000000000000" charset="0"/>
              <a:buNone/>
            </a:pPr>
            <a:r>
              <a:rPr lang="en-US" altLang="zh-CN" sz="1700" dirty="0">
                <a:latin typeface="微软雅黑" panose="020B0503020204020204" pitchFamily="34" charset="-122"/>
                <a:ea typeface="微软雅黑" panose="020B0503020204020204" pitchFamily="34" charset="-122"/>
                <a:cs typeface="宋体" panose="02010600030101010101" pitchFamily="2" charset="-122"/>
                <a:sym typeface="+mn-ea"/>
              </a:rPr>
              <a:t>          </a:t>
            </a:r>
            <a:r>
              <a:rPr lang="en-US" altLang="zh-CN" sz="1700" dirty="0">
                <a:solidFill>
                  <a:srgbClr val="0070C0"/>
                </a:solidFill>
                <a:latin typeface="微软雅黑" panose="020B0503020204020204" pitchFamily="34" charset="-122"/>
                <a:ea typeface="微软雅黑" panose="020B0503020204020204" pitchFamily="34" charset="-122"/>
                <a:cs typeface="宋体" panose="02010600030101010101" pitchFamily="2" charset="-122"/>
                <a:sym typeface="+mn-ea"/>
              </a:rPr>
              <a:t> DOCUMENT </a:t>
            </a:r>
            <a:r>
              <a:rPr lang="en-US" altLang="zh-CN" sz="1700" dirty="0">
                <a:latin typeface="微软雅黑" panose="020B0503020204020204" pitchFamily="34" charset="-122"/>
                <a:ea typeface="微软雅黑" panose="020B0503020204020204" pitchFamily="34" charset="-122"/>
                <a:cs typeface="宋体" panose="02010600030101010101" pitchFamily="2" charset="-122"/>
                <a:sym typeface="+mn-ea"/>
              </a:rPr>
              <a:t> </a:t>
            </a:r>
            <a:r>
              <a:rPr lang="zh-CN" altLang="en-US" sz="1700" dirty="0">
                <a:latin typeface="微软雅黑" panose="020B0503020204020204" pitchFamily="34" charset="-122"/>
                <a:ea typeface="微软雅黑" panose="020B0503020204020204" pitchFamily="34" charset="-122"/>
                <a:cs typeface="宋体" panose="02010600030101010101" pitchFamily="2" charset="-122"/>
                <a:sym typeface="+mn-ea"/>
              </a:rPr>
              <a:t>子句</a:t>
            </a:r>
            <a:endParaRPr lang="zh-CN" altLang="en-US" sz="1700" dirty="0">
              <a:latin typeface="微软雅黑" panose="020B0503020204020204" pitchFamily="34" charset="-122"/>
              <a:ea typeface="微软雅黑" panose="020B0503020204020204" pitchFamily="34" charset="-122"/>
              <a:cs typeface="宋体" panose="02010600030101010101" pitchFamily="2" charset="-122"/>
            </a:endParaRPr>
          </a:p>
          <a:p>
            <a:pPr>
              <a:lnSpc>
                <a:spcPct val="120000"/>
              </a:lnSpc>
              <a:buFont typeface="Wingdings" panose="05000000000000000000" charset="0"/>
              <a:buNone/>
            </a:pPr>
            <a:r>
              <a:rPr lang="en-US" altLang="zh-CN" sz="1700" dirty="0">
                <a:latin typeface="微软雅黑" panose="020B0503020204020204" pitchFamily="34" charset="-122"/>
                <a:ea typeface="微软雅黑" panose="020B0503020204020204" pitchFamily="34" charset="-122"/>
                <a:cs typeface="宋体" panose="02010600030101010101" pitchFamily="2" charset="-122"/>
                <a:sym typeface="+mn-ea"/>
              </a:rPr>
              <a:t>         </a:t>
            </a:r>
            <a:r>
              <a:rPr lang="en-US" altLang="zh-CN" sz="1700" dirty="0">
                <a:solidFill>
                  <a:srgbClr val="0070C0"/>
                </a:solidFill>
                <a:latin typeface="微软雅黑" panose="020B0503020204020204" pitchFamily="34" charset="-122"/>
                <a:ea typeface="微软雅黑" panose="020B0503020204020204" pitchFamily="34" charset="-122"/>
                <a:cs typeface="宋体" panose="02010600030101010101" pitchFamily="2" charset="-122"/>
                <a:sym typeface="+mn-ea"/>
              </a:rPr>
              <a:t>  WITH LISTING IN</a:t>
            </a:r>
            <a:r>
              <a:rPr lang="en-US" altLang="zh-CN" sz="1700" dirty="0">
                <a:latin typeface="微软雅黑" panose="020B0503020204020204" pitchFamily="34" charset="-122"/>
                <a:ea typeface="微软雅黑" panose="020B0503020204020204" pitchFamily="34" charset="-122"/>
                <a:cs typeface="宋体" panose="02010600030101010101" pitchFamily="2" charset="-122"/>
                <a:sym typeface="+mn-ea"/>
              </a:rPr>
              <a:t> </a:t>
            </a:r>
            <a:r>
              <a:rPr lang="zh-CN" altLang="en-US" sz="1700" dirty="0">
                <a:latin typeface="微软雅黑" panose="020B0503020204020204" pitchFamily="34" charset="-122"/>
                <a:ea typeface="微软雅黑" panose="020B0503020204020204" pitchFamily="34" charset="-122"/>
                <a:cs typeface="宋体" panose="02010600030101010101" pitchFamily="2" charset="-122"/>
                <a:sym typeface="+mn-ea"/>
              </a:rPr>
              <a:t>文件名</a:t>
            </a:r>
            <a:endParaRPr lang="zh-CN" altLang="en-US" sz="1700" dirty="0">
              <a:latin typeface="微软雅黑" panose="020B0503020204020204" pitchFamily="34" charset="-122"/>
              <a:ea typeface="微软雅黑" panose="020B0503020204020204" pitchFamily="34" charset="-122"/>
              <a:cs typeface="宋体" panose="02010600030101010101" pitchFamily="2" charset="-122"/>
            </a:endParaRPr>
          </a:p>
          <a:p>
            <a:pPr>
              <a:lnSpc>
                <a:spcPct val="135000"/>
              </a:lnSpc>
            </a:pPr>
            <a:r>
              <a:rPr lang="en-US" altLang="zh-CN" sz="2900" dirty="0">
                <a:latin typeface="微软雅黑" panose="020B0503020204020204" pitchFamily="34" charset="-122"/>
                <a:ea typeface="微软雅黑" panose="020B0503020204020204" pitchFamily="34" charset="-122"/>
                <a:cs typeface="宋体" panose="02010600030101010101" pitchFamily="2" charset="-122"/>
                <a:sym typeface="+mn-ea"/>
              </a:rPr>
              <a:t>RETURNING</a:t>
            </a:r>
            <a:r>
              <a:rPr lang="zh-CN" altLang="en-US" sz="2900" dirty="0">
                <a:latin typeface="微软雅黑" panose="020B0503020204020204" pitchFamily="34" charset="-122"/>
                <a:ea typeface="微软雅黑" panose="020B0503020204020204" pitchFamily="34" charset="-122"/>
                <a:cs typeface="宋体" panose="02010600030101010101" pitchFamily="2" charset="-122"/>
                <a:sym typeface="+mn-ea"/>
              </a:rPr>
              <a:t>字句指定返回值的个数和类型，一个存储过程可以不返回任何值，可以返回一个或多个值，也可返回多组值</a:t>
            </a:r>
            <a:r>
              <a:rPr lang="zh-CN" altLang="en-US" sz="2200" dirty="0">
                <a:latin typeface="微软雅黑" panose="020B0503020204020204" pitchFamily="34" charset="-122"/>
                <a:ea typeface="微软雅黑" panose="020B0503020204020204" pitchFamily="34" charset="-122"/>
                <a:cs typeface="宋体" panose="02010600030101010101" pitchFamily="2" charset="-122"/>
                <a:sym typeface="+mn-ea"/>
              </a:rPr>
              <a:t>。</a:t>
            </a:r>
            <a:endParaRPr lang="zh-CN" altLang="en-US" sz="2200" dirty="0">
              <a:latin typeface="微软雅黑" panose="020B0503020204020204" pitchFamily="34" charset="-122"/>
              <a:ea typeface="微软雅黑" panose="020B0503020204020204" pitchFamily="34" charset="-122"/>
              <a:cs typeface="宋体" panose="02010600030101010101" pitchFamily="2" charset="-122"/>
            </a:endParaRPr>
          </a:p>
          <a:p>
            <a:pPr marL="0" indent="0">
              <a:lnSpc>
                <a:spcPct val="135000"/>
              </a:lnSpc>
              <a:buNone/>
            </a:pPr>
            <a:r>
              <a:rPr lang="en-US" altLang="zh-CN" sz="2200" dirty="0">
                <a:latin typeface="微软雅黑" panose="020B0503020204020204" pitchFamily="34" charset="-122"/>
                <a:ea typeface="微软雅黑" panose="020B0503020204020204" pitchFamily="34" charset="-122"/>
                <a:cs typeface="宋体" panose="02010600030101010101" pitchFamily="2" charset="-122"/>
                <a:sym typeface="+mn-ea"/>
              </a:rPr>
              <a:t> </a:t>
            </a:r>
            <a:endParaRPr lang="zh-CN" altLang="en-US" sz="2200" dirty="0">
              <a:latin typeface="微软雅黑" panose="020B0503020204020204" pitchFamily="34" charset="-122"/>
              <a:ea typeface="微软雅黑" panose="020B0503020204020204" pitchFamily="34" charset="-122"/>
              <a:cs typeface="宋体" panose="02010600030101010101" pitchFamily="2" charset="-122"/>
            </a:endParaRPr>
          </a:p>
        </p:txBody>
      </p:sp>
    </p:spTree>
  </p:cSld>
  <p:clrMapOvr>
    <a:masterClrMapping/>
  </p:clrMapOvr>
  <p:transition spd="slow">
    <p:cut/>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SPL</a:t>
            </a:r>
            <a:r>
              <a:rPr lang="zh-CN" altLang="zh-CN"/>
              <a:t>语句</a:t>
            </a:r>
          </a:p>
        </p:txBody>
      </p:sp>
      <p:sp>
        <p:nvSpPr>
          <p:cNvPr id="6" name="内容占位符 5"/>
          <p:cNvSpPr>
            <a:spLocks noGrp="1"/>
          </p:cNvSpPr>
          <p:nvPr>
            <p:ph type="body" sz="quarter" idx="10"/>
          </p:nvPr>
        </p:nvSpPr>
        <p:spPr/>
        <p:txBody>
          <a:bodyPr/>
          <a:lstStyle/>
          <a:p>
            <a:pPr>
              <a:lnSpc>
                <a:spcPct val="200000"/>
              </a:lnSpc>
            </a:pPr>
            <a:r>
              <a:rPr lang="zh-CN" altLang="en-US" dirty="0"/>
              <a:t>存储程序中支持：</a:t>
            </a:r>
          </a:p>
          <a:p>
            <a:pPr lvl="1">
              <a:lnSpc>
                <a:spcPct val="150000"/>
              </a:lnSpc>
            </a:pPr>
            <a:r>
              <a:rPr lang="zh-CN" altLang="en-US" dirty="0"/>
              <a:t>变量声明</a:t>
            </a:r>
          </a:p>
          <a:p>
            <a:pPr lvl="1">
              <a:lnSpc>
                <a:spcPct val="150000"/>
              </a:lnSpc>
            </a:pPr>
            <a:r>
              <a:rPr lang="zh-CN" altLang="en-US" dirty="0"/>
              <a:t>变量赋值</a:t>
            </a:r>
          </a:p>
          <a:p>
            <a:pPr lvl="1">
              <a:lnSpc>
                <a:spcPct val="150000"/>
              </a:lnSpc>
            </a:pPr>
            <a:r>
              <a:rPr lang="zh-CN" altLang="en-US" dirty="0"/>
              <a:t>流程语句</a:t>
            </a:r>
          </a:p>
          <a:p>
            <a:pPr lvl="1">
              <a:lnSpc>
                <a:spcPct val="150000"/>
              </a:lnSpc>
            </a:pPr>
            <a:r>
              <a:rPr lang="zh-CN" altLang="en-US" dirty="0"/>
              <a:t>游标</a:t>
            </a:r>
          </a:p>
          <a:p>
            <a:pPr lvl="1">
              <a:lnSpc>
                <a:spcPct val="150000"/>
              </a:lnSpc>
            </a:pPr>
            <a:r>
              <a:rPr lang="zh-CN" altLang="en-US" dirty="0"/>
              <a:t>事务</a:t>
            </a:r>
          </a:p>
          <a:p>
            <a:pPr lvl="1">
              <a:lnSpc>
                <a:spcPct val="150000"/>
              </a:lnSpc>
            </a:pPr>
            <a:r>
              <a:rPr lang="zh-CN" altLang="en-US" dirty="0"/>
              <a:t>触发器</a:t>
            </a:r>
          </a:p>
          <a:p>
            <a:pPr lvl="1">
              <a:lnSpc>
                <a:spcPct val="150000"/>
              </a:lnSpc>
            </a:pPr>
            <a:r>
              <a:rPr lang="zh-CN" altLang="en-US" dirty="0"/>
              <a:t>异常处理</a:t>
            </a:r>
          </a:p>
          <a:p>
            <a:pPr lvl="1">
              <a:lnSpc>
                <a:spcPct val="150000"/>
              </a:lnSpc>
            </a:pPr>
            <a:r>
              <a:rPr lang="zh-CN" altLang="en-US" dirty="0"/>
              <a:t>跟踪调试</a:t>
            </a:r>
          </a:p>
          <a:p>
            <a:pPr marL="341630" lvl="1" indent="0">
              <a:lnSpc>
                <a:spcPct val="200000"/>
              </a:lnSpc>
              <a:buNone/>
            </a:pPr>
            <a:endParaRPr lang="zh-CN" altLang="en-US" dirty="0"/>
          </a:p>
          <a:p>
            <a:pPr lvl="1"/>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SPL</a:t>
            </a:r>
            <a:r>
              <a:rPr lang="zh-CN" altLang="zh-CN"/>
              <a:t>语句</a:t>
            </a:r>
          </a:p>
        </p:txBody>
      </p:sp>
      <p:sp>
        <p:nvSpPr>
          <p:cNvPr id="3" name="内容占位符 2"/>
          <p:cNvSpPr>
            <a:spLocks noGrp="1"/>
          </p:cNvSpPr>
          <p:nvPr>
            <p:ph type="body" sz="quarter" idx="10"/>
          </p:nvPr>
        </p:nvSpPr>
        <p:spPr>
          <a:xfrm>
            <a:off x="755650" y="1169678"/>
            <a:ext cx="10718800" cy="4888767"/>
          </a:xfrm>
        </p:spPr>
        <p:txBody>
          <a:bodyPr/>
          <a:lstStyle/>
          <a:p>
            <a:pPr>
              <a:lnSpc>
                <a:spcPct val="200000"/>
              </a:lnSpc>
            </a:pPr>
            <a:r>
              <a:rPr lang="zh-CN" altLang="en-US" sz="2000" dirty="0">
                <a:cs typeface="宋体" panose="02010600030101010101" pitchFamily="2" charset="-122"/>
                <a:sym typeface="+mn-ea"/>
              </a:rPr>
              <a:t>四种赋值方式</a:t>
            </a:r>
            <a:endParaRPr lang="en-US" altLang="zh-CN" sz="2000" dirty="0">
              <a:cs typeface="宋体" panose="02010600030101010101" pitchFamily="2" charset="-122"/>
            </a:endParaRPr>
          </a:p>
          <a:p>
            <a:pPr lvl="1">
              <a:lnSpc>
                <a:spcPct val="200000"/>
              </a:lnSpc>
            </a:pPr>
            <a:r>
              <a:rPr lang="zh-CN" altLang="en-US" sz="1800" dirty="0">
                <a:cs typeface="宋体" panose="02010600030101010101" pitchFamily="2" charset="-122"/>
                <a:sym typeface="+mn-ea"/>
              </a:rPr>
              <a:t>利用</a:t>
            </a:r>
            <a:r>
              <a:rPr lang="en-US" altLang="zh-CN" sz="1800" dirty="0">
                <a:cs typeface="宋体" panose="02010600030101010101" pitchFamily="2" charset="-122"/>
                <a:sym typeface="+mn-ea"/>
              </a:rPr>
              <a:t>LET </a:t>
            </a:r>
            <a:r>
              <a:rPr lang="zh-CN" altLang="en-US" sz="1800" dirty="0">
                <a:cs typeface="宋体" panose="02010600030101010101" pitchFamily="2" charset="-122"/>
                <a:sym typeface="+mn-ea"/>
              </a:rPr>
              <a:t>语句</a:t>
            </a:r>
            <a:endParaRPr lang="en-US" altLang="zh-CN" sz="1800" dirty="0">
              <a:cs typeface="宋体" panose="02010600030101010101" pitchFamily="2" charset="-122"/>
            </a:endParaRPr>
          </a:p>
          <a:p>
            <a:pPr lvl="1">
              <a:lnSpc>
                <a:spcPct val="200000"/>
              </a:lnSpc>
            </a:pPr>
            <a:r>
              <a:rPr lang="zh-CN" altLang="en-US" sz="1800" dirty="0">
                <a:cs typeface="宋体" panose="02010600030101010101" pitchFamily="2" charset="-122"/>
                <a:sym typeface="+mn-ea"/>
              </a:rPr>
              <a:t>利用</a:t>
            </a:r>
            <a:r>
              <a:rPr lang="en-US" altLang="zh-CN" sz="1800" dirty="0">
                <a:cs typeface="宋体" panose="02010600030101010101" pitchFamily="2" charset="-122"/>
                <a:sym typeface="+mn-ea"/>
              </a:rPr>
              <a:t>SELECT ... INTO </a:t>
            </a:r>
            <a:r>
              <a:rPr lang="zh-CN" altLang="en-US" sz="1800" dirty="0">
                <a:cs typeface="宋体" panose="02010600030101010101" pitchFamily="2" charset="-122"/>
                <a:sym typeface="+mn-ea"/>
              </a:rPr>
              <a:t>语句</a:t>
            </a:r>
            <a:endParaRPr lang="en-US" altLang="zh-CN" sz="1800" dirty="0">
              <a:cs typeface="宋体" panose="02010600030101010101" pitchFamily="2" charset="-122"/>
            </a:endParaRPr>
          </a:p>
          <a:p>
            <a:pPr lvl="1">
              <a:lnSpc>
                <a:spcPct val="200000"/>
              </a:lnSpc>
            </a:pPr>
            <a:r>
              <a:rPr lang="zh-CN" altLang="en-US" sz="1800" dirty="0">
                <a:cs typeface="宋体" panose="02010600030101010101" pitchFamily="2" charset="-122"/>
                <a:sym typeface="+mn-ea"/>
              </a:rPr>
              <a:t>利用</a:t>
            </a:r>
            <a:r>
              <a:rPr lang="en-US" altLang="zh-CN" sz="1800" dirty="0">
                <a:cs typeface="宋体" panose="02010600030101010101" pitchFamily="2" charset="-122"/>
                <a:sym typeface="+mn-ea"/>
              </a:rPr>
              <a:t>CALL…RETURNING </a:t>
            </a:r>
            <a:r>
              <a:rPr lang="zh-CN" altLang="en-US" sz="1800" dirty="0">
                <a:cs typeface="宋体" panose="02010600030101010101" pitchFamily="2" charset="-122"/>
                <a:sym typeface="+mn-ea"/>
              </a:rPr>
              <a:t>语句</a:t>
            </a:r>
            <a:endParaRPr lang="en-US" altLang="zh-CN" sz="1800" dirty="0">
              <a:cs typeface="宋体" panose="02010600030101010101" pitchFamily="2" charset="-122"/>
            </a:endParaRPr>
          </a:p>
          <a:p>
            <a:pPr lvl="1">
              <a:lnSpc>
                <a:spcPct val="200000"/>
              </a:lnSpc>
            </a:pPr>
            <a:r>
              <a:rPr lang="zh-CN" altLang="en-US" sz="1800" dirty="0">
                <a:cs typeface="宋体" panose="02010600030101010101" pitchFamily="2" charset="-122"/>
                <a:sym typeface="+mn-ea"/>
              </a:rPr>
              <a:t>利用</a:t>
            </a:r>
            <a:r>
              <a:rPr lang="en-US" altLang="zh-CN" sz="1800" dirty="0">
                <a:cs typeface="宋体" panose="02010600030101010101" pitchFamily="2" charset="-122"/>
                <a:sym typeface="+mn-ea"/>
              </a:rPr>
              <a:t>EXECUTE PROCEDURE ...INTO </a:t>
            </a:r>
            <a:r>
              <a:rPr lang="zh-CN" altLang="en-US" sz="1800" dirty="0">
                <a:cs typeface="宋体" panose="02010600030101010101" pitchFamily="2" charset="-122"/>
                <a:sym typeface="+mn-ea"/>
              </a:rPr>
              <a:t>语句</a:t>
            </a:r>
          </a:p>
          <a:p>
            <a:pPr marL="342900" indent="-342900">
              <a:lnSpc>
                <a:spcPct val="20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分支语句：</a:t>
            </a:r>
          </a:p>
          <a:p>
            <a:pPr marL="800100" lvl="1" indent="-342900">
              <a:lnSpc>
                <a:spcPct val="200000"/>
              </a:lnSpc>
            </a:pPr>
            <a:r>
              <a:rPr lang="en-US" altLang="zh-CN" sz="1800" dirty="0">
                <a:cs typeface="宋体" panose="02010600030101010101" pitchFamily="2" charset="-122"/>
                <a:sym typeface="+mn-ea"/>
              </a:rPr>
              <a:t>IF…THEN…ELIF…THEN…ELSE…ENDIF</a:t>
            </a:r>
            <a:r>
              <a:rPr lang="zh-CN" altLang="en-US" sz="1800" dirty="0">
                <a:cs typeface="宋体" panose="02010600030101010101" pitchFamily="2" charset="-122"/>
                <a:sym typeface="+mn-ea"/>
              </a:rPr>
              <a:t>；</a:t>
            </a:r>
          </a:p>
          <a:p>
            <a:pPr marL="800100" lvl="1" indent="-342900">
              <a:lnSpc>
                <a:spcPct val="200000"/>
              </a:lnSpc>
            </a:pPr>
            <a:r>
              <a:rPr lang="en-US" altLang="zh-CN" sz="1800" dirty="0">
                <a:latin typeface="微软雅黑" panose="020B0503020204020204" pitchFamily="34" charset="-122"/>
                <a:ea typeface="微软雅黑" panose="020B0503020204020204" pitchFamily="34" charset="-122"/>
                <a:cs typeface="宋体" panose="02010600030101010101" pitchFamily="2" charset="-122"/>
                <a:sym typeface="+mn-ea"/>
              </a:rPr>
              <a:t>CASE...WHEN...THEN...ELSE....END CASE;</a:t>
            </a:r>
          </a:p>
          <a:p>
            <a:pPr marL="341630" lvl="1" indent="0">
              <a:lnSpc>
                <a:spcPct val="200000"/>
              </a:lnSpc>
              <a:buNone/>
            </a:pPr>
            <a:endParaRPr lang="zh-CN" altLang="en-US" sz="1800" dirty="0"/>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SPL</a:t>
            </a:r>
            <a:r>
              <a:rPr lang="zh-CN" altLang="zh-CN"/>
              <a:t>语句</a:t>
            </a:r>
          </a:p>
        </p:txBody>
      </p:sp>
      <p:sp>
        <p:nvSpPr>
          <p:cNvPr id="3" name="内容占位符 2"/>
          <p:cNvSpPr>
            <a:spLocks noGrp="1"/>
          </p:cNvSpPr>
          <p:nvPr>
            <p:ph type="body" sz="quarter" idx="10"/>
          </p:nvPr>
        </p:nvSpPr>
        <p:spPr/>
        <p:txBody>
          <a:bodyPr/>
          <a:lstStyle/>
          <a:p>
            <a:pPr>
              <a:lnSpc>
                <a:spcPct val="150000"/>
              </a:lnSpc>
            </a:pP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循环语句：</a:t>
            </a:r>
          </a:p>
          <a:p>
            <a:pPr lvl="1">
              <a:lnSpc>
                <a:spcPct val="150000"/>
              </a:lnSpc>
            </a:pPr>
            <a:r>
              <a:rPr lang="en-US" altLang="zh-CN" dirty="0">
                <a:cs typeface="宋体" panose="02010600030101010101" pitchFamily="2" charset="-122"/>
                <a:sym typeface="+mn-ea"/>
              </a:rPr>
              <a:t>WHILE</a:t>
            </a:r>
            <a:r>
              <a:rPr lang="zh-CN" altLang="en-US" dirty="0">
                <a:cs typeface="宋体" panose="02010600030101010101" pitchFamily="2" charset="-122"/>
                <a:sym typeface="+mn-ea"/>
              </a:rPr>
              <a:t>循环</a:t>
            </a:r>
          </a:p>
          <a:p>
            <a:pPr lvl="1">
              <a:lnSpc>
                <a:spcPct val="150000"/>
              </a:lnSpc>
            </a:pPr>
            <a:r>
              <a:rPr lang="en-US" altLang="zh-CN" dirty="0">
                <a:cs typeface="宋体" panose="02010600030101010101" pitchFamily="2" charset="-122"/>
                <a:sym typeface="+mn-ea"/>
              </a:rPr>
              <a:t>FOR</a:t>
            </a:r>
            <a:r>
              <a:rPr lang="zh-CN" altLang="en-US" dirty="0">
                <a:cs typeface="宋体" panose="02010600030101010101" pitchFamily="2" charset="-122"/>
                <a:sym typeface="+mn-ea"/>
              </a:rPr>
              <a:t>循环语句</a:t>
            </a:r>
          </a:p>
          <a:p>
            <a:pPr lvl="1">
              <a:lnSpc>
                <a:spcPct val="150000"/>
              </a:lnSpc>
            </a:pPr>
            <a:r>
              <a:rPr lang="en-US" altLang="zh-CN" dirty="0">
                <a:cs typeface="宋体" panose="02010600030101010101" pitchFamily="2" charset="-122"/>
                <a:sym typeface="+mn-ea"/>
              </a:rPr>
              <a:t>FOREACH </a:t>
            </a:r>
            <a:r>
              <a:rPr lang="zh-CN" altLang="en-US" dirty="0">
                <a:cs typeface="宋体" panose="02010600030101010101" pitchFamily="2" charset="-122"/>
                <a:sym typeface="+mn-ea"/>
              </a:rPr>
              <a:t>语句</a:t>
            </a:r>
            <a:endParaRPr lang="zh-CN" altLang="en-US" dirty="0">
              <a:cs typeface="微软雅黑" panose="020B0503020204020204" pitchFamily="34" charset="-122"/>
            </a:endParaRPr>
          </a:p>
          <a:p>
            <a:pPr marL="342900" indent="-342900">
              <a:lnSpc>
                <a:spcPct val="150000"/>
              </a:lnSpc>
            </a:pPr>
            <a:r>
              <a:rPr lang="zh-CN" altLang="en-US" dirty="0">
                <a:cs typeface="宋体" panose="02010600030101010101" pitchFamily="2" charset="-122"/>
                <a:sym typeface="+mn-ea"/>
              </a:rPr>
              <a:t>跟踪调试语句：</a:t>
            </a:r>
          </a:p>
          <a:p>
            <a:pPr marL="800100" lvl="1" indent="-342900">
              <a:lnSpc>
                <a:spcPct val="150000"/>
              </a:lnSpc>
            </a:pPr>
            <a:r>
              <a:rPr lang="en-US" altLang="zh-CN" dirty="0">
                <a:cs typeface="宋体" panose="02010600030101010101" pitchFamily="2" charset="-122"/>
                <a:sym typeface="+mn-ea"/>
              </a:rPr>
              <a:t>TRACE </a:t>
            </a:r>
            <a:r>
              <a:rPr lang="zh-CN" altLang="en-US" dirty="0">
                <a:cs typeface="宋体" panose="02010600030101010101" pitchFamily="2" charset="-122"/>
                <a:sym typeface="+mn-ea"/>
              </a:rPr>
              <a:t>语句三种形式</a:t>
            </a:r>
          </a:p>
          <a:p>
            <a:pPr marL="342900" indent="-342900">
              <a:lnSpc>
                <a:spcPct val="150000"/>
              </a:lnSpc>
            </a:pPr>
            <a:r>
              <a:rPr lang="zh-CN" altLang="en-US" dirty="0">
                <a:cs typeface="宋体" panose="02010600030101010101" pitchFamily="2" charset="-122"/>
                <a:sym typeface="+mn-ea"/>
              </a:rPr>
              <a:t>异常处理语句：</a:t>
            </a:r>
          </a:p>
          <a:p>
            <a:pPr lvl="1">
              <a:lnSpc>
                <a:spcPct val="150000"/>
              </a:lnSpc>
              <a:buFont typeface="Arial" panose="020B0604020202020204" pitchFamily="34" charset="0"/>
              <a:buChar char="•"/>
            </a:pPr>
            <a:r>
              <a:rPr lang="en-US" dirty="0">
                <a:sym typeface="+mn-ea"/>
              </a:rPr>
              <a:t>ON EXCEPTION </a:t>
            </a:r>
            <a:r>
              <a:rPr lang="zh-CN" altLang="en-US" dirty="0">
                <a:cs typeface="宋体" panose="02010600030101010101" pitchFamily="2" charset="-122"/>
                <a:sym typeface="+mn-ea"/>
              </a:rPr>
              <a:t>语句</a:t>
            </a:r>
          </a:p>
          <a:p>
            <a:pPr lvl="1">
              <a:lnSpc>
                <a:spcPct val="150000"/>
              </a:lnSpc>
              <a:buFont typeface="Arial" panose="020B0604020202020204" pitchFamily="34" charset="0"/>
              <a:buChar char="•"/>
            </a:pPr>
            <a:r>
              <a:rPr lang="en-US" altLang="zh-CN" dirty="0">
                <a:cs typeface="宋体" panose="02010600030101010101" pitchFamily="2" charset="-122"/>
                <a:sym typeface="+mn-ea"/>
              </a:rPr>
              <a:t>RAISE</a:t>
            </a:r>
            <a:r>
              <a:rPr lang="en-US" dirty="0">
                <a:sym typeface="+mn-ea"/>
              </a:rPr>
              <a:t> EXCEPTION </a:t>
            </a:r>
            <a:r>
              <a:rPr lang="zh-CN" altLang="en-US" dirty="0">
                <a:cs typeface="宋体" panose="02010600030101010101" pitchFamily="2" charset="-122"/>
                <a:sym typeface="+mn-ea"/>
              </a:rPr>
              <a:t>语句。</a:t>
            </a:r>
            <a:endParaRPr lang="zh-CN" altLang="en-US" dirty="0"/>
          </a:p>
          <a:p>
            <a:pPr marL="341630" lvl="1" indent="0">
              <a:lnSpc>
                <a:spcPct val="125000"/>
              </a:lnSpc>
              <a:buNone/>
            </a:pPr>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r>
              <a:rPr lang="zh-CN" altLang="en-US" dirty="0">
                <a:latin typeface="Arial" panose="020B0604020202020204" pitchFamily="34" charset="0"/>
                <a:cs typeface="宋体" panose="02010600030101010101" pitchFamily="2" charset="-122"/>
              </a:rPr>
              <a:t>存储过程示例</a:t>
            </a:r>
            <a:r>
              <a:rPr lang="en-US" altLang="zh-CN" dirty="0">
                <a:latin typeface="Arial" panose="020B0604020202020204" pitchFamily="34" charset="0"/>
                <a:cs typeface="宋体" panose="02010600030101010101" pitchFamily="2" charset="-122"/>
              </a:rPr>
              <a:t>--</a:t>
            </a:r>
            <a:r>
              <a:rPr lang="en-US" altLang="zh-CN" dirty="0" err="1">
                <a:latin typeface="Arial" panose="020B0604020202020204" pitchFamily="34" charset="0"/>
                <a:cs typeface="宋体" panose="02010600030101010101" pitchFamily="2" charset="-122"/>
              </a:rPr>
              <a:t>GBase</a:t>
            </a:r>
            <a:r>
              <a:rPr lang="en-US" altLang="zh-CN" dirty="0">
                <a:latin typeface="Arial" panose="020B0604020202020204" pitchFamily="34" charset="0"/>
                <a:cs typeface="宋体" panose="02010600030101010101" pitchFamily="2" charset="-122"/>
              </a:rPr>
              <a:t> </a:t>
            </a:r>
            <a:r>
              <a:rPr lang="en-US" altLang="zh-CN" dirty="0" smtClean="0">
                <a:latin typeface="Arial" panose="020B0604020202020204" pitchFamily="34" charset="0"/>
                <a:cs typeface="宋体" panose="02010600030101010101" pitchFamily="2" charset="-122"/>
              </a:rPr>
              <a:t>8s</a:t>
            </a:r>
            <a:endParaRPr lang="en-US" altLang="zh-CN" dirty="0">
              <a:latin typeface="Arial" panose="020B0604020202020204" pitchFamily="34" charset="0"/>
              <a:cs typeface="宋体" panose="02010600030101010101" pitchFamily="2" charset="-122"/>
            </a:endParaRPr>
          </a:p>
        </p:txBody>
      </p:sp>
      <p:sp>
        <p:nvSpPr>
          <p:cNvPr id="16" name="AutoShape 4"/>
          <p:cNvSpPr>
            <a:spLocks noChangeArrowheads="1"/>
          </p:cNvSpPr>
          <p:nvPr/>
        </p:nvSpPr>
        <p:spPr bwMode="black">
          <a:xfrm>
            <a:off x="2055058" y="1239762"/>
            <a:ext cx="7779385" cy="5161915"/>
          </a:xfrm>
          <a:prstGeom prst="roundRect">
            <a:avLst>
              <a:gd name="adj" fmla="val 8525"/>
            </a:avLst>
          </a:prstGeom>
          <a:solidFill>
            <a:schemeClr val="bg1">
              <a:lumMod val="85000"/>
            </a:schemeClr>
          </a:solidFill>
          <a:ln w="9525">
            <a:solidFill>
              <a:schemeClr val="tx1"/>
            </a:solidFill>
            <a:round/>
          </a:ln>
          <a:effectLst/>
        </p:spPr>
        <p:txBody>
          <a:bodyPr lIns="92075" tIns="46038" rIns="92075" bIns="0" anchor="ctr"/>
          <a:lstStyle/>
          <a:p>
            <a:pPr marL="119380" indent="-119380">
              <a:lnSpc>
                <a:spcPct val="40000"/>
              </a:lnSpc>
              <a:spcBef>
                <a:spcPct val="50000"/>
              </a:spcBef>
              <a:buClr>
                <a:schemeClr val="accent1"/>
              </a:buClr>
            </a:pPr>
            <a:r>
              <a:rPr lang="en-US" altLang="en-US" sz="1400">
                <a:solidFill>
                  <a:srgbClr val="00B0F0"/>
                </a:solidFill>
                <a:sym typeface="+mn-ea"/>
              </a:rPr>
              <a:t>CREATE PROCEDURE</a:t>
            </a:r>
            <a:r>
              <a:rPr lang="en-US" altLang="en-US" sz="1400">
                <a:sym typeface="+mn-ea"/>
              </a:rPr>
              <a:t> p_tes</a:t>
            </a:r>
            <a:r>
              <a:rPr lang="en-US" altLang="zh-CN" sz="1400">
                <a:sym typeface="+mn-ea"/>
              </a:rPr>
              <a:t>t</a:t>
            </a:r>
            <a:r>
              <a:rPr lang="en-US" altLang="en-US" sz="1400">
                <a:sym typeface="+mn-ea"/>
              </a:rPr>
              <a:t>(i_id int default 10,out i_inx int ) </a:t>
            </a:r>
          </a:p>
          <a:p>
            <a:pPr marL="119380" indent="-119380">
              <a:lnSpc>
                <a:spcPct val="40000"/>
              </a:lnSpc>
              <a:spcBef>
                <a:spcPct val="50000"/>
              </a:spcBef>
              <a:buClr>
                <a:schemeClr val="accent1"/>
              </a:buClr>
            </a:pPr>
            <a:r>
              <a:rPr lang="en-US" altLang="en-US" sz="1400">
                <a:sym typeface="+mn-ea"/>
              </a:rPr>
              <a:t>DEFINE  i  int;  </a:t>
            </a:r>
          </a:p>
          <a:p>
            <a:pPr marL="119380" indent="-119380">
              <a:lnSpc>
                <a:spcPct val="40000"/>
              </a:lnSpc>
              <a:spcBef>
                <a:spcPct val="50000"/>
              </a:spcBef>
              <a:buClr>
                <a:schemeClr val="accent1"/>
              </a:buClr>
            </a:pPr>
            <a:endParaRPr lang="en-US" altLang="en-US" sz="1400">
              <a:sym typeface="+mn-ea"/>
            </a:endParaRPr>
          </a:p>
          <a:p>
            <a:pPr marL="119380" indent="-119380">
              <a:lnSpc>
                <a:spcPct val="40000"/>
              </a:lnSpc>
              <a:spcBef>
                <a:spcPct val="50000"/>
              </a:spcBef>
              <a:buClr>
                <a:schemeClr val="accent1"/>
              </a:buClr>
            </a:pPr>
            <a:r>
              <a:rPr lang="en-US" altLang="en-US" sz="1400">
                <a:sym typeface="+mn-ea"/>
              </a:rPr>
              <a:t> ON EXCEPTION     </a:t>
            </a:r>
          </a:p>
          <a:p>
            <a:pPr marL="119380" indent="-119380">
              <a:lnSpc>
                <a:spcPct val="40000"/>
              </a:lnSpc>
              <a:spcBef>
                <a:spcPct val="50000"/>
              </a:spcBef>
              <a:buClr>
                <a:schemeClr val="accent1"/>
              </a:buClr>
            </a:pPr>
            <a:r>
              <a:rPr lang="en-US" altLang="en-US" sz="1400">
                <a:sym typeface="+mn-ea"/>
              </a:rPr>
              <a:t> CREATE TABLE t3  ( col1 INT); </a:t>
            </a:r>
          </a:p>
          <a:p>
            <a:pPr marL="119380" indent="-119380">
              <a:lnSpc>
                <a:spcPct val="40000"/>
              </a:lnSpc>
              <a:spcBef>
                <a:spcPct val="50000"/>
              </a:spcBef>
              <a:buClr>
                <a:schemeClr val="accent1"/>
              </a:buClr>
            </a:pPr>
            <a:r>
              <a:rPr lang="en-US" altLang="en-US" sz="1400">
                <a:sym typeface="+mn-ea"/>
              </a:rPr>
              <a:t> END EXCEPTION with resume;</a:t>
            </a:r>
          </a:p>
          <a:p>
            <a:pPr marL="119380" indent="-119380">
              <a:lnSpc>
                <a:spcPct val="40000"/>
              </a:lnSpc>
              <a:spcBef>
                <a:spcPct val="50000"/>
              </a:spcBef>
              <a:buClr>
                <a:schemeClr val="accent1"/>
              </a:buClr>
            </a:pPr>
            <a:endParaRPr lang="en-US" altLang="en-US" sz="1400">
              <a:sym typeface="+mn-ea"/>
            </a:endParaRPr>
          </a:p>
          <a:p>
            <a:pPr marL="119380" indent="-119380">
              <a:lnSpc>
                <a:spcPct val="40000"/>
              </a:lnSpc>
              <a:spcBef>
                <a:spcPct val="50000"/>
              </a:spcBef>
              <a:buClr>
                <a:schemeClr val="accent1"/>
              </a:buClr>
            </a:pPr>
            <a:r>
              <a:rPr lang="en-US" altLang="en-US" sz="1400">
                <a:sym typeface="+mn-ea"/>
              </a:rPr>
              <a:t>   INSERT INTO t3 VALUES (0);</a:t>
            </a:r>
          </a:p>
          <a:p>
            <a:pPr marL="119380" indent="-119380">
              <a:lnSpc>
                <a:spcPct val="40000"/>
              </a:lnSpc>
              <a:spcBef>
                <a:spcPct val="50000"/>
              </a:spcBef>
              <a:buClr>
                <a:schemeClr val="accent1"/>
              </a:buClr>
            </a:pPr>
            <a:r>
              <a:rPr lang="en-US" altLang="en-US" sz="1400">
                <a:sym typeface="+mn-ea"/>
              </a:rPr>
              <a:t>   for i=1 to i_id  step 1                        </a:t>
            </a:r>
          </a:p>
          <a:p>
            <a:pPr marL="119380" indent="-119380">
              <a:lnSpc>
                <a:spcPct val="40000"/>
              </a:lnSpc>
              <a:spcBef>
                <a:spcPct val="50000"/>
              </a:spcBef>
              <a:buClr>
                <a:schemeClr val="accent1"/>
              </a:buClr>
            </a:pPr>
            <a:r>
              <a:rPr lang="en-US" altLang="en-US" sz="1400">
                <a:sym typeface="+mn-ea"/>
              </a:rPr>
              <a:t>    INSERT INTO t3 VALUES (i);</a:t>
            </a:r>
          </a:p>
          <a:p>
            <a:pPr marL="119380" indent="-119380">
              <a:lnSpc>
                <a:spcPct val="40000"/>
              </a:lnSpc>
              <a:spcBef>
                <a:spcPct val="50000"/>
              </a:spcBef>
              <a:buClr>
                <a:schemeClr val="accent1"/>
              </a:buClr>
            </a:pPr>
            <a:r>
              <a:rPr lang="en-US" altLang="en-US" sz="1400">
                <a:sym typeface="+mn-ea"/>
              </a:rPr>
              <a:t>   end for</a:t>
            </a:r>
          </a:p>
          <a:p>
            <a:pPr marL="119380" indent="-119380">
              <a:lnSpc>
                <a:spcPct val="40000"/>
              </a:lnSpc>
              <a:spcBef>
                <a:spcPct val="50000"/>
              </a:spcBef>
              <a:buClr>
                <a:schemeClr val="accent1"/>
              </a:buClr>
            </a:pPr>
            <a:endParaRPr lang="en-US" altLang="en-US" sz="1400">
              <a:sym typeface="+mn-ea"/>
            </a:endParaRPr>
          </a:p>
          <a:p>
            <a:pPr marL="119380" indent="-119380">
              <a:lnSpc>
                <a:spcPct val="40000"/>
              </a:lnSpc>
              <a:spcBef>
                <a:spcPct val="50000"/>
              </a:spcBef>
              <a:buClr>
                <a:schemeClr val="accent1"/>
              </a:buClr>
            </a:pPr>
            <a:r>
              <a:rPr lang="en-US" altLang="en-US" sz="1400">
                <a:sym typeface="+mn-ea"/>
              </a:rPr>
              <a:t>set debug file to "/tmp/read_msg_trace.txt";</a:t>
            </a:r>
          </a:p>
          <a:p>
            <a:pPr marL="119380" indent="-119380">
              <a:lnSpc>
                <a:spcPct val="40000"/>
              </a:lnSpc>
              <a:spcBef>
                <a:spcPct val="50000"/>
              </a:spcBef>
              <a:buClr>
                <a:schemeClr val="accent1"/>
              </a:buClr>
            </a:pPr>
            <a:r>
              <a:rPr lang="en-US" altLang="en-US" sz="1400">
                <a:sym typeface="+mn-ea"/>
              </a:rPr>
              <a:t>trace on;</a:t>
            </a:r>
            <a:endParaRPr lang="en-US" altLang="zh-CN" sz="1400">
              <a:sym typeface="+mn-ea"/>
            </a:endParaRPr>
          </a:p>
          <a:p>
            <a:pPr marL="119380" indent="-119380">
              <a:lnSpc>
                <a:spcPct val="40000"/>
              </a:lnSpc>
              <a:spcBef>
                <a:spcPct val="50000"/>
              </a:spcBef>
              <a:buClr>
                <a:schemeClr val="accent1"/>
              </a:buClr>
            </a:pPr>
            <a:r>
              <a:rPr lang="en-US" altLang="en-US" sz="1400">
                <a:sym typeface="+mn-ea"/>
              </a:rPr>
              <a:t>  FOREACH  SELECT col1  INTO i  FROM t3 ORDER BY 1</a:t>
            </a:r>
          </a:p>
          <a:p>
            <a:pPr marL="119380" indent="-119380">
              <a:lnSpc>
                <a:spcPct val="40000"/>
              </a:lnSpc>
              <a:spcBef>
                <a:spcPct val="50000"/>
              </a:spcBef>
              <a:buClr>
                <a:schemeClr val="accent1"/>
              </a:buClr>
            </a:pPr>
            <a:r>
              <a:rPr lang="en-US" altLang="en-US" sz="1400">
                <a:sym typeface="+mn-ea"/>
              </a:rPr>
              <a:t>  INSERT INTO t2(id)  VALUES(i) ;</a:t>
            </a:r>
          </a:p>
          <a:p>
            <a:pPr marL="119380" indent="-119380">
              <a:lnSpc>
                <a:spcPct val="40000"/>
              </a:lnSpc>
              <a:spcBef>
                <a:spcPct val="50000"/>
              </a:spcBef>
              <a:buClr>
                <a:schemeClr val="accent1"/>
              </a:buClr>
            </a:pPr>
            <a:r>
              <a:rPr lang="en-US" altLang="en-US" sz="1400">
                <a:sym typeface="+mn-ea"/>
              </a:rPr>
              <a:t>  END FOREACH </a:t>
            </a:r>
          </a:p>
          <a:p>
            <a:pPr marL="119380" indent="-119380">
              <a:lnSpc>
                <a:spcPct val="40000"/>
              </a:lnSpc>
              <a:spcBef>
                <a:spcPct val="50000"/>
              </a:spcBef>
              <a:buClr>
                <a:schemeClr val="accent1"/>
              </a:buClr>
            </a:pPr>
            <a:endParaRPr lang="en-US" altLang="en-US" sz="1400">
              <a:sym typeface="+mn-ea"/>
            </a:endParaRPr>
          </a:p>
          <a:p>
            <a:pPr marL="119380" indent="-119380">
              <a:lnSpc>
                <a:spcPct val="40000"/>
              </a:lnSpc>
              <a:spcBef>
                <a:spcPct val="50000"/>
              </a:spcBef>
              <a:buClr>
                <a:schemeClr val="accent1"/>
              </a:buClr>
            </a:pPr>
            <a:r>
              <a:rPr lang="en-US" altLang="en-US" sz="1400">
                <a:sym typeface="+mn-ea"/>
              </a:rPr>
              <a:t>trace off;</a:t>
            </a:r>
          </a:p>
          <a:p>
            <a:pPr marL="119380" indent="-119380">
              <a:lnSpc>
                <a:spcPct val="40000"/>
              </a:lnSpc>
              <a:spcBef>
                <a:spcPct val="50000"/>
              </a:spcBef>
              <a:buClr>
                <a:schemeClr val="accent1"/>
              </a:buClr>
            </a:pPr>
            <a:endParaRPr lang="en-US" altLang="en-US" sz="1400">
              <a:sym typeface="+mn-ea"/>
            </a:endParaRPr>
          </a:p>
          <a:p>
            <a:pPr marL="119380" indent="-119380">
              <a:lnSpc>
                <a:spcPct val="40000"/>
              </a:lnSpc>
              <a:spcBef>
                <a:spcPct val="50000"/>
              </a:spcBef>
              <a:buClr>
                <a:schemeClr val="accent1"/>
              </a:buClr>
            </a:pPr>
            <a:r>
              <a:rPr lang="en-US" altLang="en-US" sz="1400">
                <a:sym typeface="+mn-ea"/>
              </a:rPr>
              <a:t>let i_inx=i_id+1;</a:t>
            </a:r>
          </a:p>
          <a:p>
            <a:pPr marL="119380" indent="-119380">
              <a:lnSpc>
                <a:spcPct val="40000"/>
              </a:lnSpc>
              <a:spcBef>
                <a:spcPct val="50000"/>
              </a:spcBef>
              <a:buClr>
                <a:schemeClr val="accent1"/>
              </a:buClr>
            </a:pPr>
            <a:endParaRPr lang="en-US" altLang="en-US" sz="1400">
              <a:sym typeface="+mn-ea"/>
            </a:endParaRPr>
          </a:p>
          <a:p>
            <a:pPr marL="119380" indent="-119380">
              <a:lnSpc>
                <a:spcPct val="40000"/>
              </a:lnSpc>
              <a:spcBef>
                <a:spcPct val="50000"/>
              </a:spcBef>
              <a:buClr>
                <a:schemeClr val="accent1"/>
              </a:buClr>
            </a:pPr>
            <a:r>
              <a:rPr lang="en-US" altLang="en-US" sz="1400">
                <a:solidFill>
                  <a:srgbClr val="00B0F0"/>
                </a:solidFill>
                <a:sym typeface="+mn-ea"/>
              </a:rPr>
              <a:t>END PROCEDURE</a:t>
            </a:r>
          </a:p>
          <a:p>
            <a:pPr marL="119380" indent="-119380">
              <a:lnSpc>
                <a:spcPct val="40000"/>
              </a:lnSpc>
              <a:spcBef>
                <a:spcPct val="50000"/>
              </a:spcBef>
              <a:buClr>
                <a:schemeClr val="accent1"/>
              </a:buClr>
            </a:pPr>
            <a:r>
              <a:rPr lang="en-US" altLang="en-US" sz="1400">
                <a:solidFill>
                  <a:srgbClr val="00B0F0"/>
                </a:solidFill>
                <a:sym typeface="+mn-ea"/>
              </a:rPr>
              <a:t>DOCUMENT </a:t>
            </a:r>
            <a:r>
              <a:rPr lang="en-US" altLang="en-US" sz="1400">
                <a:sym typeface="+mn-ea"/>
              </a:rPr>
              <a:t>'this procedure for test'</a:t>
            </a:r>
          </a:p>
          <a:p>
            <a:pPr marL="119380" indent="-119380">
              <a:lnSpc>
                <a:spcPct val="40000"/>
              </a:lnSpc>
              <a:spcBef>
                <a:spcPct val="50000"/>
              </a:spcBef>
              <a:buClr>
                <a:schemeClr val="accent1"/>
              </a:buClr>
            </a:pPr>
            <a:r>
              <a:rPr lang="en-US" altLang="en-US" sz="1400">
                <a:solidFill>
                  <a:srgbClr val="00B0F0"/>
                </a:solidFill>
                <a:sym typeface="+mn-ea"/>
              </a:rPr>
              <a:t>WITH LISTING IN </a:t>
            </a:r>
            <a:r>
              <a:rPr lang="en-US" altLang="en-US" sz="1400">
                <a:sym typeface="+mn-ea"/>
              </a:rPr>
              <a:t>"/tmp/test.error"</a:t>
            </a:r>
            <a:r>
              <a:rPr lang="en-US" altLang="en-US" sz="1400">
                <a:solidFill>
                  <a:srgbClr val="00B0F0"/>
                </a:solidFill>
                <a:sym typeface="+mn-ea"/>
              </a:rPr>
              <a:t> </a:t>
            </a:r>
          </a:p>
        </p:txBody>
      </p:sp>
      <p:sp>
        <p:nvSpPr>
          <p:cNvPr id="2" name="矩形 1"/>
          <p:cNvSpPr/>
          <p:nvPr/>
        </p:nvSpPr>
        <p:spPr>
          <a:xfrm>
            <a:off x="2270957" y="1816341"/>
            <a:ext cx="3096260" cy="369974"/>
          </a:xfrm>
          <a:prstGeom prst="rect">
            <a:avLst/>
          </a:prstGeom>
          <a:noFill/>
          <a:ln w="9525" cap="flat" cmpd="sng" algn="ctr">
            <a:solidFill>
              <a:schemeClr val="accent1"/>
            </a:solidFill>
            <a:prstDash val="solid"/>
            <a:round/>
            <a:headEnd type="none" w="med" len="med"/>
            <a:tailEnd type="none" w="med" len="med"/>
          </a:ln>
        </p:spPr>
        <p:txBody>
          <a:bodyPr vert="horz" wrap="square" lIns="92075" tIns="46038" rIns="92075" bIns="46038" numCol="1" anchor="t" anchorCtr="0" compatLnSpc="1">
            <a:spAutoFit/>
          </a:bodyPr>
          <a:lstStyle/>
          <a:p>
            <a:pPr marL="119380" indent="-119380" algn="ctr">
              <a:lnSpc>
                <a:spcPct val="90000"/>
              </a:lnSpc>
              <a:spcBef>
                <a:spcPct val="50000"/>
              </a:spcBef>
              <a:buClr>
                <a:schemeClr val="accent1"/>
              </a:buClr>
            </a:pPr>
            <a:endParaRPr lang="en-US" altLang="en-US" sz="2000" b="1"/>
          </a:p>
        </p:txBody>
      </p:sp>
      <p:cxnSp>
        <p:nvCxnSpPr>
          <p:cNvPr id="3" name="直接箭头连接符 2"/>
          <p:cNvCxnSpPr>
            <a:stCxn id="2" idx="3"/>
          </p:cNvCxnSpPr>
          <p:nvPr/>
        </p:nvCxnSpPr>
        <p:spPr>
          <a:xfrm>
            <a:off x="5367218" y="2001329"/>
            <a:ext cx="864235" cy="175059"/>
          </a:xfrm>
          <a:prstGeom prst="straightConnector1">
            <a:avLst/>
          </a:prstGeom>
          <a:ln>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5" name="文本框 4"/>
          <p:cNvSpPr txBox="1"/>
          <p:nvPr/>
        </p:nvSpPr>
        <p:spPr>
          <a:xfrm>
            <a:off x="6159063" y="1816341"/>
            <a:ext cx="3422015" cy="1066800"/>
          </a:xfrm>
          <a:prstGeom prst="rect">
            <a:avLst/>
          </a:prstGeom>
          <a:noFill/>
        </p:spPr>
        <p:txBody>
          <a:bodyPr wrap="none" rtlCol="0">
            <a:spAutoFit/>
          </a:bodyPr>
          <a:lstStyle/>
          <a:p>
            <a:pPr marL="0" lvl="1"/>
            <a:r>
              <a:rPr lang="zh-CN" altLang="en-US" sz="1600" dirty="0">
                <a:solidFill>
                  <a:srgbClr val="FF0000"/>
                </a:solidFill>
              </a:rPr>
              <a:t>异常处理要写到</a:t>
            </a:r>
            <a:r>
              <a:rPr lang="zh-CN" altLang="en-US" sz="1600" dirty="0">
                <a:solidFill>
                  <a:srgbClr val="FF0000"/>
                </a:solidFill>
                <a:cs typeface="宋体" panose="02010600030101010101" pitchFamily="2" charset="-122"/>
                <a:sym typeface="+mn-ea"/>
              </a:rPr>
              <a:t> </a:t>
            </a:r>
            <a:r>
              <a:rPr lang="en-US" altLang="zh-CN" sz="1600" dirty="0">
                <a:solidFill>
                  <a:srgbClr val="FF0000"/>
                </a:solidFill>
                <a:cs typeface="宋体" panose="02010600030101010101" pitchFamily="2" charset="-122"/>
                <a:sym typeface="+mn-ea"/>
              </a:rPr>
              <a:t>DEFINE</a:t>
            </a:r>
            <a:r>
              <a:rPr lang="zh-CN" altLang="en-US" sz="1600" dirty="0">
                <a:solidFill>
                  <a:srgbClr val="FF0000"/>
                </a:solidFill>
                <a:cs typeface="宋体" panose="02010600030101010101" pitchFamily="2" charset="-122"/>
                <a:sym typeface="+mn-ea"/>
              </a:rPr>
              <a:t>语句之后，</a:t>
            </a:r>
          </a:p>
          <a:p>
            <a:pPr marL="0" lvl="1"/>
            <a:r>
              <a:rPr lang="zh-CN" altLang="en-US" sz="1600" dirty="0">
                <a:solidFill>
                  <a:srgbClr val="FF0000"/>
                </a:solidFill>
                <a:cs typeface="宋体" panose="02010600030101010101" pitchFamily="2" charset="-122"/>
                <a:sym typeface="+mn-ea"/>
              </a:rPr>
              <a:t>任何可执行语句块之前</a:t>
            </a:r>
          </a:p>
          <a:p>
            <a:pPr marL="0" lvl="1"/>
            <a:r>
              <a:rPr lang="zh-CN" altLang="en-US" sz="1600" dirty="0">
                <a:solidFill>
                  <a:srgbClr val="FF0000"/>
                </a:solidFill>
                <a:cs typeface="宋体" panose="02010600030101010101" pitchFamily="2" charset="-122"/>
                <a:sym typeface="+mn-ea"/>
              </a:rPr>
              <a:t>异常之后可以继续执行语句</a:t>
            </a:r>
          </a:p>
          <a:p>
            <a:endParaRPr lang="zh-CN" altLang="en-US" sz="1600" dirty="0">
              <a:solidFill>
                <a:srgbClr val="FF0000"/>
              </a:solidFill>
            </a:endParaRPr>
          </a:p>
        </p:txBody>
      </p:sp>
      <p:sp>
        <p:nvSpPr>
          <p:cNvPr id="4" name="矩形 3"/>
          <p:cNvSpPr/>
          <p:nvPr/>
        </p:nvSpPr>
        <p:spPr>
          <a:xfrm>
            <a:off x="2343348" y="2896477"/>
            <a:ext cx="2774315" cy="669925"/>
          </a:xfrm>
          <a:prstGeom prst="rect">
            <a:avLst/>
          </a:prstGeom>
          <a:noFill/>
          <a:ln w="9525" cap="flat" cmpd="sng" algn="ctr">
            <a:solidFill>
              <a:schemeClr val="accent1"/>
            </a:solidFill>
            <a:prstDash val="solid"/>
            <a:round/>
            <a:headEnd type="none" w="med" len="med"/>
            <a:tailEnd type="none" w="med" len="med"/>
          </a:ln>
        </p:spPr>
        <p:txBody>
          <a:bodyPr vert="horz" wrap="square" lIns="92075" tIns="46038" rIns="92075" bIns="46038" numCol="1" anchor="t" anchorCtr="0" compatLnSpc="1">
            <a:spAutoFit/>
          </a:bodyPr>
          <a:lstStyle/>
          <a:p>
            <a:pPr marL="119380" indent="-119380" algn="ctr">
              <a:lnSpc>
                <a:spcPct val="90000"/>
              </a:lnSpc>
              <a:spcBef>
                <a:spcPct val="50000"/>
              </a:spcBef>
              <a:buClr>
                <a:schemeClr val="accent1"/>
              </a:buClr>
            </a:pPr>
            <a:endParaRPr lang="en-US" altLang="en-US" sz="4000" b="1"/>
          </a:p>
        </p:txBody>
      </p:sp>
      <p:cxnSp>
        <p:nvCxnSpPr>
          <p:cNvPr id="6" name="直接箭头连接符 5"/>
          <p:cNvCxnSpPr/>
          <p:nvPr/>
        </p:nvCxnSpPr>
        <p:spPr>
          <a:xfrm flipV="1">
            <a:off x="5151318" y="3184132"/>
            <a:ext cx="864235" cy="36195"/>
          </a:xfrm>
          <a:prstGeom prst="straightConnector1">
            <a:avLst/>
          </a:prstGeom>
          <a:ln>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7" name="文本框 6"/>
          <p:cNvSpPr txBox="1"/>
          <p:nvPr/>
        </p:nvSpPr>
        <p:spPr>
          <a:xfrm>
            <a:off x="5943798" y="2968232"/>
            <a:ext cx="1861407" cy="584775"/>
          </a:xfrm>
          <a:prstGeom prst="rect">
            <a:avLst/>
          </a:prstGeom>
          <a:noFill/>
        </p:spPr>
        <p:txBody>
          <a:bodyPr wrap="none" rtlCol="0">
            <a:spAutoFit/>
          </a:bodyPr>
          <a:lstStyle/>
          <a:p>
            <a:pPr marL="0" lvl="1"/>
            <a:r>
              <a:rPr lang="zh-CN" altLang="en-US" sz="1600" dirty="0">
                <a:solidFill>
                  <a:srgbClr val="FF0000"/>
                </a:solidFill>
                <a:cs typeface="宋体" panose="02010600030101010101" pitchFamily="2" charset="-122"/>
                <a:sym typeface="+mn-ea"/>
              </a:rPr>
              <a:t>指定步长的</a:t>
            </a:r>
            <a:r>
              <a:rPr lang="en-US" altLang="zh-CN" sz="1600" dirty="0">
                <a:solidFill>
                  <a:srgbClr val="FF0000"/>
                </a:solidFill>
                <a:cs typeface="宋体" panose="02010600030101010101" pitchFamily="2" charset="-122"/>
                <a:sym typeface="+mn-ea"/>
              </a:rPr>
              <a:t>for</a:t>
            </a:r>
            <a:r>
              <a:rPr lang="zh-CN" altLang="en-US" sz="1600" dirty="0">
                <a:solidFill>
                  <a:srgbClr val="FF0000"/>
                </a:solidFill>
                <a:cs typeface="宋体" panose="02010600030101010101" pitchFamily="2" charset="-122"/>
                <a:sym typeface="+mn-ea"/>
              </a:rPr>
              <a:t>循环</a:t>
            </a:r>
          </a:p>
          <a:p>
            <a:endParaRPr lang="zh-CN" altLang="en-US" sz="1600">
              <a:solidFill>
                <a:srgbClr val="FF0000"/>
              </a:solidFill>
            </a:endParaRPr>
          </a:p>
        </p:txBody>
      </p:sp>
      <p:sp>
        <p:nvSpPr>
          <p:cNvPr id="8" name="矩形 7"/>
          <p:cNvSpPr/>
          <p:nvPr/>
        </p:nvSpPr>
        <p:spPr>
          <a:xfrm>
            <a:off x="2270322" y="4088585"/>
            <a:ext cx="4720590" cy="669925"/>
          </a:xfrm>
          <a:prstGeom prst="rect">
            <a:avLst/>
          </a:prstGeom>
          <a:noFill/>
          <a:ln w="9525" cap="flat" cmpd="sng" algn="ctr">
            <a:solidFill>
              <a:schemeClr val="accent1"/>
            </a:solidFill>
            <a:prstDash val="solid"/>
            <a:round/>
            <a:headEnd type="none" w="med" len="med"/>
            <a:tailEnd type="none" w="med" len="med"/>
          </a:ln>
        </p:spPr>
        <p:txBody>
          <a:bodyPr vert="horz" wrap="square" lIns="92075" tIns="46038" rIns="92075" bIns="46038" numCol="1" anchor="t" anchorCtr="0" compatLnSpc="1">
            <a:spAutoFit/>
          </a:bodyPr>
          <a:lstStyle/>
          <a:p>
            <a:pPr marL="119380" indent="-119380" algn="ctr">
              <a:lnSpc>
                <a:spcPct val="90000"/>
              </a:lnSpc>
              <a:spcBef>
                <a:spcPct val="50000"/>
              </a:spcBef>
              <a:buClr>
                <a:schemeClr val="accent1"/>
              </a:buClr>
            </a:pPr>
            <a:endParaRPr lang="en-US" altLang="en-US" sz="4000" b="1"/>
          </a:p>
        </p:txBody>
      </p:sp>
      <p:cxnSp>
        <p:nvCxnSpPr>
          <p:cNvPr id="9" name="直接箭头连接符 8"/>
          <p:cNvCxnSpPr/>
          <p:nvPr/>
        </p:nvCxnSpPr>
        <p:spPr>
          <a:xfrm flipV="1">
            <a:off x="7023933" y="4336022"/>
            <a:ext cx="864235" cy="36195"/>
          </a:xfrm>
          <a:prstGeom prst="straightConnector1">
            <a:avLst/>
          </a:prstGeom>
          <a:ln>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10" name="文本框 9"/>
          <p:cNvSpPr txBox="1"/>
          <p:nvPr/>
        </p:nvSpPr>
        <p:spPr>
          <a:xfrm>
            <a:off x="7888167" y="3976611"/>
            <a:ext cx="1267460" cy="822960"/>
          </a:xfrm>
          <a:prstGeom prst="rect">
            <a:avLst/>
          </a:prstGeom>
          <a:noFill/>
        </p:spPr>
        <p:txBody>
          <a:bodyPr wrap="none" rtlCol="0">
            <a:spAutoFit/>
          </a:bodyPr>
          <a:lstStyle/>
          <a:p>
            <a:pPr marL="0" lvl="1"/>
            <a:r>
              <a:rPr lang="en-US" altLang="zh-CN" sz="1600" dirty="0">
                <a:solidFill>
                  <a:srgbClr val="FF0000"/>
                </a:solidFill>
                <a:cs typeface="宋体" panose="02010600030101010101" pitchFamily="2" charset="-122"/>
                <a:sym typeface="+mn-ea"/>
              </a:rPr>
              <a:t>foreach</a:t>
            </a:r>
            <a:r>
              <a:rPr lang="zh-CN" altLang="en-US" sz="1600" dirty="0">
                <a:solidFill>
                  <a:srgbClr val="FF0000"/>
                </a:solidFill>
                <a:cs typeface="宋体" panose="02010600030101010101" pitchFamily="2" charset="-122"/>
                <a:sym typeface="+mn-ea"/>
              </a:rPr>
              <a:t>语句</a:t>
            </a:r>
          </a:p>
          <a:p>
            <a:pPr marL="0" lvl="1"/>
            <a:r>
              <a:rPr lang="zh-CN" altLang="zh-CN" sz="1600" dirty="0">
                <a:solidFill>
                  <a:srgbClr val="FF0000"/>
                </a:solidFill>
                <a:cs typeface="宋体" panose="02010600030101010101" pitchFamily="2" charset="-122"/>
                <a:sym typeface="+mn-ea"/>
              </a:rPr>
              <a:t>循环</a:t>
            </a:r>
          </a:p>
          <a:p>
            <a:endParaRPr lang="zh-CN" altLang="en-US" sz="1600">
              <a:solidFill>
                <a:srgbClr val="FF0000"/>
              </a:solidFil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r>
              <a:rPr lang="zh-CN" altLang="en-US" dirty="0">
                <a:latin typeface="Arial" panose="020B0604020202020204" pitchFamily="34" charset="0"/>
                <a:cs typeface="宋体" panose="02010600030101010101" pitchFamily="2" charset="-122"/>
              </a:rPr>
              <a:t>存储过程示例</a:t>
            </a:r>
            <a:r>
              <a:rPr lang="en-US" altLang="zh-CN" dirty="0">
                <a:latin typeface="Arial" panose="020B0604020202020204" pitchFamily="34" charset="0"/>
                <a:cs typeface="宋体" panose="02010600030101010101" pitchFamily="2" charset="-122"/>
              </a:rPr>
              <a:t>--oracle</a:t>
            </a:r>
          </a:p>
        </p:txBody>
      </p:sp>
      <p:sp>
        <p:nvSpPr>
          <p:cNvPr id="16" name="AutoShape 4"/>
          <p:cNvSpPr>
            <a:spLocks noChangeArrowheads="1"/>
          </p:cNvSpPr>
          <p:nvPr/>
        </p:nvSpPr>
        <p:spPr bwMode="black">
          <a:xfrm>
            <a:off x="2212712" y="1271291"/>
            <a:ext cx="7440930" cy="4997450"/>
          </a:xfrm>
          <a:prstGeom prst="roundRect">
            <a:avLst>
              <a:gd name="adj" fmla="val 6785"/>
            </a:avLst>
          </a:prstGeom>
          <a:solidFill>
            <a:schemeClr val="bg1">
              <a:lumMod val="85000"/>
            </a:schemeClr>
          </a:solidFill>
          <a:ln w="9525">
            <a:solidFill>
              <a:schemeClr val="tx1"/>
            </a:solidFill>
            <a:round/>
          </a:ln>
          <a:effectLst/>
        </p:spPr>
        <p:txBody>
          <a:bodyPr lIns="92075" tIns="46038" rIns="92075" bIns="0" anchor="ctr"/>
          <a:lstStyle/>
          <a:p>
            <a:pPr marL="119380" indent="-119380">
              <a:lnSpc>
                <a:spcPct val="30000"/>
              </a:lnSpc>
              <a:spcBef>
                <a:spcPct val="50000"/>
              </a:spcBef>
              <a:buClr>
                <a:schemeClr val="accent1"/>
              </a:buClr>
            </a:pPr>
            <a:endParaRPr lang="en-US" sz="1400" dirty="0">
              <a:sym typeface="+mn-ea"/>
            </a:endParaRPr>
          </a:p>
          <a:p>
            <a:pPr marL="119380" indent="-119380">
              <a:lnSpc>
                <a:spcPct val="30000"/>
              </a:lnSpc>
              <a:spcBef>
                <a:spcPct val="50000"/>
              </a:spcBef>
              <a:buClr>
                <a:schemeClr val="accent1"/>
              </a:buClr>
            </a:pPr>
            <a:r>
              <a:rPr lang="en-US" sz="1400" dirty="0">
                <a:solidFill>
                  <a:srgbClr val="00B0F0"/>
                </a:solidFill>
                <a:sym typeface="+mn-ea"/>
              </a:rPr>
              <a:t>CREATE OR REPLACE PROCEDURE</a:t>
            </a:r>
            <a:r>
              <a:rPr lang="en-US" sz="1400" dirty="0">
                <a:sym typeface="+mn-ea"/>
              </a:rPr>
              <a:t> </a:t>
            </a:r>
            <a:r>
              <a:rPr lang="en-US" sz="1400" dirty="0" err="1">
                <a:sym typeface="+mn-ea"/>
              </a:rPr>
              <a:t>p_test</a:t>
            </a:r>
            <a:r>
              <a:rPr lang="en-US" sz="1400" dirty="0">
                <a:sym typeface="+mn-ea"/>
              </a:rPr>
              <a:t> (</a:t>
            </a:r>
            <a:r>
              <a:rPr lang="en-US" sz="1400" dirty="0" err="1">
                <a:sym typeface="+mn-ea"/>
              </a:rPr>
              <a:t>i_id</a:t>
            </a:r>
            <a:r>
              <a:rPr lang="en-US" sz="1400" dirty="0">
                <a:sym typeface="+mn-ea"/>
              </a:rPr>
              <a:t> in </a:t>
            </a:r>
            <a:r>
              <a:rPr lang="en-US" sz="1400" dirty="0" err="1">
                <a:sym typeface="+mn-ea"/>
              </a:rPr>
              <a:t>int</a:t>
            </a:r>
            <a:r>
              <a:rPr lang="en-US" sz="1400" dirty="0">
                <a:sym typeface="+mn-ea"/>
              </a:rPr>
              <a:t> default 10, </a:t>
            </a:r>
            <a:r>
              <a:rPr lang="en-US" sz="1400" dirty="0" err="1">
                <a:sym typeface="+mn-ea"/>
              </a:rPr>
              <a:t>i_inx</a:t>
            </a:r>
            <a:r>
              <a:rPr lang="en-US" sz="1400" dirty="0">
                <a:sym typeface="+mn-ea"/>
              </a:rPr>
              <a:t> out </a:t>
            </a:r>
            <a:r>
              <a:rPr lang="en-US" sz="1400" dirty="0" err="1">
                <a:sym typeface="+mn-ea"/>
              </a:rPr>
              <a:t>int</a:t>
            </a:r>
            <a:r>
              <a:rPr lang="en-US" sz="1400" dirty="0">
                <a:sym typeface="+mn-ea"/>
              </a:rPr>
              <a:t>)</a:t>
            </a:r>
          </a:p>
          <a:p>
            <a:pPr marL="119380" indent="-119380">
              <a:lnSpc>
                <a:spcPct val="30000"/>
              </a:lnSpc>
              <a:spcBef>
                <a:spcPct val="50000"/>
              </a:spcBef>
              <a:buClr>
                <a:schemeClr val="accent1"/>
              </a:buClr>
            </a:pPr>
            <a:r>
              <a:rPr lang="en-US" sz="1400" dirty="0">
                <a:sym typeface="+mn-ea"/>
              </a:rPr>
              <a:t>is</a:t>
            </a:r>
          </a:p>
          <a:p>
            <a:pPr marL="119380" indent="-119380">
              <a:lnSpc>
                <a:spcPct val="30000"/>
              </a:lnSpc>
              <a:spcBef>
                <a:spcPct val="50000"/>
              </a:spcBef>
              <a:buClr>
                <a:schemeClr val="accent1"/>
              </a:buClr>
            </a:pPr>
            <a:r>
              <a:rPr lang="en-US" sz="1400" dirty="0">
                <a:sym typeface="+mn-ea"/>
              </a:rPr>
              <a:t> </a:t>
            </a:r>
            <a:r>
              <a:rPr lang="en-US" sz="1400" dirty="0" err="1">
                <a:sym typeface="+mn-ea"/>
              </a:rPr>
              <a:t>i</a:t>
            </a:r>
            <a:r>
              <a:rPr lang="en-US" sz="1400" dirty="0">
                <a:sym typeface="+mn-ea"/>
              </a:rPr>
              <a:t> </a:t>
            </a:r>
            <a:r>
              <a:rPr lang="en-US" sz="1400" dirty="0" err="1">
                <a:sym typeface="+mn-ea"/>
              </a:rPr>
              <a:t>int</a:t>
            </a:r>
            <a:r>
              <a:rPr lang="en-US" sz="1400" dirty="0">
                <a:sym typeface="+mn-ea"/>
              </a:rPr>
              <a:t>;</a:t>
            </a:r>
          </a:p>
          <a:p>
            <a:pPr marL="119380" indent="-119380">
              <a:lnSpc>
                <a:spcPct val="30000"/>
              </a:lnSpc>
              <a:spcBef>
                <a:spcPct val="50000"/>
              </a:spcBef>
              <a:buClr>
                <a:schemeClr val="accent1"/>
              </a:buClr>
            </a:pPr>
            <a:r>
              <a:rPr lang="en-US" sz="1400" dirty="0">
                <a:sym typeface="+mn-ea"/>
              </a:rPr>
              <a:t> m </a:t>
            </a:r>
            <a:r>
              <a:rPr lang="en-US" sz="1400" dirty="0" err="1">
                <a:sym typeface="+mn-ea"/>
              </a:rPr>
              <a:t>int</a:t>
            </a:r>
            <a:r>
              <a:rPr lang="en-US" sz="1400" dirty="0">
                <a:sym typeface="+mn-ea"/>
              </a:rPr>
              <a:t>;</a:t>
            </a:r>
          </a:p>
          <a:p>
            <a:pPr marL="119380" indent="-119380">
              <a:lnSpc>
                <a:spcPct val="30000"/>
              </a:lnSpc>
              <a:spcBef>
                <a:spcPct val="50000"/>
              </a:spcBef>
              <a:buClr>
                <a:schemeClr val="accent1"/>
              </a:buClr>
            </a:pPr>
            <a:r>
              <a:rPr lang="en-US" sz="1400" dirty="0">
                <a:sym typeface="+mn-ea"/>
              </a:rPr>
              <a:t> cursor </a:t>
            </a:r>
            <a:r>
              <a:rPr lang="en-US" sz="1400" dirty="0" err="1">
                <a:sym typeface="+mn-ea"/>
              </a:rPr>
              <a:t>cur_test</a:t>
            </a:r>
            <a:r>
              <a:rPr lang="en-US" sz="1400" dirty="0">
                <a:sym typeface="+mn-ea"/>
              </a:rPr>
              <a:t>  is select id from t;</a:t>
            </a:r>
          </a:p>
          <a:p>
            <a:pPr marL="119380" indent="-119380">
              <a:lnSpc>
                <a:spcPct val="30000"/>
              </a:lnSpc>
              <a:spcBef>
                <a:spcPct val="50000"/>
              </a:spcBef>
              <a:buClr>
                <a:schemeClr val="accent1"/>
              </a:buClr>
            </a:pPr>
            <a:r>
              <a:rPr lang="en-US" sz="1400" dirty="0">
                <a:sym typeface="+mn-ea"/>
              </a:rPr>
              <a:t>begin</a:t>
            </a:r>
          </a:p>
          <a:p>
            <a:pPr marL="119380" indent="-119380">
              <a:lnSpc>
                <a:spcPct val="30000"/>
              </a:lnSpc>
              <a:spcBef>
                <a:spcPct val="50000"/>
              </a:spcBef>
              <a:buClr>
                <a:schemeClr val="accent1"/>
              </a:buClr>
            </a:pPr>
            <a:r>
              <a:rPr lang="en-US" sz="1400" dirty="0">
                <a:sym typeface="+mn-ea"/>
              </a:rPr>
              <a:t>   i:=1;</a:t>
            </a:r>
          </a:p>
          <a:p>
            <a:pPr marL="119380" indent="-119380">
              <a:lnSpc>
                <a:spcPct val="30000"/>
              </a:lnSpc>
              <a:spcBef>
                <a:spcPct val="50000"/>
              </a:spcBef>
              <a:buClr>
                <a:schemeClr val="accent1"/>
              </a:buClr>
            </a:pPr>
            <a:r>
              <a:rPr lang="en-US" sz="1400" dirty="0">
                <a:sym typeface="+mn-ea"/>
              </a:rPr>
              <a:t>   INSERT INTO t3 VALUES (0); commit;</a:t>
            </a:r>
          </a:p>
          <a:p>
            <a:pPr marL="119380" indent="-119380">
              <a:lnSpc>
                <a:spcPct val="30000"/>
              </a:lnSpc>
              <a:spcBef>
                <a:spcPct val="50000"/>
              </a:spcBef>
              <a:buClr>
                <a:schemeClr val="accent1"/>
              </a:buClr>
            </a:pPr>
            <a:r>
              <a:rPr lang="en-US" sz="1400" dirty="0">
                <a:sym typeface="+mn-ea"/>
              </a:rPr>
              <a:t>   while </a:t>
            </a:r>
            <a:r>
              <a:rPr lang="en-US" sz="1400" dirty="0" err="1">
                <a:sym typeface="+mn-ea"/>
              </a:rPr>
              <a:t>i</a:t>
            </a:r>
            <a:r>
              <a:rPr lang="en-US" sz="1400" dirty="0">
                <a:sym typeface="+mn-ea"/>
              </a:rPr>
              <a:t>&lt;=</a:t>
            </a:r>
            <a:r>
              <a:rPr lang="en-US" sz="1400" dirty="0" err="1">
                <a:sym typeface="+mn-ea"/>
              </a:rPr>
              <a:t>i_id</a:t>
            </a:r>
            <a:r>
              <a:rPr lang="en-US" sz="1400" dirty="0">
                <a:sym typeface="+mn-ea"/>
              </a:rPr>
              <a:t> loop</a:t>
            </a:r>
          </a:p>
          <a:p>
            <a:pPr marL="119380" indent="-119380">
              <a:lnSpc>
                <a:spcPct val="30000"/>
              </a:lnSpc>
              <a:spcBef>
                <a:spcPct val="50000"/>
              </a:spcBef>
              <a:buClr>
                <a:schemeClr val="accent1"/>
              </a:buClr>
            </a:pPr>
            <a:r>
              <a:rPr lang="en-US" sz="1400" dirty="0">
                <a:sym typeface="+mn-ea"/>
              </a:rPr>
              <a:t>    INSERT INTO t3 VALUES (</a:t>
            </a:r>
            <a:r>
              <a:rPr lang="en-US" sz="1400" dirty="0" err="1">
                <a:sym typeface="+mn-ea"/>
              </a:rPr>
              <a:t>i</a:t>
            </a:r>
            <a:r>
              <a:rPr lang="en-US" sz="1400" dirty="0">
                <a:sym typeface="+mn-ea"/>
              </a:rPr>
              <a:t>);</a:t>
            </a:r>
          </a:p>
          <a:p>
            <a:pPr marL="119380" indent="-119380">
              <a:lnSpc>
                <a:spcPct val="30000"/>
              </a:lnSpc>
              <a:spcBef>
                <a:spcPct val="50000"/>
              </a:spcBef>
              <a:buClr>
                <a:schemeClr val="accent1"/>
              </a:buClr>
            </a:pPr>
            <a:r>
              <a:rPr lang="en-US" sz="1400" dirty="0">
                <a:sym typeface="+mn-ea"/>
              </a:rPr>
              <a:t>    commit;</a:t>
            </a:r>
          </a:p>
          <a:p>
            <a:pPr marL="119380" indent="-119380">
              <a:lnSpc>
                <a:spcPct val="30000"/>
              </a:lnSpc>
              <a:spcBef>
                <a:spcPct val="50000"/>
              </a:spcBef>
              <a:buClr>
                <a:schemeClr val="accent1"/>
              </a:buClr>
            </a:pPr>
            <a:r>
              <a:rPr lang="en-US" sz="1400" dirty="0">
                <a:sym typeface="+mn-ea"/>
              </a:rPr>
              <a:t>    i:=i+1;</a:t>
            </a:r>
          </a:p>
          <a:p>
            <a:pPr marL="119380" indent="-119380">
              <a:lnSpc>
                <a:spcPct val="30000"/>
              </a:lnSpc>
              <a:spcBef>
                <a:spcPct val="50000"/>
              </a:spcBef>
              <a:buClr>
                <a:schemeClr val="accent1"/>
              </a:buClr>
            </a:pPr>
            <a:r>
              <a:rPr lang="en-US" sz="1400" dirty="0">
                <a:sym typeface="+mn-ea"/>
              </a:rPr>
              <a:t>   end loop;</a:t>
            </a:r>
          </a:p>
          <a:p>
            <a:pPr marL="119380" indent="-119380">
              <a:lnSpc>
                <a:spcPct val="30000"/>
              </a:lnSpc>
              <a:spcBef>
                <a:spcPct val="50000"/>
              </a:spcBef>
              <a:buClr>
                <a:schemeClr val="accent1"/>
              </a:buClr>
            </a:pPr>
            <a:r>
              <a:rPr lang="en-US" sz="1400" dirty="0">
                <a:sym typeface="+mn-ea"/>
              </a:rPr>
              <a:t>   </a:t>
            </a:r>
          </a:p>
          <a:p>
            <a:pPr marL="119380" indent="-119380">
              <a:lnSpc>
                <a:spcPct val="30000"/>
              </a:lnSpc>
              <a:spcBef>
                <a:spcPct val="50000"/>
              </a:spcBef>
              <a:buClr>
                <a:schemeClr val="accent1"/>
              </a:buClr>
            </a:pPr>
            <a:r>
              <a:rPr lang="en-US" sz="1400" dirty="0">
                <a:sym typeface="+mn-ea"/>
              </a:rPr>
              <a:t>   open </a:t>
            </a:r>
            <a:r>
              <a:rPr lang="en-US" sz="1400" dirty="0" err="1">
                <a:sym typeface="+mn-ea"/>
              </a:rPr>
              <a:t>cur_test</a:t>
            </a:r>
            <a:r>
              <a:rPr lang="en-US" sz="1400" dirty="0">
                <a:sym typeface="+mn-ea"/>
              </a:rPr>
              <a:t>;</a:t>
            </a:r>
          </a:p>
          <a:p>
            <a:pPr marL="119380" indent="-119380">
              <a:lnSpc>
                <a:spcPct val="30000"/>
              </a:lnSpc>
              <a:spcBef>
                <a:spcPct val="50000"/>
              </a:spcBef>
              <a:buClr>
                <a:schemeClr val="accent1"/>
              </a:buClr>
            </a:pPr>
            <a:r>
              <a:rPr lang="en-US" sz="1400" dirty="0">
                <a:sym typeface="+mn-ea"/>
              </a:rPr>
              <a:t>   loop</a:t>
            </a:r>
          </a:p>
          <a:p>
            <a:pPr marL="119380" indent="-119380">
              <a:lnSpc>
                <a:spcPct val="30000"/>
              </a:lnSpc>
              <a:spcBef>
                <a:spcPct val="50000"/>
              </a:spcBef>
              <a:buClr>
                <a:schemeClr val="accent1"/>
              </a:buClr>
            </a:pPr>
            <a:r>
              <a:rPr lang="en-US" sz="1400" dirty="0">
                <a:sym typeface="+mn-ea"/>
              </a:rPr>
              <a:t>    fetch </a:t>
            </a:r>
            <a:r>
              <a:rPr lang="en-US" sz="1400" dirty="0" err="1">
                <a:sym typeface="+mn-ea"/>
              </a:rPr>
              <a:t>cur_test</a:t>
            </a:r>
            <a:r>
              <a:rPr lang="en-US" sz="1400" dirty="0">
                <a:sym typeface="+mn-ea"/>
              </a:rPr>
              <a:t> into m;</a:t>
            </a:r>
          </a:p>
          <a:p>
            <a:pPr marL="119380" indent="-119380">
              <a:lnSpc>
                <a:spcPct val="30000"/>
              </a:lnSpc>
              <a:spcBef>
                <a:spcPct val="50000"/>
              </a:spcBef>
              <a:buClr>
                <a:schemeClr val="accent1"/>
              </a:buClr>
            </a:pPr>
            <a:r>
              <a:rPr lang="en-US" sz="1400" dirty="0">
                <a:sym typeface="+mn-ea"/>
              </a:rPr>
              <a:t>    exit when </a:t>
            </a:r>
            <a:r>
              <a:rPr lang="en-US" sz="1400" dirty="0" err="1">
                <a:sym typeface="+mn-ea"/>
              </a:rPr>
              <a:t>cur_test%notfound</a:t>
            </a:r>
            <a:r>
              <a:rPr lang="en-US" sz="1400" dirty="0">
                <a:sym typeface="+mn-ea"/>
              </a:rPr>
              <a:t>;</a:t>
            </a:r>
          </a:p>
          <a:p>
            <a:pPr marL="119380" indent="-119380">
              <a:lnSpc>
                <a:spcPct val="30000"/>
              </a:lnSpc>
              <a:spcBef>
                <a:spcPct val="50000"/>
              </a:spcBef>
              <a:buClr>
                <a:schemeClr val="accent1"/>
              </a:buClr>
            </a:pPr>
            <a:r>
              <a:rPr lang="en-US" sz="1400" dirty="0">
                <a:sym typeface="+mn-ea"/>
              </a:rPr>
              <a:t>    INSERT INTO t2(id)  VALUES(m) ; commit;</a:t>
            </a:r>
          </a:p>
          <a:p>
            <a:pPr marL="119380" indent="-119380">
              <a:lnSpc>
                <a:spcPct val="30000"/>
              </a:lnSpc>
              <a:spcBef>
                <a:spcPct val="50000"/>
              </a:spcBef>
              <a:buClr>
                <a:schemeClr val="accent1"/>
              </a:buClr>
            </a:pPr>
            <a:r>
              <a:rPr lang="en-US" sz="1400" dirty="0">
                <a:sym typeface="+mn-ea"/>
              </a:rPr>
              <a:t>   end loop;</a:t>
            </a:r>
          </a:p>
          <a:p>
            <a:pPr marL="119380" indent="-119380">
              <a:lnSpc>
                <a:spcPct val="30000"/>
              </a:lnSpc>
              <a:spcBef>
                <a:spcPct val="50000"/>
              </a:spcBef>
              <a:buClr>
                <a:schemeClr val="accent1"/>
              </a:buClr>
            </a:pPr>
            <a:r>
              <a:rPr lang="en-US" sz="1400" dirty="0">
                <a:sym typeface="+mn-ea"/>
              </a:rPr>
              <a:t>   close </a:t>
            </a:r>
            <a:r>
              <a:rPr lang="en-US" sz="1400" dirty="0" err="1">
                <a:sym typeface="+mn-ea"/>
              </a:rPr>
              <a:t>cur_test</a:t>
            </a:r>
            <a:r>
              <a:rPr lang="en-US" sz="1400" dirty="0">
                <a:sym typeface="+mn-ea"/>
              </a:rPr>
              <a:t>;</a:t>
            </a:r>
          </a:p>
          <a:p>
            <a:pPr marL="119380" indent="-119380">
              <a:lnSpc>
                <a:spcPct val="30000"/>
              </a:lnSpc>
              <a:spcBef>
                <a:spcPct val="50000"/>
              </a:spcBef>
              <a:buClr>
                <a:schemeClr val="accent1"/>
              </a:buClr>
            </a:pPr>
            <a:r>
              <a:rPr lang="en-US" sz="1400" dirty="0">
                <a:sym typeface="+mn-ea"/>
              </a:rPr>
              <a:t>   </a:t>
            </a:r>
            <a:r>
              <a:rPr lang="en-US" sz="1400" dirty="0" err="1">
                <a:sym typeface="+mn-ea"/>
              </a:rPr>
              <a:t>i_inx</a:t>
            </a:r>
            <a:r>
              <a:rPr lang="en-US" sz="1400" dirty="0">
                <a:sym typeface="+mn-ea"/>
              </a:rPr>
              <a:t>:=i_id+1;</a:t>
            </a:r>
          </a:p>
          <a:p>
            <a:pPr marL="119380" indent="-119380">
              <a:lnSpc>
                <a:spcPct val="30000"/>
              </a:lnSpc>
              <a:spcBef>
                <a:spcPct val="50000"/>
              </a:spcBef>
              <a:buClr>
                <a:schemeClr val="accent1"/>
              </a:buClr>
            </a:pPr>
            <a:r>
              <a:rPr lang="en-US" sz="1400" dirty="0">
                <a:sym typeface="+mn-ea"/>
              </a:rPr>
              <a:t>       </a:t>
            </a:r>
          </a:p>
          <a:p>
            <a:pPr marL="119380" indent="-119380">
              <a:lnSpc>
                <a:spcPct val="30000"/>
              </a:lnSpc>
              <a:spcBef>
                <a:spcPct val="50000"/>
              </a:spcBef>
              <a:buClr>
                <a:schemeClr val="accent1"/>
              </a:buClr>
            </a:pPr>
            <a:r>
              <a:rPr lang="en-US" sz="1400" dirty="0">
                <a:solidFill>
                  <a:srgbClr val="00B0F0"/>
                </a:solidFill>
                <a:sym typeface="+mn-ea"/>
              </a:rPr>
              <a:t>   exception</a:t>
            </a:r>
          </a:p>
          <a:p>
            <a:pPr marL="119380" indent="-119380">
              <a:lnSpc>
                <a:spcPct val="30000"/>
              </a:lnSpc>
              <a:spcBef>
                <a:spcPct val="50000"/>
              </a:spcBef>
              <a:buClr>
                <a:schemeClr val="accent1"/>
              </a:buClr>
            </a:pPr>
            <a:r>
              <a:rPr lang="en-US" sz="1400" dirty="0">
                <a:sym typeface="+mn-ea"/>
              </a:rPr>
              <a:t>      when others then </a:t>
            </a:r>
          </a:p>
          <a:p>
            <a:pPr marL="119380" indent="-119380">
              <a:lnSpc>
                <a:spcPct val="30000"/>
              </a:lnSpc>
              <a:spcBef>
                <a:spcPct val="50000"/>
              </a:spcBef>
              <a:buClr>
                <a:schemeClr val="accent1"/>
              </a:buClr>
            </a:pPr>
            <a:r>
              <a:rPr lang="en-US" sz="1400" dirty="0">
                <a:sym typeface="+mn-ea"/>
              </a:rPr>
              <a:t>      execute immediate 'insert into  t3 values (999)';      </a:t>
            </a:r>
          </a:p>
          <a:p>
            <a:pPr marL="119380" indent="-119380">
              <a:lnSpc>
                <a:spcPct val="30000"/>
              </a:lnSpc>
              <a:spcBef>
                <a:spcPct val="50000"/>
              </a:spcBef>
              <a:buClr>
                <a:schemeClr val="accent1"/>
              </a:buClr>
            </a:pPr>
            <a:r>
              <a:rPr lang="en-US" sz="1400" dirty="0">
                <a:solidFill>
                  <a:srgbClr val="00B0F0"/>
                </a:solidFill>
                <a:sym typeface="+mn-ea"/>
              </a:rPr>
              <a:t>end </a:t>
            </a:r>
            <a:r>
              <a:rPr lang="en-US" sz="1400" dirty="0" err="1">
                <a:solidFill>
                  <a:srgbClr val="00B0F0"/>
                </a:solidFill>
                <a:sym typeface="+mn-ea"/>
              </a:rPr>
              <a:t>p_test</a:t>
            </a:r>
            <a:r>
              <a:rPr lang="en-US" sz="1400" dirty="0">
                <a:solidFill>
                  <a:srgbClr val="00B0F0"/>
                </a:solidFill>
                <a:sym typeface="+mn-ea"/>
              </a:rPr>
              <a:t>;</a:t>
            </a:r>
          </a:p>
        </p:txBody>
      </p:sp>
      <p:sp>
        <p:nvSpPr>
          <p:cNvPr id="2" name="矩形 1"/>
          <p:cNvSpPr/>
          <p:nvPr/>
        </p:nvSpPr>
        <p:spPr>
          <a:xfrm>
            <a:off x="2501002" y="5413892"/>
            <a:ext cx="3886200" cy="553720"/>
          </a:xfrm>
          <a:prstGeom prst="rect">
            <a:avLst/>
          </a:prstGeom>
          <a:noFill/>
          <a:ln w="9525" cap="flat" cmpd="sng" algn="ctr">
            <a:solidFill>
              <a:schemeClr val="accent1"/>
            </a:solidFill>
            <a:prstDash val="solid"/>
            <a:round/>
            <a:headEnd type="none" w="med" len="med"/>
            <a:tailEnd type="none" w="med" len="med"/>
          </a:ln>
        </p:spPr>
        <p:txBody>
          <a:bodyPr vert="horz" wrap="square" lIns="92075" tIns="46038" rIns="92075" bIns="46038" numCol="1" anchor="t" anchorCtr="0" compatLnSpc="1">
            <a:spAutoFit/>
          </a:bodyPr>
          <a:lstStyle/>
          <a:p>
            <a:pPr marL="119380" indent="-119380" algn="ctr">
              <a:lnSpc>
                <a:spcPct val="90000"/>
              </a:lnSpc>
              <a:spcBef>
                <a:spcPct val="50000"/>
              </a:spcBef>
              <a:buClr>
                <a:schemeClr val="accent1"/>
              </a:buClr>
            </a:pPr>
            <a:endParaRPr lang="en-US" altLang="en-US" sz="3200" b="1"/>
          </a:p>
        </p:txBody>
      </p:sp>
      <p:cxnSp>
        <p:nvCxnSpPr>
          <p:cNvPr id="3" name="直接箭头连接符 2"/>
          <p:cNvCxnSpPr/>
          <p:nvPr/>
        </p:nvCxnSpPr>
        <p:spPr>
          <a:xfrm flipV="1">
            <a:off x="6458958" y="5483881"/>
            <a:ext cx="864235" cy="76200"/>
          </a:xfrm>
          <a:prstGeom prst="straightConnector1">
            <a:avLst/>
          </a:prstGeom>
          <a:ln>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5" name="文本框 4"/>
          <p:cNvSpPr txBox="1"/>
          <p:nvPr/>
        </p:nvSpPr>
        <p:spPr>
          <a:xfrm>
            <a:off x="7396853" y="5304176"/>
            <a:ext cx="3422015" cy="579120"/>
          </a:xfrm>
          <a:prstGeom prst="rect">
            <a:avLst/>
          </a:prstGeom>
          <a:noFill/>
        </p:spPr>
        <p:txBody>
          <a:bodyPr wrap="square" rtlCol="0">
            <a:spAutoFit/>
          </a:bodyPr>
          <a:lstStyle/>
          <a:p>
            <a:pPr marL="0" lvl="1"/>
            <a:r>
              <a:rPr lang="zh-CN" altLang="en-US" sz="1600">
                <a:solidFill>
                  <a:srgbClr val="FF0000"/>
                </a:solidFill>
              </a:rPr>
              <a:t>异常处理要写到 最后</a:t>
            </a:r>
            <a:endParaRPr lang="en-US" altLang="zh-CN" sz="1600" dirty="0">
              <a:solidFill>
                <a:srgbClr val="FF0000"/>
              </a:solidFill>
              <a:cs typeface="宋体" panose="02010600030101010101" pitchFamily="2" charset="-122"/>
              <a:sym typeface="+mn-ea"/>
            </a:endParaRPr>
          </a:p>
          <a:p>
            <a:endParaRPr lang="zh-CN" altLang="en-US" sz="1600">
              <a:solidFill>
                <a:srgbClr val="FF0000"/>
              </a:solidFill>
            </a:endParaRPr>
          </a:p>
        </p:txBody>
      </p:sp>
      <p:sp>
        <p:nvSpPr>
          <p:cNvPr id="8" name="矩形 7"/>
          <p:cNvSpPr/>
          <p:nvPr/>
        </p:nvSpPr>
        <p:spPr>
          <a:xfrm>
            <a:off x="2452742" y="3871508"/>
            <a:ext cx="4768850" cy="1247775"/>
          </a:xfrm>
          <a:prstGeom prst="rect">
            <a:avLst/>
          </a:prstGeom>
          <a:noFill/>
          <a:ln w="9525" cap="flat" cmpd="sng" algn="ctr">
            <a:solidFill>
              <a:schemeClr val="accent1"/>
            </a:solidFill>
            <a:prstDash val="solid"/>
            <a:round/>
            <a:headEnd type="none" w="med" len="med"/>
            <a:tailEnd type="none" w="med" len="med"/>
          </a:ln>
        </p:spPr>
        <p:txBody>
          <a:bodyPr vert="horz" wrap="square" lIns="92075" tIns="46038" rIns="92075" bIns="46038" numCol="1" anchor="t" anchorCtr="0" compatLnSpc="1">
            <a:spAutoFit/>
          </a:bodyPr>
          <a:lstStyle/>
          <a:p>
            <a:pPr marL="119380" indent="-119380" algn="ctr">
              <a:lnSpc>
                <a:spcPct val="90000"/>
              </a:lnSpc>
              <a:spcBef>
                <a:spcPct val="50000"/>
              </a:spcBef>
              <a:buClr>
                <a:schemeClr val="accent1"/>
              </a:buClr>
            </a:pPr>
            <a:endParaRPr lang="en-US" altLang="en-US" sz="8000" b="1"/>
          </a:p>
        </p:txBody>
      </p:sp>
      <p:cxnSp>
        <p:nvCxnSpPr>
          <p:cNvPr id="9" name="直接箭头连接符 8"/>
          <p:cNvCxnSpPr/>
          <p:nvPr/>
        </p:nvCxnSpPr>
        <p:spPr>
          <a:xfrm flipV="1">
            <a:off x="7325098" y="4367552"/>
            <a:ext cx="864235" cy="36195"/>
          </a:xfrm>
          <a:prstGeom prst="straightConnector1">
            <a:avLst/>
          </a:prstGeom>
          <a:ln>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10" name="文本框 9"/>
          <p:cNvSpPr txBox="1"/>
          <p:nvPr/>
        </p:nvSpPr>
        <p:spPr>
          <a:xfrm>
            <a:off x="8261087" y="4079896"/>
            <a:ext cx="1198880" cy="579120"/>
          </a:xfrm>
          <a:prstGeom prst="rect">
            <a:avLst/>
          </a:prstGeom>
          <a:noFill/>
        </p:spPr>
        <p:txBody>
          <a:bodyPr wrap="none" rtlCol="0">
            <a:spAutoFit/>
          </a:bodyPr>
          <a:lstStyle/>
          <a:p>
            <a:pPr marL="0" lvl="1"/>
            <a:r>
              <a:rPr lang="zh-CN" altLang="en-US" sz="1600" dirty="0">
                <a:solidFill>
                  <a:srgbClr val="FF0000"/>
                </a:solidFill>
                <a:cs typeface="宋体" panose="02010600030101010101" pitchFamily="2" charset="-122"/>
                <a:sym typeface="+mn-ea"/>
              </a:rPr>
              <a:t>游标的使用</a:t>
            </a:r>
            <a:endParaRPr lang="en-US" altLang="zh-CN" sz="1600" dirty="0">
              <a:solidFill>
                <a:srgbClr val="FF0000"/>
              </a:solidFill>
              <a:cs typeface="宋体" panose="02010600030101010101" pitchFamily="2" charset="-122"/>
              <a:sym typeface="+mn-ea"/>
            </a:endParaRPr>
          </a:p>
          <a:p>
            <a:endParaRPr lang="zh-CN" altLang="en-US" sz="1600">
              <a:solidFill>
                <a:srgbClr val="FF0000"/>
              </a:solidFill>
            </a:endParaRPr>
          </a:p>
        </p:txBody>
      </p:sp>
      <p:sp>
        <p:nvSpPr>
          <p:cNvPr id="4" name="矩形 3"/>
          <p:cNvSpPr/>
          <p:nvPr/>
        </p:nvSpPr>
        <p:spPr>
          <a:xfrm>
            <a:off x="2501003" y="2872454"/>
            <a:ext cx="2847975" cy="871855"/>
          </a:xfrm>
          <a:prstGeom prst="rect">
            <a:avLst/>
          </a:prstGeom>
          <a:noFill/>
          <a:ln w="9525" cap="flat" cmpd="sng" algn="ctr">
            <a:solidFill>
              <a:schemeClr val="accent1"/>
            </a:solidFill>
            <a:prstDash val="solid"/>
            <a:round/>
            <a:headEnd type="none" w="med" len="med"/>
            <a:tailEnd type="none" w="med" len="med"/>
          </a:ln>
        </p:spPr>
        <p:txBody>
          <a:bodyPr vert="horz" wrap="square" lIns="92075" tIns="46038" rIns="92075" bIns="46038" numCol="1" anchor="t" anchorCtr="0" compatLnSpc="1">
            <a:spAutoFit/>
          </a:bodyPr>
          <a:lstStyle/>
          <a:p>
            <a:pPr marL="119380" indent="-119380" algn="ctr">
              <a:lnSpc>
                <a:spcPct val="90000"/>
              </a:lnSpc>
              <a:spcBef>
                <a:spcPct val="50000"/>
              </a:spcBef>
              <a:buClr>
                <a:schemeClr val="accent1"/>
              </a:buClr>
            </a:pPr>
            <a:endParaRPr lang="en-US" altLang="en-US" sz="5400" b="1"/>
          </a:p>
        </p:txBody>
      </p:sp>
      <p:cxnSp>
        <p:nvCxnSpPr>
          <p:cNvPr id="6" name="直接箭头连接符 5"/>
          <p:cNvCxnSpPr/>
          <p:nvPr/>
        </p:nvCxnSpPr>
        <p:spPr>
          <a:xfrm flipV="1">
            <a:off x="5380728" y="3143272"/>
            <a:ext cx="864235" cy="36195"/>
          </a:xfrm>
          <a:prstGeom prst="straightConnector1">
            <a:avLst/>
          </a:prstGeom>
          <a:ln>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7" name="文本框 6"/>
          <p:cNvSpPr txBox="1"/>
          <p:nvPr/>
        </p:nvSpPr>
        <p:spPr>
          <a:xfrm>
            <a:off x="6244962" y="2927371"/>
            <a:ext cx="995680" cy="579120"/>
          </a:xfrm>
          <a:prstGeom prst="rect">
            <a:avLst/>
          </a:prstGeom>
          <a:noFill/>
        </p:spPr>
        <p:txBody>
          <a:bodyPr wrap="none" rtlCol="0">
            <a:spAutoFit/>
          </a:bodyPr>
          <a:lstStyle/>
          <a:p>
            <a:pPr marL="0" lvl="1"/>
            <a:r>
              <a:rPr lang="zh-CN" altLang="zh-CN" sz="1600" dirty="0">
                <a:solidFill>
                  <a:srgbClr val="FF0000"/>
                </a:solidFill>
                <a:cs typeface="宋体" panose="02010600030101010101" pitchFamily="2" charset="-122"/>
                <a:sym typeface="+mn-ea"/>
              </a:rPr>
              <a:t>循环语句</a:t>
            </a:r>
          </a:p>
          <a:p>
            <a:endParaRPr lang="zh-CN" altLang="en-US" sz="1600">
              <a:solidFill>
                <a:srgbClr val="FF0000"/>
              </a:solidFil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r>
              <a:rPr lang="zh-CN" altLang="en-US" dirty="0">
                <a:latin typeface="Arial" panose="020B0604020202020204" pitchFamily="34" charset="0"/>
                <a:cs typeface="宋体" panose="02010600030101010101" pitchFamily="2" charset="-122"/>
              </a:rPr>
              <a:t>函数示例</a:t>
            </a:r>
            <a:r>
              <a:rPr lang="en-US" altLang="zh-CN" dirty="0">
                <a:latin typeface="Arial" panose="020B0604020202020204" pitchFamily="34" charset="0"/>
                <a:cs typeface="宋体" panose="02010600030101010101" pitchFamily="2" charset="-122"/>
                <a:sym typeface="+mn-ea"/>
              </a:rPr>
              <a:t>--</a:t>
            </a:r>
            <a:r>
              <a:rPr lang="en-US" altLang="zh-CN" dirty="0" err="1">
                <a:latin typeface="Arial" panose="020B0604020202020204" pitchFamily="34" charset="0"/>
                <a:cs typeface="宋体" panose="02010600030101010101" pitchFamily="2" charset="-122"/>
                <a:sym typeface="+mn-ea"/>
              </a:rPr>
              <a:t>GBase</a:t>
            </a:r>
            <a:r>
              <a:rPr lang="en-US" altLang="zh-CN" dirty="0">
                <a:latin typeface="Arial" panose="020B0604020202020204" pitchFamily="34" charset="0"/>
                <a:cs typeface="宋体" panose="02010600030101010101" pitchFamily="2" charset="-122"/>
                <a:sym typeface="+mn-ea"/>
              </a:rPr>
              <a:t> </a:t>
            </a:r>
            <a:r>
              <a:rPr lang="en-US" altLang="zh-CN" dirty="0" smtClean="0">
                <a:latin typeface="Arial" panose="020B0604020202020204" pitchFamily="34" charset="0"/>
                <a:cs typeface="宋体" panose="02010600030101010101" pitchFamily="2" charset="-122"/>
                <a:sym typeface="+mn-ea"/>
              </a:rPr>
              <a:t>8s</a:t>
            </a:r>
            <a:endParaRPr lang="zh-CN" altLang="en-US" dirty="0">
              <a:latin typeface="Arial" panose="020B0604020202020204" pitchFamily="34" charset="0"/>
              <a:cs typeface="宋体" panose="02010600030101010101" pitchFamily="2" charset="-122"/>
            </a:endParaRPr>
          </a:p>
        </p:txBody>
      </p:sp>
      <p:sp>
        <p:nvSpPr>
          <p:cNvPr id="16" name="AutoShape 4"/>
          <p:cNvSpPr>
            <a:spLocks noChangeArrowheads="1"/>
          </p:cNvSpPr>
          <p:nvPr/>
        </p:nvSpPr>
        <p:spPr bwMode="black">
          <a:xfrm>
            <a:off x="1840144" y="1342325"/>
            <a:ext cx="8498205" cy="4891405"/>
          </a:xfrm>
          <a:prstGeom prst="roundRect">
            <a:avLst>
              <a:gd name="adj" fmla="val 4976"/>
            </a:avLst>
          </a:prstGeom>
          <a:solidFill>
            <a:schemeClr val="bg1">
              <a:lumMod val="85000"/>
            </a:schemeClr>
          </a:solidFill>
          <a:ln w="9525">
            <a:solidFill>
              <a:schemeClr val="tx1"/>
            </a:solidFill>
            <a:round/>
          </a:ln>
          <a:effectLst/>
        </p:spPr>
        <p:txBody>
          <a:bodyPr lIns="92075" tIns="46038" rIns="92075" bIns="0" anchor="ctr"/>
          <a:lstStyle/>
          <a:p>
            <a:pPr marL="119380" indent="-119380">
              <a:spcBef>
                <a:spcPct val="50000"/>
              </a:spcBef>
              <a:buClr>
                <a:schemeClr val="accent1"/>
              </a:buClr>
            </a:pPr>
            <a:r>
              <a:rPr lang="en-US" altLang="en-US" sz="1600" dirty="0">
                <a:solidFill>
                  <a:srgbClr val="00B0F0"/>
                </a:solidFill>
                <a:sym typeface="+mn-ea"/>
              </a:rPr>
              <a:t>CREATE FUNCTION</a:t>
            </a:r>
            <a:r>
              <a:rPr lang="en-US" altLang="en-US" sz="1600" dirty="0">
                <a:sym typeface="+mn-ea"/>
              </a:rPr>
              <a:t> </a:t>
            </a:r>
            <a:r>
              <a:rPr lang="en-US" altLang="en-US" sz="1600" dirty="0" err="1">
                <a:sym typeface="+mn-ea"/>
              </a:rPr>
              <a:t>f_test</a:t>
            </a:r>
            <a:r>
              <a:rPr lang="en-US" altLang="en-US" sz="1600" dirty="0">
                <a:sym typeface="+mn-ea"/>
              </a:rPr>
              <a:t>( </a:t>
            </a:r>
            <a:r>
              <a:rPr lang="en-US" altLang="en-US" sz="1600" dirty="0" err="1">
                <a:sym typeface="+mn-ea"/>
              </a:rPr>
              <a:t>num</a:t>
            </a:r>
            <a:r>
              <a:rPr lang="en-US" altLang="en-US" sz="1600" dirty="0">
                <a:sym typeface="+mn-ea"/>
              </a:rPr>
              <a:t> INTEGER )</a:t>
            </a:r>
          </a:p>
          <a:p>
            <a:pPr marL="119380" indent="-119380">
              <a:spcBef>
                <a:spcPct val="50000"/>
              </a:spcBef>
              <a:buClr>
                <a:schemeClr val="accent1"/>
              </a:buClr>
            </a:pPr>
            <a:r>
              <a:rPr lang="en-US" altLang="en-US" sz="1600" dirty="0">
                <a:sym typeface="+mn-ea"/>
              </a:rPr>
              <a:t>   RETURNING VARCHAR(30), DATE;</a:t>
            </a:r>
          </a:p>
          <a:p>
            <a:pPr marL="119380" indent="-119380">
              <a:spcBef>
                <a:spcPct val="50000"/>
              </a:spcBef>
              <a:buClr>
                <a:schemeClr val="accent1"/>
              </a:buClr>
            </a:pPr>
            <a:r>
              <a:rPr lang="en-US" altLang="en-US" sz="1600" dirty="0">
                <a:sym typeface="+mn-ea"/>
              </a:rPr>
              <a:t>   DEFINE n VARCHAR(30);</a:t>
            </a:r>
          </a:p>
          <a:p>
            <a:pPr marL="119380" indent="-119380">
              <a:spcBef>
                <a:spcPct val="50000"/>
              </a:spcBef>
              <a:buClr>
                <a:schemeClr val="accent1"/>
              </a:buClr>
            </a:pPr>
            <a:r>
              <a:rPr lang="en-US" altLang="en-US" sz="1600" dirty="0">
                <a:sym typeface="+mn-ea"/>
              </a:rPr>
              <a:t>   DEFINE b DATE;</a:t>
            </a:r>
          </a:p>
          <a:p>
            <a:pPr marL="119380" indent="-119380">
              <a:spcBef>
                <a:spcPct val="50000"/>
              </a:spcBef>
              <a:buClr>
                <a:schemeClr val="accent1"/>
              </a:buClr>
            </a:pPr>
            <a:r>
              <a:rPr lang="en-US" altLang="en-US" sz="1600" dirty="0">
                <a:sym typeface="+mn-ea"/>
              </a:rPr>
              <a:t>  </a:t>
            </a:r>
            <a:r>
              <a:rPr lang="en-US" altLang="en-US" sz="1600" dirty="0">
                <a:solidFill>
                  <a:srgbClr val="00B0F0"/>
                </a:solidFill>
                <a:sym typeface="+mn-ea"/>
              </a:rPr>
              <a:t> FOREACH</a:t>
            </a:r>
            <a:r>
              <a:rPr lang="en-US" altLang="en-US" sz="1600" dirty="0">
                <a:sym typeface="+mn-ea"/>
              </a:rPr>
              <a:t> cursor1 </a:t>
            </a:r>
            <a:r>
              <a:rPr lang="en-US" altLang="en-US" sz="1600" dirty="0">
                <a:solidFill>
                  <a:srgbClr val="00B0F0"/>
                </a:solidFill>
                <a:sym typeface="+mn-ea"/>
              </a:rPr>
              <a:t>FOR</a:t>
            </a:r>
          </a:p>
          <a:p>
            <a:pPr marL="119380" indent="-119380">
              <a:spcBef>
                <a:spcPct val="50000"/>
              </a:spcBef>
              <a:buClr>
                <a:schemeClr val="accent1"/>
              </a:buClr>
            </a:pPr>
            <a:r>
              <a:rPr lang="en-US" altLang="en-US" sz="1600" dirty="0">
                <a:sym typeface="+mn-ea"/>
              </a:rPr>
              <a:t>      SELECT name, </a:t>
            </a:r>
            <a:r>
              <a:rPr lang="en-US" altLang="en-US" sz="1600" dirty="0" err="1">
                <a:sym typeface="+mn-ea"/>
              </a:rPr>
              <a:t>bdate</a:t>
            </a:r>
            <a:r>
              <a:rPr lang="en-US" altLang="en-US" sz="1600" dirty="0">
                <a:sym typeface="+mn-ea"/>
              </a:rPr>
              <a:t> INTO n, b FROM </a:t>
            </a:r>
            <a:r>
              <a:rPr lang="en-US" altLang="en-US" sz="1600" dirty="0" err="1">
                <a:sym typeface="+mn-ea"/>
              </a:rPr>
              <a:t>emp_tab</a:t>
            </a:r>
            <a:endParaRPr lang="en-US" altLang="en-US" sz="1600" dirty="0">
              <a:sym typeface="+mn-ea"/>
            </a:endParaRPr>
          </a:p>
          <a:p>
            <a:pPr marL="119380" indent="-119380">
              <a:spcBef>
                <a:spcPct val="50000"/>
              </a:spcBef>
              <a:buClr>
                <a:schemeClr val="accent1"/>
              </a:buClr>
            </a:pPr>
            <a:r>
              <a:rPr lang="en-US" altLang="en-US" sz="1600" dirty="0">
                <a:sym typeface="+mn-ea"/>
              </a:rPr>
              <a:t>         WHERE </a:t>
            </a:r>
            <a:r>
              <a:rPr lang="en-US" altLang="en-US" sz="1600" dirty="0" err="1">
                <a:sym typeface="+mn-ea"/>
              </a:rPr>
              <a:t>emp_no</a:t>
            </a:r>
            <a:r>
              <a:rPr lang="en-US" altLang="en-US" sz="1600" dirty="0">
                <a:sym typeface="+mn-ea"/>
              </a:rPr>
              <a:t> &gt; </a:t>
            </a:r>
            <a:r>
              <a:rPr lang="en-US" altLang="en-US" sz="1600" dirty="0" err="1">
                <a:sym typeface="+mn-ea"/>
              </a:rPr>
              <a:t>num</a:t>
            </a:r>
            <a:endParaRPr lang="en-US" altLang="en-US" sz="1600" dirty="0">
              <a:sym typeface="+mn-ea"/>
            </a:endParaRPr>
          </a:p>
          <a:p>
            <a:pPr marL="119380" indent="-119380">
              <a:spcBef>
                <a:spcPct val="50000"/>
              </a:spcBef>
              <a:buClr>
                <a:schemeClr val="accent1"/>
              </a:buClr>
            </a:pPr>
            <a:r>
              <a:rPr lang="en-US" altLang="en-US" sz="1600" dirty="0">
                <a:sym typeface="+mn-ea"/>
              </a:rPr>
              <a:t>      </a:t>
            </a:r>
            <a:r>
              <a:rPr lang="en-US" altLang="en-US" sz="1600" dirty="0">
                <a:solidFill>
                  <a:srgbClr val="00B0F0"/>
                </a:solidFill>
                <a:sym typeface="+mn-ea"/>
              </a:rPr>
              <a:t>RETURN</a:t>
            </a:r>
            <a:r>
              <a:rPr lang="en-US" altLang="en-US" sz="1600" dirty="0">
                <a:sym typeface="+mn-ea"/>
              </a:rPr>
              <a:t> n, b </a:t>
            </a:r>
            <a:r>
              <a:rPr lang="en-US" altLang="en-US" sz="1600" dirty="0">
                <a:solidFill>
                  <a:srgbClr val="00B0F0"/>
                </a:solidFill>
                <a:sym typeface="+mn-ea"/>
              </a:rPr>
              <a:t>WITH RESUME</a:t>
            </a:r>
            <a:r>
              <a:rPr lang="en-US" altLang="en-US" sz="1600" dirty="0">
                <a:sym typeface="+mn-ea"/>
              </a:rPr>
              <a:t>;</a:t>
            </a:r>
          </a:p>
          <a:p>
            <a:pPr marL="119380" indent="-119380">
              <a:spcBef>
                <a:spcPct val="50000"/>
              </a:spcBef>
              <a:buClr>
                <a:schemeClr val="accent1"/>
              </a:buClr>
            </a:pPr>
            <a:r>
              <a:rPr lang="en-US" altLang="en-US" sz="1600" dirty="0">
                <a:sym typeface="+mn-ea"/>
              </a:rPr>
              <a:t>  </a:t>
            </a:r>
            <a:r>
              <a:rPr lang="en-US" altLang="en-US" sz="1600" dirty="0">
                <a:solidFill>
                  <a:srgbClr val="00B0F0"/>
                </a:solidFill>
                <a:sym typeface="+mn-ea"/>
              </a:rPr>
              <a:t> END FOREACH;</a:t>
            </a:r>
          </a:p>
          <a:p>
            <a:pPr marL="119380" indent="-119380">
              <a:spcBef>
                <a:spcPct val="50000"/>
              </a:spcBef>
              <a:buClr>
                <a:schemeClr val="accent1"/>
              </a:buClr>
            </a:pPr>
            <a:r>
              <a:rPr lang="en-US" altLang="en-US" sz="1600" dirty="0">
                <a:solidFill>
                  <a:srgbClr val="00B0F0"/>
                </a:solidFill>
                <a:sym typeface="+mn-ea"/>
              </a:rPr>
              <a:t>END FUNCTION;  </a:t>
            </a:r>
            <a:r>
              <a:rPr lang="en-US" altLang="en-US" sz="1600" dirty="0">
                <a:sym typeface="+mn-ea"/>
              </a:rPr>
              <a:t>    </a:t>
            </a:r>
          </a:p>
        </p:txBody>
      </p:sp>
      <p:sp>
        <p:nvSpPr>
          <p:cNvPr id="3" name="矩形 2"/>
          <p:cNvSpPr/>
          <p:nvPr/>
        </p:nvSpPr>
        <p:spPr>
          <a:xfrm>
            <a:off x="2355764" y="4532555"/>
            <a:ext cx="3985895" cy="380365"/>
          </a:xfrm>
          <a:prstGeom prst="rect">
            <a:avLst/>
          </a:prstGeom>
          <a:noFill/>
          <a:ln w="9525" cap="flat" cmpd="sng" algn="ctr">
            <a:solidFill>
              <a:srgbClr val="FF0000"/>
            </a:solidFill>
            <a:prstDash val="solid"/>
            <a:round/>
            <a:headEnd type="none" w="med" len="med"/>
            <a:tailEnd type="none" w="med" len="med"/>
          </a:ln>
        </p:spPr>
        <p:txBody>
          <a:bodyPr vert="horz" wrap="square" lIns="92075" tIns="46038" rIns="92075" bIns="46038" numCol="1" anchor="t" anchorCtr="0" compatLnSpc="1">
            <a:spAutoFit/>
          </a:bodyPr>
          <a:lstStyle/>
          <a:p>
            <a:pPr marL="119380" indent="-119380" algn="ctr">
              <a:lnSpc>
                <a:spcPct val="90000"/>
              </a:lnSpc>
              <a:spcBef>
                <a:spcPct val="50000"/>
              </a:spcBef>
              <a:buClr>
                <a:schemeClr val="accent1"/>
              </a:buClr>
            </a:pPr>
            <a:endParaRPr lang="en-US" altLang="en-US" sz="2000" b="1"/>
          </a:p>
        </p:txBody>
      </p:sp>
      <p:cxnSp>
        <p:nvCxnSpPr>
          <p:cNvPr id="4" name="直接箭头连接符 3"/>
          <p:cNvCxnSpPr>
            <a:stCxn id="3" idx="3"/>
          </p:cNvCxnSpPr>
          <p:nvPr/>
        </p:nvCxnSpPr>
        <p:spPr>
          <a:xfrm>
            <a:off x="6341837" y="4723054"/>
            <a:ext cx="1008380" cy="0"/>
          </a:xfrm>
          <a:prstGeom prst="straightConnector1">
            <a:avLst/>
          </a:prstGeom>
          <a:ln>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5" name="文本框 4"/>
          <p:cNvSpPr txBox="1"/>
          <p:nvPr/>
        </p:nvSpPr>
        <p:spPr>
          <a:xfrm>
            <a:off x="7350038" y="4432859"/>
            <a:ext cx="2768600" cy="579120"/>
          </a:xfrm>
          <a:prstGeom prst="rect">
            <a:avLst/>
          </a:prstGeom>
          <a:noFill/>
        </p:spPr>
        <p:txBody>
          <a:bodyPr wrap="none" rtlCol="0">
            <a:spAutoFit/>
          </a:bodyPr>
          <a:lstStyle/>
          <a:p>
            <a:r>
              <a:rPr lang="zh-CN" altLang="zh-CN" sz="1600">
                <a:solidFill>
                  <a:srgbClr val="FF0000"/>
                </a:solidFill>
              </a:rPr>
              <a:t>返回多行多个类型值，</a:t>
            </a:r>
          </a:p>
          <a:p>
            <a:r>
              <a:rPr lang="zh-CN" altLang="zh-CN" sz="1600">
                <a:solidFill>
                  <a:srgbClr val="FF0000"/>
                </a:solidFill>
              </a:rPr>
              <a:t>类似</a:t>
            </a:r>
            <a:r>
              <a:rPr lang="en-US" altLang="zh-CN" sz="1600">
                <a:solidFill>
                  <a:srgbClr val="FF0000"/>
                </a:solidFill>
              </a:rPr>
              <a:t>oracle</a:t>
            </a:r>
            <a:r>
              <a:rPr lang="zh-CN" altLang="en-US" sz="1600">
                <a:solidFill>
                  <a:srgbClr val="FF0000"/>
                </a:solidFill>
              </a:rPr>
              <a:t>中返回嵌套表类型</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6770" name="Rectangle 2"/>
          <p:cNvSpPr>
            <a:spLocks noChangeArrowheads="1"/>
          </p:cNvSpPr>
          <p:nvPr/>
        </p:nvSpPr>
        <p:spPr bwMode="auto">
          <a:xfrm>
            <a:off x="1752600" y="533400"/>
            <a:ext cx="7772400" cy="533400"/>
          </a:xfrm>
          <a:prstGeom prst="rect">
            <a:avLst/>
          </a:prstGeom>
          <a:noFill/>
          <a:ln>
            <a:noFill/>
          </a:ln>
          <a:effectLst/>
        </p:spPr>
        <p:txBody>
          <a:bodyPr anchor="ctr"/>
          <a:lstStyle/>
          <a:p>
            <a:pPr eaLnBrk="0" hangingPunct="0">
              <a:spcBef>
                <a:spcPct val="0"/>
              </a:spcBef>
            </a:pPr>
            <a:endParaRPr lang="zh-CN" altLang="en-US" sz="2800" dirty="0">
              <a:solidFill>
                <a:schemeClr val="tx2"/>
              </a:solidFill>
              <a:cs typeface="宋体" panose="02010600030101010101" pitchFamily="2" charset="-122"/>
            </a:endParaRPr>
          </a:p>
        </p:txBody>
      </p:sp>
      <p:sp>
        <p:nvSpPr>
          <p:cNvPr id="416771" name="Rectangle 3"/>
          <p:cNvSpPr>
            <a:spLocks noChangeArrowheads="1"/>
          </p:cNvSpPr>
          <p:nvPr/>
        </p:nvSpPr>
        <p:spPr bwMode="auto">
          <a:xfrm>
            <a:off x="1828800" y="1143000"/>
            <a:ext cx="8763000" cy="5334000"/>
          </a:xfrm>
          <a:prstGeom prst="rect">
            <a:avLst/>
          </a:prstGeom>
          <a:noFill/>
          <a:ln>
            <a:noFill/>
          </a:ln>
          <a:effectLst/>
        </p:spPr>
        <p:txBody>
          <a:bodyPr/>
          <a:lstStyle/>
          <a:p>
            <a:pPr marL="228600" indent="-228600" eaLnBrk="0" hangingPunct="0">
              <a:lnSpc>
                <a:spcPct val="125000"/>
              </a:lnSpc>
              <a:buClr>
                <a:schemeClr val="accent2"/>
              </a:buClr>
              <a:buFont typeface="Wingdings" panose="05000000000000000000" charset="0"/>
              <a:buChar char="§"/>
            </a:pPr>
            <a:endParaRPr lang="en-US" altLang="zh-CN" sz="2000" dirty="0">
              <a:cs typeface="宋体" panose="02010600030101010101" pitchFamily="2" charset="-122"/>
            </a:endParaRPr>
          </a:p>
        </p:txBody>
      </p:sp>
      <p:sp>
        <p:nvSpPr>
          <p:cNvPr id="6" name="标题 5"/>
          <p:cNvSpPr>
            <a:spLocks noGrp="1"/>
          </p:cNvSpPr>
          <p:nvPr>
            <p:ph type="title"/>
          </p:nvPr>
        </p:nvSpPr>
        <p:spPr/>
        <p:txBody>
          <a:bodyPr/>
          <a:lstStyle/>
          <a:p>
            <a:r>
              <a:rPr lang="zh-CN" altLang="en-US" dirty="0">
                <a:solidFill>
                  <a:schemeClr val="tx2"/>
                </a:solidFill>
                <a:cs typeface="宋体" panose="02010600030101010101" pitchFamily="2" charset="-122"/>
              </a:rPr>
              <a:t>执行存储过程</a:t>
            </a:r>
          </a:p>
        </p:txBody>
      </p:sp>
      <p:sp>
        <p:nvSpPr>
          <p:cNvPr id="7" name="内容占位符 6"/>
          <p:cNvSpPr>
            <a:spLocks noGrp="1"/>
          </p:cNvSpPr>
          <p:nvPr>
            <p:ph type="body" sz="quarter" idx="10"/>
          </p:nvPr>
        </p:nvSpPr>
        <p:spPr>
          <a:xfrm>
            <a:off x="763954" y="1066800"/>
            <a:ext cx="10718800" cy="4888767"/>
          </a:xfrm>
        </p:spPr>
        <p:txBody>
          <a:bodyPr/>
          <a:lstStyle/>
          <a:p>
            <a:pPr>
              <a:lnSpc>
                <a:spcPct val="125000"/>
              </a:lnSpc>
              <a:spcBef>
                <a:spcPct val="0"/>
              </a:spcBef>
            </a:pPr>
            <a:r>
              <a:rPr lang="en-US" altLang="zh-CN" dirty="0">
                <a:cs typeface="宋体" panose="02010600030101010101" pitchFamily="2" charset="-122"/>
              </a:rPr>
              <a:t>execute procedure</a:t>
            </a:r>
            <a:r>
              <a:rPr lang="zh-CN" altLang="en-US" dirty="0">
                <a:cs typeface="宋体" panose="02010600030101010101" pitchFamily="2" charset="-122"/>
              </a:rPr>
              <a:t>语句</a:t>
            </a:r>
            <a:endParaRPr lang="en-US" altLang="zh-CN" dirty="0">
              <a:cs typeface="宋体" panose="02010600030101010101" pitchFamily="2" charset="-122"/>
            </a:endParaRPr>
          </a:p>
          <a:p>
            <a:pPr marL="567055" lvl="1" indent="-224155">
              <a:lnSpc>
                <a:spcPct val="125000"/>
              </a:lnSpc>
              <a:spcBef>
                <a:spcPct val="0"/>
              </a:spcBef>
              <a:buFont typeface="Arial" panose="020B0604020202020204" pitchFamily="34" charset="0"/>
              <a:buChar char="–"/>
            </a:pPr>
            <a:r>
              <a:rPr lang="en-US" altLang="zh-CN" sz="1800" dirty="0">
                <a:cs typeface="宋体" panose="02010600030101010101" pitchFamily="2" charset="-122"/>
              </a:rPr>
              <a:t>execute procedure </a:t>
            </a:r>
            <a:r>
              <a:rPr lang="zh-CN" altLang="en-US" sz="1800" dirty="0">
                <a:cs typeface="宋体" panose="02010600030101010101" pitchFamily="2" charset="-122"/>
              </a:rPr>
              <a:t>过程名（参数）</a:t>
            </a:r>
            <a:r>
              <a:rPr lang="en-US" altLang="zh-CN" sz="1800" dirty="0">
                <a:cs typeface="宋体" panose="02010600030101010101" pitchFamily="2" charset="-122"/>
              </a:rPr>
              <a:t>;</a:t>
            </a:r>
          </a:p>
          <a:p>
            <a:pPr marL="567055" lvl="1" indent="-224155">
              <a:lnSpc>
                <a:spcPct val="125000"/>
              </a:lnSpc>
              <a:spcBef>
                <a:spcPct val="0"/>
              </a:spcBef>
              <a:buFont typeface="Arial" panose="020B0604020202020204" pitchFamily="34" charset="0"/>
              <a:buChar char="–"/>
            </a:pPr>
            <a:r>
              <a:rPr lang="en-US" altLang="zh-CN" sz="1800" dirty="0">
                <a:cs typeface="宋体" panose="02010600030101010101" pitchFamily="2" charset="-122"/>
              </a:rPr>
              <a:t>execute procedure </a:t>
            </a:r>
            <a:r>
              <a:rPr lang="zh-CN" altLang="en-US" sz="1800" dirty="0">
                <a:cs typeface="宋体" panose="02010600030101010101" pitchFamily="2" charset="-122"/>
              </a:rPr>
              <a:t>数据库名</a:t>
            </a:r>
            <a:r>
              <a:rPr lang="en-US" altLang="zh-CN" sz="1800" dirty="0" err="1">
                <a:cs typeface="宋体" panose="02010600030101010101" pitchFamily="2" charset="-122"/>
              </a:rPr>
              <a:t>@</a:t>
            </a:r>
            <a:r>
              <a:rPr lang="zh-CN" altLang="en-US" sz="1800" dirty="0" err="1">
                <a:cs typeface="宋体" panose="02010600030101010101" pitchFamily="2" charset="-122"/>
              </a:rPr>
              <a:t>实例名</a:t>
            </a:r>
            <a:r>
              <a:rPr lang="en-US" altLang="zh-CN" sz="1800" dirty="0" err="1">
                <a:cs typeface="宋体" panose="02010600030101010101" pitchFamily="2" charset="-122"/>
              </a:rPr>
              <a:t>:</a:t>
            </a:r>
            <a:r>
              <a:rPr lang="zh-CN" altLang="en-US" sz="1800" dirty="0" err="1">
                <a:cs typeface="宋体" panose="02010600030101010101" pitchFamily="2" charset="-122"/>
              </a:rPr>
              <a:t>过程名（参数）</a:t>
            </a:r>
            <a:r>
              <a:rPr lang="en-US" altLang="zh-CN" sz="1800" dirty="0">
                <a:cs typeface="宋体" panose="02010600030101010101" pitchFamily="2" charset="-122"/>
              </a:rPr>
              <a:t>;</a:t>
            </a:r>
          </a:p>
          <a:p>
            <a:pPr>
              <a:lnSpc>
                <a:spcPct val="125000"/>
              </a:lnSpc>
              <a:spcBef>
                <a:spcPct val="0"/>
              </a:spcBef>
            </a:pPr>
            <a:r>
              <a:rPr lang="zh-CN" altLang="en-US" dirty="0">
                <a:cs typeface="宋体" panose="02010600030101010101" pitchFamily="2" charset="-122"/>
              </a:rPr>
              <a:t>从</a:t>
            </a:r>
            <a:r>
              <a:rPr lang="en-US" altLang="zh-CN" dirty="0">
                <a:cs typeface="宋体" panose="02010600030101010101" pitchFamily="2" charset="-122"/>
              </a:rPr>
              <a:t>SQL</a:t>
            </a:r>
            <a:r>
              <a:rPr lang="zh-CN" altLang="en-US" dirty="0">
                <a:cs typeface="宋体" panose="02010600030101010101" pitchFamily="2" charset="-122"/>
              </a:rPr>
              <a:t>中调用</a:t>
            </a:r>
            <a:endParaRPr lang="en-US" altLang="zh-CN" dirty="0">
              <a:cs typeface="宋体" panose="02010600030101010101" pitchFamily="2" charset="-122"/>
            </a:endParaRPr>
          </a:p>
          <a:p>
            <a:pPr marL="567055" lvl="1" indent="-224155">
              <a:lnSpc>
                <a:spcPct val="125000"/>
              </a:lnSpc>
              <a:spcBef>
                <a:spcPct val="0"/>
              </a:spcBef>
              <a:buFont typeface="Arial" panose="020B0604020202020204" pitchFamily="34" charset="0"/>
              <a:buChar char="–"/>
            </a:pPr>
            <a:r>
              <a:rPr lang="en-US" altLang="zh-CN" sz="1800" dirty="0">
                <a:cs typeface="宋体" panose="02010600030101010101" pitchFamily="2" charset="-122"/>
              </a:rPr>
              <a:t>select * from orders where </a:t>
            </a:r>
            <a:r>
              <a:rPr lang="en-US" altLang="zh-CN" sz="1800" dirty="0" err="1">
                <a:cs typeface="宋体" panose="02010600030101010101" pitchFamily="2" charset="-122"/>
              </a:rPr>
              <a:t>order_num</a:t>
            </a:r>
            <a:r>
              <a:rPr lang="en-US" altLang="zh-CN" sz="1800" dirty="0">
                <a:cs typeface="宋体" panose="02010600030101010101" pitchFamily="2" charset="-122"/>
              </a:rPr>
              <a:t> =</a:t>
            </a:r>
            <a:r>
              <a:rPr lang="en-US" altLang="zh-CN" sz="1800" dirty="0" err="1">
                <a:cs typeface="宋体" panose="02010600030101010101" pitchFamily="2" charset="-122"/>
              </a:rPr>
              <a:t>get_biggest_order</a:t>
            </a:r>
            <a:r>
              <a:rPr lang="en-US" altLang="zh-CN" sz="1800" dirty="0">
                <a:cs typeface="宋体" panose="02010600030101010101" pitchFamily="2" charset="-122"/>
              </a:rPr>
              <a:t>(114);</a:t>
            </a:r>
          </a:p>
          <a:p>
            <a:pPr marL="567055" lvl="1" indent="-224155">
              <a:lnSpc>
                <a:spcPct val="125000"/>
              </a:lnSpc>
              <a:spcBef>
                <a:spcPct val="0"/>
              </a:spcBef>
              <a:buFont typeface="Arial" panose="020B0604020202020204" pitchFamily="34" charset="0"/>
              <a:buChar char="–"/>
            </a:pPr>
            <a:r>
              <a:rPr lang="en-US" altLang="zh-CN" sz="1800" dirty="0">
                <a:cs typeface="宋体" panose="02010600030101010101" pitchFamily="2" charset="-122"/>
              </a:rPr>
              <a:t>insert into </a:t>
            </a:r>
            <a:r>
              <a:rPr lang="en-US" altLang="zh-CN" sz="1800" dirty="0" err="1">
                <a:cs typeface="宋体" panose="02010600030101010101" pitchFamily="2" charset="-122"/>
              </a:rPr>
              <a:t>old_orders</a:t>
            </a:r>
            <a:r>
              <a:rPr lang="en-US" altLang="zh-CN" sz="1800" dirty="0">
                <a:cs typeface="宋体" panose="02010600030101010101" pitchFamily="2" charset="-122"/>
              </a:rPr>
              <a:t> execute procedure </a:t>
            </a:r>
            <a:r>
              <a:rPr lang="en-US" altLang="zh-CN" sz="1800" dirty="0" err="1">
                <a:cs typeface="宋体" panose="02010600030101010101" pitchFamily="2" charset="-122"/>
              </a:rPr>
              <a:t>get_orders</a:t>
            </a:r>
            <a:r>
              <a:rPr lang="en-US" altLang="zh-CN" sz="1800" dirty="0">
                <a:cs typeface="宋体" panose="02010600030101010101" pitchFamily="2" charset="-122"/>
              </a:rPr>
              <a:t>(114);</a:t>
            </a:r>
          </a:p>
          <a:p>
            <a:pPr>
              <a:lnSpc>
                <a:spcPct val="125000"/>
              </a:lnSpc>
              <a:spcBef>
                <a:spcPct val="0"/>
              </a:spcBef>
            </a:pPr>
            <a:r>
              <a:rPr lang="en-US" altLang="zh-CN" dirty="0">
                <a:cs typeface="宋体" panose="02010600030101010101" pitchFamily="2" charset="-122"/>
              </a:rPr>
              <a:t>call</a:t>
            </a:r>
            <a:r>
              <a:rPr lang="zh-CN" altLang="en-US" dirty="0">
                <a:cs typeface="宋体" panose="02010600030101010101" pitchFamily="2" charset="-122"/>
              </a:rPr>
              <a:t>语句</a:t>
            </a:r>
            <a:endParaRPr lang="en-US" altLang="zh-CN" dirty="0">
              <a:cs typeface="宋体" panose="02010600030101010101" pitchFamily="2" charset="-122"/>
            </a:endParaRPr>
          </a:p>
          <a:p>
            <a:pPr marL="567055" lvl="1" indent="-224155">
              <a:lnSpc>
                <a:spcPct val="125000"/>
              </a:lnSpc>
              <a:spcBef>
                <a:spcPct val="0"/>
              </a:spcBef>
              <a:buFont typeface="Arial" panose="020B0604020202020204" pitchFamily="34" charset="0"/>
              <a:buChar char="–"/>
            </a:pPr>
            <a:r>
              <a:rPr lang="zh-CN" altLang="en-US" sz="1600" dirty="0">
                <a:cs typeface="宋体" panose="02010600030101010101" pitchFamily="2" charset="-122"/>
              </a:rPr>
              <a:t>利用</a:t>
            </a:r>
            <a:r>
              <a:rPr lang="en-US" altLang="zh-CN" sz="1600" dirty="0">
                <a:cs typeface="宋体" panose="02010600030101010101" pitchFamily="2" charset="-122"/>
              </a:rPr>
              <a:t>CALL</a:t>
            </a:r>
            <a:r>
              <a:rPr lang="zh-CN" altLang="en-US" sz="1600" dirty="0">
                <a:cs typeface="宋体" panose="02010600030101010101" pitchFamily="2" charset="-122"/>
              </a:rPr>
              <a:t>语句在一存储过程中调用另一个存储过程。</a:t>
            </a:r>
            <a:endParaRPr lang="en-US" altLang="zh-CN" sz="1600" dirty="0">
              <a:cs typeface="宋体" panose="02010600030101010101" pitchFamily="2" charset="-122"/>
            </a:endParaRPr>
          </a:p>
          <a:p>
            <a:pPr marL="567055" lvl="1" indent="-224155">
              <a:lnSpc>
                <a:spcPct val="125000"/>
              </a:lnSpc>
              <a:spcBef>
                <a:spcPct val="0"/>
              </a:spcBef>
              <a:buFont typeface="Arial" panose="020B0604020202020204" pitchFamily="34" charset="0"/>
              <a:buChar char="–"/>
            </a:pPr>
            <a:r>
              <a:rPr lang="zh-CN" altLang="en-US" sz="1600" dirty="0">
                <a:cs typeface="宋体" panose="02010600030101010101" pitchFamily="2" charset="-122"/>
              </a:rPr>
              <a:t>两种格式：</a:t>
            </a:r>
            <a:endParaRPr lang="en-US" altLang="zh-CN" sz="1600" dirty="0">
              <a:cs typeface="宋体" panose="02010600030101010101" pitchFamily="2" charset="-122"/>
            </a:endParaRPr>
          </a:p>
          <a:p>
            <a:pPr marL="863600" lvl="2" indent="-182880">
              <a:lnSpc>
                <a:spcPct val="125000"/>
              </a:lnSpc>
              <a:spcBef>
                <a:spcPct val="0"/>
              </a:spcBef>
            </a:pPr>
            <a:r>
              <a:rPr lang="en-US" altLang="zh-CN" sz="1800" dirty="0">
                <a:latin typeface="微软雅黑" panose="020B0503020204020204" pitchFamily="34" charset="-122"/>
                <a:ea typeface="微软雅黑" panose="020B0503020204020204" pitchFamily="34" charset="-122"/>
                <a:cs typeface="宋体" panose="02010600030101010101" pitchFamily="2" charset="-122"/>
              </a:rPr>
              <a:t>CALL </a:t>
            </a:r>
            <a:r>
              <a:rPr lang="zh-CN" altLang="en-US" sz="1800" dirty="0">
                <a:latin typeface="微软雅黑" panose="020B0503020204020204" pitchFamily="34" charset="-122"/>
                <a:ea typeface="微软雅黑" panose="020B0503020204020204" pitchFamily="34" charset="-122"/>
                <a:cs typeface="宋体" panose="02010600030101010101" pitchFamily="2" charset="-122"/>
              </a:rPr>
              <a:t>过程名（参数</a:t>
            </a:r>
            <a:r>
              <a:rPr lang="en-US" altLang="zh-CN" sz="1800" dirty="0">
                <a:latin typeface="微软雅黑" panose="020B0503020204020204" pitchFamily="34" charset="-122"/>
                <a:ea typeface="微软雅黑" panose="020B0503020204020204" pitchFamily="34" charset="-122"/>
                <a:cs typeface="宋体" panose="02010600030101010101" pitchFamily="2" charset="-122"/>
              </a:rPr>
              <a:t>, ...</a:t>
            </a:r>
            <a:r>
              <a:rPr lang="zh-CN" altLang="en-US" sz="1800" dirty="0">
                <a:latin typeface="微软雅黑" panose="020B0503020204020204" pitchFamily="34" charset="-122"/>
                <a:ea typeface="微软雅黑" panose="020B0503020204020204" pitchFamily="34" charset="-122"/>
                <a:cs typeface="宋体" panose="02010600030101010101" pitchFamily="2" charset="-122"/>
              </a:rPr>
              <a:t>）</a:t>
            </a:r>
            <a:r>
              <a:rPr lang="en-US" altLang="zh-CN" sz="1800" dirty="0">
                <a:latin typeface="微软雅黑" panose="020B0503020204020204" pitchFamily="34" charset="-122"/>
                <a:ea typeface="微软雅黑" panose="020B0503020204020204" pitchFamily="34" charset="-122"/>
                <a:cs typeface="宋体" panose="02010600030101010101" pitchFamily="2" charset="-122"/>
              </a:rPr>
              <a:t> RETURNING </a:t>
            </a:r>
            <a:r>
              <a:rPr lang="zh-CN" altLang="en-US" sz="1800" dirty="0">
                <a:latin typeface="微软雅黑" panose="020B0503020204020204" pitchFamily="34" charset="-122"/>
                <a:ea typeface="微软雅黑" panose="020B0503020204020204" pitchFamily="34" charset="-122"/>
                <a:cs typeface="宋体" panose="02010600030101010101" pitchFamily="2" charset="-122"/>
              </a:rPr>
              <a:t>变量，</a:t>
            </a:r>
            <a:r>
              <a:rPr lang="en-US" altLang="zh-CN" sz="1800" dirty="0">
                <a:latin typeface="微软雅黑" panose="020B0503020204020204" pitchFamily="34" charset="-122"/>
                <a:ea typeface="微软雅黑" panose="020B0503020204020204" pitchFamily="34" charset="-122"/>
                <a:cs typeface="宋体" panose="02010600030101010101" pitchFamily="2" charset="-122"/>
              </a:rPr>
              <a:t>...;</a:t>
            </a:r>
          </a:p>
          <a:p>
            <a:pPr marL="863600" lvl="2" indent="-182880">
              <a:lnSpc>
                <a:spcPct val="125000"/>
              </a:lnSpc>
              <a:spcBef>
                <a:spcPct val="0"/>
              </a:spcBef>
            </a:pPr>
            <a:r>
              <a:rPr lang="en-US" altLang="zh-CN" sz="1800" dirty="0">
                <a:latin typeface="微软雅黑" panose="020B0503020204020204" pitchFamily="34" charset="-122"/>
                <a:ea typeface="微软雅黑" panose="020B0503020204020204" pitchFamily="34" charset="-122"/>
                <a:cs typeface="宋体" panose="02010600030101010101" pitchFamily="2" charset="-122"/>
              </a:rPr>
              <a:t>CALL </a:t>
            </a:r>
            <a:r>
              <a:rPr lang="zh-CN" altLang="en-US" sz="1800" dirty="0">
                <a:latin typeface="微软雅黑" panose="020B0503020204020204" pitchFamily="34" charset="-122"/>
                <a:ea typeface="微软雅黑" panose="020B0503020204020204" pitchFamily="34" charset="-122"/>
                <a:cs typeface="宋体" panose="02010600030101010101" pitchFamily="2" charset="-122"/>
              </a:rPr>
              <a:t>过程名（参数名＝参数</a:t>
            </a:r>
            <a:r>
              <a:rPr lang="en-US" altLang="zh-CN" sz="1800" dirty="0">
                <a:latin typeface="微软雅黑" panose="020B0503020204020204" pitchFamily="34" charset="-122"/>
                <a:ea typeface="微软雅黑" panose="020B0503020204020204" pitchFamily="34" charset="-122"/>
                <a:cs typeface="宋体" panose="02010600030101010101" pitchFamily="2" charset="-122"/>
              </a:rPr>
              <a:t>, ...</a:t>
            </a:r>
            <a:r>
              <a:rPr lang="zh-CN" altLang="en-US" sz="1800" dirty="0">
                <a:latin typeface="微软雅黑" panose="020B0503020204020204" pitchFamily="34" charset="-122"/>
                <a:ea typeface="微软雅黑" panose="020B0503020204020204" pitchFamily="34" charset="-122"/>
                <a:cs typeface="宋体" panose="02010600030101010101" pitchFamily="2" charset="-122"/>
              </a:rPr>
              <a:t>）</a:t>
            </a:r>
            <a:r>
              <a:rPr lang="en-US" altLang="zh-CN" sz="1800" dirty="0">
                <a:latin typeface="微软雅黑" panose="020B0503020204020204" pitchFamily="34" charset="-122"/>
                <a:ea typeface="微软雅黑" panose="020B0503020204020204" pitchFamily="34" charset="-122"/>
                <a:cs typeface="宋体" panose="02010600030101010101" pitchFamily="2" charset="-122"/>
              </a:rPr>
              <a:t> RETURNING </a:t>
            </a:r>
            <a:r>
              <a:rPr lang="zh-CN" altLang="en-US" sz="1800" dirty="0">
                <a:latin typeface="微软雅黑" panose="020B0503020204020204" pitchFamily="34" charset="-122"/>
                <a:ea typeface="微软雅黑" panose="020B0503020204020204" pitchFamily="34" charset="-122"/>
                <a:cs typeface="宋体" panose="02010600030101010101" pitchFamily="2" charset="-122"/>
              </a:rPr>
              <a:t>变量，</a:t>
            </a:r>
            <a:r>
              <a:rPr lang="en-US" altLang="zh-CN" sz="1800" dirty="0">
                <a:latin typeface="微软雅黑" panose="020B0503020204020204" pitchFamily="34" charset="-122"/>
                <a:ea typeface="微软雅黑" panose="020B0503020204020204" pitchFamily="34" charset="-122"/>
                <a:cs typeface="宋体" panose="02010600030101010101" pitchFamily="2" charset="-122"/>
              </a:rPr>
              <a:t>...;</a:t>
            </a:r>
          </a:p>
          <a:p>
            <a:pPr marL="567055" lvl="1" indent="-224155">
              <a:lnSpc>
                <a:spcPct val="125000"/>
              </a:lnSpc>
              <a:spcBef>
                <a:spcPct val="0"/>
              </a:spcBef>
              <a:buFont typeface="Arial" panose="020B0604020202020204" pitchFamily="34" charset="0"/>
              <a:buChar char="–"/>
            </a:pPr>
            <a:r>
              <a:rPr lang="en-US" altLang="zh-CN" sz="1600" dirty="0">
                <a:cs typeface="宋体" panose="02010600030101010101" pitchFamily="2" charset="-122"/>
              </a:rPr>
              <a:t>DEFINE </a:t>
            </a:r>
            <a:r>
              <a:rPr lang="en-US" altLang="zh-CN" sz="1600" dirty="0" err="1">
                <a:cs typeface="宋体" panose="02010600030101010101" pitchFamily="2" charset="-122"/>
              </a:rPr>
              <a:t>i</a:t>
            </a:r>
            <a:r>
              <a:rPr lang="en-US" altLang="zh-CN" sz="1600" dirty="0">
                <a:cs typeface="宋体" panose="02010600030101010101" pitchFamily="2" charset="-122"/>
              </a:rPr>
              <a:t>, j INT;</a:t>
            </a:r>
          </a:p>
          <a:p>
            <a:pPr marL="1024255" lvl="2" indent="-224155">
              <a:lnSpc>
                <a:spcPct val="125000"/>
              </a:lnSpc>
              <a:spcBef>
                <a:spcPct val="0"/>
              </a:spcBef>
            </a:pPr>
            <a:r>
              <a:rPr lang="en-US" altLang="zh-CN" sz="1800" dirty="0">
                <a:latin typeface="微软雅黑" panose="020B0503020204020204" pitchFamily="34" charset="-122"/>
                <a:ea typeface="微软雅黑" panose="020B0503020204020204" pitchFamily="34" charset="-122"/>
                <a:cs typeface="宋体" panose="02010600030101010101" pitchFamily="2" charset="-122"/>
              </a:rPr>
              <a:t>CALL  </a:t>
            </a:r>
            <a:r>
              <a:rPr lang="en-US" altLang="zh-CN" sz="1800" dirty="0" err="1">
                <a:latin typeface="微软雅黑" panose="020B0503020204020204" pitchFamily="34" charset="-122"/>
                <a:ea typeface="微软雅黑" panose="020B0503020204020204" pitchFamily="34" charset="-122"/>
                <a:cs typeface="宋体" panose="02010600030101010101" pitchFamily="2" charset="-122"/>
              </a:rPr>
              <a:t>no_return</a:t>
            </a:r>
            <a:r>
              <a:rPr lang="en-US" altLang="zh-CN" sz="1800" dirty="0">
                <a:latin typeface="微软雅黑" panose="020B0503020204020204" pitchFamily="34" charset="-122"/>
                <a:ea typeface="微软雅黑" panose="020B0503020204020204" pitchFamily="34" charset="-122"/>
                <a:cs typeface="宋体" panose="02010600030101010101" pitchFamily="2" charset="-122"/>
              </a:rPr>
              <a:t>(10, 20);</a:t>
            </a:r>
          </a:p>
          <a:p>
            <a:pPr marL="1024255" lvl="2" indent="-224155">
              <a:lnSpc>
                <a:spcPct val="125000"/>
              </a:lnSpc>
              <a:spcBef>
                <a:spcPct val="0"/>
              </a:spcBef>
            </a:pPr>
            <a:r>
              <a:rPr lang="en-US" altLang="zh-CN" sz="1800" dirty="0">
                <a:latin typeface="微软雅黑" panose="020B0503020204020204" pitchFamily="34" charset="-122"/>
                <a:ea typeface="微软雅黑" panose="020B0503020204020204" pitchFamily="34" charset="-122"/>
                <a:cs typeface="宋体" panose="02010600030101010101" pitchFamily="2" charset="-122"/>
              </a:rPr>
              <a:t>CALL  </a:t>
            </a:r>
            <a:r>
              <a:rPr lang="en-US" altLang="zh-CN" sz="1800" dirty="0" err="1">
                <a:latin typeface="微软雅黑" panose="020B0503020204020204" pitchFamily="34" charset="-122"/>
                <a:ea typeface="微软雅黑" panose="020B0503020204020204" pitchFamily="34" charset="-122"/>
                <a:cs typeface="宋体" panose="02010600030101010101" pitchFamily="2" charset="-122"/>
              </a:rPr>
              <a:t>yes_return</a:t>
            </a:r>
            <a:r>
              <a:rPr lang="en-US" altLang="zh-CN" sz="1800" dirty="0">
                <a:latin typeface="微软雅黑" panose="020B0503020204020204" pitchFamily="34" charset="-122"/>
                <a:ea typeface="微软雅黑" panose="020B0503020204020204" pitchFamily="34" charset="-122"/>
                <a:cs typeface="宋体" panose="02010600030101010101" pitchFamily="2" charset="-122"/>
              </a:rPr>
              <a:t>(</a:t>
            </a:r>
            <a:r>
              <a:rPr lang="en-US" altLang="zh-CN" sz="1800" dirty="0" err="1">
                <a:latin typeface="微软雅黑" panose="020B0503020204020204" pitchFamily="34" charset="-122"/>
                <a:ea typeface="微软雅黑" panose="020B0503020204020204" pitchFamily="34" charset="-122"/>
                <a:cs typeface="宋体" panose="02010600030101010101" pitchFamily="2" charset="-122"/>
              </a:rPr>
              <a:t>empno</a:t>
            </a:r>
            <a:r>
              <a:rPr lang="en-US" altLang="zh-CN" sz="1800" dirty="0">
                <a:latin typeface="微软雅黑" panose="020B0503020204020204" pitchFamily="34" charset="-122"/>
                <a:ea typeface="微软雅黑" panose="020B0503020204020204" pitchFamily="34" charset="-122"/>
                <a:cs typeface="宋体" panose="02010600030101010101" pitchFamily="2" charset="-122"/>
              </a:rPr>
              <a:t>=10, age=20) RETURNING </a:t>
            </a:r>
            <a:r>
              <a:rPr lang="en-US" altLang="zh-CN" sz="1800" dirty="0" err="1">
                <a:latin typeface="微软雅黑" panose="020B0503020204020204" pitchFamily="34" charset="-122"/>
                <a:ea typeface="微软雅黑" panose="020B0503020204020204" pitchFamily="34" charset="-122"/>
                <a:cs typeface="宋体" panose="02010600030101010101" pitchFamily="2" charset="-122"/>
              </a:rPr>
              <a:t>i</a:t>
            </a:r>
            <a:r>
              <a:rPr lang="en-US" altLang="zh-CN" sz="1800" dirty="0">
                <a:latin typeface="微软雅黑" panose="020B0503020204020204" pitchFamily="34" charset="-122"/>
                <a:ea typeface="微软雅黑" panose="020B0503020204020204" pitchFamily="34" charset="-122"/>
                <a:cs typeface="宋体" panose="02010600030101010101" pitchFamily="2" charset="-122"/>
              </a:rPr>
              <a:t>, j;</a:t>
            </a:r>
          </a:p>
          <a:p>
            <a:endParaRPr lang="zh-CN" altLang="en-US" sz="1600" dirty="0"/>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6770" name="Rectangle 2"/>
          <p:cNvSpPr>
            <a:spLocks noChangeArrowheads="1"/>
          </p:cNvSpPr>
          <p:nvPr/>
        </p:nvSpPr>
        <p:spPr bwMode="auto">
          <a:xfrm>
            <a:off x="1752600" y="533400"/>
            <a:ext cx="7772400" cy="533400"/>
          </a:xfrm>
          <a:prstGeom prst="rect">
            <a:avLst/>
          </a:prstGeom>
          <a:noFill/>
          <a:ln>
            <a:noFill/>
          </a:ln>
          <a:effectLst/>
        </p:spPr>
        <p:txBody>
          <a:bodyPr anchor="ctr"/>
          <a:lstStyle/>
          <a:p>
            <a:pPr eaLnBrk="0" hangingPunct="0">
              <a:spcBef>
                <a:spcPct val="0"/>
              </a:spcBef>
            </a:pPr>
            <a:endParaRPr lang="zh-CN" altLang="en-US" sz="2800" dirty="0">
              <a:solidFill>
                <a:schemeClr val="tx2"/>
              </a:solidFill>
              <a:cs typeface="宋体" panose="02010600030101010101" pitchFamily="2" charset="-122"/>
            </a:endParaRPr>
          </a:p>
        </p:txBody>
      </p:sp>
      <p:sp>
        <p:nvSpPr>
          <p:cNvPr id="416771" name="Rectangle 3"/>
          <p:cNvSpPr>
            <a:spLocks noChangeArrowheads="1"/>
          </p:cNvSpPr>
          <p:nvPr/>
        </p:nvSpPr>
        <p:spPr bwMode="auto">
          <a:xfrm>
            <a:off x="1828800" y="1143000"/>
            <a:ext cx="8763000" cy="5334000"/>
          </a:xfrm>
          <a:prstGeom prst="rect">
            <a:avLst/>
          </a:prstGeom>
          <a:noFill/>
          <a:ln>
            <a:noFill/>
          </a:ln>
          <a:effectLst/>
        </p:spPr>
        <p:txBody>
          <a:bodyPr/>
          <a:lstStyle/>
          <a:p>
            <a:pPr marL="228600" indent="-228600" eaLnBrk="0" hangingPunct="0">
              <a:lnSpc>
                <a:spcPct val="125000"/>
              </a:lnSpc>
              <a:buClr>
                <a:schemeClr val="accent2"/>
              </a:buClr>
              <a:buFont typeface="Wingdings" panose="05000000000000000000" charset="0"/>
              <a:buChar char="§"/>
            </a:pPr>
            <a:endParaRPr lang="en-US" altLang="zh-CN" sz="2000" dirty="0">
              <a:cs typeface="宋体" panose="02010600030101010101" pitchFamily="2" charset="-122"/>
            </a:endParaRPr>
          </a:p>
        </p:txBody>
      </p:sp>
      <p:sp>
        <p:nvSpPr>
          <p:cNvPr id="6" name="标题 5"/>
          <p:cNvSpPr>
            <a:spLocks noGrp="1"/>
          </p:cNvSpPr>
          <p:nvPr>
            <p:ph type="title"/>
          </p:nvPr>
        </p:nvSpPr>
        <p:spPr/>
        <p:txBody>
          <a:bodyPr/>
          <a:lstStyle/>
          <a:p>
            <a:r>
              <a:rPr lang="zh-CN" altLang="en-US" dirty="0">
                <a:solidFill>
                  <a:schemeClr val="tx2"/>
                </a:solidFill>
                <a:cs typeface="宋体" panose="02010600030101010101" pitchFamily="2" charset="-122"/>
              </a:rPr>
              <a:t>执行存储过程</a:t>
            </a:r>
            <a:r>
              <a:rPr lang="en-US" altLang="zh-CN" dirty="0">
                <a:solidFill>
                  <a:schemeClr val="tx2"/>
                </a:solidFill>
                <a:cs typeface="宋体" panose="02010600030101010101" pitchFamily="2" charset="-122"/>
              </a:rPr>
              <a:t>--</a:t>
            </a:r>
            <a:r>
              <a:rPr lang="zh-CN" altLang="en-US" dirty="0">
                <a:solidFill>
                  <a:schemeClr val="tx2"/>
                </a:solidFill>
                <a:cs typeface="宋体" panose="02010600030101010101" pitchFamily="2" charset="-122"/>
              </a:rPr>
              <a:t>示例</a:t>
            </a:r>
          </a:p>
        </p:txBody>
      </p:sp>
      <p:sp>
        <p:nvSpPr>
          <p:cNvPr id="7" name="内容占位符 6"/>
          <p:cNvSpPr>
            <a:spLocks noGrp="1"/>
          </p:cNvSpPr>
          <p:nvPr>
            <p:ph type="body" sz="quarter" idx="10"/>
          </p:nvPr>
        </p:nvSpPr>
        <p:spPr/>
        <p:txBody>
          <a:bodyPr/>
          <a:lstStyle/>
          <a:p>
            <a:pPr>
              <a:lnSpc>
                <a:spcPct val="125000"/>
              </a:lnSpc>
              <a:spcBef>
                <a:spcPct val="0"/>
              </a:spcBef>
            </a:pPr>
            <a:endParaRPr lang="en-US" altLang="zh-CN" dirty="0">
              <a:cs typeface="宋体" panose="02010600030101010101" pitchFamily="2" charset="-122"/>
            </a:endParaRPr>
          </a:p>
          <a:p>
            <a:endParaRPr lang="zh-CN" altLang="en-US" sz="1600" dirty="0"/>
          </a:p>
        </p:txBody>
      </p:sp>
      <p:sp>
        <p:nvSpPr>
          <p:cNvPr id="16" name="AutoShape 4"/>
          <p:cNvSpPr>
            <a:spLocks noChangeArrowheads="1"/>
          </p:cNvSpPr>
          <p:nvPr/>
        </p:nvSpPr>
        <p:spPr bwMode="black">
          <a:xfrm>
            <a:off x="2394585" y="1306293"/>
            <a:ext cx="7440930" cy="5012690"/>
          </a:xfrm>
          <a:prstGeom prst="roundRect">
            <a:avLst>
              <a:gd name="adj" fmla="val 4976"/>
            </a:avLst>
          </a:prstGeom>
          <a:solidFill>
            <a:schemeClr val="bg1">
              <a:lumMod val="85000"/>
            </a:schemeClr>
          </a:solidFill>
          <a:ln w="9525">
            <a:solidFill>
              <a:schemeClr val="tx1"/>
            </a:solidFill>
            <a:round/>
          </a:ln>
          <a:effectLst/>
        </p:spPr>
        <p:txBody>
          <a:bodyPr lIns="92075" tIns="46038" rIns="92075" bIns="0" anchor="ctr"/>
          <a:lstStyle/>
          <a:p>
            <a:pPr marL="119380" indent="-119380">
              <a:spcBef>
                <a:spcPct val="50000"/>
              </a:spcBef>
              <a:buClr>
                <a:schemeClr val="accent1"/>
              </a:buClr>
            </a:pPr>
            <a:endParaRPr lang="en-US" altLang="en-US" sz="1600" dirty="0">
              <a:sym typeface="+mn-ea"/>
            </a:endParaRPr>
          </a:p>
          <a:p>
            <a:pPr marL="119380" indent="-119380">
              <a:spcBef>
                <a:spcPct val="50000"/>
              </a:spcBef>
              <a:buClr>
                <a:schemeClr val="accent1"/>
              </a:buClr>
            </a:pPr>
            <a:r>
              <a:rPr lang="en-US" altLang="en-US" sz="1600" dirty="0">
                <a:sym typeface="+mn-ea"/>
              </a:rPr>
              <a:t>create procedure </a:t>
            </a:r>
            <a:r>
              <a:rPr lang="en-US" altLang="en-US" sz="1600" dirty="0" err="1">
                <a:sym typeface="+mn-ea"/>
              </a:rPr>
              <a:t>p_usetest</a:t>
            </a:r>
            <a:r>
              <a:rPr lang="en-US" altLang="en-US" sz="1600" dirty="0">
                <a:sym typeface="+mn-ea"/>
              </a:rPr>
              <a:t>()</a:t>
            </a:r>
          </a:p>
          <a:p>
            <a:pPr marL="119380" indent="-119380">
              <a:spcBef>
                <a:spcPct val="50000"/>
              </a:spcBef>
              <a:buClr>
                <a:schemeClr val="accent1"/>
              </a:buClr>
            </a:pPr>
            <a:r>
              <a:rPr lang="en-US" altLang="en-US" sz="1600" dirty="0">
                <a:sym typeface="+mn-ea"/>
              </a:rPr>
              <a:t>returning </a:t>
            </a:r>
            <a:r>
              <a:rPr lang="en-US" altLang="en-US" sz="1600" dirty="0" err="1">
                <a:sym typeface="+mn-ea"/>
              </a:rPr>
              <a:t>int</a:t>
            </a:r>
            <a:r>
              <a:rPr lang="en-US" altLang="en-US" sz="1600" dirty="0">
                <a:sym typeface="+mn-ea"/>
              </a:rPr>
              <a:t>;</a:t>
            </a:r>
          </a:p>
          <a:p>
            <a:pPr marL="119380" indent="-119380">
              <a:spcBef>
                <a:spcPct val="50000"/>
              </a:spcBef>
              <a:buClr>
                <a:schemeClr val="accent1"/>
              </a:buClr>
            </a:pPr>
            <a:r>
              <a:rPr lang="en-US" altLang="en-US" sz="1600" dirty="0">
                <a:sym typeface="+mn-ea"/>
              </a:rPr>
              <a:t>define </a:t>
            </a:r>
            <a:r>
              <a:rPr lang="en-US" altLang="en-US" sz="1600" dirty="0" err="1">
                <a:sym typeface="+mn-ea"/>
              </a:rPr>
              <a:t>i</a:t>
            </a:r>
            <a:r>
              <a:rPr lang="en-US" altLang="en-US" sz="1600" dirty="0">
                <a:sym typeface="+mn-ea"/>
              </a:rPr>
              <a:t> </a:t>
            </a:r>
            <a:r>
              <a:rPr lang="en-US" altLang="en-US" sz="1600" dirty="0" err="1">
                <a:sym typeface="+mn-ea"/>
              </a:rPr>
              <a:t>int</a:t>
            </a:r>
            <a:r>
              <a:rPr lang="en-US" altLang="en-US" sz="1600" dirty="0">
                <a:sym typeface="+mn-ea"/>
              </a:rPr>
              <a:t>; </a:t>
            </a:r>
          </a:p>
          <a:p>
            <a:pPr marL="119380" indent="-119380">
              <a:spcBef>
                <a:spcPct val="50000"/>
              </a:spcBef>
              <a:buClr>
                <a:schemeClr val="accent1"/>
              </a:buClr>
            </a:pPr>
            <a:r>
              <a:rPr lang="en-US" altLang="en-US" sz="1600" dirty="0">
                <a:sym typeface="+mn-ea"/>
              </a:rPr>
              <a:t>  let </a:t>
            </a:r>
            <a:r>
              <a:rPr lang="en-US" altLang="en-US" sz="1600" dirty="0" err="1">
                <a:sym typeface="+mn-ea"/>
              </a:rPr>
              <a:t>i</a:t>
            </a:r>
            <a:r>
              <a:rPr lang="en-US" altLang="en-US" sz="1600" dirty="0">
                <a:sym typeface="+mn-ea"/>
              </a:rPr>
              <a:t> =100;</a:t>
            </a:r>
          </a:p>
          <a:p>
            <a:pPr marL="119380" indent="-119380">
              <a:spcBef>
                <a:spcPct val="50000"/>
              </a:spcBef>
              <a:buClr>
                <a:schemeClr val="accent1"/>
              </a:buClr>
            </a:pPr>
            <a:r>
              <a:rPr lang="en-US" altLang="en-US" sz="1600" dirty="0">
                <a:sym typeface="+mn-ea"/>
              </a:rPr>
              <a:t>  execute procedure  </a:t>
            </a:r>
            <a:r>
              <a:rPr lang="en-US" altLang="en-US" sz="1600" dirty="0" err="1">
                <a:sym typeface="+mn-ea"/>
              </a:rPr>
              <a:t>p_test</a:t>
            </a:r>
            <a:r>
              <a:rPr lang="en-US" altLang="en-US" sz="1600" dirty="0">
                <a:sym typeface="+mn-ea"/>
              </a:rPr>
              <a:t>(3,i);   -- </a:t>
            </a:r>
            <a:r>
              <a:rPr lang="zh-CN" altLang="en-US" sz="1600" dirty="0">
                <a:sym typeface="+mn-ea"/>
              </a:rPr>
              <a:t>调用</a:t>
            </a:r>
            <a:r>
              <a:rPr lang="en-US" altLang="zh-CN" sz="1600" dirty="0" err="1">
                <a:sym typeface="+mn-ea"/>
              </a:rPr>
              <a:t>p_test</a:t>
            </a:r>
            <a:r>
              <a:rPr lang="zh-CN" altLang="zh-CN" sz="1600" dirty="0">
                <a:sym typeface="+mn-ea"/>
              </a:rPr>
              <a:t>存储过程，改变</a:t>
            </a:r>
            <a:r>
              <a:rPr lang="en-US" altLang="zh-CN" sz="1600" dirty="0" err="1">
                <a:sym typeface="+mn-ea"/>
              </a:rPr>
              <a:t>i</a:t>
            </a:r>
            <a:r>
              <a:rPr lang="zh-CN" altLang="en-US" sz="1600" dirty="0">
                <a:sym typeface="+mn-ea"/>
              </a:rPr>
              <a:t>参数（</a:t>
            </a:r>
            <a:r>
              <a:rPr lang="en-US" altLang="zh-CN" sz="1600" dirty="0">
                <a:sym typeface="+mn-ea"/>
              </a:rPr>
              <a:t>out</a:t>
            </a:r>
            <a:r>
              <a:rPr lang="zh-CN" altLang="en-US" sz="1600" dirty="0">
                <a:sym typeface="+mn-ea"/>
              </a:rPr>
              <a:t>类型）的值</a:t>
            </a:r>
          </a:p>
          <a:p>
            <a:pPr marL="119380" indent="-119380">
              <a:spcBef>
                <a:spcPct val="50000"/>
              </a:spcBef>
              <a:buClr>
                <a:schemeClr val="accent1"/>
              </a:buClr>
            </a:pPr>
            <a:r>
              <a:rPr lang="en-US" altLang="en-US" sz="1600" dirty="0">
                <a:sym typeface="+mn-ea"/>
              </a:rPr>
              <a:t>  return </a:t>
            </a:r>
            <a:r>
              <a:rPr lang="en-US" altLang="en-US" sz="1600" dirty="0" err="1">
                <a:sym typeface="+mn-ea"/>
              </a:rPr>
              <a:t>i</a:t>
            </a:r>
            <a:r>
              <a:rPr lang="en-US" altLang="en-US" sz="1600" dirty="0">
                <a:sym typeface="+mn-ea"/>
              </a:rPr>
              <a:t>;</a:t>
            </a:r>
          </a:p>
          <a:p>
            <a:pPr marL="119380" indent="-119380">
              <a:spcBef>
                <a:spcPct val="50000"/>
              </a:spcBef>
              <a:buClr>
                <a:schemeClr val="accent1"/>
              </a:buClr>
            </a:pPr>
            <a:r>
              <a:rPr lang="en-US" altLang="en-US" sz="1600" dirty="0">
                <a:sym typeface="+mn-ea"/>
              </a:rPr>
              <a:t>end procedure</a:t>
            </a:r>
          </a:p>
          <a:p>
            <a:pPr marL="119380" indent="-119380">
              <a:spcBef>
                <a:spcPct val="50000"/>
              </a:spcBef>
              <a:buClr>
                <a:schemeClr val="accent1"/>
              </a:buClr>
            </a:pPr>
            <a:endParaRPr lang="en-US" altLang="en-US" sz="1600" dirty="0">
              <a:sym typeface="+mn-ea"/>
            </a:endParaRPr>
          </a:p>
          <a:p>
            <a:pPr marL="119380" indent="-119380">
              <a:spcBef>
                <a:spcPct val="50000"/>
              </a:spcBef>
              <a:buClr>
                <a:schemeClr val="accent1"/>
              </a:buClr>
            </a:pPr>
            <a:r>
              <a:rPr lang="en-US" altLang="en-US" sz="1600" dirty="0">
                <a:sym typeface="+mn-ea"/>
              </a:rPr>
              <a:t>call  </a:t>
            </a:r>
            <a:r>
              <a:rPr lang="en-US" altLang="en-US" sz="1600" dirty="0" err="1">
                <a:sym typeface="+mn-ea"/>
              </a:rPr>
              <a:t>p_usetest</a:t>
            </a:r>
            <a:r>
              <a:rPr lang="en-US" altLang="en-US" sz="1600" dirty="0">
                <a:sym typeface="+mn-ea"/>
              </a:rPr>
              <a:t>();     --</a:t>
            </a:r>
            <a:r>
              <a:rPr lang="zh-CN" altLang="en-US" sz="1600" dirty="0">
                <a:sym typeface="+mn-ea"/>
              </a:rPr>
              <a:t>返回输出参数（</a:t>
            </a:r>
            <a:r>
              <a:rPr lang="en-US" altLang="zh-CN" sz="1600" dirty="0">
                <a:sym typeface="+mn-ea"/>
              </a:rPr>
              <a:t>out</a:t>
            </a:r>
            <a:r>
              <a:rPr lang="zh-CN" altLang="en-US" sz="1600" dirty="0">
                <a:sym typeface="+mn-ea"/>
              </a:rPr>
              <a:t>类型）</a:t>
            </a:r>
            <a:r>
              <a:rPr lang="en-US" altLang="zh-CN" sz="1600" dirty="0" err="1">
                <a:sym typeface="+mn-ea"/>
              </a:rPr>
              <a:t>i</a:t>
            </a:r>
            <a:r>
              <a:rPr lang="zh-CN" altLang="en-US" sz="1600" dirty="0">
                <a:sym typeface="+mn-ea"/>
              </a:rPr>
              <a:t>的值</a:t>
            </a:r>
          </a:p>
          <a:p>
            <a:pPr marL="119380" indent="-119380">
              <a:spcBef>
                <a:spcPct val="50000"/>
              </a:spcBef>
              <a:buClr>
                <a:schemeClr val="accent1"/>
              </a:buClr>
            </a:pPr>
            <a:endParaRPr lang="en-US" altLang="en-US" sz="1600" dirty="0">
              <a:sym typeface="+mn-ea"/>
            </a:endParaRPr>
          </a:p>
          <a:p>
            <a:pPr marL="119380" indent="-119380">
              <a:spcBef>
                <a:spcPct val="50000"/>
              </a:spcBef>
              <a:buClr>
                <a:schemeClr val="accent1"/>
              </a:buClr>
            </a:pPr>
            <a:endParaRPr lang="en-US" altLang="en-US" sz="1600" dirty="0">
              <a:sym typeface="+mn-ea"/>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pPr marL="360680" lvl="1">
              <a:buClr>
                <a:srgbClr val="FD0000"/>
              </a:buClr>
              <a:defRPr/>
            </a:pPr>
            <a:r>
              <a:rPr lang="zh-CN" altLang="en-US" sz="3000" b="1" kern="1200" spc="100" dirty="0">
                <a:latin typeface="Arial" panose="020B0604020202020204" pitchFamily="34" charset="0"/>
                <a:ea typeface="微软雅黑" panose="020B0503020204020204" pitchFamily="34" charset="-122"/>
                <a:cs typeface="宋体" panose="02010600030101010101" pitchFamily="2" charset="-122"/>
                <a:sym typeface="+mn-ea"/>
              </a:rPr>
              <a:t>触发器</a:t>
            </a:r>
          </a:p>
        </p:txBody>
      </p:sp>
      <p:sp>
        <p:nvSpPr>
          <p:cNvPr id="15364" name="Rectangle 243"/>
          <p:cNvSpPr>
            <a:spLocks noGrp="1" noChangeArrowheads="1"/>
          </p:cNvSpPr>
          <p:nvPr>
            <p:ph type="body" sz="quarter" idx="10"/>
          </p:nvPr>
        </p:nvSpPr>
        <p:spPr/>
        <p:txBody>
          <a:bodyPr>
            <a:normAutofit/>
          </a:bodyPr>
          <a:lstStyle/>
          <a:p>
            <a:pPr marL="285750" indent="-285750">
              <a:lnSpc>
                <a:spcPct val="140000"/>
              </a:lnSpc>
            </a:pPr>
            <a:r>
              <a:rPr lang="zh-CN" altLang="en-US" sz="1800" b="1" dirty="0">
                <a:cs typeface="宋体" panose="02010600030101010101" pitchFamily="2" charset="-122"/>
                <a:sym typeface="+mn-ea"/>
              </a:rPr>
              <a:t>触发器</a:t>
            </a:r>
            <a:r>
              <a:rPr lang="zh-CN" altLang="en-US" sz="1800" dirty="0">
                <a:cs typeface="宋体" panose="02010600030101010101" pitchFamily="2" charset="-122"/>
                <a:sym typeface="+mn-ea"/>
              </a:rPr>
              <a:t>（</a:t>
            </a:r>
            <a:r>
              <a:rPr lang="en-US" altLang="zh-CN" sz="1800" dirty="0">
                <a:cs typeface="宋体" panose="02010600030101010101" pitchFamily="2" charset="-122"/>
                <a:sym typeface="+mn-ea"/>
              </a:rPr>
              <a:t>Trigger</a:t>
            </a:r>
            <a:r>
              <a:rPr lang="zh-CN" altLang="en-US" sz="1800" dirty="0">
                <a:cs typeface="宋体" panose="02010600030101010101" pitchFamily="2" charset="-122"/>
                <a:sym typeface="+mn-ea"/>
              </a:rPr>
              <a:t>）是一个特殊的存储过程。在对表进行</a:t>
            </a:r>
            <a:r>
              <a:rPr lang="en-US" altLang="zh-CN" sz="1800" dirty="0">
                <a:cs typeface="宋体" panose="02010600030101010101" pitchFamily="2" charset="-122"/>
                <a:sym typeface="+mn-ea"/>
              </a:rPr>
              <a:t>INSERT</a:t>
            </a:r>
            <a:r>
              <a:rPr lang="zh-CN" altLang="en-US" sz="1800" dirty="0">
                <a:cs typeface="宋体" panose="02010600030101010101" pitchFamily="2" charset="-122"/>
                <a:sym typeface="+mn-ea"/>
              </a:rPr>
              <a:t>、</a:t>
            </a:r>
            <a:r>
              <a:rPr lang="en-US" altLang="zh-CN" sz="1800" dirty="0">
                <a:cs typeface="宋体" panose="02010600030101010101" pitchFamily="2" charset="-122"/>
                <a:sym typeface="+mn-ea"/>
              </a:rPr>
              <a:t>DELETE</a:t>
            </a:r>
            <a:r>
              <a:rPr lang="zh-CN" altLang="en-US" sz="1800" dirty="0">
                <a:cs typeface="宋体" panose="02010600030101010101" pitchFamily="2" charset="-122"/>
                <a:sym typeface="+mn-ea"/>
              </a:rPr>
              <a:t>或</a:t>
            </a:r>
            <a:r>
              <a:rPr lang="en-US" altLang="zh-CN" sz="1800" dirty="0">
                <a:cs typeface="宋体" panose="02010600030101010101" pitchFamily="2" charset="-122"/>
                <a:sym typeface="+mn-ea"/>
              </a:rPr>
              <a:t>UPDATE</a:t>
            </a:r>
            <a:r>
              <a:rPr lang="zh-CN" altLang="en-US" sz="1800" dirty="0">
                <a:cs typeface="宋体" panose="02010600030101010101" pitchFamily="2" charset="-122"/>
                <a:sym typeface="+mn-ea"/>
              </a:rPr>
              <a:t>操作时，可以通过定义一些触发器使数据库服务器自动调用存储过程或</a:t>
            </a:r>
            <a:r>
              <a:rPr lang="en-US" altLang="zh-CN" sz="1800" dirty="0">
                <a:cs typeface="宋体" panose="02010600030101010101" pitchFamily="2" charset="-122"/>
                <a:sym typeface="+mn-ea"/>
              </a:rPr>
              <a:t>SQL</a:t>
            </a:r>
            <a:r>
              <a:rPr lang="zh-CN" altLang="en-US" sz="1800" dirty="0">
                <a:cs typeface="宋体" panose="02010600030101010101" pitchFamily="2" charset="-122"/>
                <a:sym typeface="+mn-ea"/>
              </a:rPr>
              <a:t>语句。</a:t>
            </a:r>
          </a:p>
          <a:p>
            <a:pPr lvl="2">
              <a:lnSpc>
                <a:spcPct val="180000"/>
              </a:lnSpc>
            </a:pPr>
            <a:endParaRPr lang="zh-CN" altLang="en-US" sz="1400" dirty="0">
              <a:cs typeface="Arial" panose="020B0604020202020204" pitchFamily="34" charset="0"/>
              <a:sym typeface="+mn-ea"/>
            </a:endParaRPr>
          </a:p>
          <a:p>
            <a:pPr lvl="2" indent="0">
              <a:lnSpc>
                <a:spcPct val="180000"/>
              </a:lnSpc>
              <a:buNone/>
            </a:pPr>
            <a:endParaRPr lang="zh-CN" altLang="en-US" sz="1400" dirty="0">
              <a:cs typeface="Arial" panose="020B0604020202020204" pitchFamily="34" charset="0"/>
              <a:sym typeface="+mn-ea"/>
            </a:endParaRPr>
          </a:p>
          <a:p>
            <a:pPr lvl="2">
              <a:lnSpc>
                <a:spcPct val="180000"/>
              </a:lnSpc>
            </a:pPr>
            <a:endParaRPr lang="zh-CN" altLang="en-US" sz="1400" b="1" dirty="0">
              <a:cs typeface="Arial" panose="020B0604020202020204" pitchFamily="34" charset="0"/>
              <a:sym typeface="+mn-ea"/>
            </a:endParaRPr>
          </a:p>
          <a:p>
            <a:pPr lvl="2" indent="0">
              <a:lnSpc>
                <a:spcPct val="140000"/>
              </a:lnSpc>
              <a:buNone/>
            </a:pPr>
            <a:endParaRPr lang="en-US" altLang="zh-CN" sz="1400" b="1" dirty="0">
              <a:cs typeface="Arial" panose="020B0604020202020204" pitchFamily="34" charset="0"/>
              <a:sym typeface="+mn-ea"/>
            </a:endParaRPr>
          </a:p>
          <a:p>
            <a:pPr lvl="2" indent="0">
              <a:lnSpc>
                <a:spcPct val="240000"/>
              </a:lnSpc>
              <a:buNone/>
            </a:pPr>
            <a:endParaRPr lang="zh-CN" altLang="en-US" sz="1600" b="1" dirty="0">
              <a:cs typeface="Arial" panose="020B0604020202020204" pitchFamily="34" charset="0"/>
              <a:sym typeface="+mn-ea"/>
            </a:endParaRPr>
          </a:p>
        </p:txBody>
      </p:sp>
      <p:pic>
        <p:nvPicPr>
          <p:cNvPr id="2" name="图片 1"/>
          <p:cNvPicPr>
            <a:picLocks noChangeAspect="1"/>
          </p:cNvPicPr>
          <p:nvPr/>
        </p:nvPicPr>
        <p:blipFill>
          <a:blip r:embed="rId3"/>
          <a:stretch>
            <a:fillRect/>
          </a:stretch>
        </p:blipFill>
        <p:spPr>
          <a:xfrm>
            <a:off x="2760607" y="2185021"/>
            <a:ext cx="6408712" cy="4117792"/>
          </a:xfrm>
          <a:prstGeom prst="rect">
            <a:avLst/>
          </a:prstGeom>
        </p:spPr>
      </p:pic>
      <p:sp>
        <p:nvSpPr>
          <p:cNvPr id="3" name="文本框 2"/>
          <p:cNvSpPr txBox="1"/>
          <p:nvPr/>
        </p:nvSpPr>
        <p:spPr>
          <a:xfrm>
            <a:off x="3762145" y="2426502"/>
            <a:ext cx="914400" cy="304800"/>
          </a:xfrm>
          <a:prstGeom prst="rect">
            <a:avLst/>
          </a:prstGeom>
          <a:noFill/>
          <a:ln>
            <a:solidFill>
              <a:srgbClr val="E4EFF9"/>
            </a:solidFill>
          </a:ln>
        </p:spPr>
        <p:txBody>
          <a:bodyPr wrap="square" rtlCol="0">
            <a:spAutoFit/>
          </a:bodyPr>
          <a:lstStyle/>
          <a:p>
            <a:r>
              <a:rPr lang="zh-CN" altLang="en-US" sz="1400" dirty="0">
                <a:solidFill>
                  <a:srgbClr val="FF0000"/>
                </a:solidFill>
              </a:rPr>
              <a:t>表</a:t>
            </a:r>
            <a:r>
              <a:rPr lang="en-US" altLang="zh-CN" sz="1400" dirty="0">
                <a:solidFill>
                  <a:srgbClr val="FF0000"/>
                </a:solidFill>
              </a:rPr>
              <a:t>tbl2</a:t>
            </a:r>
          </a:p>
        </p:txBody>
      </p:sp>
      <p:sp>
        <p:nvSpPr>
          <p:cNvPr id="6" name="文本框 5"/>
          <p:cNvSpPr txBox="1"/>
          <p:nvPr/>
        </p:nvSpPr>
        <p:spPr>
          <a:xfrm>
            <a:off x="3762145" y="5409598"/>
            <a:ext cx="914400" cy="304800"/>
          </a:xfrm>
          <a:prstGeom prst="rect">
            <a:avLst/>
          </a:prstGeom>
          <a:noFill/>
          <a:ln>
            <a:solidFill>
              <a:srgbClr val="E4EFF9"/>
            </a:solidFill>
          </a:ln>
        </p:spPr>
        <p:txBody>
          <a:bodyPr wrap="square" rtlCol="0">
            <a:spAutoFit/>
          </a:bodyPr>
          <a:lstStyle/>
          <a:p>
            <a:r>
              <a:rPr lang="zh-CN" altLang="en-US" sz="1400" dirty="0">
                <a:solidFill>
                  <a:srgbClr val="FF0000"/>
                </a:solidFill>
              </a:rPr>
              <a:t>表</a:t>
            </a:r>
            <a:r>
              <a:rPr lang="en-US" altLang="zh-CN" sz="1400" dirty="0">
                <a:solidFill>
                  <a:srgbClr val="FF0000"/>
                </a:solidFill>
              </a:rPr>
              <a:t>tbl1</a:t>
            </a:r>
          </a:p>
        </p:txBody>
      </p:sp>
      <p:sp>
        <p:nvSpPr>
          <p:cNvPr id="8" name="文本框 7"/>
          <p:cNvSpPr txBox="1"/>
          <p:nvPr/>
        </p:nvSpPr>
        <p:spPr>
          <a:xfrm>
            <a:off x="4676545" y="3375733"/>
            <a:ext cx="914400" cy="304800"/>
          </a:xfrm>
          <a:prstGeom prst="rect">
            <a:avLst/>
          </a:prstGeom>
          <a:noFill/>
          <a:ln>
            <a:solidFill>
              <a:srgbClr val="E4EFF9"/>
            </a:solidFill>
          </a:ln>
        </p:spPr>
        <p:txBody>
          <a:bodyPr wrap="square" rtlCol="0">
            <a:spAutoFit/>
          </a:bodyPr>
          <a:lstStyle/>
          <a:p>
            <a:r>
              <a:rPr lang="zh-CN" altLang="en-US" sz="1400" dirty="0">
                <a:solidFill>
                  <a:srgbClr val="FF0000"/>
                </a:solidFill>
              </a:rPr>
              <a:t>触发器</a:t>
            </a:r>
            <a:r>
              <a:rPr lang="en-US" altLang="zh-CN" sz="1400" dirty="0">
                <a:solidFill>
                  <a:srgbClr val="FF0000"/>
                </a:solidFill>
              </a:rPr>
              <a:t>2</a:t>
            </a:r>
          </a:p>
        </p:txBody>
      </p:sp>
      <p:sp>
        <p:nvSpPr>
          <p:cNvPr id="9" name="文本框 8"/>
          <p:cNvSpPr txBox="1"/>
          <p:nvPr/>
        </p:nvSpPr>
        <p:spPr>
          <a:xfrm>
            <a:off x="4709619" y="4392665"/>
            <a:ext cx="914400" cy="304800"/>
          </a:xfrm>
          <a:prstGeom prst="rect">
            <a:avLst/>
          </a:prstGeom>
          <a:noFill/>
          <a:ln>
            <a:solidFill>
              <a:srgbClr val="E4EFF9"/>
            </a:solidFill>
          </a:ln>
        </p:spPr>
        <p:txBody>
          <a:bodyPr wrap="square" rtlCol="0">
            <a:spAutoFit/>
          </a:bodyPr>
          <a:lstStyle/>
          <a:p>
            <a:r>
              <a:rPr lang="zh-CN" altLang="en-US" sz="1400" dirty="0">
                <a:solidFill>
                  <a:srgbClr val="FF0000"/>
                </a:solidFill>
              </a:rPr>
              <a:t>触发器</a:t>
            </a:r>
            <a:r>
              <a:rPr lang="en-US" altLang="zh-CN" sz="1400" dirty="0">
                <a:solidFill>
                  <a:srgbClr val="FF0000"/>
                </a:solidFill>
              </a:rPr>
              <a:t>1</a:t>
            </a:r>
          </a:p>
        </p:txBody>
      </p:sp>
      <p:sp>
        <p:nvSpPr>
          <p:cNvPr id="10" name="文本框 9"/>
          <p:cNvSpPr txBox="1"/>
          <p:nvPr/>
        </p:nvSpPr>
        <p:spPr>
          <a:xfrm>
            <a:off x="7513135" y="5409598"/>
            <a:ext cx="914400" cy="304800"/>
          </a:xfrm>
          <a:prstGeom prst="rect">
            <a:avLst/>
          </a:prstGeom>
          <a:noFill/>
          <a:ln>
            <a:solidFill>
              <a:srgbClr val="E4EFF9"/>
            </a:solidFill>
          </a:ln>
        </p:spPr>
        <p:txBody>
          <a:bodyPr wrap="square" rtlCol="0">
            <a:spAutoFit/>
          </a:bodyPr>
          <a:lstStyle/>
          <a:p>
            <a:r>
              <a:rPr lang="zh-CN" altLang="en-US" sz="1400" dirty="0">
                <a:solidFill>
                  <a:srgbClr val="FF0000"/>
                </a:solidFill>
              </a:rPr>
              <a:t>表</a:t>
            </a:r>
            <a:r>
              <a:rPr lang="en-US" altLang="zh-CN" sz="1400" dirty="0">
                <a:solidFill>
                  <a:srgbClr val="FF0000"/>
                </a:solidFill>
              </a:rPr>
              <a:t>tbl4</a:t>
            </a:r>
          </a:p>
        </p:txBody>
      </p:sp>
      <p:sp>
        <p:nvSpPr>
          <p:cNvPr id="11" name="文本框 10"/>
          <p:cNvSpPr txBox="1"/>
          <p:nvPr/>
        </p:nvSpPr>
        <p:spPr>
          <a:xfrm>
            <a:off x="7513135" y="2347033"/>
            <a:ext cx="914400" cy="304800"/>
          </a:xfrm>
          <a:prstGeom prst="rect">
            <a:avLst/>
          </a:prstGeom>
          <a:noFill/>
          <a:ln>
            <a:solidFill>
              <a:srgbClr val="E4EFF9"/>
            </a:solidFill>
          </a:ln>
        </p:spPr>
        <p:txBody>
          <a:bodyPr wrap="square" rtlCol="0">
            <a:spAutoFit/>
          </a:bodyPr>
          <a:lstStyle/>
          <a:p>
            <a:r>
              <a:rPr lang="zh-CN" altLang="en-US" sz="1400" dirty="0">
                <a:solidFill>
                  <a:srgbClr val="FF0000"/>
                </a:solidFill>
              </a:rPr>
              <a:t>表</a:t>
            </a:r>
            <a:r>
              <a:rPr lang="en-US" altLang="zh-CN" sz="1400" dirty="0">
                <a:solidFill>
                  <a:srgbClr val="FF0000"/>
                </a:solidFill>
              </a:rPr>
              <a:t>tbl3</a:t>
            </a:r>
          </a:p>
        </p:txBody>
      </p:sp>
      <p:sp>
        <p:nvSpPr>
          <p:cNvPr id="12" name="文本框 11"/>
          <p:cNvSpPr txBox="1"/>
          <p:nvPr/>
        </p:nvSpPr>
        <p:spPr>
          <a:xfrm>
            <a:off x="6793055" y="3296264"/>
            <a:ext cx="914400" cy="304800"/>
          </a:xfrm>
          <a:prstGeom prst="rect">
            <a:avLst/>
          </a:prstGeom>
          <a:noFill/>
          <a:ln>
            <a:solidFill>
              <a:srgbClr val="E4EFF9"/>
            </a:solidFill>
          </a:ln>
        </p:spPr>
        <p:txBody>
          <a:bodyPr wrap="square" rtlCol="0">
            <a:spAutoFit/>
          </a:bodyPr>
          <a:lstStyle/>
          <a:p>
            <a:r>
              <a:rPr lang="zh-CN" altLang="en-US" sz="1400" dirty="0">
                <a:solidFill>
                  <a:srgbClr val="FF0000"/>
                </a:solidFill>
              </a:rPr>
              <a:t>触发器</a:t>
            </a:r>
            <a:r>
              <a:rPr lang="en-US" altLang="zh-CN" sz="1400" dirty="0">
                <a:solidFill>
                  <a:srgbClr val="FF0000"/>
                </a:solidFill>
              </a:rPr>
              <a:t>3</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pPr marL="360680" lvl="1">
              <a:buClr>
                <a:srgbClr val="FD0000"/>
              </a:buClr>
              <a:defRPr/>
            </a:pPr>
            <a:r>
              <a:rPr lang="zh-CN" altLang="en-US" sz="3000" b="1" kern="1200" spc="100" dirty="0">
                <a:latin typeface="Arial" panose="020B0604020202020204" pitchFamily="34" charset="0"/>
                <a:ea typeface="微软雅黑" panose="020B0503020204020204" pitchFamily="34" charset="-122"/>
                <a:cs typeface="宋体" panose="02010600030101010101" pitchFamily="2" charset="-122"/>
                <a:sym typeface="+mn-ea"/>
              </a:rPr>
              <a:t>触发器</a:t>
            </a:r>
          </a:p>
        </p:txBody>
      </p:sp>
      <p:sp>
        <p:nvSpPr>
          <p:cNvPr id="15364" name="Rectangle 243"/>
          <p:cNvSpPr>
            <a:spLocks noGrp="1" noChangeArrowheads="1"/>
          </p:cNvSpPr>
          <p:nvPr>
            <p:ph type="body" sz="quarter" idx="10"/>
          </p:nvPr>
        </p:nvSpPr>
        <p:spPr/>
        <p:txBody>
          <a:bodyPr>
            <a:normAutofit fontScale="92500" lnSpcReduction="20000"/>
          </a:bodyPr>
          <a:lstStyle/>
          <a:p>
            <a:pPr marL="285750" indent="-285750">
              <a:lnSpc>
                <a:spcPct val="140000"/>
              </a:lnSpc>
            </a:pPr>
            <a:r>
              <a:rPr lang="zh-CN" altLang="en-US" dirty="0">
                <a:cs typeface="Arial" panose="020B0604020202020204" pitchFamily="34" charset="0"/>
              </a:rPr>
              <a:t>创建触发器的语法为： </a:t>
            </a:r>
            <a:endParaRPr lang="en-US" altLang="zh-CN" b="1" dirty="0">
              <a:cs typeface="Arial" panose="020B0604020202020204" pitchFamily="34" charset="0"/>
            </a:endParaRPr>
          </a:p>
          <a:p>
            <a:pPr marL="0" indent="0">
              <a:lnSpc>
                <a:spcPct val="140000"/>
              </a:lnSpc>
              <a:buNone/>
            </a:pPr>
            <a:r>
              <a:rPr lang="en-US" altLang="zh-CN" b="1" dirty="0">
                <a:cs typeface="Arial" panose="020B0604020202020204" pitchFamily="34" charset="0"/>
              </a:rPr>
              <a:t>            </a:t>
            </a:r>
            <a:r>
              <a:rPr lang="en-US" altLang="zh-CN" sz="1600" b="1" dirty="0">
                <a:cs typeface="Arial" panose="020B0604020202020204" pitchFamily="34" charset="0"/>
              </a:rPr>
              <a:t>CREATE TRIGGER &lt;</a:t>
            </a:r>
            <a:r>
              <a:rPr lang="zh-CN" altLang="zh-CN" sz="1600" b="1" dirty="0">
                <a:cs typeface="Arial" panose="020B0604020202020204" pitchFamily="34" charset="0"/>
              </a:rPr>
              <a:t>触发器名称</a:t>
            </a:r>
            <a:r>
              <a:rPr lang="en-US" altLang="zh-CN" sz="1600" b="1" dirty="0">
                <a:cs typeface="Arial" panose="020B0604020202020204" pitchFamily="34" charset="0"/>
              </a:rPr>
              <a:t>&gt; &lt;</a:t>
            </a:r>
            <a:r>
              <a:rPr lang="zh-CN" altLang="zh-CN" sz="1600" b="1" dirty="0">
                <a:cs typeface="Arial" panose="020B0604020202020204" pitchFamily="34" charset="0"/>
              </a:rPr>
              <a:t>触发事件</a:t>
            </a:r>
            <a:r>
              <a:rPr lang="en-US" altLang="zh-CN" sz="1600" b="1" dirty="0">
                <a:cs typeface="Arial" panose="020B0604020202020204" pitchFamily="34" charset="0"/>
              </a:rPr>
              <a:t>&gt; ON &lt;</a:t>
            </a:r>
            <a:r>
              <a:rPr lang="zh-CN" altLang="zh-CN" sz="1600" b="1" dirty="0">
                <a:cs typeface="Arial" panose="020B0604020202020204" pitchFamily="34" charset="0"/>
              </a:rPr>
              <a:t>目标表</a:t>
            </a:r>
            <a:r>
              <a:rPr lang="en-US" altLang="zh-CN" sz="1600" b="1" dirty="0">
                <a:cs typeface="Arial" panose="020B0604020202020204" pitchFamily="34" charset="0"/>
              </a:rPr>
              <a:t>&gt;</a:t>
            </a:r>
          </a:p>
          <a:p>
            <a:pPr marL="0" indent="0">
              <a:lnSpc>
                <a:spcPct val="140000"/>
              </a:lnSpc>
              <a:buNone/>
            </a:pPr>
            <a:r>
              <a:rPr lang="en-US" altLang="zh-CN" sz="1600" b="1" dirty="0">
                <a:cs typeface="Arial" panose="020B0604020202020204" pitchFamily="34" charset="0"/>
              </a:rPr>
              <a:t>               &lt;</a:t>
            </a:r>
            <a:r>
              <a:rPr lang="zh-CN" altLang="zh-CN" sz="1600" b="1" dirty="0">
                <a:cs typeface="Arial" panose="020B0604020202020204" pitchFamily="34" charset="0"/>
              </a:rPr>
              <a:t>触发时间</a:t>
            </a:r>
            <a:r>
              <a:rPr lang="en-US" altLang="zh-CN" sz="1600" b="1" dirty="0">
                <a:cs typeface="Arial" panose="020B0604020202020204" pitchFamily="34" charset="0"/>
              </a:rPr>
              <a:t>&gt;  </a:t>
            </a:r>
          </a:p>
          <a:p>
            <a:pPr lvl="2" indent="0">
              <a:lnSpc>
                <a:spcPct val="160000"/>
              </a:lnSpc>
              <a:buNone/>
            </a:pPr>
            <a:r>
              <a:rPr lang="en-US" altLang="zh-CN" b="1" dirty="0">
                <a:cs typeface="Arial" panose="020B0604020202020204" pitchFamily="34" charset="0"/>
              </a:rPr>
              <a:t> WHEN &lt;</a:t>
            </a:r>
            <a:r>
              <a:rPr lang="zh-CN" altLang="zh-CN" b="1" dirty="0">
                <a:cs typeface="Arial" panose="020B0604020202020204" pitchFamily="34" charset="0"/>
              </a:rPr>
              <a:t>触发条件</a:t>
            </a:r>
            <a:r>
              <a:rPr lang="en-US" altLang="zh-CN" b="1" dirty="0">
                <a:cs typeface="Arial" panose="020B0604020202020204" pitchFamily="34" charset="0"/>
              </a:rPr>
              <a:t>&gt;  </a:t>
            </a:r>
          </a:p>
          <a:p>
            <a:pPr marL="0" indent="0">
              <a:lnSpc>
                <a:spcPct val="160000"/>
              </a:lnSpc>
              <a:buNone/>
            </a:pPr>
            <a:r>
              <a:rPr lang="en-US" altLang="zh-CN" sz="1600" b="1" dirty="0">
                <a:cs typeface="Arial" panose="020B0604020202020204" pitchFamily="34" charset="0"/>
              </a:rPr>
              <a:t>               &lt;</a:t>
            </a:r>
            <a:r>
              <a:rPr lang="zh-CN" altLang="en-US" sz="1600" b="1" dirty="0">
                <a:cs typeface="Arial" panose="020B0604020202020204" pitchFamily="34" charset="0"/>
              </a:rPr>
              <a:t>触发</a:t>
            </a:r>
            <a:r>
              <a:rPr lang="zh-CN" altLang="zh-CN" sz="1600" b="1" dirty="0">
                <a:cs typeface="Arial" panose="020B0604020202020204" pitchFamily="34" charset="0"/>
              </a:rPr>
              <a:t>动作</a:t>
            </a:r>
            <a:r>
              <a:rPr lang="en-US" altLang="zh-CN" sz="1600" b="1" dirty="0">
                <a:cs typeface="Arial" panose="020B0604020202020204" pitchFamily="34" charset="0"/>
              </a:rPr>
              <a:t>&gt; ;</a:t>
            </a:r>
            <a:endParaRPr lang="en-US" altLang="zh-CN" sz="1800" b="1" dirty="0">
              <a:cs typeface="Arial" panose="020B0604020202020204" pitchFamily="34" charset="0"/>
              <a:sym typeface="+mn-ea"/>
            </a:endParaRPr>
          </a:p>
          <a:p>
            <a:pPr lvl="2">
              <a:lnSpc>
                <a:spcPct val="160000"/>
              </a:lnSpc>
              <a:buNone/>
            </a:pPr>
            <a:r>
              <a:rPr lang="en-US" altLang="zh-CN" b="1" dirty="0">
                <a:cs typeface="Arial" panose="020B0604020202020204" pitchFamily="34" charset="0"/>
                <a:sym typeface="+mn-ea"/>
              </a:rPr>
              <a:t>&lt;</a:t>
            </a:r>
            <a:r>
              <a:rPr lang="zh-CN" altLang="zh-CN" b="1" dirty="0">
                <a:cs typeface="Arial" panose="020B0604020202020204" pitchFamily="34" charset="0"/>
                <a:sym typeface="+mn-ea"/>
              </a:rPr>
              <a:t>触发器名称</a:t>
            </a:r>
            <a:r>
              <a:rPr lang="en-US" altLang="zh-CN" b="1" dirty="0">
                <a:cs typeface="Arial" panose="020B0604020202020204" pitchFamily="34" charset="0"/>
                <a:sym typeface="+mn-ea"/>
              </a:rPr>
              <a:t>&gt;</a:t>
            </a:r>
            <a:r>
              <a:rPr lang="zh-CN" altLang="en-US" dirty="0">
                <a:cs typeface="Arial" panose="020B0604020202020204" pitchFamily="34" charset="0"/>
                <a:sym typeface="+mn-ea"/>
              </a:rPr>
              <a:t>： 表的拥有者或拥有</a:t>
            </a:r>
            <a:r>
              <a:rPr lang="en-US" altLang="zh-CN" dirty="0">
                <a:cs typeface="Arial" panose="020B0604020202020204" pitchFamily="34" charset="0"/>
                <a:sym typeface="+mn-ea"/>
              </a:rPr>
              <a:t>DBA</a:t>
            </a:r>
            <a:r>
              <a:rPr lang="zh-CN" altLang="en-US" dirty="0">
                <a:cs typeface="Arial" panose="020B0604020202020204" pitchFamily="34" charset="0"/>
                <a:sym typeface="+mn-ea"/>
              </a:rPr>
              <a:t>权限才可以定义表上的触发器。</a:t>
            </a:r>
          </a:p>
          <a:p>
            <a:pPr lvl="2">
              <a:lnSpc>
                <a:spcPct val="160000"/>
              </a:lnSpc>
              <a:buNone/>
            </a:pPr>
            <a:r>
              <a:rPr lang="en-US" altLang="zh-CN" b="1" dirty="0">
                <a:cs typeface="Arial" panose="020B0604020202020204" pitchFamily="34" charset="0"/>
                <a:sym typeface="+mn-ea"/>
              </a:rPr>
              <a:t>&lt;</a:t>
            </a:r>
            <a:r>
              <a:rPr lang="zh-CN" altLang="zh-CN" b="1" dirty="0">
                <a:cs typeface="Arial" panose="020B0604020202020204" pitchFamily="34" charset="0"/>
                <a:sym typeface="+mn-ea"/>
              </a:rPr>
              <a:t>触发事件</a:t>
            </a:r>
            <a:r>
              <a:rPr lang="en-US" altLang="zh-CN" b="1" dirty="0">
                <a:cs typeface="Arial" panose="020B0604020202020204" pitchFamily="34" charset="0"/>
                <a:sym typeface="+mn-ea"/>
              </a:rPr>
              <a:t>&gt;</a:t>
            </a:r>
            <a:r>
              <a:rPr lang="zh-CN" altLang="en-US" dirty="0">
                <a:cs typeface="Arial" panose="020B0604020202020204" pitchFamily="34" charset="0"/>
                <a:sym typeface="+mn-ea"/>
              </a:rPr>
              <a:t>：</a:t>
            </a:r>
            <a:r>
              <a:rPr lang="en-US" altLang="zh-CN" dirty="0">
                <a:cs typeface="Arial" panose="020B0604020202020204" pitchFamily="34" charset="0"/>
                <a:sym typeface="+mn-ea"/>
              </a:rPr>
              <a:t>UPDATE</a:t>
            </a:r>
            <a:r>
              <a:rPr lang="zh-CN" altLang="en-US" dirty="0">
                <a:cs typeface="Arial" panose="020B0604020202020204" pitchFamily="34" charset="0"/>
                <a:sym typeface="+mn-ea"/>
              </a:rPr>
              <a:t>，</a:t>
            </a:r>
            <a:r>
              <a:rPr lang="en-US" altLang="zh-CN" dirty="0">
                <a:cs typeface="Arial" panose="020B0604020202020204" pitchFamily="34" charset="0"/>
                <a:sym typeface="+mn-ea"/>
              </a:rPr>
              <a:t>DELETE</a:t>
            </a:r>
            <a:r>
              <a:rPr lang="zh-CN" altLang="en-US" dirty="0">
                <a:cs typeface="Arial" panose="020B0604020202020204" pitchFamily="34" charset="0"/>
                <a:sym typeface="+mn-ea"/>
              </a:rPr>
              <a:t>，</a:t>
            </a:r>
            <a:r>
              <a:rPr lang="en-US" altLang="zh-CN" dirty="0">
                <a:cs typeface="Arial" panose="020B0604020202020204" pitchFamily="34" charset="0"/>
                <a:sym typeface="+mn-ea"/>
              </a:rPr>
              <a:t>INSERT</a:t>
            </a:r>
            <a:r>
              <a:rPr lang="zh-CN" altLang="en-US" dirty="0">
                <a:cs typeface="Arial" panose="020B0604020202020204" pitchFamily="34" charset="0"/>
                <a:sym typeface="+mn-ea"/>
              </a:rPr>
              <a:t>和</a:t>
            </a:r>
            <a:r>
              <a:rPr lang="en-US" altLang="zh-CN" dirty="0">
                <a:cs typeface="Arial" panose="020B0604020202020204" pitchFamily="34" charset="0"/>
                <a:sym typeface="+mn-ea"/>
              </a:rPr>
              <a:t>SELETE</a:t>
            </a:r>
            <a:r>
              <a:rPr lang="zh-CN" altLang="en-US" dirty="0">
                <a:cs typeface="Arial" panose="020B0604020202020204" pitchFamily="34" charset="0"/>
                <a:sym typeface="+mn-ea"/>
              </a:rPr>
              <a:t>均可激活触发器。</a:t>
            </a:r>
          </a:p>
          <a:p>
            <a:pPr lvl="2">
              <a:lnSpc>
                <a:spcPct val="160000"/>
              </a:lnSpc>
              <a:buNone/>
            </a:pPr>
            <a:r>
              <a:rPr lang="en-US" altLang="zh-CN" b="1" dirty="0">
                <a:cs typeface="Arial" panose="020B0604020202020204" pitchFamily="34" charset="0"/>
                <a:sym typeface="+mn-ea"/>
              </a:rPr>
              <a:t>&lt;</a:t>
            </a:r>
            <a:r>
              <a:rPr lang="zh-CN" altLang="en-US" b="1" dirty="0">
                <a:cs typeface="Arial" panose="020B0604020202020204" pitchFamily="34" charset="0"/>
                <a:sym typeface="+mn-ea"/>
              </a:rPr>
              <a:t>触发时间</a:t>
            </a:r>
            <a:r>
              <a:rPr lang="en-US" altLang="zh-CN" b="1" dirty="0">
                <a:cs typeface="Arial" panose="020B0604020202020204" pitchFamily="34" charset="0"/>
                <a:sym typeface="+mn-ea"/>
              </a:rPr>
              <a:t>&gt;</a:t>
            </a:r>
            <a:r>
              <a:rPr lang="zh-CN" altLang="en-US" b="1" dirty="0">
                <a:cs typeface="Arial" panose="020B0604020202020204" pitchFamily="34" charset="0"/>
                <a:sym typeface="+mn-ea"/>
              </a:rPr>
              <a:t>：</a:t>
            </a:r>
            <a:r>
              <a:rPr lang="en-US" altLang="zh-CN" dirty="0">
                <a:cs typeface="Arial" panose="020B0604020202020204" pitchFamily="34" charset="0"/>
                <a:sym typeface="+mn-ea"/>
              </a:rPr>
              <a:t>BEFORE</a:t>
            </a:r>
            <a:r>
              <a:rPr lang="zh-CN" altLang="zh-CN" dirty="0">
                <a:cs typeface="Arial" panose="020B0604020202020204" pitchFamily="34" charset="0"/>
                <a:sym typeface="+mn-ea"/>
              </a:rPr>
              <a:t>，</a:t>
            </a:r>
            <a:r>
              <a:rPr lang="en-US" altLang="zh-CN" dirty="0">
                <a:cs typeface="Arial" panose="020B0604020202020204" pitchFamily="34" charset="0"/>
                <a:sym typeface="+mn-ea"/>
              </a:rPr>
              <a:t>AFTER</a:t>
            </a:r>
            <a:r>
              <a:rPr lang="zh-CN" altLang="en-US" dirty="0">
                <a:cs typeface="Arial" panose="020B0604020202020204" pitchFamily="34" charset="0"/>
                <a:sym typeface="+mn-ea"/>
              </a:rPr>
              <a:t>，</a:t>
            </a:r>
            <a:r>
              <a:rPr lang="en-US" altLang="zh-CN" dirty="0">
                <a:cs typeface="Arial" panose="020B0604020202020204" pitchFamily="34" charset="0"/>
                <a:sym typeface="+mn-ea"/>
              </a:rPr>
              <a:t>FOR EACH ROW</a:t>
            </a:r>
            <a:r>
              <a:rPr lang="zh-CN" altLang="en-US" dirty="0">
                <a:cs typeface="Arial" panose="020B0604020202020204" pitchFamily="34" charset="0"/>
                <a:sym typeface="+mn-ea"/>
              </a:rPr>
              <a:t>。</a:t>
            </a:r>
          </a:p>
          <a:p>
            <a:pPr lvl="2">
              <a:lnSpc>
                <a:spcPct val="160000"/>
              </a:lnSpc>
              <a:buNone/>
            </a:pPr>
            <a:r>
              <a:rPr lang="en-US" altLang="zh-CN" b="1" dirty="0">
                <a:cs typeface="Arial" panose="020B0604020202020204" pitchFamily="34" charset="0"/>
                <a:sym typeface="+mn-ea"/>
              </a:rPr>
              <a:t>&lt;</a:t>
            </a:r>
            <a:r>
              <a:rPr lang="zh-CN" altLang="zh-CN" b="1" dirty="0">
                <a:cs typeface="Arial" panose="020B0604020202020204" pitchFamily="34" charset="0"/>
                <a:sym typeface="+mn-ea"/>
              </a:rPr>
              <a:t>触发条件</a:t>
            </a:r>
            <a:r>
              <a:rPr lang="en-US" altLang="zh-CN" b="1" dirty="0">
                <a:cs typeface="Arial" panose="020B0604020202020204" pitchFamily="34" charset="0"/>
                <a:sym typeface="+mn-ea"/>
              </a:rPr>
              <a:t>&gt;</a:t>
            </a:r>
            <a:r>
              <a:rPr lang="zh-CN" altLang="en-US" dirty="0">
                <a:cs typeface="Arial" panose="020B0604020202020204" pitchFamily="34" charset="0"/>
                <a:sym typeface="+mn-ea"/>
              </a:rPr>
              <a:t>：触发条件用</a:t>
            </a:r>
            <a:r>
              <a:rPr lang="en-US" altLang="zh-CN" dirty="0">
                <a:cs typeface="Arial" panose="020B0604020202020204" pitchFamily="34" charset="0"/>
                <a:sym typeface="+mn-ea"/>
              </a:rPr>
              <a:t>WHEN</a:t>
            </a:r>
            <a:r>
              <a:rPr lang="zh-CN" altLang="en-US" dirty="0">
                <a:cs typeface="Arial" panose="020B0604020202020204" pitchFamily="34" charset="0"/>
                <a:sym typeface="+mn-ea"/>
              </a:rPr>
              <a:t>语句来定义，它可以是任意条件表达式。</a:t>
            </a:r>
          </a:p>
          <a:p>
            <a:pPr lvl="2">
              <a:lnSpc>
                <a:spcPct val="160000"/>
              </a:lnSpc>
              <a:buNone/>
            </a:pPr>
            <a:r>
              <a:rPr lang="en-US" altLang="zh-CN" b="1" dirty="0">
                <a:cs typeface="Arial" panose="020B0604020202020204" pitchFamily="34" charset="0"/>
                <a:sym typeface="+mn-ea"/>
              </a:rPr>
              <a:t>&lt;</a:t>
            </a:r>
            <a:r>
              <a:rPr lang="zh-CN" altLang="zh-CN" b="1" dirty="0">
                <a:cs typeface="Arial" panose="020B0604020202020204" pitchFamily="34" charset="0"/>
                <a:sym typeface="+mn-ea"/>
              </a:rPr>
              <a:t>触发动作</a:t>
            </a:r>
            <a:r>
              <a:rPr lang="en-US" altLang="zh-CN" b="1" dirty="0">
                <a:cs typeface="Arial" panose="020B0604020202020204" pitchFamily="34" charset="0"/>
                <a:sym typeface="+mn-ea"/>
              </a:rPr>
              <a:t>&gt;</a:t>
            </a:r>
            <a:r>
              <a:rPr lang="zh-CN" altLang="en-US" b="1" dirty="0">
                <a:cs typeface="Arial" panose="020B0604020202020204" pitchFamily="34" charset="0"/>
                <a:sym typeface="+mn-ea"/>
              </a:rPr>
              <a:t>：</a:t>
            </a:r>
            <a:r>
              <a:rPr lang="zh-CN" altLang="en-US" dirty="0">
                <a:cs typeface="Arial" panose="020B0604020202020204" pitchFamily="34" charset="0"/>
                <a:sym typeface="+mn-ea"/>
              </a:rPr>
              <a:t>当触发器被激活时想要执行的语句。</a:t>
            </a:r>
          </a:p>
          <a:p>
            <a:pPr lvl="2">
              <a:lnSpc>
                <a:spcPct val="180000"/>
              </a:lnSpc>
            </a:pPr>
            <a:endParaRPr lang="zh-CN" altLang="en-US" b="1" dirty="0">
              <a:cs typeface="Arial" panose="020B0604020202020204" pitchFamily="34" charset="0"/>
              <a:sym typeface="+mn-ea"/>
            </a:endParaRPr>
          </a:p>
          <a:p>
            <a:pPr lvl="2" indent="0">
              <a:lnSpc>
                <a:spcPct val="140000"/>
              </a:lnSpc>
              <a:buNone/>
            </a:pPr>
            <a:endParaRPr lang="en-US" altLang="zh-CN" sz="1400" b="1" dirty="0">
              <a:cs typeface="Arial" panose="020B0604020202020204" pitchFamily="34" charset="0"/>
              <a:sym typeface="+mn-ea"/>
            </a:endParaRPr>
          </a:p>
          <a:p>
            <a:pPr lvl="2" indent="0">
              <a:lnSpc>
                <a:spcPct val="240000"/>
              </a:lnSpc>
              <a:buNone/>
            </a:pPr>
            <a:endParaRPr lang="zh-CN" altLang="en-US" sz="1600" b="1" dirty="0">
              <a:cs typeface="Arial" panose="020B0604020202020204" pitchFamily="34" charset="0"/>
              <a:sym typeface="+mn-ea"/>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pPr marL="360680" lvl="1">
              <a:buClr>
                <a:srgbClr val="FD0000"/>
              </a:buClr>
              <a:defRPr/>
            </a:pPr>
            <a:r>
              <a:rPr lang="zh-CN" altLang="en-US" sz="3000" b="1" kern="1200" spc="100" dirty="0">
                <a:latin typeface="Arial" panose="020B0604020202020204" pitchFamily="34" charset="0"/>
                <a:ea typeface="微软雅黑" panose="020B0503020204020204" pitchFamily="34" charset="-122"/>
                <a:cs typeface="宋体" panose="02010600030101010101" pitchFamily="2" charset="-122"/>
                <a:sym typeface="+mn-ea"/>
              </a:rPr>
              <a:t>数据定义语言（</a:t>
            </a:r>
            <a:r>
              <a:rPr lang="en-US" altLang="zh-CN" sz="3000" b="1" kern="1200" spc="100" dirty="0">
                <a:latin typeface="Arial" panose="020B0604020202020204" pitchFamily="34" charset="0"/>
                <a:ea typeface="微软雅黑" panose="020B0503020204020204" pitchFamily="34" charset="-122"/>
                <a:cs typeface="宋体" panose="02010600030101010101" pitchFamily="2" charset="-122"/>
                <a:sym typeface="+mn-ea"/>
              </a:rPr>
              <a:t>DDL</a:t>
            </a:r>
            <a:r>
              <a:rPr lang="zh-CN" altLang="en-US" sz="3000" b="1" kern="1200" spc="100" dirty="0">
                <a:latin typeface="Arial" panose="020B0604020202020204" pitchFamily="34" charset="0"/>
                <a:ea typeface="微软雅黑" panose="020B0503020204020204" pitchFamily="34" charset="-122"/>
                <a:cs typeface="宋体" panose="02010600030101010101" pitchFamily="2" charset="-122"/>
                <a:sym typeface="+mn-ea"/>
              </a:rPr>
              <a:t>）</a:t>
            </a:r>
            <a:r>
              <a:rPr lang="en-US" altLang="zh-CN" sz="3000" b="1" kern="1200" spc="100" dirty="0">
                <a:latin typeface="Arial" panose="020B0604020202020204" pitchFamily="34" charset="0"/>
                <a:ea typeface="微软雅黑" panose="020B0503020204020204" pitchFamily="34" charset="-122"/>
                <a:cs typeface="宋体" panose="02010600030101010101" pitchFamily="2" charset="-122"/>
                <a:sym typeface="+mn-ea"/>
              </a:rPr>
              <a:t>-</a:t>
            </a:r>
            <a:r>
              <a:rPr lang="zh-CN" altLang="en-US" sz="3000" b="1" kern="1200" spc="100" dirty="0">
                <a:latin typeface="Arial" panose="020B0604020202020204" pitchFamily="34" charset="0"/>
                <a:ea typeface="微软雅黑" panose="020B0503020204020204" pitchFamily="34" charset="-122"/>
                <a:cs typeface="宋体" panose="02010600030101010101" pitchFamily="2" charset="-122"/>
                <a:sym typeface="+mn-ea"/>
              </a:rPr>
              <a:t>触发器</a:t>
            </a:r>
          </a:p>
        </p:txBody>
      </p:sp>
      <p:sp>
        <p:nvSpPr>
          <p:cNvPr id="15364" name="Rectangle 243"/>
          <p:cNvSpPr>
            <a:spLocks noGrp="1" noChangeArrowheads="1"/>
          </p:cNvSpPr>
          <p:nvPr>
            <p:ph type="body" sz="quarter" idx="10"/>
          </p:nvPr>
        </p:nvSpPr>
        <p:spPr/>
        <p:txBody>
          <a:bodyPr>
            <a:normAutofit/>
          </a:bodyPr>
          <a:lstStyle/>
          <a:p>
            <a:pPr marL="285750" indent="-285750">
              <a:lnSpc>
                <a:spcPct val="140000"/>
              </a:lnSpc>
            </a:pPr>
            <a:r>
              <a:rPr lang="zh-CN" altLang="en-US" dirty="0">
                <a:cs typeface="Arial" panose="020B0604020202020204" pitchFamily="34" charset="0"/>
              </a:rPr>
              <a:t>【示例</a:t>
            </a:r>
            <a:r>
              <a:rPr lang="en-US" altLang="zh-CN" dirty="0">
                <a:cs typeface="Arial" panose="020B0604020202020204" pitchFamily="34" charset="0"/>
              </a:rPr>
              <a:t>8</a:t>
            </a:r>
            <a:r>
              <a:rPr lang="zh-CN" altLang="en-US" dirty="0">
                <a:cs typeface="Arial" panose="020B0604020202020204" pitchFamily="34" charset="0"/>
              </a:rPr>
              <a:t>】 创建一个</a:t>
            </a:r>
            <a:r>
              <a:rPr lang="en-US" altLang="zh-CN" dirty="0">
                <a:cs typeface="Arial" panose="020B0604020202020204" pitchFamily="34" charset="0"/>
              </a:rPr>
              <a:t>DELETE</a:t>
            </a:r>
            <a:r>
              <a:rPr lang="zh-CN" altLang="en-US" dirty="0">
                <a:cs typeface="Arial" panose="020B0604020202020204" pitchFamily="34" charset="0"/>
              </a:rPr>
              <a:t>触发器，记录被删除信息。</a:t>
            </a:r>
          </a:p>
          <a:p>
            <a:pPr marL="0" indent="0">
              <a:lnSpc>
                <a:spcPct val="140000"/>
              </a:lnSpc>
              <a:buNone/>
            </a:pPr>
            <a:endParaRPr lang="zh-CN" altLang="en-US" dirty="0">
              <a:cs typeface="Arial" panose="020B0604020202020204" pitchFamily="34" charset="0"/>
            </a:endParaRPr>
          </a:p>
          <a:p>
            <a:pPr marL="0" indent="0">
              <a:lnSpc>
                <a:spcPct val="140000"/>
              </a:lnSpc>
              <a:buNone/>
            </a:pPr>
            <a:endParaRPr lang="zh-CN" altLang="en-US" sz="1400" dirty="0">
              <a:cs typeface="Arial" panose="020B0604020202020204" pitchFamily="34" charset="0"/>
            </a:endParaRPr>
          </a:p>
          <a:p>
            <a:pPr marL="0" indent="0">
              <a:lnSpc>
                <a:spcPct val="140000"/>
              </a:lnSpc>
              <a:buNone/>
            </a:pPr>
            <a:endParaRPr lang="zh-CN" altLang="en-US" sz="1400" dirty="0">
              <a:cs typeface="Arial" panose="020B0604020202020204" pitchFamily="34" charset="0"/>
            </a:endParaRPr>
          </a:p>
          <a:p>
            <a:pPr marL="0" indent="0">
              <a:lnSpc>
                <a:spcPct val="140000"/>
              </a:lnSpc>
              <a:buNone/>
            </a:pPr>
            <a:endParaRPr lang="zh-CN" altLang="en-US" sz="1400" dirty="0">
              <a:cs typeface="Arial" panose="020B0604020202020204" pitchFamily="34" charset="0"/>
            </a:endParaRPr>
          </a:p>
          <a:p>
            <a:pPr marL="0" indent="0">
              <a:lnSpc>
                <a:spcPct val="140000"/>
              </a:lnSpc>
              <a:buNone/>
            </a:pPr>
            <a:endParaRPr lang="zh-CN" altLang="en-US" sz="1400" dirty="0">
              <a:cs typeface="Arial" panose="020B0604020202020204" pitchFamily="34" charset="0"/>
            </a:endParaRPr>
          </a:p>
          <a:p>
            <a:pPr marL="0" indent="0">
              <a:lnSpc>
                <a:spcPct val="140000"/>
              </a:lnSpc>
              <a:buNone/>
            </a:pPr>
            <a:endParaRPr lang="zh-CN" altLang="en-US" sz="1400" dirty="0">
              <a:cs typeface="Arial" panose="020B0604020202020204" pitchFamily="34" charset="0"/>
            </a:endParaRPr>
          </a:p>
          <a:p>
            <a:pPr marL="0" indent="0">
              <a:lnSpc>
                <a:spcPct val="140000"/>
              </a:lnSpc>
              <a:buNone/>
            </a:pPr>
            <a:endParaRPr lang="zh-CN" altLang="en-US" sz="1400" dirty="0">
              <a:cs typeface="Arial" panose="020B0604020202020204" pitchFamily="34" charset="0"/>
            </a:endParaRPr>
          </a:p>
          <a:p>
            <a:pPr marL="0" indent="0">
              <a:lnSpc>
                <a:spcPct val="140000"/>
              </a:lnSpc>
              <a:buNone/>
            </a:pPr>
            <a:endParaRPr lang="zh-CN" altLang="en-US" sz="1400" dirty="0">
              <a:cs typeface="Arial" panose="020B0604020202020204" pitchFamily="34" charset="0"/>
            </a:endParaRPr>
          </a:p>
          <a:p>
            <a:pPr marL="0" indent="0">
              <a:lnSpc>
                <a:spcPct val="140000"/>
              </a:lnSpc>
              <a:buNone/>
            </a:pPr>
            <a:endParaRPr lang="zh-CN" altLang="en-US" sz="1400" dirty="0">
              <a:cs typeface="Arial" panose="020B0604020202020204" pitchFamily="34" charset="0"/>
            </a:endParaRPr>
          </a:p>
          <a:p>
            <a:pPr marL="0" indent="0">
              <a:lnSpc>
                <a:spcPct val="140000"/>
              </a:lnSpc>
              <a:buNone/>
            </a:pPr>
            <a:endParaRPr lang="zh-CN" altLang="en-US" sz="1400" dirty="0">
              <a:cs typeface="Arial" panose="020B0604020202020204" pitchFamily="34" charset="0"/>
            </a:endParaRPr>
          </a:p>
          <a:p>
            <a:pPr marL="0" indent="0">
              <a:lnSpc>
                <a:spcPct val="140000"/>
              </a:lnSpc>
              <a:buNone/>
            </a:pPr>
            <a:endParaRPr lang="zh-CN" altLang="en-US" sz="1400" dirty="0">
              <a:cs typeface="Arial" panose="020B0604020202020204" pitchFamily="34" charset="0"/>
            </a:endParaRPr>
          </a:p>
          <a:p>
            <a:pPr marL="0" indent="0">
              <a:lnSpc>
                <a:spcPct val="140000"/>
              </a:lnSpc>
              <a:buNone/>
            </a:pPr>
            <a:endParaRPr lang="zh-CN" altLang="zh-CN" sz="1400" dirty="0">
              <a:cs typeface="Arial" panose="020B0604020202020204" pitchFamily="34" charset="0"/>
            </a:endParaRPr>
          </a:p>
          <a:p>
            <a:pPr marL="285750" indent="-285750">
              <a:lnSpc>
                <a:spcPct val="140000"/>
              </a:lnSpc>
            </a:pPr>
            <a:endParaRPr lang="zh-CN" altLang="zh-CN" sz="1400" dirty="0">
              <a:cs typeface="Arial" panose="020B0604020202020204" pitchFamily="34" charset="0"/>
            </a:endParaRPr>
          </a:p>
          <a:p>
            <a:pPr marL="0" indent="0">
              <a:lnSpc>
                <a:spcPct val="140000"/>
              </a:lnSpc>
              <a:buNone/>
            </a:pPr>
            <a:endParaRPr lang="en-US" altLang="zh-CN" sz="1200" b="1" dirty="0">
              <a:cs typeface="Arial" panose="020B0604020202020204" pitchFamily="34" charset="0"/>
            </a:endParaRPr>
          </a:p>
        </p:txBody>
      </p:sp>
      <p:sp>
        <p:nvSpPr>
          <p:cNvPr id="16" name="AutoShape 4"/>
          <p:cNvSpPr>
            <a:spLocks noChangeArrowheads="1"/>
          </p:cNvSpPr>
          <p:nvPr/>
        </p:nvSpPr>
        <p:spPr bwMode="black">
          <a:xfrm>
            <a:off x="1707580" y="1999616"/>
            <a:ext cx="5113020" cy="1497965"/>
          </a:xfrm>
          <a:prstGeom prst="roundRect">
            <a:avLst>
              <a:gd name="adj" fmla="val 16667"/>
            </a:avLst>
          </a:prstGeom>
          <a:solidFill>
            <a:schemeClr val="bg1">
              <a:lumMod val="85000"/>
            </a:schemeClr>
          </a:solidFill>
          <a:ln w="9525">
            <a:solidFill>
              <a:schemeClr val="tx1"/>
            </a:solidFill>
            <a:round/>
          </a:ln>
          <a:effectLst/>
        </p:spPr>
        <p:txBody>
          <a:bodyPr lIns="92075" tIns="46038" rIns="92075" bIns="0" anchor="ctr"/>
          <a:lstStyle/>
          <a:p>
            <a:pPr marL="119380" indent="-119380">
              <a:lnSpc>
                <a:spcPct val="80000"/>
              </a:lnSpc>
              <a:spcBef>
                <a:spcPct val="50000"/>
              </a:spcBef>
              <a:buClr>
                <a:schemeClr val="accent1"/>
              </a:buClr>
            </a:pPr>
            <a:r>
              <a:rPr lang="en-US" altLang="en-US" sz="1400" dirty="0">
                <a:solidFill>
                  <a:srgbClr val="00B0F0"/>
                </a:solidFill>
                <a:sym typeface="+mn-ea"/>
              </a:rPr>
              <a:t>create trigger </a:t>
            </a:r>
            <a:r>
              <a:rPr lang="en-US" altLang="en-US" sz="1400" dirty="0">
                <a:sym typeface="+mn-ea"/>
              </a:rPr>
              <a:t> </a:t>
            </a:r>
            <a:r>
              <a:rPr lang="en-US" altLang="en-US" sz="1400" dirty="0" err="1">
                <a:sym typeface="+mn-ea"/>
              </a:rPr>
              <a:t>t_employee</a:t>
            </a:r>
            <a:r>
              <a:rPr lang="en-US" altLang="en-US" sz="1400" dirty="0">
                <a:sym typeface="+mn-ea"/>
              </a:rPr>
              <a:t> </a:t>
            </a:r>
          </a:p>
          <a:p>
            <a:pPr marL="119380" indent="-119380">
              <a:lnSpc>
                <a:spcPct val="80000"/>
              </a:lnSpc>
              <a:spcBef>
                <a:spcPct val="50000"/>
              </a:spcBef>
              <a:buClr>
                <a:schemeClr val="accent1"/>
              </a:buClr>
            </a:pPr>
            <a:r>
              <a:rPr lang="en-US" altLang="en-US" sz="1400" dirty="0">
                <a:solidFill>
                  <a:srgbClr val="00B0F0"/>
                </a:solidFill>
                <a:sym typeface="+mn-ea"/>
              </a:rPr>
              <a:t>delete on </a:t>
            </a:r>
            <a:r>
              <a:rPr lang="en-US" altLang="en-US" sz="1400" dirty="0">
                <a:sym typeface="+mn-ea"/>
              </a:rPr>
              <a:t>employee</a:t>
            </a:r>
          </a:p>
          <a:p>
            <a:pPr marL="119380" indent="-119380">
              <a:lnSpc>
                <a:spcPct val="80000"/>
              </a:lnSpc>
              <a:spcBef>
                <a:spcPct val="50000"/>
              </a:spcBef>
              <a:buClr>
                <a:schemeClr val="accent1"/>
              </a:buClr>
            </a:pPr>
            <a:r>
              <a:rPr lang="en-US" altLang="en-US" sz="1400" dirty="0">
                <a:solidFill>
                  <a:srgbClr val="00B0F0"/>
                </a:solidFill>
                <a:sym typeface="+mn-ea"/>
              </a:rPr>
              <a:t>referencing old as </a:t>
            </a:r>
            <a:r>
              <a:rPr lang="en-US" altLang="en-US" sz="1400" dirty="0">
                <a:sym typeface="+mn-ea"/>
              </a:rPr>
              <a:t> pre </a:t>
            </a:r>
            <a:r>
              <a:rPr lang="en-US" altLang="en-US" sz="1400" dirty="0">
                <a:solidFill>
                  <a:srgbClr val="00B0F0"/>
                </a:solidFill>
                <a:sym typeface="+mn-ea"/>
              </a:rPr>
              <a:t>  </a:t>
            </a:r>
          </a:p>
          <a:p>
            <a:pPr marL="119380" indent="-119380">
              <a:lnSpc>
                <a:spcPct val="80000"/>
              </a:lnSpc>
              <a:spcBef>
                <a:spcPct val="50000"/>
              </a:spcBef>
              <a:buClr>
                <a:schemeClr val="accent1"/>
              </a:buClr>
            </a:pPr>
            <a:r>
              <a:rPr lang="en-US" altLang="en-US" sz="1400" dirty="0">
                <a:solidFill>
                  <a:srgbClr val="00B0F0"/>
                </a:solidFill>
                <a:sym typeface="+mn-ea"/>
              </a:rPr>
              <a:t>for each row</a:t>
            </a:r>
          </a:p>
          <a:p>
            <a:pPr marL="119380" indent="-119380">
              <a:lnSpc>
                <a:spcPct val="80000"/>
              </a:lnSpc>
              <a:spcBef>
                <a:spcPct val="50000"/>
              </a:spcBef>
              <a:buClr>
                <a:schemeClr val="accent1"/>
              </a:buClr>
            </a:pPr>
            <a:r>
              <a:rPr lang="en-US" altLang="en-US" sz="1400" dirty="0">
                <a:solidFill>
                  <a:srgbClr val="00B0F0"/>
                </a:solidFill>
                <a:sym typeface="+mn-ea"/>
              </a:rPr>
              <a:t>( insert into </a:t>
            </a:r>
            <a:r>
              <a:rPr lang="en-US" altLang="en-US" sz="1400" dirty="0" err="1">
                <a:sym typeface="+mn-ea"/>
              </a:rPr>
              <a:t>employee_del</a:t>
            </a:r>
            <a:r>
              <a:rPr lang="en-US" altLang="en-US" sz="1400" dirty="0">
                <a:solidFill>
                  <a:srgbClr val="00B0F0"/>
                </a:solidFill>
                <a:sym typeface="+mn-ea"/>
              </a:rPr>
              <a:t> values (</a:t>
            </a:r>
            <a:r>
              <a:rPr lang="en-US" altLang="en-US" sz="1400" dirty="0" err="1">
                <a:sym typeface="+mn-ea"/>
              </a:rPr>
              <a:t>pre.id,pre.name,pre.age</a:t>
            </a:r>
            <a:r>
              <a:rPr lang="en-US" altLang="en-US" sz="1400" dirty="0">
                <a:solidFill>
                  <a:srgbClr val="00B0F0"/>
                </a:solidFill>
                <a:sym typeface="+mn-ea"/>
              </a:rPr>
              <a:t>))</a:t>
            </a:r>
          </a:p>
        </p:txBody>
      </p:sp>
      <p:graphicFrame>
        <p:nvGraphicFramePr>
          <p:cNvPr id="15" name="表格 14"/>
          <p:cNvGraphicFramePr>
            <a:graphicFrameLocks noGrp="1"/>
          </p:cNvGraphicFramePr>
          <p:nvPr/>
        </p:nvGraphicFramePr>
        <p:xfrm>
          <a:off x="7772530" y="3369310"/>
          <a:ext cx="2927985" cy="1222375"/>
        </p:xfrm>
        <a:graphic>
          <a:graphicData uri="http://schemas.openxmlformats.org/drawingml/2006/table">
            <a:tbl>
              <a:tblPr firstRow="1" bandRow="1">
                <a:tableStyleId>{5C22544A-7EE6-4342-B048-85BDC9FD1C3A}</a:tableStyleId>
              </a:tblPr>
              <a:tblGrid>
                <a:gridCol w="695325"/>
                <a:gridCol w="1155700"/>
                <a:gridCol w="1076960"/>
              </a:tblGrid>
              <a:tr h="304800">
                <a:tc>
                  <a:txBody>
                    <a:bodyPr/>
                    <a:lstStyle/>
                    <a:p>
                      <a:pPr algn="ctr">
                        <a:buNone/>
                      </a:pPr>
                      <a:r>
                        <a:rPr lang="en-US" altLang="zh-CN" sz="1400" dirty="0">
                          <a:solidFill>
                            <a:schemeClr val="tx1"/>
                          </a:solidFill>
                        </a:rPr>
                        <a:t>id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buNone/>
                      </a:pPr>
                      <a:r>
                        <a:rPr lang="en-US" altLang="zh-CN" sz="1400" dirty="0">
                          <a:solidFill>
                            <a:schemeClr val="tx1"/>
                          </a:solidFill>
                          <a:ea typeface="宋体" panose="02010600030101010101" pitchFamily="2" charset="-122"/>
                        </a:rPr>
                        <a:t>name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buNone/>
                      </a:pPr>
                      <a:r>
                        <a:rPr lang="en-US" altLang="zh-CN" sz="1400" dirty="0">
                          <a:solidFill>
                            <a:schemeClr val="tx1"/>
                          </a:solidFill>
                          <a:ea typeface="宋体" panose="02010600030101010101" pitchFamily="2" charset="-122"/>
                        </a:rPr>
                        <a:t>age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r>
              <a:tr h="307975">
                <a:tc>
                  <a:txBody>
                    <a:bodyPr/>
                    <a:lstStyle/>
                    <a:p>
                      <a:pPr algn="ctr">
                        <a:buNone/>
                      </a:pPr>
                      <a:r>
                        <a:rPr lang="en-US" altLang="zh-CN" sz="140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zh-CN" altLang="en-US" sz="1400" dirty="0">
                          <a:solidFill>
                            <a:schemeClr val="tx1"/>
                          </a:solidFill>
                          <a:ea typeface="宋体" panose="02010600030101010101" pitchFamily="2" charset="-122"/>
                        </a:rPr>
                        <a:t>张三</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US" altLang="zh-CN" sz="1400" dirty="0">
                          <a:solidFill>
                            <a:schemeClr val="tx1"/>
                          </a:solidFill>
                          <a:ea typeface="宋体" panose="02010600030101010101" pitchFamily="2" charset="-122"/>
                        </a:rPr>
                        <a:t>27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280670">
                <a:tc>
                  <a:txBody>
                    <a:bodyPr/>
                    <a:lstStyle/>
                    <a:p>
                      <a:pPr algn="ctr">
                        <a:buNone/>
                      </a:pPr>
                      <a:r>
                        <a:rPr lang="en-US" altLang="zh-CN" sz="140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zh-CN" altLang="en-US" sz="1400" dirty="0">
                          <a:solidFill>
                            <a:schemeClr val="tx1"/>
                          </a:solidFill>
                          <a:ea typeface="宋体" panose="02010600030101010101" pitchFamily="2" charset="-122"/>
                        </a:rPr>
                        <a:t>李四</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US" sz="1400" dirty="0">
                          <a:solidFill>
                            <a:schemeClr val="tx1"/>
                          </a:solidFill>
                        </a:rPr>
                        <a:t>27</a:t>
                      </a:r>
                      <a:endParaRPr lang="en-US" sz="1400" dirty="0">
                        <a:solidFill>
                          <a:schemeClr val="tx1"/>
                        </a:solidFill>
                        <a:ea typeface="宋体" panose="02010600030101010101"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304800">
                <a:tc>
                  <a:txBody>
                    <a:bodyPr/>
                    <a:lstStyle/>
                    <a:p>
                      <a:pPr algn="ctr">
                        <a:buNone/>
                      </a:pPr>
                      <a:r>
                        <a:rPr lang="en-US" altLang="zh-CN" sz="140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zh-CN" altLang="en-US" sz="1400" dirty="0">
                          <a:solidFill>
                            <a:schemeClr val="tx1"/>
                          </a:solidFill>
                          <a:ea typeface="宋体" panose="02010600030101010101" pitchFamily="2" charset="-122"/>
                        </a:rPr>
                        <a:t>王五</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US" altLang="zh-CN" sz="1400" dirty="0">
                          <a:solidFill>
                            <a:schemeClr val="tx1"/>
                          </a:solidFill>
                          <a:ea typeface="宋体" panose="02010600030101010101" pitchFamily="2" charset="-122"/>
                        </a:rPr>
                        <a:t>29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bl>
          </a:graphicData>
        </a:graphic>
      </p:graphicFrame>
      <p:sp>
        <p:nvSpPr>
          <p:cNvPr id="17" name="文本框 16"/>
          <p:cNvSpPr txBox="1"/>
          <p:nvPr/>
        </p:nvSpPr>
        <p:spPr>
          <a:xfrm>
            <a:off x="8133209" y="2865119"/>
            <a:ext cx="1946367" cy="369332"/>
          </a:xfrm>
          <a:prstGeom prst="rect">
            <a:avLst/>
          </a:prstGeom>
          <a:noFill/>
        </p:spPr>
        <p:txBody>
          <a:bodyPr wrap="none" rtlCol="0">
            <a:spAutoFit/>
          </a:bodyPr>
          <a:lstStyle/>
          <a:p>
            <a:r>
              <a:rPr lang="en-US" altLang="zh-CN" b="1"/>
              <a:t>employee</a:t>
            </a:r>
            <a:r>
              <a:rPr lang="zh-CN" altLang="en-US" b="1">
                <a:ea typeface="宋体" panose="02010600030101010101" pitchFamily="2" charset="-122"/>
              </a:rPr>
              <a:t>表信息</a:t>
            </a:r>
          </a:p>
        </p:txBody>
      </p:sp>
      <p:sp>
        <p:nvSpPr>
          <p:cNvPr id="18" name="AutoShape 4"/>
          <p:cNvSpPr>
            <a:spLocks noChangeArrowheads="1"/>
          </p:cNvSpPr>
          <p:nvPr/>
        </p:nvSpPr>
        <p:spPr bwMode="black">
          <a:xfrm>
            <a:off x="1707580" y="3727450"/>
            <a:ext cx="5113020" cy="584200"/>
          </a:xfrm>
          <a:prstGeom prst="roundRect">
            <a:avLst>
              <a:gd name="adj" fmla="val 16667"/>
            </a:avLst>
          </a:prstGeom>
          <a:solidFill>
            <a:schemeClr val="bg1">
              <a:lumMod val="85000"/>
            </a:schemeClr>
          </a:solidFill>
          <a:ln w="9525">
            <a:solidFill>
              <a:schemeClr val="tx1"/>
            </a:solidFill>
            <a:round/>
          </a:ln>
          <a:effectLst/>
        </p:spPr>
        <p:txBody>
          <a:bodyPr lIns="92075" tIns="46038" rIns="92075" bIns="0" anchor="ctr"/>
          <a:lstStyle/>
          <a:p>
            <a:pPr marL="119380" indent="-119380">
              <a:lnSpc>
                <a:spcPct val="80000"/>
              </a:lnSpc>
              <a:spcBef>
                <a:spcPct val="50000"/>
              </a:spcBef>
              <a:buClr>
                <a:schemeClr val="accent1"/>
              </a:buClr>
            </a:pPr>
            <a:r>
              <a:rPr lang="en-US" altLang="en-US" sz="1400">
                <a:solidFill>
                  <a:srgbClr val="00B0F0"/>
                </a:solidFill>
                <a:sym typeface="+mn-ea"/>
              </a:rPr>
              <a:t>delete from </a:t>
            </a:r>
            <a:r>
              <a:rPr lang="en-US" altLang="en-US" sz="1400">
                <a:sym typeface="+mn-ea"/>
              </a:rPr>
              <a:t>employee </a:t>
            </a:r>
            <a:r>
              <a:rPr lang="en-US" altLang="en-US" sz="1400">
                <a:solidFill>
                  <a:srgbClr val="00B0F0"/>
                </a:solidFill>
                <a:sym typeface="+mn-ea"/>
              </a:rPr>
              <a:t>where</a:t>
            </a:r>
            <a:r>
              <a:rPr lang="en-US" altLang="en-US" sz="1400">
                <a:sym typeface="+mn-ea"/>
              </a:rPr>
              <a:t> id=1;</a:t>
            </a:r>
          </a:p>
        </p:txBody>
      </p:sp>
      <p:sp>
        <p:nvSpPr>
          <p:cNvPr id="19" name="AutoShape 4"/>
          <p:cNvSpPr>
            <a:spLocks noChangeArrowheads="1"/>
          </p:cNvSpPr>
          <p:nvPr/>
        </p:nvSpPr>
        <p:spPr bwMode="black">
          <a:xfrm>
            <a:off x="1707580" y="4591685"/>
            <a:ext cx="5113020" cy="1545590"/>
          </a:xfrm>
          <a:prstGeom prst="roundRect">
            <a:avLst>
              <a:gd name="adj" fmla="val 16667"/>
            </a:avLst>
          </a:prstGeom>
          <a:solidFill>
            <a:schemeClr val="bg1">
              <a:lumMod val="85000"/>
            </a:schemeClr>
          </a:solidFill>
          <a:ln w="9525">
            <a:solidFill>
              <a:schemeClr val="tx1"/>
            </a:solidFill>
            <a:round/>
          </a:ln>
          <a:effectLst/>
        </p:spPr>
        <p:txBody>
          <a:bodyPr lIns="92075" tIns="46038" rIns="92075" bIns="0" anchor="ctr"/>
          <a:lstStyle/>
          <a:p>
            <a:pPr marL="119380" indent="-119380">
              <a:lnSpc>
                <a:spcPct val="80000"/>
              </a:lnSpc>
              <a:spcBef>
                <a:spcPct val="50000"/>
              </a:spcBef>
              <a:buClr>
                <a:schemeClr val="accent1"/>
              </a:buClr>
            </a:pPr>
            <a:r>
              <a:rPr lang="en-US" altLang="en-US" sz="1400" dirty="0">
                <a:solidFill>
                  <a:srgbClr val="00B0F0"/>
                </a:solidFill>
                <a:sym typeface="+mn-ea"/>
              </a:rPr>
              <a:t>select</a:t>
            </a:r>
            <a:r>
              <a:rPr lang="en-US" altLang="en-US" sz="1400" dirty="0">
                <a:sym typeface="+mn-ea"/>
              </a:rPr>
              <a:t> * </a:t>
            </a:r>
            <a:r>
              <a:rPr lang="en-US" altLang="en-US" sz="1400" dirty="0">
                <a:solidFill>
                  <a:srgbClr val="00B0F0"/>
                </a:solidFill>
                <a:sym typeface="+mn-ea"/>
              </a:rPr>
              <a:t>from</a:t>
            </a:r>
            <a:r>
              <a:rPr lang="en-US" altLang="en-US" sz="1400" dirty="0">
                <a:sym typeface="+mn-ea"/>
              </a:rPr>
              <a:t> </a:t>
            </a:r>
            <a:r>
              <a:rPr lang="en-US" altLang="en-US" sz="1400" dirty="0" err="1">
                <a:sym typeface="+mn-ea"/>
              </a:rPr>
              <a:t>employee_del</a:t>
            </a:r>
            <a:r>
              <a:rPr lang="en-US" altLang="zh-CN" sz="1400" dirty="0">
                <a:sym typeface="+mn-ea"/>
              </a:rPr>
              <a:t>;</a:t>
            </a:r>
          </a:p>
          <a:p>
            <a:pPr marL="119380" indent="-119380">
              <a:lnSpc>
                <a:spcPct val="80000"/>
              </a:lnSpc>
              <a:spcBef>
                <a:spcPct val="50000"/>
              </a:spcBef>
              <a:buClr>
                <a:schemeClr val="accent1"/>
              </a:buClr>
            </a:pPr>
            <a:r>
              <a:rPr lang="en-US" altLang="zh-CN" sz="1400">
                <a:sym typeface="+mn-ea"/>
              </a:rPr>
              <a:t> </a:t>
            </a:r>
          </a:p>
          <a:p>
            <a:pPr marL="119380" indent="-119380">
              <a:lnSpc>
                <a:spcPct val="80000"/>
              </a:lnSpc>
              <a:spcBef>
                <a:spcPct val="50000"/>
              </a:spcBef>
              <a:buClr>
                <a:schemeClr val="accent1"/>
              </a:buClr>
            </a:pPr>
            <a:r>
              <a:rPr lang="en-US" altLang="zh-CN" sz="1400" dirty="0">
                <a:sym typeface="+mn-ea"/>
              </a:rPr>
              <a:t>id         name           age  </a:t>
            </a:r>
          </a:p>
          <a:p>
            <a:pPr marL="119380" indent="-119380">
              <a:lnSpc>
                <a:spcPct val="80000"/>
              </a:lnSpc>
              <a:spcBef>
                <a:spcPct val="50000"/>
              </a:spcBef>
              <a:buClr>
                <a:schemeClr val="accent1"/>
              </a:buClr>
            </a:pPr>
            <a:r>
              <a:rPr lang="en-US" altLang="zh-CN" sz="1400" dirty="0">
                <a:sym typeface="+mn-ea"/>
              </a:rPr>
              <a:t>1          </a:t>
            </a:r>
            <a:r>
              <a:rPr lang="zh-CN" altLang="zh-CN" sz="1400" dirty="0">
                <a:sym typeface="+mn-ea"/>
              </a:rPr>
              <a:t>张三             </a:t>
            </a:r>
            <a:r>
              <a:rPr lang="en-US" altLang="zh-CN" sz="1400" dirty="0">
                <a:sym typeface="+mn-ea"/>
              </a:rPr>
              <a:t>27</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Thank you !</a:t>
            </a:r>
            <a:endParaRPr lang="zh-CN" altLang="en-US"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bwMode="auto">
        <a:noFill/>
        <a:ln w="9525">
          <a:noFill/>
          <a:miter lim="800000"/>
        </a:ln>
      </a:spPr>
      <a:bodyPr anchor="b"/>
      <a:lstStyle>
        <a:defPPr algn="ctr">
          <a:spcBef>
            <a:spcPct val="20000"/>
          </a:spcBef>
          <a:buClr>
            <a:schemeClr val="hlink"/>
          </a:buClr>
          <a:buFont typeface="Wingdings" panose="05000000000000000000" pitchFamily="2" charset="2"/>
          <a:buNone/>
          <a:defRPr sz="3200" b="1" kern="0" dirty="0" smtClean="0">
            <a:solidFill>
              <a:srgbClr val="C00000"/>
            </a:solidFill>
            <a:latin typeface="微软雅黑" panose="020B0503020204020204" pitchFamily="34" charset="-122"/>
            <a:ea typeface="微软雅黑" panose="020B0503020204020204" pitchFamily="34" charset="-122"/>
            <a:cs typeface="+mj-cs"/>
          </a:defRPr>
        </a:defPPr>
      </a:lstStyle>
    </a:txDef>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3901</Words>
  <Application>Microsoft Office PowerPoint</Application>
  <PresentationFormat>自定义</PresentationFormat>
  <Paragraphs>621</Paragraphs>
  <Slides>39</Slides>
  <Notes>29</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39</vt:i4>
      </vt:variant>
    </vt:vector>
  </HeadingPairs>
  <TitlesOfParts>
    <vt:vector size="49" baseType="lpstr">
      <vt:lpstr>Arial</vt:lpstr>
      <vt:lpstr>宋体</vt:lpstr>
      <vt:lpstr>Calibri Light</vt:lpstr>
      <vt:lpstr>黑体</vt:lpstr>
      <vt:lpstr>微软雅黑</vt:lpstr>
      <vt:lpstr>Times New Roman</vt:lpstr>
      <vt:lpstr>Wingdings</vt:lpstr>
      <vt:lpstr>Verdana</vt:lpstr>
      <vt:lpstr>Calibri</vt:lpstr>
      <vt:lpstr>Office 主题</vt:lpstr>
      <vt:lpstr>GBase 8s SQL 函数</vt:lpstr>
      <vt:lpstr>概述</vt:lpstr>
      <vt:lpstr>概述</vt:lpstr>
      <vt:lpstr>目标</vt:lpstr>
      <vt:lpstr>目录</vt:lpstr>
      <vt:lpstr>系统函数大纲</vt:lpstr>
      <vt:lpstr>时间函数</vt:lpstr>
      <vt:lpstr>范例</vt:lpstr>
      <vt:lpstr>时间函数</vt:lpstr>
      <vt:lpstr>时间函数</vt:lpstr>
      <vt:lpstr>时间函数</vt:lpstr>
      <vt:lpstr>时间函数</vt:lpstr>
      <vt:lpstr>时间函数</vt:lpstr>
      <vt:lpstr>字符串处理函数</vt:lpstr>
      <vt:lpstr>字符串处理函数</vt:lpstr>
      <vt:lpstr>字符串处理函数</vt:lpstr>
      <vt:lpstr>数据转换函数</vt:lpstr>
      <vt:lpstr>数据转换函数</vt:lpstr>
      <vt:lpstr>基数函数</vt:lpstr>
      <vt:lpstr>其它函数</vt:lpstr>
      <vt:lpstr>其它函数</vt:lpstr>
      <vt:lpstr>其它函数</vt:lpstr>
      <vt:lpstr>其它函数</vt:lpstr>
      <vt:lpstr>其它函数</vt:lpstr>
      <vt:lpstr>其它函数</vt:lpstr>
      <vt:lpstr>目录</vt:lpstr>
      <vt:lpstr>存储过程与函数 </vt:lpstr>
      <vt:lpstr>SPL语句</vt:lpstr>
      <vt:lpstr>SPL语句</vt:lpstr>
      <vt:lpstr>SPL语句</vt:lpstr>
      <vt:lpstr>存储过程示例--GBase 8s</vt:lpstr>
      <vt:lpstr>存储过程示例--oracle</vt:lpstr>
      <vt:lpstr>函数示例--GBase 8s</vt:lpstr>
      <vt:lpstr>执行存储过程</vt:lpstr>
      <vt:lpstr>执行存储过程--示例</vt:lpstr>
      <vt:lpstr>触发器</vt:lpstr>
      <vt:lpstr>触发器</vt:lpstr>
      <vt:lpstr>数据定义语言（DDL）-触发器</vt:lpstr>
      <vt:lpstr>Thank you !</vt:lpstr>
    </vt:vector>
  </TitlesOfParts>
  <Company>China</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2013-08-14T15:08:00Z</dcterms:created>
  <dc:creator>Gbase Market</dc:creator>
  <cp:lastModifiedBy>3</cp:lastModifiedBy>
  <dcterms:modified xsi:type="dcterms:W3CDTF">2019-01-04T14:30:51Z</dcterms:modified>
  <cp:revision>992</cp:revision>
  <dc:title>PowerPoint 演示文稿</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2052-10.1.0.6930</vt:lpwstr>
  </property>
</Properties>
</file>