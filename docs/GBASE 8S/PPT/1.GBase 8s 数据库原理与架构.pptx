
<file path=[Content_Types].xml><?xml version="1.0" encoding="utf-8"?>
<Types xmlns="http://schemas.openxmlformats.org/package/2006/content-types">
  <Default ContentType="image/x-emf" Extension="emf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483" r:id="rId2"/>
    <p:sldId id="421" r:id="rId3"/>
    <p:sldId id="453" r:id="rId4"/>
    <p:sldId id="423" r:id="rId5"/>
    <p:sldId id="424" r:id="rId6"/>
    <p:sldId id="425" r:id="rId7"/>
    <p:sldId id="426" r:id="rId8"/>
    <p:sldId id="454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445" r:id="rId27"/>
    <p:sldId id="446" r:id="rId28"/>
    <p:sldId id="447" r:id="rId29"/>
    <p:sldId id="448" r:id="rId30"/>
    <p:sldId id="449" r:id="rId31"/>
    <p:sldId id="450" r:id="rId32"/>
    <p:sldId id="452" r:id="rId33"/>
  </p:sldIdLst>
  <p:sldSz cx="12192000" cy="6858000"/>
  <p:notesSz cx="6858000" cy="9144000"/>
  <p:embeddedFontLst>
    <p:embeddedFont>
      <p:font typeface="Calibri Light" pitchFamily="34" charset="0"/>
      <p:regular r:id="rId36"/>
      <p:italic r:id="rId37"/>
    </p:embeddedFont>
    <p:embeddedFont>
      <p:font typeface="微软雅黑 Light" pitchFamily="34" charset="-122"/>
      <p:regular r:id="rId38"/>
    </p:embeddedFont>
    <p:embeddedFont>
      <p:font typeface="Calibri" pitchFamily="34" charset="0"/>
      <p:regular r:id="rId39"/>
      <p:bold r:id="rId40"/>
      <p:italic r:id="rId41"/>
      <p:boldItalic r:id="rId42"/>
    </p:embeddedFont>
    <p:embeddedFont>
      <p:font typeface="微软雅黑" pitchFamily="34" charset="-122"/>
      <p:regular r:id="rId43"/>
      <p:bold r:id="rId44"/>
    </p:embeddedFont>
    <p:embeddedFont>
      <p:font typeface="MS PGothic" pitchFamily="34" charset="-128"/>
      <p:regular r:id="rId45"/>
    </p:embeddedFont>
    <p:embeddedFont>
      <p:font typeface="Verdana" pitchFamily="34" charset="0"/>
      <p:regular r:id="rId46"/>
      <p:bold r:id="rId47"/>
      <p:italic r:id="rId48"/>
      <p:boldItalic r:id="rId49"/>
    </p:embeddedFont>
    <p:embeddedFont>
      <p:font typeface="Webdings" pitchFamily="18" charset="2"/>
      <p:regular r:id="rId50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656"/>
    <a:srgbClr val="B5B5B5"/>
    <a:srgbClr val="DE1208"/>
    <a:srgbClr val="85898F"/>
    <a:srgbClr val="DADEE6"/>
    <a:srgbClr val="494545"/>
    <a:srgbClr val="5A6783"/>
    <a:srgbClr val="F15B67"/>
    <a:srgbClr val="A1A1A1"/>
    <a:srgbClr val="3D4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2" autoAdjust="0"/>
    <p:restoredTop sz="99878" autoAdjust="0"/>
  </p:normalViewPr>
  <p:slideViewPr>
    <p:cSldViewPr snapToGrid="0">
      <p:cViewPr>
        <p:scale>
          <a:sx n="70" d="100"/>
          <a:sy n="70" d="100"/>
        </p:scale>
        <p:origin x="-486" y="-42"/>
      </p:cViewPr>
      <p:guideLst>
        <p:guide orient="horz" pos="1079"/>
        <p:guide orient="horz" pos="4117"/>
        <p:guide pos="316"/>
        <p:guide pos="7106"/>
        <p:guide pos="1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192" y="-78"/>
      </p:cViewPr>
      <p:guideLst>
        <p:guide orient="horz" pos="3101"/>
        <p:guide pos="2160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notesMasters/notesMaster1.xml" Type="http://schemas.openxmlformats.org/officeDocument/2006/relationships/notesMaster"/><Relationship Id="rId35" Target="handoutMasters/handoutMaster1.xml" Type="http://schemas.openxmlformats.org/officeDocument/2006/relationships/handoutMaster"/><Relationship Id="rId36" Target="fonts/font1.fntdata" Type="http://schemas.openxmlformats.org/officeDocument/2006/relationships/font"/><Relationship Id="rId37" Target="fonts/font2.fntdata" Type="http://schemas.openxmlformats.org/officeDocument/2006/relationships/font"/><Relationship Id="rId38" Target="fonts/font3.fntdata" Type="http://schemas.openxmlformats.org/officeDocument/2006/relationships/font"/><Relationship Id="rId39" Target="fonts/font4.fntdata" Type="http://schemas.openxmlformats.org/officeDocument/2006/relationships/font"/><Relationship Id="rId4" Target="slides/slide3.xml" Type="http://schemas.openxmlformats.org/officeDocument/2006/relationships/slide"/><Relationship Id="rId40" Target="fonts/font5.fntdata" Type="http://schemas.openxmlformats.org/officeDocument/2006/relationships/font"/><Relationship Id="rId41" Target="fonts/font6.fntdata" Type="http://schemas.openxmlformats.org/officeDocument/2006/relationships/font"/><Relationship Id="rId42" Target="fonts/font7.fntdata" Type="http://schemas.openxmlformats.org/officeDocument/2006/relationships/font"/><Relationship Id="rId43" Target="fonts/font8.fntdata" Type="http://schemas.openxmlformats.org/officeDocument/2006/relationships/font"/><Relationship Id="rId44" Target="fonts/font9.fntdata" Type="http://schemas.openxmlformats.org/officeDocument/2006/relationships/font"/><Relationship Id="rId45" Target="fonts/font10.fntdata" Type="http://schemas.openxmlformats.org/officeDocument/2006/relationships/font"/><Relationship Id="rId46" Target="fonts/font11.fntdata" Type="http://schemas.openxmlformats.org/officeDocument/2006/relationships/font"/><Relationship Id="rId47" Target="fonts/font12.fntdata" Type="http://schemas.openxmlformats.org/officeDocument/2006/relationships/font"/><Relationship Id="rId48" Target="fonts/font13.fntdata" Type="http://schemas.openxmlformats.org/officeDocument/2006/relationships/font"/><Relationship Id="rId49" Target="fonts/font14.fntdata" Type="http://schemas.openxmlformats.org/officeDocument/2006/relationships/font"/><Relationship Id="rId5" Target="slides/slide4.xml" Type="http://schemas.openxmlformats.org/officeDocument/2006/relationships/slide"/><Relationship Id="rId50" Target="fonts/font15.fntdata" Type="http://schemas.openxmlformats.org/officeDocument/2006/relationships/font"/><Relationship Id="rId51" Target="presProps.xml" Type="http://schemas.openxmlformats.org/officeDocument/2006/relationships/presProps"/><Relationship Id="rId52" Target="viewProps.xml" Type="http://schemas.openxmlformats.org/officeDocument/2006/relationships/viewProps"/><Relationship Id="rId53" Target="theme/theme1.xml" Type="http://schemas.openxmlformats.org/officeDocument/2006/relationships/theme"/><Relationship Id="rId54" Target="tableStyles.xml" Type="http://schemas.openxmlformats.org/officeDocument/2006/relationships/tableStyles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2019-01-03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842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6622AFC-370D-4D83-BC2C-E3B279A36771}" type="datetimeFigureOut">
              <a:rPr lang="zh-CN" altLang="en-US"/>
              <a:t>2019-01-03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B37621B-8712-439F-AD62-D011FD133EC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155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81EDF9-887E-4317-82C6-85814C8A9540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37621B-8712-439F-AD62-D011FD133EC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8E2537-6EF2-4B38-B437-3A990DAF8DA9}" type="slidenum">
              <a:rPr lang="en-US" altLang="zh-CN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eg" Type="http://schemas.openxmlformats.org/officeDocument/2006/relationships/image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5715B"/>
              </a:gs>
              <a:gs pos="71000">
                <a:srgbClr val="B82E2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787C887-E0EA-48E6-9009-742CC8F3D7AC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240716" y="601711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380" kern="0" spc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8175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201</a:t>
            </a:r>
            <a:r>
              <a:rPr lang="en-US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7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 userDrawn="1"/>
        </p:nvSpPr>
        <p:spPr bwMode="auto">
          <a:xfrm>
            <a:off x="227398" y="2690706"/>
            <a:ext cx="3288080" cy="323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1500" b="1" spc="650" baseline="0" dirty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让世界用上中国的数据库</a:t>
            </a: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5506720" y="2395515"/>
            <a:ext cx="6461760" cy="56944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49454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南大通用数据技术股份有限公司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36148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3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3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3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-Title&amp;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4" name="TextBox 3"/>
          <p:cNvSpPr txBox="1"/>
          <p:nvPr userDrawn="1"/>
        </p:nvSpPr>
        <p:spPr bwMode="auto">
          <a:xfrm>
            <a:off x="2681154" y="6533909"/>
            <a:ext cx="49404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r>
              <a:rPr lang="zh-CN" altLang="en-US" sz="1600" b="0" kern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1600" b="0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-Title&amp;段落文本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21943" y="6504180"/>
            <a:ext cx="1695635" cy="30260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755650" y="1248508"/>
            <a:ext cx="1071880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0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2710009" y="6533909"/>
            <a:ext cx="43633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en-US" altLang="zh-CN" sz="1600" b="0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-Title&amp;文字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带R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46073" y="6504815"/>
            <a:ext cx="1695635" cy="302606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8525573" y="6585145"/>
            <a:ext cx="36457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400-013-9696 / www.gbase.cn / info@gbase.cn</a:t>
            </a:r>
            <a:endParaRPr lang="zh-CN" altLang="en-US" sz="1000" spc="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275491" y="538406"/>
            <a:ext cx="11207263" cy="481500"/>
          </a:xfrm>
          <a:prstGeom prst="rect">
            <a:avLst/>
          </a:prstGeom>
        </p:spPr>
        <p:txBody>
          <a:bodyPr/>
          <a:lstStyle>
            <a:lvl1pPr>
              <a:defRPr sz="3000" b="1" spc="1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标题文字</a:t>
            </a:r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77280" y="1248508"/>
            <a:ext cx="5297170" cy="488876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Tx/>
              <a:buBlip>
                <a:blip r:embed="rId3"/>
              </a:buBlip>
              <a:defRPr sz="24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第一级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8" name="TextBox 7"/>
          <p:cNvSpPr txBox="1"/>
          <p:nvPr userDrawn="1"/>
        </p:nvSpPr>
        <p:spPr bwMode="auto">
          <a:xfrm>
            <a:off x="2710010" y="6533909"/>
            <a:ext cx="436337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rtlCol="0" anchor="b">
            <a:spAutoFit/>
          </a:bodyPr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fld id="{E06F47B1-A2F8-40A5-AD5F-9DCD4D886805}" type="slidenum">
              <a:rPr lang="zh-CN" altLang="en-US" sz="1600" b="0" kern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en-US" altLang="zh-CN" sz="1600" b="0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01-封面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10" name="副标题 10"/>
          <p:cNvSpPr txBox="1"/>
          <p:nvPr userDrawn="1"/>
        </p:nvSpPr>
        <p:spPr bwMode="auto">
          <a:xfrm>
            <a:off x="9037516" y="6057752"/>
            <a:ext cx="2632716" cy="24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zh-CN" altLang="en-US" sz="1200" kern="0" spc="15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南大通用数据技术股份有限公司</a:t>
            </a:r>
          </a:p>
        </p:txBody>
      </p:sp>
      <p:sp>
        <p:nvSpPr>
          <p:cNvPr id="11" name="TextBox 9"/>
          <p:cNvSpPr>
            <a:spLocks noChangeArrowheads="1"/>
          </p:cNvSpPr>
          <p:nvPr userDrawn="1"/>
        </p:nvSpPr>
        <p:spPr bwMode="auto">
          <a:xfrm>
            <a:off x="9614348" y="6424733"/>
            <a:ext cx="2148350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zh-CN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版权所有© GBASE 201</a:t>
            </a:r>
            <a:r>
              <a:rPr lang="en-US" altLang="zh-CN" sz="1200" spc="100" dirty="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rPr>
              <a:t>7</a:t>
            </a:r>
            <a:endParaRPr lang="zh-CN" altLang="zh-CN" sz="1200" spc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Verdana" panose="020B0604030504040204" pitchFamily="34" charset="0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2236371" y="3381035"/>
            <a:ext cx="7816361" cy="611845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rgbClr val="5A678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Thank you</a:t>
            </a:r>
            <a:r>
              <a:rPr lang="zh-CN" altLang="en-US" dirty="0"/>
              <a:t>！</a:t>
            </a:r>
          </a:p>
        </p:txBody>
      </p:sp>
      <p:sp>
        <p:nvSpPr>
          <p:cNvPr id="13" name="副标题 10"/>
          <p:cNvSpPr txBox="1"/>
          <p:nvPr userDrawn="1"/>
        </p:nvSpPr>
        <p:spPr bwMode="auto">
          <a:xfrm>
            <a:off x="8137966" y="6246160"/>
            <a:ext cx="3511948" cy="304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r" eaLnBrk="0" hangingPunct="0">
              <a:buClr>
                <a:schemeClr val="accent1"/>
              </a:buClr>
              <a:buFontTx/>
              <a:buNone/>
              <a:defRPr/>
            </a:pPr>
            <a:r>
              <a:rPr lang="en-US" altLang="zh-CN" sz="1200" kern="0" spc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General Data Technology </a:t>
            </a:r>
            <a:r>
              <a:rPr lang="en-US" altLang="zh-CN" sz="1200" kern="0" spc="0" baseline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Co.,Ltd</a:t>
            </a:r>
            <a:endParaRPr lang="zh-CN" altLang="en-US" sz="1200" kern="0" spc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 txBox="1"/>
          <p:nvPr userDrawn="1"/>
        </p:nvSpPr>
        <p:spPr>
          <a:xfrm>
            <a:off x="4445779" y="1516752"/>
            <a:ext cx="3189069" cy="158204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3200" b="1" spc="100" baseline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2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Q&amp;A</a:t>
            </a:r>
            <a:endParaRPr kumimoji="0" lang="zh-CN" altLang="en-US" sz="9600" b="0" i="0" u="none" strike="noStrike" kern="1200" cap="none" spc="2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6" name="图片 15" descr="logo_02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215120" y="5520055"/>
            <a:ext cx="2692400" cy="5048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theme/theme1.xml" Type="http://schemas.openxmlformats.org/officeDocument/2006/relationships/theme"/><Relationship Id="rId7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59000"/>
                </a:schemeClr>
              </a:gs>
              <a:gs pos="0">
                <a:schemeClr val="bg1">
                  <a:alpha val="34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54788"/>
            <a:ext cx="12192000" cy="303212"/>
          </a:xfrm>
          <a:prstGeom prst="rect">
            <a:avLst/>
          </a:prstGeom>
          <a:gradFill>
            <a:gsLst>
              <a:gs pos="0">
                <a:srgbClr val="404040"/>
              </a:gs>
              <a:gs pos="94000">
                <a:srgbClr val="0D0D0D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65888"/>
            <a:ext cx="2305050" cy="392112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gradFill flip="none" rotWithShape="1">
            <a:gsLst>
              <a:gs pos="0">
                <a:srgbClr val="F93D32"/>
              </a:gs>
              <a:gs pos="91000">
                <a:srgbClr val="BE100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566738"/>
            <a:ext cx="168275" cy="454025"/>
          </a:xfrm>
          <a:custGeom>
            <a:avLst/>
            <a:gdLst>
              <a:gd name="connsiteX0" fmla="*/ 0 w 2305316"/>
              <a:gd name="connsiteY0" fmla="*/ 0 h 392806"/>
              <a:gd name="connsiteX1" fmla="*/ 2305316 w 2305316"/>
              <a:gd name="connsiteY1" fmla="*/ 0 h 392806"/>
              <a:gd name="connsiteX2" fmla="*/ 2163649 w 2305316"/>
              <a:gd name="connsiteY2" fmla="*/ 392806 h 392806"/>
              <a:gd name="connsiteX3" fmla="*/ 0 w 2305316"/>
              <a:gd name="connsiteY3" fmla="*/ 392806 h 39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5316" h="392806">
                <a:moveTo>
                  <a:pt x="0" y="0"/>
                </a:moveTo>
                <a:lnTo>
                  <a:pt x="2305316" y="0"/>
                </a:lnTo>
                <a:lnTo>
                  <a:pt x="2163649" y="392806"/>
                </a:lnTo>
                <a:lnTo>
                  <a:pt x="0" y="392806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019175"/>
            <a:ext cx="12192000" cy="0"/>
          </a:xfrm>
          <a:prstGeom prst="line">
            <a:avLst/>
          </a:prstGeom>
          <a:ln>
            <a:solidFill>
              <a:srgbClr val="B82E2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em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8.em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2.em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3.em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4.emf" Type="http://schemas.openxmlformats.org/officeDocument/2006/relationships/image"/><Relationship Id="rId4" Target="../media/image15.emf" Type="http://schemas.openxmlformats.org/officeDocument/2006/relationships/image"/><Relationship Id="rId5" Target="../media/image16.emf" Type="http://schemas.openxmlformats.org/officeDocument/2006/relationships/image"/><Relationship Id="rId6" Target="../media/image17.em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8.em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19.em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</a:t>
            </a:r>
            <a:r>
              <a:rPr lang="zh-CN" altLang="en-US" dirty="0"/>
              <a:t>数据库原理与架构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63954" y="1736704"/>
            <a:ext cx="10536392" cy="415912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事务型关系数据库的基本原理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en-US" altLang="zh-CN" sz="2400" dirty="0" err="1"/>
              <a:t>GBase</a:t>
            </a:r>
            <a:r>
              <a:rPr lang="en-US" altLang="zh-CN" sz="2400" dirty="0"/>
              <a:t> 8s </a:t>
            </a:r>
            <a:r>
              <a:rPr lang="zh-CN" altLang="en-US" sz="2400" dirty="0"/>
              <a:t>数据库架构</a:t>
            </a:r>
            <a:endParaRPr lang="en-US" altLang="zh-CN" sz="2400" dirty="0"/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多线程架构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共享内存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磁盘存储基本概念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GBase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8s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354388" y="2905760"/>
            <a:ext cx="7223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17988" y="2905760"/>
            <a:ext cx="4570412" cy="66294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54388" y="3522980"/>
            <a:ext cx="7223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17988" y="3522980"/>
            <a:ext cx="4570412" cy="45719"/>
          </a:xfrm>
          <a:prstGeom prst="rect">
            <a:avLst/>
          </a:prstGeom>
          <a:solidFill>
            <a:srgbClr val="2020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85625" y="301812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54388" y="3799840"/>
            <a:ext cx="7223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17988" y="3799840"/>
            <a:ext cx="4570412" cy="66421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85625" y="391347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94200" y="3025274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60680" lvl="1" algn="ctr">
              <a:spcBef>
                <a:spcPct val="20000"/>
              </a:spcBef>
              <a:buClr>
                <a:srgbClr val="FD0000"/>
              </a:buClr>
              <a:defRPr/>
            </a:pPr>
            <a:r>
              <a:rPr lang="zh-CN" altLang="en-US"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事务型关系数据库的基本原理</a:t>
            </a:r>
            <a:endParaRPr lang="zh-CN" altLang="en-US" sz="2000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94200" y="3910464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GBase</a:t>
            </a:r>
            <a:r>
              <a:rPr lang="en-US" altLang="zh-CN"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8s </a:t>
            </a:r>
            <a:r>
              <a:rPr lang="zh-CN" altLang="en-US"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数据库架构</a:t>
            </a:r>
            <a:endParaRPr lang="zh-CN" altLang="en-US" sz="2000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事务型关系数据库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关系数据库</a:t>
            </a:r>
            <a:endParaRPr lang="en-US" altLang="zh-CN" sz="2400" dirty="0"/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建立在关系模型基础上的数据库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借助于集合代数的概念和方法来处理实体及其关系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从应用领域上可分为事务型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(OLTP)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和分析型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(OLAP)</a:t>
            </a:r>
          </a:p>
          <a:p>
            <a:pPr lvl="2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OLTP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数据库面向事务处理领域，关注数据一致性和事务的处理速度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OLAP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数据库面向分析领域，关注海量数据的查询和分析能力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事务型关系数据库的核心和目的是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事务处理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事务型关系数据库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数据库事务的概念</a:t>
            </a:r>
            <a:endParaRPr lang="en-US" altLang="zh-CN" sz="2400" dirty="0"/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作为单个逻辑、需要整体执行的一组操作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事务的特性 </a:t>
            </a:r>
            <a:r>
              <a:rPr lang="en-US" altLang="zh-CN" sz="2400" dirty="0"/>
              <a:t>(ACID)</a:t>
            </a: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原子性：组成事务的操作要么全部成功、要么全部失败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一致性：事务要保证数据库从一个一致性状态迁移到另一个一致性状态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独立性：相互并发的多个事务间是相互独立的，又称隔离性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持久性：事务成功后，数据库的一致性状态是持久的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事务型关系数据库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事务型关系数据库的核心技术</a:t>
            </a:r>
          </a:p>
          <a:p>
            <a:pPr lvl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并发和锁（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Concurrence &amp; Lock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并发指的是不同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对同一资源的访问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锁是处理并发问题的基础，是保证一致性的手段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隔离级别 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Isolation Level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实现事务独立性的手段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以锁为基础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四种基本隔离级别：读未提交、读提交、可重复读、序列化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提交和回滚（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Commit &amp; Roll Back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保证一致性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事务型关系数据库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事务型关系数据的核心技术</a:t>
            </a:r>
            <a:endParaRPr lang="en-US" altLang="zh-CN" sz="2400" dirty="0"/>
          </a:p>
          <a:p>
            <a:pPr lvl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Undo &amp; Redo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保证一致性和提高写操作性能的手段</a:t>
            </a: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通常分为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Undo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日志（物理日志）和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Redo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日志（逻辑日志）</a:t>
            </a:r>
          </a:p>
          <a:p>
            <a:pPr lvl="1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检查点（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CheckPoint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持久化的手段</a:t>
            </a:r>
          </a:p>
          <a:p>
            <a:pPr lvl="2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以逻辑日志为基础，提高写操作的性能</a:t>
            </a:r>
          </a:p>
          <a:p>
            <a:pPr lv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快速恢复（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Fast Recovery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数据库异常或灾难时的补救手段</a:t>
            </a:r>
          </a:p>
          <a:p>
            <a:pPr lvl="2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基于日志和检查点</a:t>
            </a:r>
          </a:p>
          <a:p>
            <a:pPr lvl="2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只在数据库服务实例启动时执行</a:t>
            </a:r>
          </a:p>
          <a:p>
            <a:pPr lvl="1">
              <a:lnSpc>
                <a:spcPct val="150000"/>
              </a:lnSpc>
            </a:pPr>
            <a:endParaRPr lang="zh-CN" altLang="en-US" sz="1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339148" y="2646680"/>
            <a:ext cx="7223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 bwMode="auto">
          <a:xfrm>
            <a:off x="4202748" y="2646680"/>
            <a:ext cx="4570412" cy="66294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3339148" y="3263900"/>
            <a:ext cx="7223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 bwMode="auto">
          <a:xfrm>
            <a:off x="4202748" y="3263900"/>
            <a:ext cx="4570412" cy="45719"/>
          </a:xfrm>
          <a:prstGeom prst="rect">
            <a:avLst/>
          </a:prstGeom>
          <a:solidFill>
            <a:srgbClr val="5A5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3"/>
          <p:cNvSpPr txBox="1">
            <a:spLocks noChangeArrowheads="1"/>
          </p:cNvSpPr>
          <p:nvPr/>
        </p:nvSpPr>
        <p:spPr bwMode="auto">
          <a:xfrm>
            <a:off x="3470385" y="275904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339148" y="3540760"/>
            <a:ext cx="722312" cy="66421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4202748" y="3540760"/>
            <a:ext cx="4570412" cy="664210"/>
          </a:xfrm>
          <a:prstGeom prst="rect">
            <a:avLst/>
          </a:prstGeom>
          <a:solidFill>
            <a:srgbClr val="DE12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 bwMode="auto">
          <a:xfrm>
            <a:off x="3339148" y="4159250"/>
            <a:ext cx="722312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 bwMode="auto">
          <a:xfrm>
            <a:off x="4202748" y="4159250"/>
            <a:ext cx="4570412" cy="4571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文本框 48"/>
          <p:cNvSpPr txBox="1">
            <a:spLocks noChangeArrowheads="1"/>
          </p:cNvSpPr>
          <p:nvPr/>
        </p:nvSpPr>
        <p:spPr bwMode="auto">
          <a:xfrm>
            <a:off x="3470385" y="3654395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4" name="文本框 55"/>
          <p:cNvSpPr txBox="1">
            <a:spLocks noChangeArrowheads="1"/>
          </p:cNvSpPr>
          <p:nvPr/>
        </p:nvSpPr>
        <p:spPr bwMode="auto">
          <a:xfrm>
            <a:off x="4378960" y="2766194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事务型关系数据库的基本原理</a:t>
            </a:r>
            <a:endParaRPr lang="zh-CN" altLang="en-US" sz="2000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55"/>
          <p:cNvSpPr txBox="1">
            <a:spLocks noChangeArrowheads="1"/>
          </p:cNvSpPr>
          <p:nvPr/>
        </p:nvSpPr>
        <p:spPr bwMode="auto">
          <a:xfrm>
            <a:off x="4378960" y="3651384"/>
            <a:ext cx="4236720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kern="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GBase</a:t>
            </a:r>
            <a:r>
              <a:rPr lang="en-US" altLang="zh-CN"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8s </a:t>
            </a:r>
            <a:r>
              <a:rPr lang="zh-CN" altLang="en-US" sz="20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数据库架构</a:t>
            </a:r>
            <a:endParaRPr lang="zh-CN" altLang="en-US" sz="2000" kern="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</a:t>
            </a:r>
            <a:r>
              <a:rPr lang="zh-CN" altLang="en-US" dirty="0"/>
              <a:t>数据库架构概览</a:t>
            </a:r>
            <a:r>
              <a:rPr lang="en-US" altLang="zh-CN" dirty="0"/>
              <a:t>(</a:t>
            </a:r>
            <a:r>
              <a:rPr lang="en-US" altLang="zh-CN" b="0" dirty="0"/>
              <a:t>Architecture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/>
              <a:t>DSA</a:t>
            </a:r>
            <a:r>
              <a:rPr lang="zh-CN" altLang="en-US" dirty="0"/>
              <a:t>架构</a:t>
            </a:r>
            <a:endParaRPr lang="en-US" altLang="zh-CN" dirty="0"/>
          </a:p>
          <a:p>
            <a:pPr lvl="1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Dynamic Scalable Architecture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75590" y="1422400"/>
            <a:ext cx="6548120" cy="4106545"/>
            <a:chOff x="1308" y="3081"/>
            <a:chExt cx="11682" cy="66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8" y="3081"/>
              <a:ext cx="11683" cy="6615"/>
            </a:xfrm>
            <a:prstGeom prst="rect">
              <a:avLst/>
            </a:prstGeom>
          </p:spPr>
        </p:pic>
        <p:sp>
          <p:nvSpPr>
            <p:cNvPr id="16" name="椭圆 15"/>
            <p:cNvSpPr/>
            <p:nvPr/>
          </p:nvSpPr>
          <p:spPr>
            <a:xfrm>
              <a:off x="3968" y="5635"/>
              <a:ext cx="1220" cy="122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571" y="5675"/>
              <a:ext cx="1220" cy="122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7154" y="5675"/>
              <a:ext cx="1220" cy="122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8737" y="5675"/>
              <a:ext cx="1220" cy="122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107" y="5999"/>
              <a:ext cx="163" cy="549"/>
            </a:xfrm>
            <a:prstGeom prst="rect">
              <a:avLst/>
            </a:prstGeom>
            <a:solidFill>
              <a:schemeClr val="accent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4350" y="5999"/>
              <a:ext cx="163" cy="549"/>
            </a:xfrm>
            <a:prstGeom prst="rect">
              <a:avLst/>
            </a:prstGeom>
            <a:gradFill>
              <a:gsLst>
                <a:gs pos="100000">
                  <a:srgbClr val="14CD68"/>
                </a:gs>
                <a:gs pos="100000">
                  <a:srgbClr val="0B6E38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586" y="5999"/>
              <a:ext cx="163" cy="549"/>
            </a:xfrm>
            <a:prstGeom prst="rect">
              <a:avLst/>
            </a:prstGeom>
            <a:gradFill>
              <a:gsLst>
                <a:gs pos="10000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829" y="5999"/>
              <a:ext cx="163" cy="549"/>
            </a:xfrm>
            <a:prstGeom prst="rect">
              <a:avLst/>
            </a:prstGeom>
            <a:solidFill>
              <a:schemeClr val="bg2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7297" y="6019"/>
              <a:ext cx="163" cy="549"/>
            </a:xfrm>
            <a:prstGeom prst="rect">
              <a:avLst/>
            </a:prstGeom>
            <a:solidFill>
              <a:schemeClr val="accent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7540" y="6019"/>
              <a:ext cx="163" cy="549"/>
            </a:xfrm>
            <a:prstGeom prst="rect">
              <a:avLst/>
            </a:prstGeom>
            <a:gradFill>
              <a:gsLst>
                <a:gs pos="100000">
                  <a:srgbClr val="14CD68"/>
                </a:gs>
                <a:gs pos="100000">
                  <a:srgbClr val="0B6E38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019" y="6019"/>
              <a:ext cx="163" cy="549"/>
            </a:xfrm>
            <a:prstGeom prst="rect">
              <a:avLst/>
            </a:prstGeom>
            <a:solidFill>
              <a:schemeClr val="bg2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7763" y="6019"/>
              <a:ext cx="163" cy="549"/>
            </a:xfrm>
            <a:prstGeom prst="rect">
              <a:avLst/>
            </a:prstGeom>
            <a:gradFill>
              <a:gsLst>
                <a:gs pos="10000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8921" y="6019"/>
              <a:ext cx="163" cy="549"/>
            </a:xfrm>
            <a:prstGeom prst="rect">
              <a:avLst/>
            </a:prstGeom>
            <a:solidFill>
              <a:schemeClr val="accent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9164" y="6019"/>
              <a:ext cx="163" cy="549"/>
            </a:xfrm>
            <a:prstGeom prst="rect">
              <a:avLst/>
            </a:prstGeom>
            <a:gradFill>
              <a:gsLst>
                <a:gs pos="100000">
                  <a:srgbClr val="14CD68"/>
                </a:gs>
                <a:gs pos="100000">
                  <a:srgbClr val="0B6E38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9643" y="6019"/>
              <a:ext cx="163" cy="549"/>
            </a:xfrm>
            <a:prstGeom prst="rect">
              <a:avLst/>
            </a:prstGeom>
            <a:solidFill>
              <a:schemeClr val="bg2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9387" y="6019"/>
              <a:ext cx="163" cy="549"/>
            </a:xfrm>
            <a:prstGeom prst="rect">
              <a:avLst/>
            </a:prstGeom>
            <a:gradFill>
              <a:gsLst>
                <a:gs pos="10000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5748" y="6019"/>
              <a:ext cx="163" cy="549"/>
            </a:xfrm>
            <a:prstGeom prst="rect">
              <a:avLst/>
            </a:prstGeom>
            <a:solidFill>
              <a:schemeClr val="accent1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991" y="6019"/>
              <a:ext cx="163" cy="549"/>
            </a:xfrm>
            <a:prstGeom prst="rect">
              <a:avLst/>
            </a:prstGeom>
            <a:gradFill>
              <a:gsLst>
                <a:gs pos="100000">
                  <a:srgbClr val="14CD68"/>
                </a:gs>
                <a:gs pos="100000">
                  <a:srgbClr val="0B6E38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6470" y="6019"/>
              <a:ext cx="163" cy="549"/>
            </a:xfrm>
            <a:prstGeom prst="rect">
              <a:avLst/>
            </a:prstGeom>
            <a:solidFill>
              <a:schemeClr val="bg2"/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6214" y="6019"/>
              <a:ext cx="163" cy="549"/>
            </a:xfrm>
            <a:prstGeom prst="rect">
              <a:avLst/>
            </a:prstGeom>
            <a:gradFill>
              <a:gsLst>
                <a:gs pos="10000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9" name="直接箭头连接符 48"/>
            <p:cNvCxnSpPr>
              <a:endCxn id="32" idx="1"/>
            </p:cNvCxnSpPr>
            <p:nvPr/>
          </p:nvCxnSpPr>
          <p:spPr>
            <a:xfrm>
              <a:off x="3050" y="5796"/>
              <a:ext cx="1057" cy="478"/>
            </a:xfrm>
            <a:prstGeom prst="straightConnector1">
              <a:avLst/>
            </a:prstGeom>
            <a:noFill/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</a:t>
            </a:r>
            <a:r>
              <a:rPr lang="zh-CN" altLang="en-US" dirty="0"/>
              <a:t>数据库服务组件</a:t>
            </a:r>
            <a:r>
              <a:rPr lang="en-US" altLang="zh-CN" dirty="0"/>
              <a:t>(</a:t>
            </a:r>
            <a:r>
              <a:rPr lang="en-US" altLang="zh-CN" b="0" dirty="0"/>
              <a:t>Component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虚拟处理器进程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执行所有计算和管理任务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/>
              <a:t>共享内存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缓存数据表的数据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维护和控制进程资源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存储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存储数据库服务信息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存储用户数据</a:t>
            </a:r>
          </a:p>
          <a:p>
            <a:endParaRPr lang="zh-CN" altLang="en-US" sz="24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536065" y="1949450"/>
            <a:ext cx="914400" cy="9144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直接连接符 7"/>
          <p:cNvCxnSpPr/>
          <p:nvPr/>
        </p:nvCxnSpPr>
        <p:spPr>
          <a:xfrm>
            <a:off x="1549400" y="2014220"/>
            <a:ext cx="914400" cy="9144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" name="组合 10"/>
          <p:cNvGrpSpPr/>
          <p:nvPr/>
        </p:nvGrpSpPr>
        <p:grpSpPr>
          <a:xfrm>
            <a:off x="820420" y="1576070"/>
            <a:ext cx="5080000" cy="3705860"/>
            <a:chOff x="8204" y="1995"/>
            <a:chExt cx="8000" cy="583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04" y="1995"/>
              <a:ext cx="8000" cy="5836"/>
            </a:xfrm>
            <a:prstGeom prst="rect">
              <a:avLst/>
            </a:prstGeom>
          </p:spPr>
        </p:pic>
        <p:cxnSp>
          <p:nvCxnSpPr>
            <p:cNvPr id="6" name="直接连接符 5"/>
            <p:cNvCxnSpPr/>
            <p:nvPr/>
          </p:nvCxnSpPr>
          <p:spPr>
            <a:xfrm>
              <a:off x="8501" y="3945"/>
              <a:ext cx="555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10352" y="3965"/>
              <a:ext cx="20" cy="71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2202" y="3945"/>
              <a:ext cx="0" cy="73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GBase</a:t>
            </a:r>
            <a:r>
              <a:rPr lang="en-US" altLang="zh-CN" dirty="0"/>
              <a:t> 8s </a:t>
            </a:r>
            <a:r>
              <a:rPr lang="zh-CN" altLang="en-US" dirty="0"/>
              <a:t>数据库服务组件</a:t>
            </a:r>
            <a:r>
              <a:rPr lang="en-US" altLang="zh-CN" dirty="0"/>
              <a:t>(</a:t>
            </a:r>
            <a:r>
              <a:rPr lang="en-US" altLang="zh-CN" b="0" dirty="0"/>
              <a:t>Component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272540" y="1111250"/>
            <a:ext cx="8575675" cy="5278120"/>
            <a:chOff x="2715" y="1326"/>
            <a:chExt cx="13145" cy="8298"/>
          </a:xfrm>
        </p:grpSpPr>
        <p:sp>
          <p:nvSpPr>
            <p:cNvPr id="80" name="圆角矩形 79"/>
            <p:cNvSpPr/>
            <p:nvPr/>
          </p:nvSpPr>
          <p:spPr bwMode="auto">
            <a:xfrm>
              <a:off x="5076" y="8769"/>
              <a:ext cx="10784" cy="855"/>
            </a:xfrm>
            <a:prstGeom prst="roundRect">
              <a:avLst>
                <a:gd name="adj" fmla="val 5324"/>
              </a:avLst>
            </a:prstGeom>
            <a:solidFill>
              <a:srgbClr val="E5F9BF"/>
            </a:solidFill>
            <a:ln>
              <a:solidFill>
                <a:schemeClr val="bg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en-US" sz="1200" i="1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9" name="圆角矩形 78"/>
            <p:cNvSpPr/>
            <p:nvPr/>
          </p:nvSpPr>
          <p:spPr bwMode="auto">
            <a:xfrm>
              <a:off x="5041" y="7329"/>
              <a:ext cx="10784" cy="1315"/>
            </a:xfrm>
            <a:prstGeom prst="roundRect">
              <a:avLst>
                <a:gd name="adj" fmla="val 5324"/>
              </a:avLst>
            </a:prstGeom>
            <a:solidFill>
              <a:srgbClr val="2CC3A1"/>
            </a:solidFill>
            <a:ln>
              <a:solidFill>
                <a:schemeClr val="bg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en-US" sz="1200" i="1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5" name="圆角矩形 4"/>
            <p:cNvSpPr/>
            <p:nvPr/>
          </p:nvSpPr>
          <p:spPr bwMode="auto">
            <a:xfrm>
              <a:off x="5068" y="1326"/>
              <a:ext cx="10721" cy="1114"/>
            </a:xfrm>
            <a:prstGeom prst="roundRect">
              <a:avLst>
                <a:gd name="adj" fmla="val 6148"/>
              </a:avLst>
            </a:prstGeom>
            <a:solidFill>
              <a:srgbClr val="8A27C9"/>
            </a:solidFill>
            <a:ln>
              <a:solidFill>
                <a:srgbClr val="2D1DFF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常驻共享内存段</a:t>
              </a:r>
              <a:r>
                <a:rPr kumimoji="1" lang="en-US" altLang="zh-CN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(Resident Shared Memory)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2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en-US" sz="12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圆角矩形 24"/>
            <p:cNvSpPr/>
            <p:nvPr/>
          </p:nvSpPr>
          <p:spPr bwMode="auto">
            <a:xfrm>
              <a:off x="5359" y="1921"/>
              <a:ext cx="2282" cy="44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Lock Table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6" name="圆角矩形 25"/>
            <p:cNvSpPr/>
            <p:nvPr/>
          </p:nvSpPr>
          <p:spPr bwMode="auto">
            <a:xfrm>
              <a:off x="8091" y="1920"/>
              <a:ext cx="2306" cy="44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Logical Buffer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 bwMode="auto">
            <a:xfrm>
              <a:off x="10744" y="1924"/>
              <a:ext cx="2459" cy="44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Physical Buffer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 bwMode="auto">
            <a:xfrm>
              <a:off x="13489" y="1920"/>
              <a:ext cx="1824" cy="446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…….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5068" y="2553"/>
              <a:ext cx="10740" cy="1039"/>
              <a:chOff x="1694180" y="1663403"/>
              <a:chExt cx="6819900" cy="659618"/>
            </a:xfrm>
          </p:grpSpPr>
          <p:sp>
            <p:nvSpPr>
              <p:cNvPr id="11" name="圆角矩形 10"/>
              <p:cNvSpPr/>
              <p:nvPr/>
            </p:nvSpPr>
            <p:spPr bwMode="auto">
              <a:xfrm>
                <a:off x="1694180" y="1663403"/>
                <a:ext cx="6819900" cy="659618"/>
              </a:xfrm>
              <a:prstGeom prst="roundRect">
                <a:avLst>
                  <a:gd name="adj" fmla="val 5384"/>
                </a:avLst>
              </a:prstGeom>
              <a:solidFill>
                <a:srgbClr val="962FD7"/>
              </a:solidFill>
              <a:ln>
                <a:solidFill>
                  <a:srgbClr val="2D1DFF"/>
                </a:solidFill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1200" dirty="0">
                    <a:solidFill>
                      <a:srgbClr val="FFFF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微软雅黑" panose="020B0503020204020204" pitchFamily="34" charset="-122"/>
                  </a:rPr>
                  <a:t>虚拟共享内存段</a:t>
                </a:r>
                <a:r>
                  <a:rPr kumimoji="1" lang="en-US" altLang="zh-CN" sz="1200" dirty="0">
                    <a:solidFill>
                      <a:srgbClr val="FFFF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微软雅黑" panose="020B0503020204020204" pitchFamily="34" charset="-122"/>
                  </a:rPr>
                  <a:t>(Virtual Shared Memory)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1" lang="zh-CN" altLang="en-US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9" name="圆角矩形 28"/>
              <p:cNvSpPr/>
              <p:nvPr/>
            </p:nvSpPr>
            <p:spPr bwMode="auto">
              <a:xfrm>
                <a:off x="1899920" y="1965850"/>
                <a:ext cx="1565910" cy="26797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0" h="0"/>
              </a:sp3d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1400" b="0" dirty="0">
                    <a:solidFill>
                      <a:srgbClr val="0000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</a:rPr>
                  <a:t>Dictionary Cache</a:t>
                </a:r>
                <a:endParaRPr kumimoji="1" lang="zh-CN" altLang="en-US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0" name="圆角矩形 29"/>
              <p:cNvSpPr/>
              <p:nvPr/>
            </p:nvSpPr>
            <p:spPr bwMode="auto">
              <a:xfrm>
                <a:off x="3613785" y="1965850"/>
                <a:ext cx="1561465" cy="268605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0" h="0"/>
              </a:sp3d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1400" b="0" dirty="0">
                    <a:solidFill>
                      <a:srgbClr val="0000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</a:rPr>
                  <a:t>Procedure Cache</a:t>
                </a:r>
                <a:endParaRPr kumimoji="1" lang="zh-CN" altLang="en-US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 bwMode="auto">
              <a:xfrm>
                <a:off x="5307330" y="1965850"/>
                <a:ext cx="1561465" cy="268605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0" h="0"/>
              </a:sp3d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1400" b="0" dirty="0">
                    <a:solidFill>
                      <a:srgbClr val="0000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</a:rPr>
                  <a:t>Session Memory</a:t>
                </a:r>
                <a:endParaRPr kumimoji="1" lang="zh-CN" altLang="en-US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 bwMode="auto">
              <a:xfrm>
                <a:off x="7050405" y="1965850"/>
                <a:ext cx="1158240" cy="27686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0" h="0"/>
              </a:sp3d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1400" b="0" dirty="0">
                    <a:solidFill>
                      <a:srgbClr val="000000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  <a:cs typeface="Arial" panose="020B0604020202020204" pitchFamily="34" charset="0"/>
                  </a:rPr>
                  <a:t>…….</a:t>
                </a:r>
                <a:endParaRPr kumimoji="1" lang="zh-CN" altLang="en-US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圆角矩形 32"/>
            <p:cNvSpPr/>
            <p:nvPr/>
          </p:nvSpPr>
          <p:spPr bwMode="auto">
            <a:xfrm>
              <a:off x="5068" y="3720"/>
              <a:ext cx="10702" cy="1014"/>
            </a:xfrm>
            <a:prstGeom prst="roundRect">
              <a:avLst>
                <a:gd name="adj" fmla="val 5107"/>
              </a:avLst>
            </a:prstGeom>
            <a:solidFill>
              <a:srgbClr val="A237E6"/>
            </a:solidFill>
            <a:ln>
              <a:solidFill>
                <a:srgbClr val="2D1DFF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  <a:sym typeface="+mn-ea"/>
                </a:rPr>
                <a:t>缓冲池共享内存段</a:t>
              </a:r>
              <a:r>
                <a:rPr kumimoji="1" lang="en-US" altLang="zh-CN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  <a:sym typeface="+mn-ea"/>
                </a:rPr>
                <a:t>(BUFFERPOOL)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2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en-US" sz="12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 bwMode="auto">
            <a:xfrm>
              <a:off x="5431" y="4159"/>
              <a:ext cx="2466" cy="4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Bufferpool 2K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0" name="圆角矩形 39"/>
            <p:cNvSpPr/>
            <p:nvPr/>
          </p:nvSpPr>
          <p:spPr bwMode="auto">
            <a:xfrm>
              <a:off x="8234" y="4166"/>
              <a:ext cx="2459" cy="45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Bufferpool 8K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1" name="圆角矩形 40"/>
            <p:cNvSpPr/>
            <p:nvPr/>
          </p:nvSpPr>
          <p:spPr bwMode="auto">
            <a:xfrm>
              <a:off x="10901" y="4159"/>
              <a:ext cx="2516" cy="46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Bufferpool 16K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2" name="圆角矩形 41"/>
            <p:cNvSpPr/>
            <p:nvPr/>
          </p:nvSpPr>
          <p:spPr bwMode="auto">
            <a:xfrm>
              <a:off x="13646" y="4161"/>
              <a:ext cx="1824" cy="46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CN" sz="1400" b="0" dirty="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…….</a:t>
              </a:r>
              <a:endParaRPr kumimoji="1" lang="zh-CN" altLang="en-US" sz="1400" b="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3" name="圆角矩形 42"/>
            <p:cNvSpPr/>
            <p:nvPr/>
          </p:nvSpPr>
          <p:spPr bwMode="auto">
            <a:xfrm>
              <a:off x="5068" y="4854"/>
              <a:ext cx="10740" cy="477"/>
            </a:xfrm>
            <a:prstGeom prst="roundRect">
              <a:avLst/>
            </a:prstGeom>
            <a:solidFill>
              <a:srgbClr val="AF3FF5"/>
            </a:solidFill>
            <a:ln>
              <a:solidFill>
                <a:srgbClr val="2D1DFF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消息段</a:t>
              </a:r>
              <a:r>
                <a:rPr kumimoji="1" lang="en-US" altLang="zh-CN" sz="1200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(Message Shared Memory)</a:t>
              </a:r>
              <a:endParaRPr kumimoji="1" lang="zh-CN" altLang="en-US" sz="12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5" name="圆角矩形 44"/>
            <p:cNvSpPr/>
            <p:nvPr/>
          </p:nvSpPr>
          <p:spPr bwMode="auto">
            <a:xfrm>
              <a:off x="5049" y="5481"/>
              <a:ext cx="10776" cy="1723"/>
            </a:xfrm>
            <a:prstGeom prst="roundRect">
              <a:avLst>
                <a:gd name="adj" fmla="val 5324"/>
              </a:avLst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en-US" sz="1200" i="1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5449" y="5683"/>
              <a:ext cx="1800" cy="575"/>
            </a:xfrm>
            <a:prstGeom prst="ellipse">
              <a:avLst/>
            </a:prstGeom>
            <a:solidFill>
              <a:srgbClr val="F56F0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CPU VP</a:t>
              </a:r>
            </a:p>
          </p:txBody>
        </p:sp>
        <p:sp>
          <p:nvSpPr>
            <p:cNvPr id="48" name="椭圆 47"/>
            <p:cNvSpPr/>
            <p:nvPr/>
          </p:nvSpPr>
          <p:spPr>
            <a:xfrm>
              <a:off x="5449" y="6440"/>
              <a:ext cx="1800" cy="575"/>
            </a:xfrm>
            <a:prstGeom prst="ellipse">
              <a:avLst/>
            </a:prstGeom>
            <a:solidFill>
              <a:srgbClr val="F56F0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CPU VP</a:t>
              </a:r>
            </a:p>
          </p:txBody>
        </p:sp>
        <p:sp>
          <p:nvSpPr>
            <p:cNvPr id="49" name="椭圆 48"/>
            <p:cNvSpPr/>
            <p:nvPr/>
          </p:nvSpPr>
          <p:spPr>
            <a:xfrm>
              <a:off x="7509" y="6448"/>
              <a:ext cx="1800" cy="57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AIO VP</a:t>
              </a:r>
            </a:p>
          </p:txBody>
        </p:sp>
        <p:sp>
          <p:nvSpPr>
            <p:cNvPr id="50" name="椭圆 49"/>
            <p:cNvSpPr/>
            <p:nvPr/>
          </p:nvSpPr>
          <p:spPr>
            <a:xfrm>
              <a:off x="7509" y="5675"/>
              <a:ext cx="1800" cy="57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AIO VP</a:t>
              </a:r>
            </a:p>
          </p:txBody>
        </p:sp>
        <p:sp>
          <p:nvSpPr>
            <p:cNvPr id="51" name="椭圆 50"/>
            <p:cNvSpPr/>
            <p:nvPr/>
          </p:nvSpPr>
          <p:spPr>
            <a:xfrm>
              <a:off x="9572" y="6432"/>
              <a:ext cx="1800" cy="57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AIO VP</a:t>
              </a:r>
            </a:p>
          </p:txBody>
        </p:sp>
        <p:sp>
          <p:nvSpPr>
            <p:cNvPr id="52" name="椭圆 51"/>
            <p:cNvSpPr/>
            <p:nvPr/>
          </p:nvSpPr>
          <p:spPr>
            <a:xfrm>
              <a:off x="9568" y="5675"/>
              <a:ext cx="1800" cy="575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ADM VP</a:t>
              </a:r>
            </a:p>
          </p:txBody>
        </p:sp>
        <p:sp>
          <p:nvSpPr>
            <p:cNvPr id="53" name="椭圆 52"/>
            <p:cNvSpPr/>
            <p:nvPr/>
          </p:nvSpPr>
          <p:spPr>
            <a:xfrm>
              <a:off x="11628" y="6432"/>
              <a:ext cx="1800" cy="575"/>
            </a:xfrm>
            <a:prstGeom prst="ellipse">
              <a:avLst/>
            </a:prstGeom>
            <a:solidFill>
              <a:srgbClr val="E731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JAVA VP</a:t>
              </a:r>
            </a:p>
          </p:txBody>
        </p:sp>
        <p:sp>
          <p:nvSpPr>
            <p:cNvPr id="54" name="椭圆 53"/>
            <p:cNvSpPr/>
            <p:nvPr/>
          </p:nvSpPr>
          <p:spPr>
            <a:xfrm>
              <a:off x="11628" y="5675"/>
              <a:ext cx="1800" cy="575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PIO VP</a:t>
              </a:r>
            </a:p>
          </p:txBody>
        </p:sp>
        <p:sp>
          <p:nvSpPr>
            <p:cNvPr id="55" name="椭圆 54"/>
            <p:cNvSpPr/>
            <p:nvPr/>
          </p:nvSpPr>
          <p:spPr>
            <a:xfrm>
              <a:off x="13679" y="6444"/>
              <a:ext cx="1800" cy="575"/>
            </a:xfrm>
            <a:prstGeom prst="ellipse">
              <a:avLst/>
            </a:prstGeom>
            <a:solidFill>
              <a:srgbClr val="7030A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NET VP</a:t>
              </a:r>
            </a:p>
          </p:txBody>
        </p:sp>
        <p:sp>
          <p:nvSpPr>
            <p:cNvPr id="56" name="椭圆 55"/>
            <p:cNvSpPr/>
            <p:nvPr/>
          </p:nvSpPr>
          <p:spPr>
            <a:xfrm>
              <a:off x="13688" y="5675"/>
              <a:ext cx="1800" cy="575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LIO VP</a:t>
              </a:r>
            </a:p>
          </p:txBody>
        </p:sp>
        <p:sp>
          <p:nvSpPr>
            <p:cNvPr id="63" name="矩形 62"/>
            <p:cNvSpPr/>
            <p:nvPr/>
          </p:nvSpPr>
          <p:spPr>
            <a:xfrm>
              <a:off x="5565" y="7608"/>
              <a:ext cx="2178" cy="7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en-US" sz="120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DBspace#1</a:t>
              </a:r>
            </a:p>
          </p:txBody>
        </p:sp>
        <p:sp>
          <p:nvSpPr>
            <p:cNvPr id="64" name="矩形 63"/>
            <p:cNvSpPr/>
            <p:nvPr/>
          </p:nvSpPr>
          <p:spPr>
            <a:xfrm>
              <a:off x="8089" y="7608"/>
              <a:ext cx="2901" cy="7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en-US" sz="120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DBspace#2</a:t>
              </a:r>
            </a:p>
          </p:txBody>
        </p:sp>
        <p:sp>
          <p:nvSpPr>
            <p:cNvPr id="65" name="矩形 64"/>
            <p:cNvSpPr/>
            <p:nvPr/>
          </p:nvSpPr>
          <p:spPr>
            <a:xfrm>
              <a:off x="11336" y="7608"/>
              <a:ext cx="4114" cy="7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en-US" sz="1200">
                  <a:solidFill>
                    <a:srgbClr val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Arial" panose="020B0604020202020204" pitchFamily="34" charset="0"/>
                </a:rPr>
                <a:t>DBspace#n</a:t>
              </a:r>
            </a:p>
          </p:txBody>
        </p:sp>
        <p:sp>
          <p:nvSpPr>
            <p:cNvPr id="67" name="下箭头 66"/>
            <p:cNvSpPr/>
            <p:nvPr/>
          </p:nvSpPr>
          <p:spPr>
            <a:xfrm>
              <a:off x="6393" y="8423"/>
              <a:ext cx="368" cy="672"/>
            </a:xfrm>
            <a:prstGeom prst="downArrow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5806" y="8985"/>
              <a:ext cx="1543" cy="44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Chunk#1</a:t>
              </a: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7641" y="8987"/>
              <a:ext cx="1422" cy="44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Chunk#2</a:t>
              </a:r>
            </a:p>
          </p:txBody>
        </p:sp>
        <p:sp>
          <p:nvSpPr>
            <p:cNvPr id="75" name="圆角矩形 74"/>
            <p:cNvSpPr/>
            <p:nvPr/>
          </p:nvSpPr>
          <p:spPr>
            <a:xfrm>
              <a:off x="9267" y="8987"/>
              <a:ext cx="1492" cy="44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Chunk#3</a:t>
              </a: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10990" y="8987"/>
              <a:ext cx="1465" cy="44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b="1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Chunk#n</a:t>
              </a:r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12528" y="8987"/>
              <a:ext cx="1447" cy="44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Chunk#n</a:t>
              </a: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14070" y="8987"/>
              <a:ext cx="1382" cy="44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r>
                <a:rPr kumimoji="0" lang="en-US" altLang="en-US" sz="12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Chunk#n</a:t>
              </a:r>
            </a:p>
          </p:txBody>
        </p:sp>
        <p:sp>
          <p:nvSpPr>
            <p:cNvPr id="61" name="圆角矩形 60"/>
            <p:cNvSpPr/>
            <p:nvPr/>
          </p:nvSpPr>
          <p:spPr bwMode="auto">
            <a:xfrm>
              <a:off x="2731" y="1326"/>
              <a:ext cx="2191" cy="4005"/>
            </a:xfrm>
            <a:prstGeom prst="roundRect">
              <a:avLst>
                <a:gd name="adj" fmla="val 0"/>
              </a:avLst>
            </a:prstGeom>
            <a:solidFill>
              <a:srgbClr val="8A27C9"/>
            </a:solidFill>
            <a:ln>
              <a:solidFill>
                <a:srgbClr val="2D1DFF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dirty="0">
                  <a:solidFill>
                    <a:srgbClr val="FFFF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共享内存</a:t>
              </a:r>
            </a:p>
          </p:txBody>
        </p:sp>
        <p:sp>
          <p:nvSpPr>
            <p:cNvPr id="66" name="圆角矩形 65"/>
            <p:cNvSpPr/>
            <p:nvPr/>
          </p:nvSpPr>
          <p:spPr bwMode="auto">
            <a:xfrm>
              <a:off x="2724" y="5481"/>
              <a:ext cx="2191" cy="1723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18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虚拟处理器</a:t>
              </a:r>
            </a:p>
          </p:txBody>
        </p:sp>
        <p:sp>
          <p:nvSpPr>
            <p:cNvPr id="81" name="圆角矩形 80"/>
            <p:cNvSpPr/>
            <p:nvPr/>
          </p:nvSpPr>
          <p:spPr bwMode="auto">
            <a:xfrm>
              <a:off x="2728" y="8774"/>
              <a:ext cx="2191" cy="850"/>
            </a:xfrm>
            <a:prstGeom prst="roundRect">
              <a:avLst>
                <a:gd name="adj" fmla="val 0"/>
              </a:avLst>
            </a:prstGeom>
            <a:solidFill>
              <a:srgbClr val="E5F9BF"/>
            </a:solidFill>
            <a:ln>
              <a:solidFill>
                <a:schemeClr val="bg1">
                  <a:lumMod val="95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16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文件系统</a:t>
              </a:r>
            </a:p>
          </p:txBody>
        </p:sp>
        <p:sp>
          <p:nvSpPr>
            <p:cNvPr id="82" name="圆角矩形 81"/>
            <p:cNvSpPr/>
            <p:nvPr/>
          </p:nvSpPr>
          <p:spPr bwMode="auto">
            <a:xfrm>
              <a:off x="2715" y="7329"/>
              <a:ext cx="2191" cy="1297"/>
            </a:xfrm>
            <a:prstGeom prst="roundRect">
              <a:avLst>
                <a:gd name="adj" fmla="val 0"/>
              </a:avLst>
            </a:prstGeom>
            <a:solidFill>
              <a:srgbClr val="2CC3A1"/>
            </a:solidFill>
            <a:ln>
              <a:solidFill>
                <a:schemeClr val="bg1">
                  <a:lumMod val="95000"/>
                </a:schemeClr>
              </a:solidFill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CN" altLang="en-US" sz="18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数据</a:t>
              </a:r>
              <a:r>
                <a:rPr kumimoji="1" lang="en-US" altLang="zh-CN" sz="18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/</a:t>
              </a:r>
              <a:r>
                <a:rPr kumimoji="1" lang="zh-CN" altLang="en-US" sz="18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微软雅黑" panose="020B0503020204020204" pitchFamily="34" charset="-122"/>
                </a:rPr>
                <a:t>日志</a:t>
              </a:r>
            </a:p>
          </p:txBody>
        </p:sp>
        <p:sp>
          <p:nvSpPr>
            <p:cNvPr id="83" name="下箭头 82"/>
            <p:cNvSpPr/>
            <p:nvPr/>
          </p:nvSpPr>
          <p:spPr>
            <a:xfrm>
              <a:off x="8352" y="8418"/>
              <a:ext cx="368" cy="672"/>
            </a:xfrm>
            <a:prstGeom prst="downArrow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4" name="下箭头 83"/>
            <p:cNvSpPr/>
            <p:nvPr/>
          </p:nvSpPr>
          <p:spPr>
            <a:xfrm>
              <a:off x="9829" y="8418"/>
              <a:ext cx="368" cy="672"/>
            </a:xfrm>
            <a:prstGeom prst="downArrow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5" name="下箭头 84"/>
            <p:cNvSpPr/>
            <p:nvPr/>
          </p:nvSpPr>
          <p:spPr>
            <a:xfrm>
              <a:off x="11715" y="8409"/>
              <a:ext cx="368" cy="672"/>
            </a:xfrm>
            <a:prstGeom prst="downArrow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6" name="下箭头 85"/>
            <p:cNvSpPr/>
            <p:nvPr/>
          </p:nvSpPr>
          <p:spPr>
            <a:xfrm>
              <a:off x="13121" y="8423"/>
              <a:ext cx="368" cy="672"/>
            </a:xfrm>
            <a:prstGeom prst="downArrow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下箭头 86"/>
            <p:cNvSpPr/>
            <p:nvPr/>
          </p:nvSpPr>
          <p:spPr>
            <a:xfrm>
              <a:off x="14598" y="8409"/>
              <a:ext cx="368" cy="672"/>
            </a:xfrm>
            <a:prstGeom prst="downArrow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2075" tIns="46038" rIns="92075" bIns="46038" numCol="1" anchor="t" anchorCtr="0" compatLnSpc="1">
              <a:spAutoFit/>
            </a:bodyPr>
            <a:lstStyle/>
            <a:p>
              <a:pPr marL="119380" marR="0" indent="-119380" algn="ctr" defTabSz="914400" rtl="0" eaLnBrk="1" fontAlgn="base" latinLnBrk="0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1"/>
                </a:buClr>
                <a:buSzTx/>
                <a:buFontTx/>
                <a:buNone/>
              </a:pPr>
              <a:endPara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/</a:t>
            </a:r>
            <a:r>
              <a:rPr lang="zh-CN" altLang="en-US" dirty="0"/>
              <a:t>多线程结构</a:t>
            </a:r>
            <a:r>
              <a:rPr lang="en-US" altLang="zh-CN" dirty="0"/>
              <a:t>(</a:t>
            </a:r>
            <a:r>
              <a:rPr lang="en-US" altLang="zh-CN" b="0" dirty="0"/>
              <a:t>Process/Multi-Threading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 传统的多进程服务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每个连接需要启动新的进程为连接提供服务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每个进程的起始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(Initialization)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与终止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(Termination)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均耗费系统资源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进程间通信需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执行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Context Switch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，耗费系统资源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</a:pPr>
            <a:endParaRPr lang="en-US" altLang="zh-CN" sz="2000" dirty="0">
              <a:cs typeface="宋体" panose="02010600030101010101" pitchFamily="2" charset="-122"/>
            </a:endParaRPr>
          </a:p>
        </p:txBody>
      </p:sp>
      <p:grpSp>
        <p:nvGrpSpPr>
          <p:cNvPr id="6" name="Group 9"/>
          <p:cNvGrpSpPr/>
          <p:nvPr/>
        </p:nvGrpSpPr>
        <p:grpSpPr bwMode="auto">
          <a:xfrm>
            <a:off x="776624" y="1252119"/>
            <a:ext cx="3661430" cy="2406429"/>
            <a:chOff x="144" y="1248"/>
            <a:chExt cx="3649" cy="1776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1248"/>
              <a:ext cx="3649" cy="1752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miter lim="800000"/>
              <a:headEnd/>
              <a:tailEnd/>
            </a:ln>
          </p:spPr>
        </p:pic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44" y="3024"/>
              <a:ext cx="3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87059" y="3827680"/>
            <a:ext cx="4549586" cy="2479539"/>
            <a:chOff x="697702" y="2209800"/>
            <a:chExt cx="5962625" cy="3174952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906061" y="4953000"/>
              <a:ext cx="387816" cy="4317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697702" y="2286000"/>
              <a:ext cx="684087" cy="4317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 dirty="0">
                  <a:cs typeface="Times New Roman" panose="02020603050405020304" charset="0"/>
                </a:rPr>
                <a:t>100</a:t>
              </a:r>
            </a:p>
          </p:txBody>
        </p:sp>
        <p:grpSp>
          <p:nvGrpSpPr>
            <p:cNvPr id="12" name="Group 8"/>
            <p:cNvGrpSpPr/>
            <p:nvPr/>
          </p:nvGrpSpPr>
          <p:grpSpPr bwMode="auto">
            <a:xfrm>
              <a:off x="1295400" y="2209800"/>
              <a:ext cx="3867443" cy="2971800"/>
              <a:chOff x="1008" y="1728"/>
              <a:chExt cx="3936" cy="2064"/>
            </a:xfrm>
          </p:grpSpPr>
          <p:sp>
            <p:nvSpPr>
              <p:cNvPr id="43" name="Line 9"/>
              <p:cNvSpPr>
                <a:spLocks noChangeShapeType="1"/>
              </p:cNvSpPr>
              <p:nvPr/>
            </p:nvSpPr>
            <p:spPr bwMode="auto">
              <a:xfrm>
                <a:off x="1008" y="1728"/>
                <a:ext cx="0" cy="206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10"/>
              <p:cNvSpPr>
                <a:spLocks noChangeShapeType="1"/>
              </p:cNvSpPr>
              <p:nvPr/>
            </p:nvSpPr>
            <p:spPr bwMode="auto">
              <a:xfrm>
                <a:off x="1008" y="3792"/>
                <a:ext cx="3936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006738" y="2333888"/>
              <a:ext cx="150541" cy="2833577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grpSp>
          <p:nvGrpSpPr>
            <p:cNvPr id="14" name="Group 12"/>
            <p:cNvGrpSpPr/>
            <p:nvPr/>
          </p:nvGrpSpPr>
          <p:grpSpPr bwMode="auto">
            <a:xfrm>
              <a:off x="1493800" y="2348023"/>
              <a:ext cx="150541" cy="2833577"/>
              <a:chOff x="1296" y="1824"/>
              <a:chExt cx="96" cy="1968"/>
            </a:xfrm>
          </p:grpSpPr>
          <p:sp>
            <p:nvSpPr>
              <p:cNvPr id="41" name="Rectangle 13"/>
              <p:cNvSpPr>
                <a:spLocks noChangeArrowheads="1"/>
              </p:cNvSpPr>
              <p:nvPr/>
            </p:nvSpPr>
            <p:spPr bwMode="auto">
              <a:xfrm>
                <a:off x="1296" y="3600"/>
                <a:ext cx="96" cy="19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42" name="Rectangle 14"/>
              <p:cNvSpPr>
                <a:spLocks noChangeArrowheads="1"/>
              </p:cNvSpPr>
              <p:nvPr/>
            </p:nvSpPr>
            <p:spPr bwMode="auto">
              <a:xfrm>
                <a:off x="1296" y="1824"/>
                <a:ext cx="96" cy="177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15" name="Group 15"/>
            <p:cNvGrpSpPr/>
            <p:nvPr/>
          </p:nvGrpSpPr>
          <p:grpSpPr bwMode="auto">
            <a:xfrm>
              <a:off x="1870927" y="2348023"/>
              <a:ext cx="150541" cy="2833577"/>
              <a:chOff x="1632" y="1824"/>
              <a:chExt cx="96" cy="1968"/>
            </a:xfrm>
          </p:grpSpPr>
          <p:sp>
            <p:nvSpPr>
              <p:cNvPr id="39" name="Rectangle 16"/>
              <p:cNvSpPr>
                <a:spLocks noChangeArrowheads="1"/>
              </p:cNvSpPr>
              <p:nvPr/>
            </p:nvSpPr>
            <p:spPr bwMode="auto">
              <a:xfrm>
                <a:off x="1632" y="2544"/>
                <a:ext cx="96" cy="124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40" name="Rectangle 17"/>
              <p:cNvSpPr>
                <a:spLocks noChangeArrowheads="1"/>
              </p:cNvSpPr>
              <p:nvPr/>
            </p:nvSpPr>
            <p:spPr bwMode="auto">
              <a:xfrm>
                <a:off x="1632" y="1824"/>
                <a:ext cx="96" cy="7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16" name="Group 18"/>
            <p:cNvGrpSpPr/>
            <p:nvPr/>
          </p:nvGrpSpPr>
          <p:grpSpPr bwMode="auto">
            <a:xfrm>
              <a:off x="2249700" y="2348023"/>
              <a:ext cx="150541" cy="2833577"/>
              <a:chOff x="2016" y="1824"/>
              <a:chExt cx="96" cy="1968"/>
            </a:xfrm>
          </p:grpSpPr>
          <p:sp>
            <p:nvSpPr>
              <p:cNvPr id="37" name="Rectangle 19"/>
              <p:cNvSpPr>
                <a:spLocks noChangeArrowheads="1"/>
              </p:cNvSpPr>
              <p:nvPr/>
            </p:nvSpPr>
            <p:spPr bwMode="auto">
              <a:xfrm>
                <a:off x="2016" y="2880"/>
                <a:ext cx="96" cy="912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38" name="Rectangle 20"/>
              <p:cNvSpPr>
                <a:spLocks noChangeArrowheads="1"/>
              </p:cNvSpPr>
              <p:nvPr/>
            </p:nvSpPr>
            <p:spPr bwMode="auto">
              <a:xfrm>
                <a:off x="2016" y="1824"/>
                <a:ext cx="96" cy="105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17" name="Group 21"/>
            <p:cNvGrpSpPr/>
            <p:nvPr/>
          </p:nvGrpSpPr>
          <p:grpSpPr bwMode="auto">
            <a:xfrm>
              <a:off x="2623879" y="2348023"/>
              <a:ext cx="150541" cy="2833577"/>
              <a:chOff x="2400" y="1824"/>
              <a:chExt cx="96" cy="1968"/>
            </a:xfrm>
          </p:grpSpPr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96" cy="48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36" name="Rectangle 23"/>
              <p:cNvSpPr>
                <a:spLocks noChangeArrowheads="1"/>
              </p:cNvSpPr>
              <p:nvPr/>
            </p:nvSpPr>
            <p:spPr bwMode="auto">
              <a:xfrm>
                <a:off x="2400" y="1824"/>
                <a:ext cx="96" cy="148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18" name="Group 24"/>
            <p:cNvGrpSpPr/>
            <p:nvPr/>
          </p:nvGrpSpPr>
          <p:grpSpPr bwMode="auto">
            <a:xfrm>
              <a:off x="3380917" y="2348023"/>
              <a:ext cx="150541" cy="2833577"/>
              <a:chOff x="3312" y="1824"/>
              <a:chExt cx="96" cy="1968"/>
            </a:xfrm>
          </p:grpSpPr>
          <p:sp>
            <p:nvSpPr>
              <p:cNvPr id="33" name="Rectangle 25"/>
              <p:cNvSpPr>
                <a:spLocks noChangeArrowheads="1"/>
              </p:cNvSpPr>
              <p:nvPr/>
            </p:nvSpPr>
            <p:spPr bwMode="auto">
              <a:xfrm>
                <a:off x="3312" y="2112"/>
                <a:ext cx="96" cy="168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34" name="Rectangle 26"/>
              <p:cNvSpPr>
                <a:spLocks noChangeArrowheads="1"/>
              </p:cNvSpPr>
              <p:nvPr/>
            </p:nvSpPr>
            <p:spPr bwMode="auto">
              <a:xfrm>
                <a:off x="3312" y="1824"/>
                <a:ext cx="96" cy="28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19" name="Group 27"/>
            <p:cNvGrpSpPr/>
            <p:nvPr/>
          </p:nvGrpSpPr>
          <p:grpSpPr bwMode="auto">
            <a:xfrm>
              <a:off x="3756785" y="2333888"/>
              <a:ext cx="150541" cy="2833577"/>
              <a:chOff x="3744" y="1824"/>
              <a:chExt cx="96" cy="1968"/>
            </a:xfrm>
          </p:grpSpPr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>
                <a:off x="3744" y="2976"/>
                <a:ext cx="96" cy="81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32" name="Rectangle 29"/>
              <p:cNvSpPr>
                <a:spLocks noChangeArrowheads="1"/>
              </p:cNvSpPr>
              <p:nvPr/>
            </p:nvSpPr>
            <p:spPr bwMode="auto">
              <a:xfrm>
                <a:off x="3744" y="1824"/>
                <a:ext cx="96" cy="115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20" name="Group 30"/>
            <p:cNvGrpSpPr/>
            <p:nvPr/>
          </p:nvGrpSpPr>
          <p:grpSpPr bwMode="auto">
            <a:xfrm>
              <a:off x="4136740" y="2333888"/>
              <a:ext cx="150541" cy="2833577"/>
              <a:chOff x="4128" y="1824"/>
              <a:chExt cx="96" cy="1968"/>
            </a:xfrm>
          </p:grpSpPr>
          <p:sp>
            <p:nvSpPr>
              <p:cNvPr id="29" name="Rectangle 31"/>
              <p:cNvSpPr>
                <a:spLocks noChangeArrowheads="1"/>
              </p:cNvSpPr>
              <p:nvPr/>
            </p:nvSpPr>
            <p:spPr bwMode="auto">
              <a:xfrm>
                <a:off x="4128" y="2544"/>
                <a:ext cx="96" cy="124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30" name="Rectangle 32"/>
              <p:cNvSpPr>
                <a:spLocks noChangeArrowheads="1"/>
              </p:cNvSpPr>
              <p:nvPr/>
            </p:nvSpPr>
            <p:spPr bwMode="auto">
              <a:xfrm>
                <a:off x="4128" y="1824"/>
                <a:ext cx="96" cy="72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grpSp>
          <p:nvGrpSpPr>
            <p:cNvPr id="21" name="Group 33"/>
            <p:cNvGrpSpPr/>
            <p:nvPr/>
          </p:nvGrpSpPr>
          <p:grpSpPr bwMode="auto">
            <a:xfrm>
              <a:off x="4516679" y="2333888"/>
              <a:ext cx="150541" cy="2833577"/>
              <a:chOff x="4560" y="1824"/>
              <a:chExt cx="96" cy="1968"/>
            </a:xfrm>
          </p:grpSpPr>
          <p:sp>
            <p:nvSpPr>
              <p:cNvPr id="27" name="Rectangle 34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96" cy="148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28" name="Rectangle 35"/>
              <p:cNvSpPr>
                <a:spLocks noChangeArrowheads="1"/>
              </p:cNvSpPr>
              <p:nvPr/>
            </p:nvSpPr>
            <p:spPr bwMode="auto">
              <a:xfrm>
                <a:off x="4560" y="1824"/>
                <a:ext cx="96" cy="48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</p:grpSp>
        <p:sp>
          <p:nvSpPr>
            <p:cNvPr id="22" name="Text Box 37"/>
            <p:cNvSpPr txBox="1">
              <a:spLocks noChangeArrowheads="1"/>
            </p:cNvSpPr>
            <p:nvPr/>
          </p:nvSpPr>
          <p:spPr bwMode="auto">
            <a:xfrm>
              <a:off x="755895" y="3581400"/>
              <a:ext cx="535951" cy="43175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 dirty="0">
                  <a:cs typeface="Times New Roman" panose="02020603050405020304" charset="0"/>
                </a:rPr>
                <a:t>50</a:t>
              </a:r>
              <a:endParaRPr lang="zh-CN" altLang="en-US" sz="1600" dirty="0">
                <a:cs typeface="Times New Roman" panose="02020603050405020304" charset="0"/>
              </a:endParaRPr>
            </a:p>
          </p:txBody>
        </p:sp>
        <p:sp>
          <p:nvSpPr>
            <p:cNvPr id="23" name="Rectangle 38"/>
            <p:cNvSpPr>
              <a:spLocks noChangeArrowheads="1"/>
            </p:cNvSpPr>
            <p:nvPr/>
          </p:nvSpPr>
          <p:spPr bwMode="auto">
            <a:xfrm>
              <a:off x="5005754" y="4237620"/>
              <a:ext cx="304800" cy="2286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accent1"/>
              </a:solidFill>
              <a:round/>
            </a:ln>
          </p:spPr>
          <p:txBody>
            <a:bodyPr anchor="ctr"/>
            <a:lstStyle/>
            <a:p>
              <a:pPr marL="457200"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24" name="TextBox 39"/>
            <p:cNvSpPr txBox="1">
              <a:spLocks noChangeArrowheads="1"/>
            </p:cNvSpPr>
            <p:nvPr/>
          </p:nvSpPr>
          <p:spPr bwMode="auto">
            <a:xfrm>
              <a:off x="5359767" y="4213808"/>
              <a:ext cx="1244172" cy="35288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CPU</a:t>
              </a:r>
              <a:r>
                <a:rPr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被使用</a:t>
              </a:r>
            </a:p>
          </p:txBody>
        </p:sp>
        <p:sp>
          <p:nvSpPr>
            <p:cNvPr id="25" name="Rectangle 40"/>
            <p:cNvSpPr>
              <a:spLocks noChangeArrowheads="1"/>
            </p:cNvSpPr>
            <p:nvPr/>
          </p:nvSpPr>
          <p:spPr bwMode="auto">
            <a:xfrm>
              <a:off x="5005754" y="4704345"/>
              <a:ext cx="304800" cy="228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1"/>
              </a:solidFill>
              <a:round/>
            </a:ln>
          </p:spPr>
          <p:txBody>
            <a:bodyPr anchor="ctr"/>
            <a:lstStyle/>
            <a:p>
              <a:pPr marL="457200"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26" name="TextBox 41"/>
            <p:cNvSpPr txBox="1">
              <a:spLocks noChangeArrowheads="1"/>
            </p:cNvSpPr>
            <p:nvPr/>
          </p:nvSpPr>
          <p:spPr bwMode="auto">
            <a:xfrm>
              <a:off x="5359767" y="4680532"/>
              <a:ext cx="1300560" cy="3528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CPU</a:t>
              </a:r>
              <a:r>
                <a:rPr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空闲着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/</a:t>
            </a:r>
            <a:r>
              <a:rPr lang="zh-CN" altLang="en-US" dirty="0"/>
              <a:t>多线程结构</a:t>
            </a:r>
            <a:r>
              <a:rPr lang="en-US" altLang="zh-CN" dirty="0"/>
              <a:t>(</a:t>
            </a:r>
            <a:r>
              <a:rPr lang="en-US" altLang="zh-CN" b="0" dirty="0"/>
              <a:t>Process/Multi-Threading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</a:t>
            </a:r>
            <a:r>
              <a:rPr lang="en-US" altLang="zh-CN" sz="2400" dirty="0" err="1"/>
              <a:t>GBase</a:t>
            </a:r>
            <a:r>
              <a:rPr lang="en-US" altLang="zh-CN" sz="2400" dirty="0"/>
              <a:t> 8s DSA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真正的多线程架构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专为“动态可扩展数据库架构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设计的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多线程库</a:t>
            </a:r>
            <a:r>
              <a:rPr lang="en-US" altLang="ja-JP" sz="1800" dirty="0">
                <a:latin typeface="微软雅黑" panose="020B0503020204020204" pitchFamily="34" charset="-122"/>
                <a:ea typeface="微软雅黑" panose="020B0503020204020204" pitchFamily="34" charset="-122"/>
                <a:cs typeface="MS PGothic" panose="020B0600070205080204" charset="-128"/>
              </a:rPr>
              <a:t> (thread library)</a:t>
            </a:r>
            <a:endParaRPr lang="zh-CN" altLang="en-US" sz="1800" i="1" u="sng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资源利用率高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不依赖于操作系统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容易移植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(AIX, Solaris, HPUX, Linux, </a:t>
            </a:r>
            <a:r>
              <a:rPr lang="en-US" altLang="zh-CN" sz="1800" dirty="0" err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etc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非依赖于操作系统的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POSIX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多线程库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集成的并行机制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(Parallel Processing)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动态的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可扩展的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/</a:t>
            </a:r>
            <a:r>
              <a:rPr lang="zh-CN" altLang="en-US" dirty="0"/>
              <a:t>多线程结构</a:t>
            </a:r>
            <a:r>
              <a:rPr lang="en-US" altLang="zh-CN" dirty="0"/>
              <a:t>(</a:t>
            </a:r>
            <a:r>
              <a:rPr lang="en-US" altLang="zh-CN" b="0" dirty="0"/>
              <a:t>Process/Multi-Threading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进程（</a:t>
            </a:r>
            <a:r>
              <a:rPr lang="en-US" altLang="zh-CN" sz="2400" dirty="0"/>
              <a:t>Processes</a:t>
            </a:r>
            <a:r>
              <a:rPr lang="zh-CN" altLang="en-US" sz="2400" dirty="0"/>
              <a:t>）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每个服务进程被认为是一个虚拟处理器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(Virtual Processor, VP)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的功能对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进行分类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多种数据库服务器进程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– CPU VP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AIO VP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LIO VP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ADM VP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每种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管理和运行属于它的线程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(thread)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线程（</a:t>
            </a:r>
            <a:r>
              <a:rPr lang="en-US" altLang="zh-CN" sz="2400" dirty="0"/>
              <a:t>Threads</a:t>
            </a:r>
            <a:r>
              <a:rPr lang="zh-CN" altLang="en-US" sz="2400" dirty="0"/>
              <a:t>）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内部线程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(internal thread)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：完成数据库服务内部任务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用户线程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(user thread)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：为客户端请求提供服务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每个线程可运行在与它类别相同的任意一个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从线程准备队列中获取线程的数据和环境信息，之后运行线程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/</a:t>
            </a:r>
            <a:r>
              <a:rPr lang="zh-CN" altLang="en-US" dirty="0"/>
              <a:t>多线程结构</a:t>
            </a:r>
            <a:r>
              <a:rPr lang="en-US" altLang="zh-CN" dirty="0"/>
              <a:t>(</a:t>
            </a:r>
            <a:r>
              <a:rPr lang="en-US" altLang="zh-CN" b="0" dirty="0"/>
              <a:t>Process/Multi-Threading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基于线程的数据库服务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每个用户连接代表一个新的线程的起始为新连接提供服务。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每个线程的起始与终止仅耗费较小的系统资源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线程间通信无需执行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 Switch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，大大减少系统资源的耗费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20" y="1126490"/>
            <a:ext cx="4108450" cy="25660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组合 5"/>
          <p:cNvGrpSpPr/>
          <p:nvPr/>
        </p:nvGrpSpPr>
        <p:grpSpPr>
          <a:xfrm>
            <a:off x="900591" y="3642714"/>
            <a:ext cx="4372219" cy="2859766"/>
            <a:chOff x="900379" y="2484745"/>
            <a:chExt cx="5044213" cy="2985481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1117669" y="5085736"/>
              <a:ext cx="357507" cy="384490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800" dirty="0"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900379" y="2484745"/>
              <a:ext cx="650546" cy="384490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800" dirty="0">
                  <a:cs typeface="Times New Roman" panose="02020603050405020304" charset="0"/>
                </a:rPr>
                <a:t>100</a:t>
              </a:r>
            </a:p>
          </p:txBody>
        </p:sp>
        <p:grpSp>
          <p:nvGrpSpPr>
            <p:cNvPr id="9" name="Group 6"/>
            <p:cNvGrpSpPr/>
            <p:nvPr/>
          </p:nvGrpSpPr>
          <p:grpSpPr bwMode="auto">
            <a:xfrm>
              <a:off x="1524000" y="2492543"/>
              <a:ext cx="2966884" cy="2794757"/>
              <a:chOff x="1008" y="1728"/>
              <a:chExt cx="3936" cy="2064"/>
            </a:xfrm>
          </p:grpSpPr>
          <p:sp>
            <p:nvSpPr>
              <p:cNvPr id="25" name="Line 7"/>
              <p:cNvSpPr>
                <a:spLocks noChangeShapeType="1"/>
              </p:cNvSpPr>
              <p:nvPr/>
            </p:nvSpPr>
            <p:spPr bwMode="auto">
              <a:xfrm>
                <a:off x="1008" y="1728"/>
                <a:ext cx="0" cy="2064"/>
              </a:xfrm>
              <a:prstGeom prst="line">
                <a:avLst/>
              </a:prstGeom>
              <a:noFill/>
              <a:ln w="31750">
                <a:solidFill>
                  <a:schemeClr val="accent2">
                    <a:lumMod val="20000"/>
                    <a:lumOff val="80000"/>
                  </a:schemeClr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8"/>
              <p:cNvSpPr>
                <a:spLocks noChangeShapeType="1"/>
              </p:cNvSpPr>
              <p:nvPr/>
            </p:nvSpPr>
            <p:spPr bwMode="auto">
              <a:xfrm>
                <a:off x="1008" y="3792"/>
                <a:ext cx="3936" cy="0"/>
              </a:xfrm>
              <a:prstGeom prst="line">
                <a:avLst/>
              </a:prstGeom>
              <a:noFill/>
              <a:ln w="31750">
                <a:solidFill>
                  <a:schemeClr val="accent2">
                    <a:lumMod val="20000"/>
                    <a:lumOff val="80000"/>
                  </a:schemeClr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879818" y="2608523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706984" y="2608524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00723" y="2608524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051669" y="4430996"/>
              <a:ext cx="130277" cy="84936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051669" y="2607836"/>
              <a:ext cx="130277" cy="182940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985927" y="3789973"/>
              <a:ext cx="504027" cy="384490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800" dirty="0">
                  <a:cs typeface="Times New Roman" panose="02020603050405020304" charset="0"/>
                </a:rPr>
                <a:t>50</a:t>
              </a:r>
              <a:endParaRPr lang="zh-CN" altLang="en-US" sz="1800" dirty="0">
                <a:cs typeface="Times New Roman" panose="02020603050405020304" charset="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2296958" y="2608524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588388" y="2608524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174636" y="2608522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469454" y="2615462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764272" y="2608522"/>
              <a:ext cx="130277" cy="267877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21" name="Rectangle 38"/>
            <p:cNvSpPr>
              <a:spLocks noChangeArrowheads="1"/>
            </p:cNvSpPr>
            <p:nvPr/>
          </p:nvSpPr>
          <p:spPr bwMode="auto">
            <a:xfrm>
              <a:off x="4457005" y="4461349"/>
              <a:ext cx="304800" cy="228600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accent2">
                  <a:lumMod val="20000"/>
                  <a:lumOff val="80000"/>
                </a:schemeClr>
              </a:solidFill>
              <a:round/>
            </a:ln>
          </p:spPr>
          <p:txBody>
            <a:bodyPr anchor="ctr"/>
            <a:lstStyle/>
            <a:p>
              <a:pPr marL="457200"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22" name="TextBox 39"/>
            <p:cNvSpPr txBox="1">
              <a:spLocks noChangeArrowheads="1"/>
            </p:cNvSpPr>
            <p:nvPr/>
          </p:nvSpPr>
          <p:spPr bwMode="auto">
            <a:xfrm>
              <a:off x="4844355" y="4437537"/>
              <a:ext cx="1095233" cy="287705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non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CPU</a:t>
              </a:r>
              <a:r>
                <a:rPr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被使用</a:t>
              </a:r>
            </a:p>
          </p:txBody>
        </p:sp>
        <p:sp>
          <p:nvSpPr>
            <p:cNvPr id="23" name="Rectangle 40"/>
            <p:cNvSpPr>
              <a:spLocks noChangeArrowheads="1"/>
            </p:cNvSpPr>
            <p:nvPr/>
          </p:nvSpPr>
          <p:spPr bwMode="auto">
            <a:xfrm>
              <a:off x="4457005" y="4871877"/>
              <a:ext cx="304800" cy="228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20000"/>
                  <a:lumOff val="80000"/>
                </a:schemeClr>
              </a:solidFill>
              <a:round/>
            </a:ln>
          </p:spPr>
          <p:txBody>
            <a:bodyPr anchor="ctr"/>
            <a:lstStyle/>
            <a:p>
              <a:pPr marL="457200" algn="ctr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zh-CN" b="0"/>
            </a:p>
          </p:txBody>
        </p:sp>
        <p:sp>
          <p:nvSpPr>
            <p:cNvPr id="24" name="TextBox 41"/>
            <p:cNvSpPr txBox="1">
              <a:spLocks noChangeArrowheads="1"/>
            </p:cNvSpPr>
            <p:nvPr/>
          </p:nvSpPr>
          <p:spPr bwMode="auto">
            <a:xfrm>
              <a:off x="4844354" y="4868116"/>
              <a:ext cx="1100238" cy="287705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CPU</a:t>
              </a:r>
              <a:r>
                <a:rPr lang="zh-CN" altLang="en-US" sz="1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空闲着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/</a:t>
            </a:r>
            <a:r>
              <a:rPr lang="zh-CN" altLang="en-US" dirty="0"/>
              <a:t>多线程结构</a:t>
            </a:r>
            <a:r>
              <a:rPr lang="en-US" altLang="zh-CN" dirty="0"/>
              <a:t>(</a:t>
            </a:r>
            <a:r>
              <a:rPr lang="en-US" altLang="zh-CN" b="0" dirty="0"/>
              <a:t>Process/Multi-Threading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高度并行</a:t>
            </a:r>
            <a:endParaRPr lang="en-US" altLang="zh-CN" dirty="0"/>
          </a:p>
          <a:p>
            <a:pPr marL="341630" lvl="1" indent="0">
              <a:lnSpc>
                <a:spcPct val="150000"/>
              </a:lnSpc>
              <a:buNone/>
            </a:pPr>
            <a:endParaRPr lang="zh-CN" altLang="en-US" dirty="0"/>
          </a:p>
        </p:txBody>
      </p:sp>
      <p:grpSp>
        <p:nvGrpSpPr>
          <p:cNvPr id="90" name="组合 89"/>
          <p:cNvGrpSpPr/>
          <p:nvPr/>
        </p:nvGrpSpPr>
        <p:grpSpPr>
          <a:xfrm>
            <a:off x="275590" y="1516380"/>
            <a:ext cx="6300470" cy="4349913"/>
            <a:chOff x="1202115" y="3235568"/>
            <a:chExt cx="6635862" cy="3020214"/>
          </a:xfrm>
        </p:grpSpPr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2896012" y="5834341"/>
              <a:ext cx="570230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buClr>
                  <a:schemeClr val="tx2"/>
                </a:buClr>
              </a:pPr>
              <a:r>
                <a: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串行</a:t>
              </a:r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2042718" y="5201493"/>
              <a:ext cx="1102995" cy="227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扫描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(scan)</a:t>
              </a:r>
            </a:p>
          </p:txBody>
        </p:sp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2120727" y="4554037"/>
              <a:ext cx="1025525" cy="227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连接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(join)</a:t>
              </a:r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2094655" y="3929823"/>
              <a:ext cx="1050290" cy="227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buClr>
                  <a:schemeClr val="tx2"/>
                </a:buClr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排序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(sort)</a:t>
              </a:r>
            </a:p>
          </p:txBody>
        </p:sp>
        <p:sp>
          <p:nvSpPr>
            <p:cNvPr id="32" name="Line 8"/>
            <p:cNvSpPr>
              <a:spLocks noChangeShapeType="1"/>
            </p:cNvSpPr>
            <p:nvPr/>
          </p:nvSpPr>
          <p:spPr bwMode="auto">
            <a:xfrm flipH="1">
              <a:off x="1822102" y="3291840"/>
              <a:ext cx="36312" cy="2584167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2925369" y="3959503"/>
              <a:ext cx="224155" cy="227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 b="0">
                  <a:solidFill>
                    <a:schemeClr val="bg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 </a:t>
              </a:r>
            </a:p>
          </p:txBody>
        </p:sp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4234128" y="5857658"/>
              <a:ext cx="570230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并行</a:t>
              </a:r>
            </a:p>
          </p:txBody>
        </p:sp>
        <p:sp>
          <p:nvSpPr>
            <p:cNvPr id="35" name="Rectangle 13"/>
            <p:cNvSpPr>
              <a:spLocks noChangeArrowheads="1"/>
            </p:cNvSpPr>
            <p:nvPr/>
          </p:nvSpPr>
          <p:spPr bwMode="auto">
            <a:xfrm>
              <a:off x="6278843" y="5850194"/>
              <a:ext cx="976630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高度并行</a:t>
              </a:r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4739757" y="3586928"/>
              <a:ext cx="224155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 b="0">
                  <a:solidFill>
                    <a:schemeClr val="bg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 </a:t>
              </a:r>
            </a:p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en-US" altLang="zh-CN" sz="1600" b="0">
                <a:solidFill>
                  <a:schemeClr val="bg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3497248" y="4040095"/>
              <a:ext cx="2066925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buClr>
                  <a:schemeClr val="tx2"/>
                </a:buClr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并行的处理任务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(task)</a:t>
              </a:r>
            </a:p>
          </p:txBody>
        </p:sp>
        <p:sp>
          <p:nvSpPr>
            <p:cNvPr id="38" name="Rectangle 17"/>
            <p:cNvSpPr>
              <a:spLocks noChangeArrowheads="1"/>
            </p:cNvSpPr>
            <p:nvPr/>
          </p:nvSpPr>
          <p:spPr bwMode="auto">
            <a:xfrm>
              <a:off x="5350975" y="3824742"/>
              <a:ext cx="224155" cy="227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 b="0">
                  <a:solidFill>
                    <a:schemeClr val="bg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 </a:t>
              </a:r>
            </a:p>
          </p:txBody>
        </p:sp>
        <p:sp>
          <p:nvSpPr>
            <p:cNvPr id="39" name="Rectangle 20"/>
            <p:cNvSpPr>
              <a:spLocks noChangeArrowheads="1"/>
            </p:cNvSpPr>
            <p:nvPr/>
          </p:nvSpPr>
          <p:spPr bwMode="auto">
            <a:xfrm>
              <a:off x="6707380" y="4244879"/>
              <a:ext cx="290830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en-US" altLang="zh-CN" sz="1600" b="0">
                <a:solidFill>
                  <a:schemeClr val="bg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en-US" altLang="zh-CN" sz="1600" b="0">
                <a:solidFill>
                  <a:schemeClr val="bg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5557169" y="4482693"/>
              <a:ext cx="2270125" cy="5691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将任务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(task)</a:t>
              </a: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分成子任务</a:t>
              </a:r>
            </a:p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且并行处理</a:t>
              </a:r>
            </a:p>
          </p:txBody>
        </p:sp>
        <p:sp>
          <p:nvSpPr>
            <p:cNvPr id="41" name="Rectangle 22"/>
            <p:cNvSpPr>
              <a:spLocks noChangeArrowheads="1"/>
            </p:cNvSpPr>
            <p:nvPr/>
          </p:nvSpPr>
          <p:spPr bwMode="auto">
            <a:xfrm>
              <a:off x="7221731" y="4482693"/>
              <a:ext cx="224155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600" b="0">
                  <a:solidFill>
                    <a:schemeClr val="bg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 </a:t>
              </a:r>
            </a:p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endParaRPr lang="en-US" altLang="zh-CN" sz="1600" b="0">
                <a:solidFill>
                  <a:schemeClr val="bg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42" name="Rectangle 24"/>
            <p:cNvSpPr>
              <a:spLocks noChangeArrowheads="1"/>
            </p:cNvSpPr>
            <p:nvPr/>
          </p:nvSpPr>
          <p:spPr bwMode="auto">
            <a:xfrm>
              <a:off x="1202115" y="4143358"/>
              <a:ext cx="570230" cy="3981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时间</a:t>
              </a:r>
              <a:endPara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grpSp>
          <p:nvGrpSpPr>
            <p:cNvPr id="43" name="Group 25"/>
            <p:cNvGrpSpPr/>
            <p:nvPr/>
          </p:nvGrpSpPr>
          <p:grpSpPr bwMode="auto">
            <a:xfrm>
              <a:off x="3172676" y="3235568"/>
              <a:ext cx="45719" cy="2481113"/>
              <a:chOff x="1710" y="1111"/>
              <a:chExt cx="19" cy="1940"/>
            </a:xfrm>
          </p:grpSpPr>
          <p:sp>
            <p:nvSpPr>
              <p:cNvPr id="82" name="Line 26"/>
              <p:cNvSpPr>
                <a:spLocks noChangeShapeType="1"/>
              </p:cNvSpPr>
              <p:nvPr/>
            </p:nvSpPr>
            <p:spPr bwMode="auto">
              <a:xfrm flipV="1">
                <a:off x="1729" y="1132"/>
                <a:ext cx="0" cy="511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3" name="Line 27"/>
              <p:cNvSpPr>
                <a:spLocks noChangeShapeType="1"/>
              </p:cNvSpPr>
              <p:nvPr/>
            </p:nvSpPr>
            <p:spPr bwMode="auto">
              <a:xfrm flipV="1">
                <a:off x="1710" y="1111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4" name="Line 28"/>
              <p:cNvSpPr>
                <a:spLocks noChangeShapeType="1"/>
              </p:cNvSpPr>
              <p:nvPr/>
            </p:nvSpPr>
            <p:spPr bwMode="auto">
              <a:xfrm flipV="1">
                <a:off x="1729" y="1602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5" name="Line 29"/>
              <p:cNvSpPr>
                <a:spLocks noChangeShapeType="1"/>
              </p:cNvSpPr>
              <p:nvPr/>
            </p:nvSpPr>
            <p:spPr bwMode="auto">
              <a:xfrm flipV="1">
                <a:off x="1710" y="1580"/>
                <a:ext cx="0" cy="511"/>
              </a:xfrm>
              <a:prstGeom prst="line">
                <a:avLst/>
              </a:prstGeom>
              <a:noFill/>
              <a:ln w="127000">
                <a:solidFill>
                  <a:srgbClr val="E73199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6" name="Line 30"/>
              <p:cNvSpPr>
                <a:spLocks noChangeShapeType="1"/>
              </p:cNvSpPr>
              <p:nvPr/>
            </p:nvSpPr>
            <p:spPr bwMode="auto">
              <a:xfrm flipV="1">
                <a:off x="1729" y="2071"/>
                <a:ext cx="0" cy="511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7" name="Line 31"/>
              <p:cNvSpPr>
                <a:spLocks noChangeShapeType="1"/>
              </p:cNvSpPr>
              <p:nvPr/>
            </p:nvSpPr>
            <p:spPr bwMode="auto">
              <a:xfrm flipV="1">
                <a:off x="1710" y="2050"/>
                <a:ext cx="0" cy="510"/>
              </a:xfrm>
              <a:prstGeom prst="line">
                <a:avLst/>
              </a:pr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8" name="Line 32"/>
              <p:cNvSpPr>
                <a:spLocks noChangeShapeType="1"/>
              </p:cNvSpPr>
              <p:nvPr/>
            </p:nvSpPr>
            <p:spPr bwMode="auto">
              <a:xfrm flipV="1">
                <a:off x="1729" y="2541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9" name="Line 33"/>
              <p:cNvSpPr>
                <a:spLocks noChangeShapeType="1"/>
              </p:cNvSpPr>
              <p:nvPr/>
            </p:nvSpPr>
            <p:spPr bwMode="auto">
              <a:xfrm flipV="1">
                <a:off x="1710" y="2519"/>
                <a:ext cx="0" cy="511"/>
              </a:xfrm>
              <a:prstGeom prst="line">
                <a:avLst/>
              </a:prstGeom>
              <a:noFill/>
              <a:ln w="127000">
                <a:solidFill>
                  <a:srgbClr val="2CC3A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44" name="Group 34"/>
            <p:cNvGrpSpPr/>
            <p:nvPr/>
          </p:nvGrpSpPr>
          <p:grpSpPr bwMode="auto">
            <a:xfrm>
              <a:off x="4141448" y="4555358"/>
              <a:ext cx="677331" cy="1154718"/>
              <a:chOff x="2425" y="2269"/>
              <a:chExt cx="446" cy="777"/>
            </a:xfrm>
          </p:grpSpPr>
          <p:sp>
            <p:nvSpPr>
              <p:cNvPr id="74" name="Line 35"/>
              <p:cNvSpPr>
                <a:spLocks noChangeShapeType="1"/>
              </p:cNvSpPr>
              <p:nvPr/>
            </p:nvSpPr>
            <p:spPr bwMode="auto">
              <a:xfrm flipV="1">
                <a:off x="2444" y="2546"/>
                <a:ext cx="0" cy="500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5" name="Line 36"/>
              <p:cNvSpPr>
                <a:spLocks noChangeShapeType="1"/>
              </p:cNvSpPr>
              <p:nvPr/>
            </p:nvSpPr>
            <p:spPr bwMode="auto">
              <a:xfrm flipV="1">
                <a:off x="2425" y="2525"/>
                <a:ext cx="0" cy="499"/>
              </a:xfrm>
              <a:prstGeom prst="line">
                <a:avLst/>
              </a:prstGeom>
              <a:noFill/>
              <a:ln w="127000">
                <a:solidFill>
                  <a:srgbClr val="2CC3A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6" name="Line 37"/>
              <p:cNvSpPr>
                <a:spLocks noChangeShapeType="1"/>
              </p:cNvSpPr>
              <p:nvPr/>
            </p:nvSpPr>
            <p:spPr bwMode="auto">
              <a:xfrm flipV="1">
                <a:off x="2591" y="2482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7" name="Line 38"/>
              <p:cNvSpPr>
                <a:spLocks noChangeShapeType="1"/>
              </p:cNvSpPr>
              <p:nvPr/>
            </p:nvSpPr>
            <p:spPr bwMode="auto">
              <a:xfrm flipV="1">
                <a:off x="2572" y="2461"/>
                <a:ext cx="0" cy="510"/>
              </a:xfrm>
              <a:prstGeom prst="line">
                <a:avLst/>
              </a:pr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8" name="Line 39"/>
              <p:cNvSpPr>
                <a:spLocks noChangeShapeType="1"/>
              </p:cNvSpPr>
              <p:nvPr/>
            </p:nvSpPr>
            <p:spPr bwMode="auto">
              <a:xfrm flipV="1">
                <a:off x="2734" y="2381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9" name="Line 40"/>
              <p:cNvSpPr>
                <a:spLocks noChangeShapeType="1"/>
              </p:cNvSpPr>
              <p:nvPr/>
            </p:nvSpPr>
            <p:spPr bwMode="auto">
              <a:xfrm flipV="1">
                <a:off x="2715" y="2359"/>
                <a:ext cx="0" cy="511"/>
              </a:xfrm>
              <a:prstGeom prst="line">
                <a:avLst/>
              </a:prstGeom>
              <a:noFill/>
              <a:ln w="127000">
                <a:solidFill>
                  <a:srgbClr val="E73199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0" name="Line 41"/>
              <p:cNvSpPr>
                <a:spLocks noChangeShapeType="1"/>
              </p:cNvSpPr>
              <p:nvPr/>
            </p:nvSpPr>
            <p:spPr bwMode="auto">
              <a:xfrm flipV="1">
                <a:off x="2871" y="2290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1" name="Line 42"/>
              <p:cNvSpPr>
                <a:spLocks noChangeShapeType="1"/>
              </p:cNvSpPr>
              <p:nvPr/>
            </p:nvSpPr>
            <p:spPr bwMode="auto">
              <a:xfrm flipV="1">
                <a:off x="2852" y="2269"/>
                <a:ext cx="0" cy="510"/>
              </a:xfrm>
              <a:prstGeom prst="line">
                <a:avLst/>
              </a:prstGeom>
              <a:noFill/>
              <a:ln w="127000">
                <a:solidFill>
                  <a:srgbClr val="FFFF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45" name="Group 43"/>
            <p:cNvGrpSpPr/>
            <p:nvPr/>
          </p:nvGrpSpPr>
          <p:grpSpPr bwMode="auto">
            <a:xfrm>
              <a:off x="5660720" y="5387706"/>
              <a:ext cx="381841" cy="322370"/>
              <a:chOff x="3426" y="2829"/>
              <a:chExt cx="251" cy="217"/>
            </a:xfrm>
          </p:grpSpPr>
          <p:sp>
            <p:nvSpPr>
              <p:cNvPr id="68" name="Line 44"/>
              <p:cNvSpPr>
                <a:spLocks noChangeShapeType="1"/>
              </p:cNvSpPr>
              <p:nvPr/>
            </p:nvSpPr>
            <p:spPr bwMode="auto">
              <a:xfrm flipV="1">
                <a:off x="3677" y="2850"/>
                <a:ext cx="0" cy="196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9" name="Line 45"/>
              <p:cNvSpPr>
                <a:spLocks noChangeShapeType="1"/>
              </p:cNvSpPr>
              <p:nvPr/>
            </p:nvSpPr>
            <p:spPr bwMode="auto">
              <a:xfrm flipV="1">
                <a:off x="3658" y="2829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2CC3A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0" name="Line 46"/>
              <p:cNvSpPr>
                <a:spLocks noChangeShapeType="1"/>
              </p:cNvSpPr>
              <p:nvPr/>
            </p:nvSpPr>
            <p:spPr bwMode="auto">
              <a:xfrm flipV="1">
                <a:off x="3558" y="2850"/>
                <a:ext cx="0" cy="196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1" name="Line 47"/>
              <p:cNvSpPr>
                <a:spLocks noChangeShapeType="1"/>
              </p:cNvSpPr>
              <p:nvPr/>
            </p:nvSpPr>
            <p:spPr bwMode="auto">
              <a:xfrm flipV="1">
                <a:off x="3539" y="2829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2CC3A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2" name="Line 48"/>
              <p:cNvSpPr>
                <a:spLocks noChangeShapeType="1"/>
              </p:cNvSpPr>
              <p:nvPr/>
            </p:nvSpPr>
            <p:spPr bwMode="auto">
              <a:xfrm flipV="1">
                <a:off x="3445" y="2850"/>
                <a:ext cx="0" cy="196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3" name="Line 49"/>
              <p:cNvSpPr>
                <a:spLocks noChangeShapeType="1"/>
              </p:cNvSpPr>
              <p:nvPr/>
            </p:nvSpPr>
            <p:spPr bwMode="auto">
              <a:xfrm flipV="1">
                <a:off x="3426" y="2829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2CC3A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46" name="Group 50"/>
            <p:cNvGrpSpPr/>
            <p:nvPr/>
          </p:nvGrpSpPr>
          <p:grpSpPr bwMode="auto">
            <a:xfrm>
              <a:off x="6200426" y="5330895"/>
              <a:ext cx="380493" cy="322370"/>
              <a:chOff x="3781" y="2791"/>
              <a:chExt cx="251" cy="217"/>
            </a:xfrm>
          </p:grpSpPr>
          <p:sp>
            <p:nvSpPr>
              <p:cNvPr id="62" name="Line 51"/>
              <p:cNvSpPr>
                <a:spLocks noChangeShapeType="1"/>
              </p:cNvSpPr>
              <p:nvPr/>
            </p:nvSpPr>
            <p:spPr bwMode="auto">
              <a:xfrm flipV="1">
                <a:off x="4032" y="2813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3" name="Line 52"/>
              <p:cNvSpPr>
                <a:spLocks noChangeShapeType="1"/>
              </p:cNvSpPr>
              <p:nvPr/>
            </p:nvSpPr>
            <p:spPr bwMode="auto">
              <a:xfrm flipV="1">
                <a:off x="4013" y="2791"/>
                <a:ext cx="0" cy="196"/>
              </a:xfrm>
              <a:prstGeom prst="line">
                <a:avLst/>
              </a:pr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4" name="Line 53"/>
              <p:cNvSpPr>
                <a:spLocks noChangeShapeType="1"/>
              </p:cNvSpPr>
              <p:nvPr/>
            </p:nvSpPr>
            <p:spPr bwMode="auto">
              <a:xfrm flipV="1">
                <a:off x="3914" y="2813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5" name="Line 54"/>
              <p:cNvSpPr>
                <a:spLocks noChangeShapeType="1"/>
              </p:cNvSpPr>
              <p:nvPr/>
            </p:nvSpPr>
            <p:spPr bwMode="auto">
              <a:xfrm flipV="1">
                <a:off x="3895" y="2791"/>
                <a:ext cx="0" cy="196"/>
              </a:xfrm>
              <a:prstGeom prst="line">
                <a:avLst/>
              </a:pr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6" name="Line 55"/>
              <p:cNvSpPr>
                <a:spLocks noChangeShapeType="1"/>
              </p:cNvSpPr>
              <p:nvPr/>
            </p:nvSpPr>
            <p:spPr bwMode="auto">
              <a:xfrm flipV="1">
                <a:off x="3800" y="2813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7" name="Line 56"/>
              <p:cNvSpPr>
                <a:spLocks noChangeShapeType="1"/>
              </p:cNvSpPr>
              <p:nvPr/>
            </p:nvSpPr>
            <p:spPr bwMode="auto">
              <a:xfrm flipV="1">
                <a:off x="3781" y="2791"/>
                <a:ext cx="0" cy="196"/>
              </a:xfrm>
              <a:prstGeom prst="line">
                <a:avLst/>
              </a:pr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47" name="Group 57"/>
            <p:cNvGrpSpPr/>
            <p:nvPr/>
          </p:nvGrpSpPr>
          <p:grpSpPr bwMode="auto">
            <a:xfrm>
              <a:off x="6717194" y="5292580"/>
              <a:ext cx="383191" cy="322370"/>
              <a:chOff x="4122" y="2765"/>
              <a:chExt cx="252" cy="217"/>
            </a:xfrm>
          </p:grpSpPr>
          <p:sp>
            <p:nvSpPr>
              <p:cNvPr id="56" name="Line 58"/>
              <p:cNvSpPr>
                <a:spLocks noChangeShapeType="1"/>
              </p:cNvSpPr>
              <p:nvPr/>
            </p:nvSpPr>
            <p:spPr bwMode="auto">
              <a:xfrm flipV="1">
                <a:off x="4374" y="2786"/>
                <a:ext cx="0" cy="196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" name="Line 59"/>
              <p:cNvSpPr>
                <a:spLocks noChangeShapeType="1"/>
              </p:cNvSpPr>
              <p:nvPr/>
            </p:nvSpPr>
            <p:spPr bwMode="auto">
              <a:xfrm flipV="1">
                <a:off x="4355" y="2765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E73199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8" name="Line 60"/>
              <p:cNvSpPr>
                <a:spLocks noChangeShapeType="1"/>
              </p:cNvSpPr>
              <p:nvPr/>
            </p:nvSpPr>
            <p:spPr bwMode="auto">
              <a:xfrm flipV="1">
                <a:off x="4255" y="2786"/>
                <a:ext cx="0" cy="196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" name="Line 61"/>
              <p:cNvSpPr>
                <a:spLocks noChangeShapeType="1"/>
              </p:cNvSpPr>
              <p:nvPr/>
            </p:nvSpPr>
            <p:spPr bwMode="auto">
              <a:xfrm flipV="1">
                <a:off x="4236" y="2765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E73199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0" name="Line 62"/>
              <p:cNvSpPr>
                <a:spLocks noChangeShapeType="1"/>
              </p:cNvSpPr>
              <p:nvPr/>
            </p:nvSpPr>
            <p:spPr bwMode="auto">
              <a:xfrm flipV="1">
                <a:off x="4141" y="2786"/>
                <a:ext cx="0" cy="196"/>
              </a:xfrm>
              <a:prstGeom prst="line">
                <a:avLst/>
              </a:prstGeom>
              <a:noFill/>
              <a:ln w="1270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1" name="Line 63"/>
              <p:cNvSpPr>
                <a:spLocks noChangeShapeType="1"/>
              </p:cNvSpPr>
              <p:nvPr/>
            </p:nvSpPr>
            <p:spPr bwMode="auto">
              <a:xfrm flipV="1">
                <a:off x="4122" y="2765"/>
                <a:ext cx="0" cy="195"/>
              </a:xfrm>
              <a:prstGeom prst="line">
                <a:avLst/>
              </a:prstGeom>
              <a:noFill/>
              <a:ln w="127000">
                <a:solidFill>
                  <a:srgbClr val="E73199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 sz="160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48" name="Line 64"/>
            <p:cNvSpPr>
              <a:spLocks noChangeShapeType="1"/>
            </p:cNvSpPr>
            <p:nvPr/>
          </p:nvSpPr>
          <p:spPr bwMode="auto">
            <a:xfrm flipV="1">
              <a:off x="7631995" y="5276726"/>
              <a:ext cx="0" cy="290661"/>
            </a:xfrm>
            <a:prstGeom prst="line">
              <a:avLst/>
            </a:prstGeom>
            <a:noFill/>
            <a:ln w="1270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9" name="Line 65"/>
            <p:cNvSpPr>
              <a:spLocks noChangeShapeType="1"/>
            </p:cNvSpPr>
            <p:nvPr/>
          </p:nvSpPr>
          <p:spPr bwMode="auto">
            <a:xfrm flipV="1">
              <a:off x="7603661" y="5245018"/>
              <a:ext cx="0" cy="289340"/>
            </a:xfrm>
            <a:prstGeom prst="line">
              <a:avLst/>
            </a:prstGeom>
            <a:noFill/>
            <a:ln w="127000">
              <a:solidFill>
                <a:srgbClr val="FFFF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0" name="Line 66"/>
            <p:cNvSpPr>
              <a:spLocks noChangeShapeType="1"/>
            </p:cNvSpPr>
            <p:nvPr/>
          </p:nvSpPr>
          <p:spPr bwMode="auto">
            <a:xfrm flipV="1">
              <a:off x="7452544" y="5276726"/>
              <a:ext cx="0" cy="290661"/>
            </a:xfrm>
            <a:prstGeom prst="line">
              <a:avLst/>
            </a:prstGeom>
            <a:noFill/>
            <a:ln w="1270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1" name="Line 67"/>
            <p:cNvSpPr>
              <a:spLocks noChangeShapeType="1"/>
            </p:cNvSpPr>
            <p:nvPr/>
          </p:nvSpPr>
          <p:spPr bwMode="auto">
            <a:xfrm flipV="1">
              <a:off x="7424209" y="5245018"/>
              <a:ext cx="0" cy="289340"/>
            </a:xfrm>
            <a:prstGeom prst="line">
              <a:avLst/>
            </a:prstGeom>
            <a:noFill/>
            <a:ln w="127000">
              <a:solidFill>
                <a:srgbClr val="FFFF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2" name="Line 68"/>
            <p:cNvSpPr>
              <a:spLocks noChangeShapeType="1"/>
            </p:cNvSpPr>
            <p:nvPr/>
          </p:nvSpPr>
          <p:spPr bwMode="auto">
            <a:xfrm flipV="1">
              <a:off x="7278488" y="5276726"/>
              <a:ext cx="0" cy="290661"/>
            </a:xfrm>
            <a:prstGeom prst="line">
              <a:avLst/>
            </a:prstGeom>
            <a:noFill/>
            <a:ln w="1270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3" name="Line 69"/>
            <p:cNvSpPr>
              <a:spLocks noChangeShapeType="1"/>
            </p:cNvSpPr>
            <p:nvPr/>
          </p:nvSpPr>
          <p:spPr bwMode="auto">
            <a:xfrm flipV="1">
              <a:off x="7250154" y="5245018"/>
              <a:ext cx="0" cy="289340"/>
            </a:xfrm>
            <a:prstGeom prst="line">
              <a:avLst/>
            </a:prstGeom>
            <a:noFill/>
            <a:ln w="127000">
              <a:solidFill>
                <a:srgbClr val="FFFF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4" name="Line 70"/>
            <p:cNvSpPr>
              <a:spLocks noChangeShapeType="1"/>
            </p:cNvSpPr>
            <p:nvPr/>
          </p:nvSpPr>
          <p:spPr bwMode="auto">
            <a:xfrm>
              <a:off x="1820739" y="5823156"/>
              <a:ext cx="6017238" cy="14873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 sz="160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5" name="Rectangle 24"/>
            <p:cNvSpPr>
              <a:spLocks noChangeArrowheads="1"/>
            </p:cNvSpPr>
            <p:nvPr/>
          </p:nvSpPr>
          <p:spPr bwMode="auto">
            <a:xfrm>
              <a:off x="2089360" y="3381117"/>
              <a:ext cx="945515" cy="2270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algn="ctr" defTabSz="641350">
                <a:spcBef>
                  <a:spcPct val="0"/>
                </a:spcBef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写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(write)</a:t>
              </a:r>
            </a:p>
          </p:txBody>
        </p:sp>
      </p:grpSp>
      <p:sp>
        <p:nvSpPr>
          <p:cNvPr id="91" name="内容占位符 2"/>
          <p:cNvSpPr txBox="1"/>
          <p:nvPr/>
        </p:nvSpPr>
        <p:spPr bwMode="auto">
          <a:xfrm>
            <a:off x="6778528" y="2183476"/>
            <a:ext cx="4093636" cy="196306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indent="-28829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570230" indent="-22860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-23050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259205" indent="-23050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602105" indent="-22860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  <a:lvl6pPr marL="20593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5165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9737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4309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163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select </a:t>
            </a:r>
            <a:r>
              <a:rPr lang="en-US" altLang="zh-CN" b="0" kern="0" dirty="0" err="1">
                <a:solidFill>
                  <a:srgbClr val="000000"/>
                </a:solidFill>
                <a:cs typeface="宋体" panose="02010600030101010101" pitchFamily="2" charset="-122"/>
              </a:rPr>
              <a:t>cust_name,order_no</a:t>
            </a: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 </a:t>
            </a:r>
          </a:p>
          <a:p>
            <a:pPr marL="34163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from customer </a:t>
            </a:r>
            <a:r>
              <a:rPr lang="en-US" altLang="zh-CN" b="0" kern="0" dirty="0" err="1">
                <a:solidFill>
                  <a:srgbClr val="000000"/>
                </a:solidFill>
                <a:cs typeface="宋体" panose="02010600030101010101" pitchFamily="2" charset="-122"/>
              </a:rPr>
              <a:t>a,orders</a:t>
            </a: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 b</a:t>
            </a:r>
          </a:p>
          <a:p>
            <a:pPr marL="34163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where </a:t>
            </a:r>
            <a:r>
              <a:rPr lang="en-US" altLang="zh-CN" b="0" kern="0" dirty="0" err="1">
                <a:solidFill>
                  <a:srgbClr val="000000"/>
                </a:solidFill>
                <a:cs typeface="宋体" panose="02010600030101010101" pitchFamily="2" charset="-122"/>
              </a:rPr>
              <a:t>a.cust_no</a:t>
            </a: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 = </a:t>
            </a:r>
            <a:r>
              <a:rPr lang="en-US" altLang="zh-CN" b="0" kern="0" dirty="0" err="1">
                <a:solidFill>
                  <a:srgbClr val="000000"/>
                </a:solidFill>
                <a:cs typeface="宋体" panose="02010600030101010101" pitchFamily="2" charset="-122"/>
              </a:rPr>
              <a:t>b.order_no</a:t>
            </a: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 </a:t>
            </a:r>
          </a:p>
          <a:p>
            <a:pPr marL="34163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order by </a:t>
            </a:r>
            <a:r>
              <a:rPr lang="en-US" altLang="zh-CN" b="0" kern="0" dirty="0" err="1">
                <a:solidFill>
                  <a:srgbClr val="000000"/>
                </a:solidFill>
                <a:cs typeface="宋体" panose="02010600030101010101" pitchFamily="2" charset="-122"/>
              </a:rPr>
              <a:t>a.cust_name</a:t>
            </a:r>
            <a:r>
              <a:rPr lang="en-US" altLang="zh-CN" b="0" kern="0" dirty="0">
                <a:solidFill>
                  <a:srgbClr val="000000"/>
                </a:solidFill>
                <a:cs typeface="宋体" panose="02010600030101010101" pitchFamily="2" charset="-122"/>
              </a:rPr>
              <a:t>;</a:t>
            </a:r>
          </a:p>
          <a:p>
            <a:pPr marL="34163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b="0" kern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  <a:r>
              <a:rPr lang="en-US" altLang="zh-CN" dirty="0"/>
              <a:t>/</a:t>
            </a:r>
            <a:r>
              <a:rPr lang="zh-CN" altLang="en-US" dirty="0"/>
              <a:t>多线程结构</a:t>
            </a:r>
            <a:r>
              <a:rPr lang="en-US" altLang="zh-CN" dirty="0"/>
              <a:t>(</a:t>
            </a:r>
            <a:r>
              <a:rPr lang="en-US" altLang="zh-CN" b="0" dirty="0"/>
              <a:t>Process/Multi-Threading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高度并行</a:t>
            </a:r>
          </a:p>
          <a:p>
            <a:pPr marL="341630" lvl="1" indent="0">
              <a:lnSpc>
                <a:spcPct val="150000"/>
              </a:lnSpc>
              <a:buNone/>
            </a:pP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7112635" y="4274820"/>
            <a:ext cx="2650490" cy="1855470"/>
            <a:chOff x="3683" y="6194"/>
            <a:chExt cx="4174" cy="2922"/>
          </a:xfrm>
        </p:grpSpPr>
        <p:grpSp>
          <p:nvGrpSpPr>
            <p:cNvPr id="92" name="Group 284"/>
            <p:cNvGrpSpPr/>
            <p:nvPr/>
          </p:nvGrpSpPr>
          <p:grpSpPr bwMode="auto">
            <a:xfrm>
              <a:off x="3816" y="6194"/>
              <a:ext cx="3190" cy="2041"/>
              <a:chOff x="3674" y="174"/>
              <a:chExt cx="1357" cy="872"/>
            </a:xfrm>
          </p:grpSpPr>
          <p:sp>
            <p:nvSpPr>
              <p:cNvPr id="93" name="Oval 285"/>
              <p:cNvSpPr>
                <a:spLocks noChangeArrowheads="1"/>
              </p:cNvSpPr>
              <p:nvPr/>
            </p:nvSpPr>
            <p:spPr bwMode="auto">
              <a:xfrm>
                <a:off x="3674" y="174"/>
                <a:ext cx="1357" cy="872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Clr>
                    <a:schemeClr val="tx2"/>
                  </a:buClr>
                  <a:buFont typeface="Webdings" panose="05030102010509060703" charset="0"/>
                  <a:buNone/>
                </a:pPr>
                <a:endParaRPr lang="zh-CN" b="0"/>
              </a:p>
            </p:txBody>
          </p:sp>
          <p:sp>
            <p:nvSpPr>
              <p:cNvPr id="94" name="Line 286"/>
              <p:cNvSpPr>
                <a:spLocks noChangeShapeType="1"/>
              </p:cNvSpPr>
              <p:nvPr/>
            </p:nvSpPr>
            <p:spPr bwMode="auto">
              <a:xfrm>
                <a:off x="3774" y="378"/>
                <a:ext cx="2" cy="465"/>
              </a:xfrm>
              <a:prstGeom prst="line">
                <a:avLst/>
              </a:prstGeom>
              <a:noFill/>
              <a:ln w="12700">
                <a:solidFill>
                  <a:srgbClr val="676767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287"/>
              <p:cNvSpPr>
                <a:spLocks noChangeShapeType="1"/>
              </p:cNvSpPr>
              <p:nvPr/>
            </p:nvSpPr>
            <p:spPr bwMode="auto">
              <a:xfrm>
                <a:off x="3811" y="843"/>
                <a:ext cx="1015" cy="0"/>
              </a:xfrm>
              <a:prstGeom prst="line">
                <a:avLst/>
              </a:prstGeom>
              <a:noFill/>
              <a:ln w="12700">
                <a:solidFill>
                  <a:srgbClr val="676767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6" name="Group 288"/>
              <p:cNvGrpSpPr/>
              <p:nvPr/>
            </p:nvGrpSpPr>
            <p:grpSpPr bwMode="auto">
              <a:xfrm>
                <a:off x="4104" y="534"/>
                <a:ext cx="142" cy="170"/>
                <a:chOff x="4104" y="534"/>
                <a:chExt cx="142" cy="170"/>
              </a:xfrm>
            </p:grpSpPr>
            <p:sp>
              <p:nvSpPr>
                <p:cNvPr id="109" name="Line 289"/>
                <p:cNvSpPr>
                  <a:spLocks noChangeShapeType="1"/>
                </p:cNvSpPr>
                <p:nvPr/>
              </p:nvSpPr>
              <p:spPr bwMode="auto">
                <a:xfrm>
                  <a:off x="4175" y="534"/>
                  <a:ext cx="0" cy="170"/>
                </a:xfrm>
                <a:prstGeom prst="line">
                  <a:avLst/>
                </a:prstGeom>
                <a:noFill/>
                <a:ln w="76200">
                  <a:solidFill>
                    <a:srgbClr val="8955FF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Line 290"/>
                <p:cNvSpPr>
                  <a:spLocks noChangeShapeType="1"/>
                </p:cNvSpPr>
                <p:nvPr/>
              </p:nvSpPr>
              <p:spPr bwMode="auto">
                <a:xfrm>
                  <a:off x="4104" y="534"/>
                  <a:ext cx="0" cy="170"/>
                </a:xfrm>
                <a:prstGeom prst="line">
                  <a:avLst/>
                </a:prstGeom>
                <a:noFill/>
                <a:ln w="76200">
                  <a:solidFill>
                    <a:srgbClr val="8955FF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Line 291"/>
                <p:cNvSpPr>
                  <a:spLocks noChangeShapeType="1"/>
                </p:cNvSpPr>
                <p:nvPr/>
              </p:nvSpPr>
              <p:spPr bwMode="auto">
                <a:xfrm>
                  <a:off x="4246" y="534"/>
                  <a:ext cx="0" cy="170"/>
                </a:xfrm>
                <a:prstGeom prst="line">
                  <a:avLst/>
                </a:prstGeom>
                <a:noFill/>
                <a:ln w="76200">
                  <a:solidFill>
                    <a:srgbClr val="8955FF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97" name="Group 292"/>
              <p:cNvGrpSpPr/>
              <p:nvPr/>
            </p:nvGrpSpPr>
            <p:grpSpPr bwMode="auto">
              <a:xfrm>
                <a:off x="4330" y="496"/>
                <a:ext cx="165" cy="161"/>
                <a:chOff x="4330" y="496"/>
                <a:chExt cx="165" cy="161"/>
              </a:xfrm>
            </p:grpSpPr>
            <p:sp>
              <p:nvSpPr>
                <p:cNvPr id="106" name="Line 293"/>
                <p:cNvSpPr>
                  <a:spLocks noChangeShapeType="1"/>
                </p:cNvSpPr>
                <p:nvPr/>
              </p:nvSpPr>
              <p:spPr bwMode="auto">
                <a:xfrm>
                  <a:off x="4495" y="496"/>
                  <a:ext cx="0" cy="161"/>
                </a:xfrm>
                <a:prstGeom prst="line">
                  <a:avLst/>
                </a:prstGeom>
                <a:noFill/>
                <a:ln w="76200">
                  <a:solidFill>
                    <a:srgbClr val="E73199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" name="Line 294"/>
                <p:cNvSpPr>
                  <a:spLocks noChangeShapeType="1"/>
                </p:cNvSpPr>
                <p:nvPr/>
              </p:nvSpPr>
              <p:spPr bwMode="auto">
                <a:xfrm>
                  <a:off x="4410" y="496"/>
                  <a:ext cx="0" cy="161"/>
                </a:xfrm>
                <a:prstGeom prst="line">
                  <a:avLst/>
                </a:prstGeom>
                <a:noFill/>
                <a:ln w="76200">
                  <a:solidFill>
                    <a:srgbClr val="E73199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108" name="Line 295"/>
                <p:cNvSpPr>
                  <a:spLocks noChangeShapeType="1"/>
                </p:cNvSpPr>
                <p:nvPr/>
              </p:nvSpPr>
              <p:spPr bwMode="auto">
                <a:xfrm>
                  <a:off x="4330" y="496"/>
                  <a:ext cx="0" cy="161"/>
                </a:xfrm>
                <a:prstGeom prst="line">
                  <a:avLst/>
                </a:prstGeom>
                <a:noFill/>
                <a:ln w="76200">
                  <a:solidFill>
                    <a:srgbClr val="E73199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98" name="Group 296"/>
              <p:cNvGrpSpPr/>
              <p:nvPr/>
            </p:nvGrpSpPr>
            <p:grpSpPr bwMode="auto">
              <a:xfrm>
                <a:off x="4585" y="465"/>
                <a:ext cx="147" cy="152"/>
                <a:chOff x="4585" y="465"/>
                <a:chExt cx="147" cy="152"/>
              </a:xfrm>
            </p:grpSpPr>
            <p:sp>
              <p:nvSpPr>
                <p:cNvPr id="103" name="Line 297"/>
                <p:cNvSpPr>
                  <a:spLocks noChangeShapeType="1"/>
                </p:cNvSpPr>
                <p:nvPr/>
              </p:nvSpPr>
              <p:spPr bwMode="auto">
                <a:xfrm>
                  <a:off x="4585" y="465"/>
                  <a:ext cx="0" cy="152"/>
                </a:xfrm>
                <a:prstGeom prst="line">
                  <a:avLst/>
                </a:prstGeom>
                <a:noFill/>
                <a:ln w="76200">
                  <a:solidFill>
                    <a:srgbClr val="FF652A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Line 298"/>
                <p:cNvSpPr>
                  <a:spLocks noChangeShapeType="1"/>
                </p:cNvSpPr>
                <p:nvPr/>
              </p:nvSpPr>
              <p:spPr bwMode="auto">
                <a:xfrm>
                  <a:off x="4732" y="465"/>
                  <a:ext cx="0" cy="152"/>
                </a:xfrm>
                <a:prstGeom prst="line">
                  <a:avLst/>
                </a:prstGeom>
                <a:noFill/>
                <a:ln w="76200">
                  <a:solidFill>
                    <a:srgbClr val="FF652A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Line 299"/>
                <p:cNvSpPr>
                  <a:spLocks noChangeShapeType="1"/>
                </p:cNvSpPr>
                <p:nvPr/>
              </p:nvSpPr>
              <p:spPr bwMode="auto">
                <a:xfrm>
                  <a:off x="4658" y="465"/>
                  <a:ext cx="0" cy="152"/>
                </a:xfrm>
                <a:prstGeom prst="line">
                  <a:avLst/>
                </a:prstGeom>
                <a:noFill/>
                <a:ln w="76200">
                  <a:solidFill>
                    <a:srgbClr val="FF652A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" name="Group 300"/>
              <p:cNvGrpSpPr/>
              <p:nvPr/>
            </p:nvGrpSpPr>
            <p:grpSpPr bwMode="auto">
              <a:xfrm>
                <a:off x="3872" y="579"/>
                <a:ext cx="138" cy="154"/>
                <a:chOff x="3872" y="579"/>
                <a:chExt cx="138" cy="154"/>
              </a:xfrm>
            </p:grpSpPr>
            <p:sp>
              <p:nvSpPr>
                <p:cNvPr id="100" name="Line 301"/>
                <p:cNvSpPr>
                  <a:spLocks noChangeShapeType="1"/>
                </p:cNvSpPr>
                <p:nvPr/>
              </p:nvSpPr>
              <p:spPr bwMode="auto">
                <a:xfrm flipV="1">
                  <a:off x="4009" y="579"/>
                  <a:ext cx="1" cy="154"/>
                </a:xfrm>
                <a:prstGeom prst="line">
                  <a:avLst/>
                </a:prstGeom>
                <a:noFill/>
                <a:ln w="76200">
                  <a:solidFill>
                    <a:srgbClr val="2CC3A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Line 302"/>
                <p:cNvSpPr>
                  <a:spLocks noChangeShapeType="1"/>
                </p:cNvSpPr>
                <p:nvPr/>
              </p:nvSpPr>
              <p:spPr bwMode="auto">
                <a:xfrm flipV="1">
                  <a:off x="3932" y="580"/>
                  <a:ext cx="1" cy="153"/>
                </a:xfrm>
                <a:prstGeom prst="line">
                  <a:avLst/>
                </a:prstGeom>
                <a:noFill/>
                <a:ln w="76200">
                  <a:solidFill>
                    <a:srgbClr val="2CC3A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Line 303"/>
                <p:cNvSpPr>
                  <a:spLocks noChangeShapeType="1"/>
                </p:cNvSpPr>
                <p:nvPr/>
              </p:nvSpPr>
              <p:spPr bwMode="auto">
                <a:xfrm flipV="1">
                  <a:off x="3872" y="580"/>
                  <a:ext cx="0" cy="153"/>
                </a:xfrm>
                <a:prstGeom prst="line">
                  <a:avLst/>
                </a:prstGeom>
                <a:noFill/>
                <a:ln w="76200">
                  <a:solidFill>
                    <a:srgbClr val="2CC3A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16" name="Rectangle 7"/>
            <p:cNvSpPr>
              <a:spLocks noChangeArrowheads="1"/>
            </p:cNvSpPr>
            <p:nvPr/>
          </p:nvSpPr>
          <p:spPr bwMode="auto">
            <a:xfrm>
              <a:off x="3683" y="8586"/>
              <a:ext cx="4174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2075" tIns="46038" rIns="92075" bIns="46038">
              <a:spAutoFit/>
            </a:bodyPr>
            <a:lstStyle/>
            <a:p>
              <a:pPr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扫描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(scan)</a:t>
              </a:r>
              <a:r>
                <a:rPr lang="zh-CN" altLang="en-US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线程</a:t>
              </a:r>
              <a:r>
                <a:rPr lang="en-US" altLang="zh-CN" sz="16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 customer</a:t>
              </a:r>
              <a:endParaRPr lang="zh-CN" altLang="en-US" sz="18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75590" y="1248410"/>
            <a:ext cx="6162040" cy="4859655"/>
            <a:chOff x="7274" y="2256"/>
            <a:chExt cx="9370" cy="7154"/>
          </a:xfrm>
        </p:grpSpPr>
        <p:pic>
          <p:nvPicPr>
            <p:cNvPr id="91" name="图片 90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flipH="1">
              <a:off x="7274" y="2256"/>
              <a:ext cx="6384" cy="7127"/>
            </a:xfrm>
            <a:prstGeom prst="rect">
              <a:avLst/>
            </a:prstGeom>
          </p:spPr>
        </p:pic>
        <p:sp>
          <p:nvSpPr>
            <p:cNvPr id="112" name="Rectangle 103"/>
            <p:cNvSpPr>
              <a:spLocks noChangeArrowheads="1"/>
            </p:cNvSpPr>
            <p:nvPr/>
          </p:nvSpPr>
          <p:spPr bwMode="auto">
            <a:xfrm>
              <a:off x="13739" y="5929"/>
              <a:ext cx="2905" cy="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defTabSz="641350"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哈希</a:t>
              </a: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(Hash)</a:t>
              </a: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连接线程</a:t>
              </a:r>
              <a:endParaRPr lang="en-US" altLang="zh-CN" sz="14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13" name="Rectangle 106"/>
            <p:cNvSpPr>
              <a:spLocks noChangeArrowheads="1"/>
            </p:cNvSpPr>
            <p:nvPr/>
          </p:nvSpPr>
          <p:spPr bwMode="auto">
            <a:xfrm>
              <a:off x="13739" y="5175"/>
              <a:ext cx="2905" cy="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defTabSz="641350"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Exchange </a:t>
              </a: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线程</a:t>
              </a:r>
              <a:endParaRPr lang="en-US" altLang="zh-CN" sz="14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14" name="Rectangle 8"/>
            <p:cNvSpPr>
              <a:spLocks noChangeArrowheads="1"/>
            </p:cNvSpPr>
            <p:nvPr/>
          </p:nvSpPr>
          <p:spPr bwMode="auto">
            <a:xfrm>
              <a:off x="13739" y="4140"/>
              <a:ext cx="2905" cy="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2075" tIns="46038" rIns="92075" bIns="46038">
              <a:spAutoFit/>
            </a:bodyPr>
            <a:lstStyle/>
            <a:p>
              <a:pPr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排序</a:t>
              </a: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(sort)</a:t>
              </a: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线程</a:t>
              </a:r>
            </a:p>
          </p:txBody>
        </p:sp>
        <p:sp>
          <p:nvSpPr>
            <p:cNvPr id="115" name="Rectangle 7"/>
            <p:cNvSpPr>
              <a:spLocks noChangeArrowheads="1"/>
            </p:cNvSpPr>
            <p:nvPr/>
          </p:nvSpPr>
          <p:spPr bwMode="auto">
            <a:xfrm>
              <a:off x="14312" y="8642"/>
              <a:ext cx="2242" cy="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2075" tIns="46038" rIns="92075" bIns="46038">
              <a:spAutoFit/>
            </a:bodyPr>
            <a:lstStyle/>
            <a:p>
              <a:pPr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扫描</a:t>
              </a: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(scan)</a:t>
              </a: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线程</a:t>
              </a:r>
              <a:endParaRPr lang="en-US" altLang="zh-CN" sz="14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  <a:p>
              <a:pPr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orders</a:t>
              </a:r>
              <a:endParaRPr lang="zh-CN" altLang="en-US" sz="14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17" name="Rectangle 106"/>
            <p:cNvSpPr>
              <a:spLocks noChangeArrowheads="1"/>
            </p:cNvSpPr>
            <p:nvPr/>
          </p:nvSpPr>
          <p:spPr bwMode="auto">
            <a:xfrm>
              <a:off x="14312" y="7906"/>
              <a:ext cx="2242" cy="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defTabSz="641350"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Exchange </a:t>
              </a: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线程</a:t>
              </a:r>
              <a:endParaRPr lang="en-US" altLang="zh-CN" sz="14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18" name="Line 5"/>
            <p:cNvSpPr>
              <a:spLocks noChangeShapeType="1"/>
            </p:cNvSpPr>
            <p:nvPr/>
          </p:nvSpPr>
          <p:spPr bwMode="auto">
            <a:xfrm flipH="1">
              <a:off x="13058" y="4422"/>
              <a:ext cx="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5"/>
            <p:cNvSpPr>
              <a:spLocks noChangeShapeType="1"/>
            </p:cNvSpPr>
            <p:nvPr/>
          </p:nvSpPr>
          <p:spPr bwMode="auto">
            <a:xfrm flipH="1">
              <a:off x="13058" y="5440"/>
              <a:ext cx="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Line 5"/>
            <p:cNvSpPr>
              <a:spLocks noChangeShapeType="1"/>
            </p:cNvSpPr>
            <p:nvPr/>
          </p:nvSpPr>
          <p:spPr bwMode="auto">
            <a:xfrm flipH="1">
              <a:off x="13058" y="6153"/>
              <a:ext cx="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Line 5"/>
            <p:cNvSpPr>
              <a:spLocks noChangeShapeType="1"/>
            </p:cNvSpPr>
            <p:nvPr/>
          </p:nvSpPr>
          <p:spPr bwMode="auto">
            <a:xfrm>
              <a:off x="7604" y="8866"/>
              <a:ext cx="680" cy="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Rectangle 106"/>
            <p:cNvSpPr>
              <a:spLocks noChangeArrowheads="1"/>
            </p:cNvSpPr>
            <p:nvPr/>
          </p:nvSpPr>
          <p:spPr bwMode="auto">
            <a:xfrm>
              <a:off x="13739" y="3441"/>
              <a:ext cx="2905" cy="4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82153" tIns="41076" rIns="82153" bIns="41076">
              <a:spAutoFit/>
            </a:bodyPr>
            <a:lstStyle/>
            <a:p>
              <a:pPr defTabSz="641350">
                <a:buClr>
                  <a:schemeClr val="tx2"/>
                </a:buClr>
                <a:buFont typeface="Webdings" panose="05030102010509060703" charset="0"/>
                <a:buNone/>
              </a:pPr>
              <a:r>
                <a:rPr lang="en-US" altLang="zh-CN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Exchange </a:t>
              </a:r>
              <a:r>
                <a:rPr lang="zh-CN" altLang="en-US" sz="1400" b="0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线程</a:t>
              </a:r>
              <a:endParaRPr lang="en-US" altLang="zh-CN" sz="1400" b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123" name="Line 5"/>
            <p:cNvSpPr>
              <a:spLocks noChangeShapeType="1"/>
            </p:cNvSpPr>
            <p:nvPr/>
          </p:nvSpPr>
          <p:spPr bwMode="auto">
            <a:xfrm flipH="1">
              <a:off x="13058" y="3663"/>
              <a:ext cx="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Line 5"/>
            <p:cNvSpPr>
              <a:spLocks noChangeShapeType="1"/>
            </p:cNvSpPr>
            <p:nvPr/>
          </p:nvSpPr>
          <p:spPr bwMode="auto">
            <a:xfrm flipH="1">
              <a:off x="13658" y="8163"/>
              <a:ext cx="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Line 5"/>
            <p:cNvSpPr>
              <a:spLocks noChangeShapeType="1"/>
            </p:cNvSpPr>
            <p:nvPr/>
          </p:nvSpPr>
          <p:spPr bwMode="auto">
            <a:xfrm flipH="1">
              <a:off x="13658" y="9021"/>
              <a:ext cx="6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" name="内容占位符 2"/>
          <p:cNvSpPr txBox="1"/>
          <p:nvPr/>
        </p:nvSpPr>
        <p:spPr bwMode="auto">
          <a:xfrm>
            <a:off x="6567805" y="1818640"/>
            <a:ext cx="3604260" cy="226568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indent="-28829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570230" indent="-22860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-23050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259205" indent="-230505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p"/>
              <a:defRPr sz="16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602105" indent="-228600" algn="l" rtl="0" eaLnBrk="0" fontAlgn="base" hangingPunct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  <a:lvl6pPr marL="20593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5165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29737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430905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1630" lvl="1" indent="0">
              <a:lnSpc>
                <a:spcPct val="150000"/>
              </a:lnSpc>
              <a:buNone/>
            </a:pP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select </a:t>
            </a:r>
            <a:r>
              <a:rPr lang="en-US" altLang="zh-CN" b="0" dirty="0" err="1">
                <a:solidFill>
                  <a:srgbClr val="000000"/>
                </a:solidFill>
                <a:cs typeface="宋体" panose="02010600030101010101" pitchFamily="2" charset="-122"/>
              </a:rPr>
              <a:t>cust_name,order_no</a:t>
            </a: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 </a:t>
            </a:r>
          </a:p>
          <a:p>
            <a:pPr marL="341630" lvl="1" indent="0">
              <a:lnSpc>
                <a:spcPct val="150000"/>
              </a:lnSpc>
              <a:buNone/>
            </a:pP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from customer </a:t>
            </a:r>
            <a:r>
              <a:rPr lang="en-US" altLang="zh-CN" b="0" dirty="0" err="1">
                <a:solidFill>
                  <a:srgbClr val="000000"/>
                </a:solidFill>
                <a:cs typeface="宋体" panose="02010600030101010101" pitchFamily="2" charset="-122"/>
              </a:rPr>
              <a:t>a,orders</a:t>
            </a: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 b</a:t>
            </a:r>
          </a:p>
          <a:p>
            <a:pPr marL="341630" lvl="1" indent="0">
              <a:lnSpc>
                <a:spcPct val="150000"/>
              </a:lnSpc>
              <a:buNone/>
            </a:pP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where </a:t>
            </a:r>
            <a:r>
              <a:rPr lang="en-US" altLang="zh-CN" b="0" dirty="0" err="1">
                <a:solidFill>
                  <a:srgbClr val="000000"/>
                </a:solidFill>
                <a:cs typeface="宋体" panose="02010600030101010101" pitchFamily="2" charset="-122"/>
              </a:rPr>
              <a:t>a.cust_no</a:t>
            </a: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 = </a:t>
            </a:r>
            <a:r>
              <a:rPr lang="en-US" altLang="zh-CN" b="0" dirty="0" err="1">
                <a:solidFill>
                  <a:srgbClr val="000000"/>
                </a:solidFill>
                <a:cs typeface="宋体" panose="02010600030101010101" pitchFamily="2" charset="-122"/>
              </a:rPr>
              <a:t>b.order_no</a:t>
            </a: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 </a:t>
            </a:r>
          </a:p>
          <a:p>
            <a:pPr marL="341630" lvl="1" indent="0">
              <a:lnSpc>
                <a:spcPct val="150000"/>
              </a:lnSpc>
              <a:buNone/>
            </a:pP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order by </a:t>
            </a:r>
            <a:r>
              <a:rPr lang="en-US" altLang="zh-CN" b="0" dirty="0" err="1">
                <a:solidFill>
                  <a:srgbClr val="000000"/>
                </a:solidFill>
                <a:cs typeface="宋体" panose="02010600030101010101" pitchFamily="2" charset="-122"/>
              </a:rPr>
              <a:t>a.cust_name</a:t>
            </a:r>
            <a:r>
              <a:rPr lang="en-US" altLang="zh-CN" b="0" dirty="0">
                <a:solidFill>
                  <a:srgbClr val="000000"/>
                </a:solidFill>
                <a:cs typeface="宋体" panose="02010600030101010101" pitchFamily="2" charset="-122"/>
              </a:rPr>
              <a:t>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共享内存结构</a:t>
            </a:r>
            <a:r>
              <a:rPr lang="en-US" altLang="zh-CN" dirty="0"/>
              <a:t>(</a:t>
            </a:r>
            <a:r>
              <a:rPr lang="en-US" altLang="zh-CN" b="0" dirty="0"/>
              <a:t>Share Memory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共享内存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共享内存技术是进程间通信的一种常用技术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专业数据库产品通常采用共享内存技术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数据库服务进程可以通过共享内存来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共享数据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通过缓存磁盘数据来有效减少磁盘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I/O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以提升性能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共享内存可以最大限度地为进程间通信提供便捷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76" y="2857797"/>
            <a:ext cx="5529427" cy="167053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共享内存结构</a:t>
            </a:r>
            <a:r>
              <a:rPr lang="en-US" altLang="zh-CN" dirty="0"/>
              <a:t>(</a:t>
            </a:r>
            <a:r>
              <a:rPr lang="en-US" altLang="zh-CN" b="0" dirty="0"/>
              <a:t>Share Memory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驻留段（</a:t>
            </a:r>
            <a:r>
              <a:rPr lang="en-US" altLang="zh-CN" sz="2400" dirty="0"/>
              <a:t>Resident Segment</a:t>
            </a:r>
            <a:r>
              <a:rPr lang="zh-CN" altLang="en-US" sz="2400" dirty="0"/>
              <a:t>）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常驻内存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不会被操作系统换出到磁盘上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固定大小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不随工作量而增加或减少</a:t>
            </a:r>
          </a:p>
          <a:p>
            <a:r>
              <a:rPr lang="zh-CN" altLang="en-US" sz="2400" dirty="0"/>
              <a:t>虚拟段（</a:t>
            </a:r>
            <a:r>
              <a:rPr lang="en-US" altLang="zh-CN" sz="2400" dirty="0"/>
              <a:t>Virtual Segment</a:t>
            </a:r>
            <a:r>
              <a:rPr lang="zh-CN" altLang="en-US" sz="2400" dirty="0"/>
              <a:t>）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包含与线程信息和与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相关的信息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虚拟段里的页可被操作系统换出到磁盘上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GBase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运行时可能添加新的虚拟段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/>
              <a:t>缓冲池（</a:t>
            </a:r>
            <a:r>
              <a:rPr lang="en-US" altLang="zh-CN" sz="2400" dirty="0"/>
              <a:t>Buffer Pool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数据缓冲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被缓冲的数据在所有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和线程间共享</a:t>
            </a:r>
          </a:p>
          <a:p>
            <a:r>
              <a:rPr lang="zh-CN" altLang="en-US" sz="2400" dirty="0"/>
              <a:t>消息段（</a:t>
            </a:r>
            <a:r>
              <a:rPr lang="en-US" altLang="zh-CN" sz="2400" dirty="0"/>
              <a:t>Message Segment</a:t>
            </a:r>
            <a:r>
              <a:rPr lang="zh-CN" altLang="en-US" sz="2400" dirty="0"/>
              <a:t>）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IPC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通信的消息缓冲区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共享内存结构</a:t>
            </a:r>
            <a:r>
              <a:rPr lang="en-US" altLang="zh-CN" dirty="0"/>
              <a:t>(</a:t>
            </a:r>
            <a:r>
              <a:rPr lang="en-US" altLang="zh-CN" b="0" dirty="0"/>
              <a:t>Share Memory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272135" y="1315639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4055"/>
                <a:gridCol w="1964055"/>
                <a:gridCol w="1964055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Shared </a:t>
                      </a:r>
                      <a:r>
                        <a:rPr lang="en-US" altLang="zh-CN" sz="14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Mem</a:t>
                      </a:r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Header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Buffer-header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LUR</a:t>
                      </a:r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Queues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272135" y="1619939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1785"/>
                <a:gridCol w="2002790"/>
                <a:gridCol w="2307590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Lock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Phy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sical Log Buffer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Logical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Log Buffer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72135" y="2012881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165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Buffer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Pool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272135" y="2401086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285"/>
                <a:gridCol w="3230880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Chunk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Mirrored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-Chunk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272135" y="2705887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1285"/>
                <a:gridCol w="3230880"/>
              </a:tblGrid>
              <a:tr h="1560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Dbspace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 Table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Page Cleaner Table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272135" y="3016765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7885"/>
                <a:gridCol w="1800225"/>
                <a:gridCol w="1964055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Tblespace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Transaction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User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Table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272135" y="3635096"/>
          <a:ext cx="5892165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2610"/>
                <a:gridCol w="1847215"/>
                <a:gridCol w="2212340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UDR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Cache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SQL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Statement Cache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Sorting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Pool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272135" y="3325421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4515"/>
                <a:gridCol w="1842770"/>
                <a:gridCol w="2214880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Session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Structures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Thread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Structures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Dictionary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Cache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72135" y="3931620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7935"/>
                <a:gridCol w="3364230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Thread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Stacks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Thread Heaps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272135" y="4231546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165"/>
              </a:tblGrid>
              <a:tr h="15602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Big Buffers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272135" y="4826631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165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Unallocated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Memory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2272135" y="4521832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165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Global</a:t>
                      </a:r>
                      <a:r>
                        <a:rPr lang="en-US" altLang="zh-CN" sz="140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Pool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2272135" y="5218517"/>
          <a:ext cx="5892165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92165"/>
              </a:tblGrid>
              <a:tr h="1560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Client/Server </a:t>
                      </a:r>
                      <a:r>
                        <a:rPr lang="en-US" altLang="zh-CN" sz="14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IPC</a:t>
                      </a:r>
                      <a:r>
                        <a:rPr lang="en-US" altLang="zh-CN" sz="14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messages</a:t>
                      </a:r>
                      <a:endParaRPr lang="zh-CN" altLang="en-US" sz="14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solidFill>
                      <a:srgbClr val="D8EBB3"/>
                    </a:solidFill>
                  </a:tcPr>
                </a:tc>
              </a:tr>
            </a:tbl>
          </a:graphicData>
        </a:graphic>
      </p:graphicFrame>
      <p:sp>
        <p:nvSpPr>
          <p:cNvPr id="19" name="右大括号 18"/>
          <p:cNvSpPr/>
          <p:nvPr/>
        </p:nvSpPr>
        <p:spPr bwMode="auto">
          <a:xfrm>
            <a:off x="8384735" y="1341331"/>
            <a:ext cx="299545" cy="382920"/>
          </a:xfrm>
          <a:prstGeom prst="rightBrac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693057" y="1378496"/>
          <a:ext cx="73660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600"/>
              </a:tblGrid>
              <a:tr h="29595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驻留段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右大括号 20"/>
          <p:cNvSpPr/>
          <p:nvPr/>
        </p:nvSpPr>
        <p:spPr bwMode="auto">
          <a:xfrm>
            <a:off x="8384735" y="2398917"/>
            <a:ext cx="299545" cy="2737500"/>
          </a:xfrm>
          <a:prstGeom prst="rightBrac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zh-CN" altLang="en-US" sz="19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8694411" y="3608749"/>
          <a:ext cx="73533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5330"/>
              </a:tblGrid>
              <a:tr h="2959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虚拟段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右大括号 22"/>
          <p:cNvSpPr/>
          <p:nvPr/>
        </p:nvSpPr>
        <p:spPr bwMode="auto">
          <a:xfrm>
            <a:off x="8384734" y="5243859"/>
            <a:ext cx="299545" cy="241668"/>
          </a:xfrm>
          <a:prstGeom prst="rightBrac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8694411" y="5212793"/>
          <a:ext cx="73533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5330"/>
              </a:tblGrid>
              <a:tr h="2959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消息段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" name="右大括号 24"/>
          <p:cNvSpPr/>
          <p:nvPr/>
        </p:nvSpPr>
        <p:spPr bwMode="auto">
          <a:xfrm>
            <a:off x="8384733" y="2014162"/>
            <a:ext cx="299545" cy="382920"/>
          </a:xfrm>
          <a:prstGeom prst="rightBrac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t" anchorCtr="0" compatLnSpc="1">
            <a:spAutoFit/>
          </a:bodyPr>
          <a:lstStyle/>
          <a:p>
            <a:pPr marL="119380" marR="0" indent="-11938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SzTx/>
              <a:buFontTx/>
              <a:buNone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694411" y="2012881"/>
          <a:ext cx="735330" cy="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5330"/>
              </a:tblGrid>
              <a:tr h="29595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缓冲池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存储结构</a:t>
            </a:r>
            <a:r>
              <a:rPr lang="en-US" altLang="zh-CN" dirty="0"/>
              <a:t>(</a:t>
            </a:r>
            <a:r>
              <a:rPr lang="en-US" altLang="zh-CN" b="0" dirty="0"/>
              <a:t>Disk Storage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588760" y="1665068"/>
            <a:ext cx="5297170" cy="488876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存储概览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" y="1664970"/>
            <a:ext cx="7795260" cy="43141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存储结构</a:t>
            </a:r>
            <a:r>
              <a:rPr lang="en-US" altLang="zh-CN" dirty="0"/>
              <a:t>(</a:t>
            </a:r>
            <a:r>
              <a:rPr lang="en-US" altLang="zh-CN" b="0" dirty="0"/>
              <a:t>Disk Storage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页</a:t>
            </a:r>
            <a:r>
              <a:rPr lang="en-US" altLang="zh-CN" sz="2400" dirty="0"/>
              <a:t>(Page)</a:t>
            </a:r>
            <a:endParaRPr lang="zh-CN" altLang="en-US" sz="24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最基本的存储单元，也是数据库服务的最小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I/O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单元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所有的系统信息和用户数据都被存储在数据页上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在大多数的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系统中，缺省的数据页大小是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2KB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数据页大小是可配置的，在创建数据空间时指定，最大值为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16KB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段</a:t>
            </a:r>
            <a:r>
              <a:rPr lang="en-US" altLang="zh-CN" sz="2400" dirty="0"/>
              <a:t>(Extent)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连续数据页的集合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数据表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(table)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的存储空间是以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为单位来分配的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数据表的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extent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的大小是在建表时指定的</a:t>
            </a:r>
          </a:p>
          <a:p>
            <a:pPr lvl="1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存储结构</a:t>
            </a:r>
            <a:r>
              <a:rPr lang="en-US" altLang="zh-CN" dirty="0"/>
              <a:t>(</a:t>
            </a:r>
            <a:r>
              <a:rPr lang="en-US" altLang="zh-CN" b="0" dirty="0"/>
              <a:t>Disk Storage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207760" y="1263748"/>
            <a:ext cx="5297170" cy="48887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表空间</a:t>
            </a:r>
            <a:r>
              <a:rPr lang="en-US" altLang="zh-CN" dirty="0"/>
              <a:t>(</a:t>
            </a:r>
            <a:r>
              <a:rPr lang="en-US" altLang="zh-CN" dirty="0" err="1"/>
              <a:t>TableSpace</a:t>
            </a:r>
            <a:r>
              <a:rPr lang="en-US" altLang="zh-CN" dirty="0"/>
              <a:t>)</a:t>
            </a:r>
            <a:endParaRPr lang="zh-CN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逻辑概念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是针对某个表来说的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物理上是某个表使用的所有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extent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的集合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055" name="Group 84"/>
          <p:cNvGrpSpPr>
            <a:grpSpLocks noChangeAspect="1"/>
          </p:cNvGrpSpPr>
          <p:nvPr/>
        </p:nvGrpSpPr>
        <p:grpSpPr bwMode="auto">
          <a:xfrm>
            <a:off x="-507365" y="1348740"/>
            <a:ext cx="9294495" cy="4688205"/>
            <a:chOff x="1032" y="1981"/>
            <a:chExt cx="3569" cy="1590"/>
          </a:xfrm>
        </p:grpSpPr>
        <p:sp>
          <p:nvSpPr>
            <p:cNvPr id="1056" name="AutoShape 83"/>
            <p:cNvSpPr>
              <a:spLocks noChangeAspect="1" noChangeArrowheads="1" noTextEdit="1"/>
            </p:cNvSpPr>
            <p:nvPr/>
          </p:nvSpPr>
          <p:spPr bwMode="auto">
            <a:xfrm>
              <a:off x="1032" y="1981"/>
              <a:ext cx="3569" cy="1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109" name="Picture 8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7" y="2363"/>
              <a:ext cx="3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9" name="Rectangle 87"/>
            <p:cNvSpPr>
              <a:spLocks noChangeArrowheads="1"/>
            </p:cNvSpPr>
            <p:nvPr/>
          </p:nvSpPr>
          <p:spPr bwMode="auto">
            <a:xfrm>
              <a:off x="2169" y="2386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0" name="Rectangle 88"/>
            <p:cNvSpPr>
              <a:spLocks noChangeArrowheads="1"/>
            </p:cNvSpPr>
            <p:nvPr/>
          </p:nvSpPr>
          <p:spPr bwMode="auto">
            <a:xfrm>
              <a:off x="2169" y="2386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3" name="Rectangle 91"/>
            <p:cNvSpPr>
              <a:spLocks noChangeArrowheads="1"/>
            </p:cNvSpPr>
            <p:nvPr/>
          </p:nvSpPr>
          <p:spPr bwMode="auto">
            <a:xfrm>
              <a:off x="2399" y="2386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4" name="Rectangle 92"/>
            <p:cNvSpPr>
              <a:spLocks noChangeArrowheads="1"/>
            </p:cNvSpPr>
            <p:nvPr/>
          </p:nvSpPr>
          <p:spPr bwMode="auto">
            <a:xfrm>
              <a:off x="2399" y="2386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7" name="Rectangle 95"/>
            <p:cNvSpPr>
              <a:spLocks noChangeArrowheads="1"/>
            </p:cNvSpPr>
            <p:nvPr/>
          </p:nvSpPr>
          <p:spPr bwMode="auto">
            <a:xfrm>
              <a:off x="2635" y="2386"/>
              <a:ext cx="234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8" name="Rectangle 96"/>
            <p:cNvSpPr>
              <a:spLocks noChangeArrowheads="1"/>
            </p:cNvSpPr>
            <p:nvPr/>
          </p:nvSpPr>
          <p:spPr bwMode="auto">
            <a:xfrm>
              <a:off x="2635" y="2386"/>
              <a:ext cx="234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1" name="Rectangle 99"/>
            <p:cNvSpPr>
              <a:spLocks noChangeArrowheads="1"/>
            </p:cNvSpPr>
            <p:nvPr/>
          </p:nvSpPr>
          <p:spPr bwMode="auto">
            <a:xfrm>
              <a:off x="1932" y="2386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2" name="Rectangle 100"/>
            <p:cNvSpPr>
              <a:spLocks noChangeArrowheads="1"/>
            </p:cNvSpPr>
            <p:nvPr/>
          </p:nvSpPr>
          <p:spPr bwMode="auto">
            <a:xfrm>
              <a:off x="1932" y="2386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125" name="Picture 10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2363"/>
              <a:ext cx="315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5" name="Rectangle 103"/>
            <p:cNvSpPr>
              <a:spLocks noChangeArrowheads="1"/>
            </p:cNvSpPr>
            <p:nvPr/>
          </p:nvSpPr>
          <p:spPr bwMode="auto">
            <a:xfrm>
              <a:off x="2872" y="2386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6" name="Rectangle 104"/>
            <p:cNvSpPr>
              <a:spLocks noChangeArrowheads="1"/>
            </p:cNvSpPr>
            <p:nvPr/>
          </p:nvSpPr>
          <p:spPr bwMode="auto">
            <a:xfrm>
              <a:off x="2872" y="2386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129" name="Picture 10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7" y="2480"/>
              <a:ext cx="3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9" name="Rectangle 107"/>
            <p:cNvSpPr>
              <a:spLocks noChangeArrowheads="1"/>
            </p:cNvSpPr>
            <p:nvPr/>
          </p:nvSpPr>
          <p:spPr bwMode="auto">
            <a:xfrm>
              <a:off x="2169" y="2503"/>
              <a:ext cx="233" cy="116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0" name="Rectangle 108"/>
            <p:cNvSpPr>
              <a:spLocks noChangeArrowheads="1"/>
            </p:cNvSpPr>
            <p:nvPr/>
          </p:nvSpPr>
          <p:spPr bwMode="auto">
            <a:xfrm>
              <a:off x="2169" y="2503"/>
              <a:ext cx="233" cy="116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3" name="Rectangle 111"/>
            <p:cNvSpPr>
              <a:spLocks noChangeArrowheads="1"/>
            </p:cNvSpPr>
            <p:nvPr/>
          </p:nvSpPr>
          <p:spPr bwMode="auto">
            <a:xfrm>
              <a:off x="2399" y="2503"/>
              <a:ext cx="233" cy="116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4" name="Rectangle 112"/>
            <p:cNvSpPr>
              <a:spLocks noChangeArrowheads="1"/>
            </p:cNvSpPr>
            <p:nvPr/>
          </p:nvSpPr>
          <p:spPr bwMode="auto">
            <a:xfrm>
              <a:off x="2399" y="2503"/>
              <a:ext cx="233" cy="116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7" name="Rectangle 115"/>
            <p:cNvSpPr>
              <a:spLocks noChangeArrowheads="1"/>
            </p:cNvSpPr>
            <p:nvPr/>
          </p:nvSpPr>
          <p:spPr bwMode="auto">
            <a:xfrm>
              <a:off x="2635" y="2503"/>
              <a:ext cx="234" cy="116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0" name="Rectangle 116"/>
            <p:cNvSpPr>
              <a:spLocks noChangeArrowheads="1"/>
            </p:cNvSpPr>
            <p:nvPr/>
          </p:nvSpPr>
          <p:spPr bwMode="auto">
            <a:xfrm>
              <a:off x="2635" y="2503"/>
              <a:ext cx="234" cy="116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3" name="Rectangle 119"/>
            <p:cNvSpPr>
              <a:spLocks noChangeArrowheads="1"/>
            </p:cNvSpPr>
            <p:nvPr/>
          </p:nvSpPr>
          <p:spPr bwMode="auto">
            <a:xfrm>
              <a:off x="1932" y="2503"/>
              <a:ext cx="233" cy="116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4" name="Rectangle 120"/>
            <p:cNvSpPr>
              <a:spLocks noChangeArrowheads="1"/>
            </p:cNvSpPr>
            <p:nvPr/>
          </p:nvSpPr>
          <p:spPr bwMode="auto">
            <a:xfrm>
              <a:off x="1932" y="2503"/>
              <a:ext cx="233" cy="116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145" name="Picture 12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5" y="2480"/>
              <a:ext cx="315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" name="Rectangle 123"/>
            <p:cNvSpPr>
              <a:spLocks noChangeArrowheads="1"/>
            </p:cNvSpPr>
            <p:nvPr/>
          </p:nvSpPr>
          <p:spPr bwMode="auto">
            <a:xfrm>
              <a:off x="2872" y="2503"/>
              <a:ext cx="233" cy="116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8" name="Rectangle 124"/>
            <p:cNvSpPr>
              <a:spLocks noChangeArrowheads="1"/>
            </p:cNvSpPr>
            <p:nvPr/>
          </p:nvSpPr>
          <p:spPr bwMode="auto">
            <a:xfrm>
              <a:off x="2872" y="2503"/>
              <a:ext cx="233" cy="116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1" name="Rectangle 127"/>
            <p:cNvSpPr>
              <a:spLocks noChangeArrowheads="1"/>
            </p:cNvSpPr>
            <p:nvPr/>
          </p:nvSpPr>
          <p:spPr bwMode="auto">
            <a:xfrm>
              <a:off x="2169" y="2619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2" name="Rectangle 128"/>
            <p:cNvSpPr>
              <a:spLocks noChangeArrowheads="1"/>
            </p:cNvSpPr>
            <p:nvPr/>
          </p:nvSpPr>
          <p:spPr bwMode="auto">
            <a:xfrm>
              <a:off x="2169" y="2619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5" name="Rectangle 131"/>
            <p:cNvSpPr>
              <a:spLocks noChangeArrowheads="1"/>
            </p:cNvSpPr>
            <p:nvPr/>
          </p:nvSpPr>
          <p:spPr bwMode="auto">
            <a:xfrm>
              <a:off x="2399" y="2619"/>
              <a:ext cx="233" cy="117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6" name="Rectangle 132"/>
            <p:cNvSpPr>
              <a:spLocks noChangeArrowheads="1"/>
            </p:cNvSpPr>
            <p:nvPr/>
          </p:nvSpPr>
          <p:spPr bwMode="auto">
            <a:xfrm>
              <a:off x="2399" y="2619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9" name="Rectangle 135"/>
            <p:cNvSpPr>
              <a:spLocks noChangeArrowheads="1"/>
            </p:cNvSpPr>
            <p:nvPr/>
          </p:nvSpPr>
          <p:spPr bwMode="auto">
            <a:xfrm>
              <a:off x="2635" y="2619"/>
              <a:ext cx="234" cy="117"/>
            </a:xfrm>
            <a:prstGeom prst="rect">
              <a:avLst/>
            </a:prstGeom>
            <a:solidFill>
              <a:srgbClr val="BDD0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0" name="Rectangle 136"/>
            <p:cNvSpPr>
              <a:spLocks noChangeArrowheads="1"/>
            </p:cNvSpPr>
            <p:nvPr/>
          </p:nvSpPr>
          <p:spPr bwMode="auto">
            <a:xfrm>
              <a:off x="2635" y="2619"/>
              <a:ext cx="234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3" name="Rectangle 139"/>
            <p:cNvSpPr>
              <a:spLocks noChangeArrowheads="1"/>
            </p:cNvSpPr>
            <p:nvPr/>
          </p:nvSpPr>
          <p:spPr bwMode="auto">
            <a:xfrm>
              <a:off x="1932" y="2619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4" name="Rectangle 140"/>
            <p:cNvSpPr>
              <a:spLocks noChangeArrowheads="1"/>
            </p:cNvSpPr>
            <p:nvPr/>
          </p:nvSpPr>
          <p:spPr bwMode="auto">
            <a:xfrm>
              <a:off x="1932" y="2619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7" name="Rectangle 143"/>
            <p:cNvSpPr>
              <a:spLocks noChangeArrowheads="1"/>
            </p:cNvSpPr>
            <p:nvPr/>
          </p:nvSpPr>
          <p:spPr bwMode="auto">
            <a:xfrm>
              <a:off x="2872" y="2619"/>
              <a:ext cx="233" cy="117"/>
            </a:xfrm>
            <a:prstGeom prst="rect">
              <a:avLst/>
            </a:pr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8" name="Rectangle 144"/>
            <p:cNvSpPr>
              <a:spLocks noChangeArrowheads="1"/>
            </p:cNvSpPr>
            <p:nvPr/>
          </p:nvSpPr>
          <p:spPr bwMode="auto">
            <a:xfrm>
              <a:off x="2872" y="2619"/>
              <a:ext cx="233" cy="117"/>
            </a:xfrm>
            <a:prstGeom prst="rect">
              <a:avLst/>
            </a:prstGeom>
            <a:noFill/>
            <a:ln w="9525" cap="sq">
              <a:solidFill>
                <a:srgbClr val="3F3F3F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1" name="Line 145"/>
            <p:cNvSpPr>
              <a:spLocks noChangeShapeType="1"/>
            </p:cNvSpPr>
            <p:nvPr/>
          </p:nvSpPr>
          <p:spPr bwMode="auto">
            <a:xfrm flipH="1">
              <a:off x="2982" y="2226"/>
              <a:ext cx="388" cy="219"/>
            </a:xfrm>
            <a:prstGeom prst="line">
              <a:avLst/>
            </a:prstGeom>
            <a:noFill/>
            <a:ln w="12700" cap="rnd">
              <a:solidFill>
                <a:srgbClr val="1E4E7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2" name="Rectangle 146"/>
            <p:cNvSpPr>
              <a:spLocks noChangeArrowheads="1"/>
            </p:cNvSpPr>
            <p:nvPr/>
          </p:nvSpPr>
          <p:spPr bwMode="auto">
            <a:xfrm>
              <a:off x="3370" y="2169"/>
              <a:ext cx="389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Page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55" name="Rectangle 147"/>
            <p:cNvSpPr>
              <a:spLocks noChangeArrowheads="1"/>
            </p:cNvSpPr>
            <p:nvPr/>
          </p:nvSpPr>
          <p:spPr bwMode="auto">
            <a:xfrm>
              <a:off x="3269" y="2736"/>
              <a:ext cx="543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Extent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56" name="Rectangle 148"/>
            <p:cNvSpPr>
              <a:spLocks noChangeArrowheads="1"/>
            </p:cNvSpPr>
            <p:nvPr/>
          </p:nvSpPr>
          <p:spPr bwMode="auto">
            <a:xfrm>
              <a:off x="1317" y="2891"/>
              <a:ext cx="852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微软雅黑 Light" panose="020B0502040204020203" pitchFamily="34" charset="-122"/>
                  <a:ea typeface="微软雅黑 Light" panose="020B0502040204020203" pitchFamily="34" charset="-122"/>
                  <a:cs typeface="宋体" panose="02010600030101010101" pitchFamily="2" charset="-122"/>
                </a:rPr>
                <a:t>TableSpace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60" name="Line 152"/>
            <p:cNvSpPr>
              <a:spLocks noChangeShapeType="1"/>
            </p:cNvSpPr>
            <p:nvPr/>
          </p:nvSpPr>
          <p:spPr bwMode="auto">
            <a:xfrm flipH="1" flipV="1">
              <a:off x="3150" y="2503"/>
              <a:ext cx="216" cy="205"/>
            </a:xfrm>
            <a:prstGeom prst="line">
              <a:avLst/>
            </a:prstGeom>
            <a:noFill/>
            <a:ln w="12700" cap="rnd">
              <a:solidFill>
                <a:srgbClr val="1E4E7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4" name="Freeform 158"/>
            <p:cNvSpPr>
              <a:spLocks noEditPoints="1"/>
            </p:cNvSpPr>
            <p:nvPr/>
          </p:nvSpPr>
          <p:spPr bwMode="auto">
            <a:xfrm>
              <a:off x="2839" y="2587"/>
              <a:ext cx="310" cy="181"/>
            </a:xfrm>
            <a:custGeom>
              <a:avLst/>
              <a:gdLst>
                <a:gd name="T0" fmla="*/ 6 w 310"/>
                <a:gd name="T1" fmla="*/ 53 h 181"/>
                <a:gd name="T2" fmla="*/ 0 w 310"/>
                <a:gd name="T3" fmla="*/ 3 h 181"/>
                <a:gd name="T4" fmla="*/ 6 w 310"/>
                <a:gd name="T5" fmla="*/ 77 h 181"/>
                <a:gd name="T6" fmla="*/ 0 w 310"/>
                <a:gd name="T7" fmla="*/ 127 h 181"/>
                <a:gd name="T8" fmla="*/ 6 w 310"/>
                <a:gd name="T9" fmla="*/ 77 h 181"/>
                <a:gd name="T10" fmla="*/ 6 w 310"/>
                <a:gd name="T11" fmla="*/ 178 h 181"/>
                <a:gd name="T12" fmla="*/ 26 w 310"/>
                <a:gd name="T13" fmla="*/ 175 h 181"/>
                <a:gd name="T14" fmla="*/ 0 w 310"/>
                <a:gd name="T15" fmla="*/ 181 h 181"/>
                <a:gd name="T16" fmla="*/ 6 w 310"/>
                <a:gd name="T17" fmla="*/ 151 h 181"/>
                <a:gd name="T18" fmla="*/ 100 w 310"/>
                <a:gd name="T19" fmla="*/ 175 h 181"/>
                <a:gd name="T20" fmla="*/ 51 w 310"/>
                <a:gd name="T21" fmla="*/ 181 h 181"/>
                <a:gd name="T22" fmla="*/ 125 w 310"/>
                <a:gd name="T23" fmla="*/ 175 h 181"/>
                <a:gd name="T24" fmla="*/ 174 w 310"/>
                <a:gd name="T25" fmla="*/ 181 h 181"/>
                <a:gd name="T26" fmla="*/ 125 w 310"/>
                <a:gd name="T27" fmla="*/ 175 h 181"/>
                <a:gd name="T28" fmla="*/ 249 w 310"/>
                <a:gd name="T29" fmla="*/ 175 h 181"/>
                <a:gd name="T30" fmla="*/ 199 w 310"/>
                <a:gd name="T31" fmla="*/ 181 h 181"/>
                <a:gd name="T32" fmla="*/ 273 w 310"/>
                <a:gd name="T33" fmla="*/ 175 h 181"/>
                <a:gd name="T34" fmla="*/ 304 w 310"/>
                <a:gd name="T35" fmla="*/ 178 h 181"/>
                <a:gd name="T36" fmla="*/ 310 w 310"/>
                <a:gd name="T37" fmla="*/ 162 h 181"/>
                <a:gd name="T38" fmla="*/ 273 w 310"/>
                <a:gd name="T39" fmla="*/ 181 h 181"/>
                <a:gd name="T40" fmla="*/ 304 w 310"/>
                <a:gd name="T41" fmla="*/ 137 h 181"/>
                <a:gd name="T42" fmla="*/ 310 w 310"/>
                <a:gd name="T43" fmla="*/ 88 h 181"/>
                <a:gd name="T44" fmla="*/ 304 w 310"/>
                <a:gd name="T45" fmla="*/ 137 h 181"/>
                <a:gd name="T46" fmla="*/ 304 w 310"/>
                <a:gd name="T47" fmla="*/ 14 h 181"/>
                <a:gd name="T48" fmla="*/ 310 w 310"/>
                <a:gd name="T49" fmla="*/ 63 h 181"/>
                <a:gd name="T50" fmla="*/ 293 w 310"/>
                <a:gd name="T51" fmla="*/ 6 h 181"/>
                <a:gd name="T52" fmla="*/ 243 w 310"/>
                <a:gd name="T53" fmla="*/ 0 h 181"/>
                <a:gd name="T54" fmla="*/ 293 w 310"/>
                <a:gd name="T55" fmla="*/ 6 h 181"/>
                <a:gd name="T56" fmla="*/ 169 w 310"/>
                <a:gd name="T57" fmla="*/ 6 h 181"/>
                <a:gd name="T58" fmla="*/ 219 w 310"/>
                <a:gd name="T59" fmla="*/ 0 h 181"/>
                <a:gd name="T60" fmla="*/ 144 w 310"/>
                <a:gd name="T61" fmla="*/ 6 h 181"/>
                <a:gd name="T62" fmla="*/ 95 w 310"/>
                <a:gd name="T63" fmla="*/ 0 h 181"/>
                <a:gd name="T64" fmla="*/ 144 w 310"/>
                <a:gd name="T65" fmla="*/ 6 h 181"/>
                <a:gd name="T66" fmla="*/ 21 w 310"/>
                <a:gd name="T67" fmla="*/ 6 h 181"/>
                <a:gd name="T68" fmla="*/ 70 w 310"/>
                <a:gd name="T6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0" h="181">
                  <a:moveTo>
                    <a:pt x="6" y="3"/>
                  </a:moveTo>
                  <a:lnTo>
                    <a:pt x="6" y="53"/>
                  </a:lnTo>
                  <a:lnTo>
                    <a:pt x="0" y="53"/>
                  </a:lnTo>
                  <a:lnTo>
                    <a:pt x="0" y="3"/>
                  </a:lnTo>
                  <a:lnTo>
                    <a:pt x="6" y="3"/>
                  </a:lnTo>
                  <a:close/>
                  <a:moveTo>
                    <a:pt x="6" y="77"/>
                  </a:moveTo>
                  <a:lnTo>
                    <a:pt x="6" y="127"/>
                  </a:lnTo>
                  <a:lnTo>
                    <a:pt x="0" y="127"/>
                  </a:lnTo>
                  <a:lnTo>
                    <a:pt x="0" y="77"/>
                  </a:lnTo>
                  <a:lnTo>
                    <a:pt x="6" y="77"/>
                  </a:lnTo>
                  <a:close/>
                  <a:moveTo>
                    <a:pt x="6" y="151"/>
                  </a:moveTo>
                  <a:lnTo>
                    <a:pt x="6" y="178"/>
                  </a:lnTo>
                  <a:lnTo>
                    <a:pt x="3" y="175"/>
                  </a:lnTo>
                  <a:lnTo>
                    <a:pt x="26" y="175"/>
                  </a:lnTo>
                  <a:lnTo>
                    <a:pt x="26" y="181"/>
                  </a:lnTo>
                  <a:lnTo>
                    <a:pt x="0" y="181"/>
                  </a:lnTo>
                  <a:lnTo>
                    <a:pt x="0" y="151"/>
                  </a:lnTo>
                  <a:lnTo>
                    <a:pt x="6" y="151"/>
                  </a:lnTo>
                  <a:close/>
                  <a:moveTo>
                    <a:pt x="51" y="175"/>
                  </a:moveTo>
                  <a:lnTo>
                    <a:pt x="100" y="175"/>
                  </a:lnTo>
                  <a:lnTo>
                    <a:pt x="100" y="181"/>
                  </a:lnTo>
                  <a:lnTo>
                    <a:pt x="51" y="181"/>
                  </a:lnTo>
                  <a:lnTo>
                    <a:pt x="51" y="175"/>
                  </a:lnTo>
                  <a:close/>
                  <a:moveTo>
                    <a:pt x="125" y="175"/>
                  </a:moveTo>
                  <a:lnTo>
                    <a:pt x="174" y="175"/>
                  </a:lnTo>
                  <a:lnTo>
                    <a:pt x="174" y="181"/>
                  </a:lnTo>
                  <a:lnTo>
                    <a:pt x="125" y="181"/>
                  </a:lnTo>
                  <a:lnTo>
                    <a:pt x="125" y="175"/>
                  </a:lnTo>
                  <a:close/>
                  <a:moveTo>
                    <a:pt x="199" y="175"/>
                  </a:moveTo>
                  <a:lnTo>
                    <a:pt x="249" y="175"/>
                  </a:lnTo>
                  <a:lnTo>
                    <a:pt x="249" y="181"/>
                  </a:lnTo>
                  <a:lnTo>
                    <a:pt x="199" y="181"/>
                  </a:lnTo>
                  <a:lnTo>
                    <a:pt x="199" y="175"/>
                  </a:lnTo>
                  <a:close/>
                  <a:moveTo>
                    <a:pt x="273" y="175"/>
                  </a:moveTo>
                  <a:lnTo>
                    <a:pt x="307" y="175"/>
                  </a:lnTo>
                  <a:lnTo>
                    <a:pt x="304" y="178"/>
                  </a:lnTo>
                  <a:lnTo>
                    <a:pt x="304" y="162"/>
                  </a:lnTo>
                  <a:lnTo>
                    <a:pt x="310" y="162"/>
                  </a:lnTo>
                  <a:lnTo>
                    <a:pt x="310" y="181"/>
                  </a:lnTo>
                  <a:lnTo>
                    <a:pt x="273" y="181"/>
                  </a:lnTo>
                  <a:lnTo>
                    <a:pt x="273" y="175"/>
                  </a:lnTo>
                  <a:close/>
                  <a:moveTo>
                    <a:pt x="304" y="137"/>
                  </a:moveTo>
                  <a:lnTo>
                    <a:pt x="304" y="88"/>
                  </a:lnTo>
                  <a:lnTo>
                    <a:pt x="310" y="88"/>
                  </a:lnTo>
                  <a:lnTo>
                    <a:pt x="310" y="137"/>
                  </a:lnTo>
                  <a:lnTo>
                    <a:pt x="304" y="137"/>
                  </a:lnTo>
                  <a:close/>
                  <a:moveTo>
                    <a:pt x="304" y="63"/>
                  </a:moveTo>
                  <a:lnTo>
                    <a:pt x="304" y="14"/>
                  </a:lnTo>
                  <a:lnTo>
                    <a:pt x="310" y="14"/>
                  </a:lnTo>
                  <a:lnTo>
                    <a:pt x="310" y="63"/>
                  </a:lnTo>
                  <a:lnTo>
                    <a:pt x="304" y="63"/>
                  </a:lnTo>
                  <a:close/>
                  <a:moveTo>
                    <a:pt x="293" y="6"/>
                  </a:moveTo>
                  <a:lnTo>
                    <a:pt x="243" y="6"/>
                  </a:lnTo>
                  <a:lnTo>
                    <a:pt x="243" y="0"/>
                  </a:lnTo>
                  <a:lnTo>
                    <a:pt x="293" y="0"/>
                  </a:lnTo>
                  <a:lnTo>
                    <a:pt x="293" y="6"/>
                  </a:lnTo>
                  <a:close/>
                  <a:moveTo>
                    <a:pt x="219" y="6"/>
                  </a:moveTo>
                  <a:lnTo>
                    <a:pt x="169" y="6"/>
                  </a:lnTo>
                  <a:lnTo>
                    <a:pt x="169" y="0"/>
                  </a:lnTo>
                  <a:lnTo>
                    <a:pt x="219" y="0"/>
                  </a:lnTo>
                  <a:lnTo>
                    <a:pt x="219" y="6"/>
                  </a:lnTo>
                  <a:close/>
                  <a:moveTo>
                    <a:pt x="144" y="6"/>
                  </a:moveTo>
                  <a:lnTo>
                    <a:pt x="95" y="6"/>
                  </a:lnTo>
                  <a:lnTo>
                    <a:pt x="95" y="0"/>
                  </a:lnTo>
                  <a:lnTo>
                    <a:pt x="144" y="0"/>
                  </a:lnTo>
                  <a:lnTo>
                    <a:pt x="144" y="6"/>
                  </a:lnTo>
                  <a:close/>
                  <a:moveTo>
                    <a:pt x="70" y="6"/>
                  </a:moveTo>
                  <a:lnTo>
                    <a:pt x="21" y="6"/>
                  </a:lnTo>
                  <a:lnTo>
                    <a:pt x="21" y="0"/>
                  </a:lnTo>
                  <a:lnTo>
                    <a:pt x="70" y="0"/>
                  </a:lnTo>
                  <a:lnTo>
                    <a:pt x="70" y="6"/>
                  </a:lnTo>
                  <a:close/>
                </a:path>
              </a:pathLst>
            </a:custGeom>
            <a:solidFill>
              <a:srgbClr val="1E4E79"/>
            </a:solidFill>
            <a:ln w="0" cap="flat">
              <a:solidFill>
                <a:srgbClr val="1E4E7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7" name="Line 159"/>
            <p:cNvSpPr>
              <a:spLocks noChangeShapeType="1"/>
            </p:cNvSpPr>
            <p:nvPr/>
          </p:nvSpPr>
          <p:spPr bwMode="auto">
            <a:xfrm flipH="1">
              <a:off x="1621" y="2514"/>
              <a:ext cx="277" cy="347"/>
            </a:xfrm>
            <a:prstGeom prst="line">
              <a:avLst/>
            </a:prstGeom>
            <a:noFill/>
            <a:ln w="12700" cap="rnd">
              <a:solidFill>
                <a:srgbClr val="1E4E7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8" name="Line 160"/>
            <p:cNvSpPr>
              <a:spLocks noChangeShapeType="1"/>
            </p:cNvSpPr>
            <p:nvPr/>
          </p:nvSpPr>
          <p:spPr bwMode="auto">
            <a:xfrm flipH="1">
              <a:off x="1622" y="2765"/>
              <a:ext cx="543" cy="94"/>
            </a:xfrm>
            <a:prstGeom prst="line">
              <a:avLst/>
            </a:prstGeom>
            <a:noFill/>
            <a:ln w="12700" cap="rnd">
              <a:solidFill>
                <a:srgbClr val="1E4E7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9" name="Line 161"/>
            <p:cNvSpPr>
              <a:spLocks noChangeShapeType="1"/>
            </p:cNvSpPr>
            <p:nvPr/>
          </p:nvSpPr>
          <p:spPr bwMode="auto">
            <a:xfrm flipH="1">
              <a:off x="1617" y="2765"/>
              <a:ext cx="1307" cy="98"/>
            </a:xfrm>
            <a:prstGeom prst="line">
              <a:avLst/>
            </a:prstGeom>
            <a:noFill/>
            <a:ln w="12700" cap="rnd">
              <a:solidFill>
                <a:srgbClr val="1E4E7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9" name="Freeform 151"/>
            <p:cNvSpPr>
              <a:spLocks noEditPoints="1"/>
            </p:cNvSpPr>
            <p:nvPr/>
          </p:nvSpPr>
          <p:spPr bwMode="auto">
            <a:xfrm>
              <a:off x="1895" y="2354"/>
              <a:ext cx="1252" cy="181"/>
            </a:xfrm>
            <a:custGeom>
              <a:avLst/>
              <a:gdLst>
                <a:gd name="T0" fmla="*/ 0 w 1252"/>
                <a:gd name="T1" fmla="*/ 3 h 181"/>
                <a:gd name="T2" fmla="*/ 0 w 1252"/>
                <a:gd name="T3" fmla="*/ 127 h 181"/>
                <a:gd name="T4" fmla="*/ 6 w 1252"/>
                <a:gd name="T5" fmla="*/ 178 h 181"/>
                <a:gd name="T6" fmla="*/ 0 w 1252"/>
                <a:gd name="T7" fmla="*/ 181 h 181"/>
                <a:gd name="T8" fmla="*/ 100 w 1252"/>
                <a:gd name="T9" fmla="*/ 175 h 181"/>
                <a:gd name="T10" fmla="*/ 125 w 1252"/>
                <a:gd name="T11" fmla="*/ 175 h 181"/>
                <a:gd name="T12" fmla="*/ 125 w 1252"/>
                <a:gd name="T13" fmla="*/ 175 h 181"/>
                <a:gd name="T14" fmla="*/ 199 w 1252"/>
                <a:gd name="T15" fmla="*/ 181 h 181"/>
                <a:gd name="T16" fmla="*/ 323 w 1252"/>
                <a:gd name="T17" fmla="*/ 181 h 181"/>
                <a:gd name="T18" fmla="*/ 397 w 1252"/>
                <a:gd name="T19" fmla="*/ 175 h 181"/>
                <a:gd name="T20" fmla="*/ 421 w 1252"/>
                <a:gd name="T21" fmla="*/ 175 h 181"/>
                <a:gd name="T22" fmla="*/ 421 w 1252"/>
                <a:gd name="T23" fmla="*/ 175 h 181"/>
                <a:gd name="T24" fmla="*/ 495 w 1252"/>
                <a:gd name="T25" fmla="*/ 181 h 181"/>
                <a:gd name="T26" fmla="*/ 619 w 1252"/>
                <a:gd name="T27" fmla="*/ 181 h 181"/>
                <a:gd name="T28" fmla="*/ 693 w 1252"/>
                <a:gd name="T29" fmla="*/ 175 h 181"/>
                <a:gd name="T30" fmla="*/ 718 w 1252"/>
                <a:gd name="T31" fmla="*/ 175 h 181"/>
                <a:gd name="T32" fmla="*/ 718 w 1252"/>
                <a:gd name="T33" fmla="*/ 175 h 181"/>
                <a:gd name="T34" fmla="*/ 792 w 1252"/>
                <a:gd name="T35" fmla="*/ 181 h 181"/>
                <a:gd name="T36" fmla="*/ 916 w 1252"/>
                <a:gd name="T37" fmla="*/ 181 h 181"/>
                <a:gd name="T38" fmla="*/ 990 w 1252"/>
                <a:gd name="T39" fmla="*/ 175 h 181"/>
                <a:gd name="T40" fmla="*/ 1014 w 1252"/>
                <a:gd name="T41" fmla="*/ 175 h 181"/>
                <a:gd name="T42" fmla="*/ 1014 w 1252"/>
                <a:gd name="T43" fmla="*/ 175 h 181"/>
                <a:gd name="T44" fmla="*/ 1089 w 1252"/>
                <a:gd name="T45" fmla="*/ 181 h 181"/>
                <a:gd name="T46" fmla="*/ 1212 w 1252"/>
                <a:gd name="T47" fmla="*/ 181 h 181"/>
                <a:gd name="T48" fmla="*/ 1249 w 1252"/>
                <a:gd name="T49" fmla="*/ 175 h 181"/>
                <a:gd name="T50" fmla="*/ 1252 w 1252"/>
                <a:gd name="T51" fmla="*/ 181 h 181"/>
                <a:gd name="T52" fmla="*/ 1246 w 1252"/>
                <a:gd name="T53" fmla="*/ 66 h 181"/>
                <a:gd name="T54" fmla="*/ 1246 w 1252"/>
                <a:gd name="T55" fmla="*/ 41 h 181"/>
                <a:gd name="T56" fmla="*/ 1238 w 1252"/>
                <a:gd name="T57" fmla="*/ 0 h 181"/>
                <a:gd name="T58" fmla="*/ 1213 w 1252"/>
                <a:gd name="T59" fmla="*/ 6 h 181"/>
                <a:gd name="T60" fmla="*/ 1213 w 1252"/>
                <a:gd name="T61" fmla="*/ 6 h 181"/>
                <a:gd name="T62" fmla="*/ 1139 w 1252"/>
                <a:gd name="T63" fmla="*/ 0 h 181"/>
                <a:gd name="T64" fmla="*/ 1015 w 1252"/>
                <a:gd name="T65" fmla="*/ 0 h 181"/>
                <a:gd name="T66" fmla="*/ 941 w 1252"/>
                <a:gd name="T67" fmla="*/ 6 h 181"/>
                <a:gd name="T68" fmla="*/ 916 w 1252"/>
                <a:gd name="T69" fmla="*/ 6 h 181"/>
                <a:gd name="T70" fmla="*/ 916 w 1252"/>
                <a:gd name="T71" fmla="*/ 6 h 181"/>
                <a:gd name="T72" fmla="*/ 842 w 1252"/>
                <a:gd name="T73" fmla="*/ 0 h 181"/>
                <a:gd name="T74" fmla="*/ 718 w 1252"/>
                <a:gd name="T75" fmla="*/ 0 h 181"/>
                <a:gd name="T76" fmla="*/ 644 w 1252"/>
                <a:gd name="T77" fmla="*/ 6 h 181"/>
                <a:gd name="T78" fmla="*/ 619 w 1252"/>
                <a:gd name="T79" fmla="*/ 6 h 181"/>
                <a:gd name="T80" fmla="*/ 619 w 1252"/>
                <a:gd name="T81" fmla="*/ 6 h 181"/>
                <a:gd name="T82" fmla="*/ 545 w 1252"/>
                <a:gd name="T83" fmla="*/ 0 h 181"/>
                <a:gd name="T84" fmla="*/ 422 w 1252"/>
                <a:gd name="T85" fmla="*/ 0 h 181"/>
                <a:gd name="T86" fmla="*/ 348 w 1252"/>
                <a:gd name="T87" fmla="*/ 6 h 181"/>
                <a:gd name="T88" fmla="*/ 323 w 1252"/>
                <a:gd name="T89" fmla="*/ 6 h 181"/>
                <a:gd name="T90" fmla="*/ 323 w 1252"/>
                <a:gd name="T91" fmla="*/ 6 h 181"/>
                <a:gd name="T92" fmla="*/ 248 w 1252"/>
                <a:gd name="T93" fmla="*/ 0 h 181"/>
                <a:gd name="T94" fmla="*/ 125 w 1252"/>
                <a:gd name="T95" fmla="*/ 0 h 181"/>
                <a:gd name="T96" fmla="*/ 51 w 1252"/>
                <a:gd name="T97" fmla="*/ 6 h 181"/>
                <a:gd name="T98" fmla="*/ 26 w 1252"/>
                <a:gd name="T99" fmla="*/ 6 h 181"/>
                <a:gd name="T100" fmla="*/ 26 w 1252"/>
                <a:gd name="T101" fmla="*/ 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52" h="181">
                  <a:moveTo>
                    <a:pt x="6" y="3"/>
                  </a:moveTo>
                  <a:lnTo>
                    <a:pt x="6" y="53"/>
                  </a:lnTo>
                  <a:lnTo>
                    <a:pt x="0" y="53"/>
                  </a:lnTo>
                  <a:lnTo>
                    <a:pt x="0" y="3"/>
                  </a:lnTo>
                  <a:lnTo>
                    <a:pt x="6" y="3"/>
                  </a:lnTo>
                  <a:close/>
                  <a:moveTo>
                    <a:pt x="6" y="77"/>
                  </a:moveTo>
                  <a:lnTo>
                    <a:pt x="6" y="127"/>
                  </a:lnTo>
                  <a:lnTo>
                    <a:pt x="0" y="127"/>
                  </a:lnTo>
                  <a:lnTo>
                    <a:pt x="0" y="77"/>
                  </a:lnTo>
                  <a:lnTo>
                    <a:pt x="6" y="77"/>
                  </a:lnTo>
                  <a:close/>
                  <a:moveTo>
                    <a:pt x="6" y="151"/>
                  </a:moveTo>
                  <a:lnTo>
                    <a:pt x="6" y="178"/>
                  </a:lnTo>
                  <a:lnTo>
                    <a:pt x="3" y="175"/>
                  </a:lnTo>
                  <a:lnTo>
                    <a:pt x="26" y="175"/>
                  </a:lnTo>
                  <a:lnTo>
                    <a:pt x="26" y="181"/>
                  </a:lnTo>
                  <a:lnTo>
                    <a:pt x="0" y="181"/>
                  </a:lnTo>
                  <a:lnTo>
                    <a:pt x="0" y="151"/>
                  </a:lnTo>
                  <a:lnTo>
                    <a:pt x="6" y="151"/>
                  </a:lnTo>
                  <a:close/>
                  <a:moveTo>
                    <a:pt x="50" y="175"/>
                  </a:moveTo>
                  <a:lnTo>
                    <a:pt x="100" y="175"/>
                  </a:lnTo>
                  <a:lnTo>
                    <a:pt x="100" y="181"/>
                  </a:lnTo>
                  <a:lnTo>
                    <a:pt x="50" y="181"/>
                  </a:lnTo>
                  <a:lnTo>
                    <a:pt x="50" y="175"/>
                  </a:lnTo>
                  <a:close/>
                  <a:moveTo>
                    <a:pt x="125" y="175"/>
                  </a:moveTo>
                  <a:lnTo>
                    <a:pt x="174" y="175"/>
                  </a:lnTo>
                  <a:lnTo>
                    <a:pt x="174" y="181"/>
                  </a:lnTo>
                  <a:lnTo>
                    <a:pt x="125" y="181"/>
                  </a:lnTo>
                  <a:lnTo>
                    <a:pt x="125" y="175"/>
                  </a:lnTo>
                  <a:close/>
                  <a:moveTo>
                    <a:pt x="199" y="175"/>
                  </a:moveTo>
                  <a:lnTo>
                    <a:pt x="248" y="175"/>
                  </a:lnTo>
                  <a:lnTo>
                    <a:pt x="248" y="181"/>
                  </a:lnTo>
                  <a:lnTo>
                    <a:pt x="199" y="181"/>
                  </a:lnTo>
                  <a:lnTo>
                    <a:pt x="199" y="175"/>
                  </a:lnTo>
                  <a:close/>
                  <a:moveTo>
                    <a:pt x="273" y="175"/>
                  </a:moveTo>
                  <a:lnTo>
                    <a:pt x="323" y="175"/>
                  </a:lnTo>
                  <a:lnTo>
                    <a:pt x="323" y="181"/>
                  </a:lnTo>
                  <a:lnTo>
                    <a:pt x="273" y="181"/>
                  </a:lnTo>
                  <a:lnTo>
                    <a:pt x="273" y="175"/>
                  </a:lnTo>
                  <a:close/>
                  <a:moveTo>
                    <a:pt x="347" y="175"/>
                  </a:moveTo>
                  <a:lnTo>
                    <a:pt x="397" y="175"/>
                  </a:lnTo>
                  <a:lnTo>
                    <a:pt x="397" y="181"/>
                  </a:lnTo>
                  <a:lnTo>
                    <a:pt x="347" y="181"/>
                  </a:lnTo>
                  <a:lnTo>
                    <a:pt x="347" y="175"/>
                  </a:lnTo>
                  <a:close/>
                  <a:moveTo>
                    <a:pt x="421" y="175"/>
                  </a:moveTo>
                  <a:lnTo>
                    <a:pt x="471" y="175"/>
                  </a:lnTo>
                  <a:lnTo>
                    <a:pt x="471" y="181"/>
                  </a:lnTo>
                  <a:lnTo>
                    <a:pt x="421" y="181"/>
                  </a:lnTo>
                  <a:lnTo>
                    <a:pt x="421" y="175"/>
                  </a:lnTo>
                  <a:close/>
                  <a:moveTo>
                    <a:pt x="495" y="175"/>
                  </a:moveTo>
                  <a:lnTo>
                    <a:pt x="545" y="175"/>
                  </a:lnTo>
                  <a:lnTo>
                    <a:pt x="545" y="181"/>
                  </a:lnTo>
                  <a:lnTo>
                    <a:pt x="495" y="181"/>
                  </a:lnTo>
                  <a:lnTo>
                    <a:pt x="495" y="175"/>
                  </a:lnTo>
                  <a:close/>
                  <a:moveTo>
                    <a:pt x="570" y="175"/>
                  </a:moveTo>
                  <a:lnTo>
                    <a:pt x="619" y="175"/>
                  </a:lnTo>
                  <a:lnTo>
                    <a:pt x="619" y="181"/>
                  </a:lnTo>
                  <a:lnTo>
                    <a:pt x="570" y="181"/>
                  </a:lnTo>
                  <a:lnTo>
                    <a:pt x="570" y="175"/>
                  </a:lnTo>
                  <a:close/>
                  <a:moveTo>
                    <a:pt x="644" y="175"/>
                  </a:moveTo>
                  <a:lnTo>
                    <a:pt x="693" y="175"/>
                  </a:lnTo>
                  <a:lnTo>
                    <a:pt x="693" y="181"/>
                  </a:lnTo>
                  <a:lnTo>
                    <a:pt x="644" y="181"/>
                  </a:lnTo>
                  <a:lnTo>
                    <a:pt x="644" y="175"/>
                  </a:lnTo>
                  <a:close/>
                  <a:moveTo>
                    <a:pt x="718" y="175"/>
                  </a:moveTo>
                  <a:lnTo>
                    <a:pt x="767" y="175"/>
                  </a:lnTo>
                  <a:lnTo>
                    <a:pt x="767" y="181"/>
                  </a:lnTo>
                  <a:lnTo>
                    <a:pt x="718" y="181"/>
                  </a:lnTo>
                  <a:lnTo>
                    <a:pt x="718" y="175"/>
                  </a:lnTo>
                  <a:close/>
                  <a:moveTo>
                    <a:pt x="792" y="175"/>
                  </a:moveTo>
                  <a:lnTo>
                    <a:pt x="842" y="175"/>
                  </a:lnTo>
                  <a:lnTo>
                    <a:pt x="842" y="181"/>
                  </a:lnTo>
                  <a:lnTo>
                    <a:pt x="792" y="181"/>
                  </a:lnTo>
                  <a:lnTo>
                    <a:pt x="792" y="175"/>
                  </a:lnTo>
                  <a:close/>
                  <a:moveTo>
                    <a:pt x="866" y="175"/>
                  </a:moveTo>
                  <a:lnTo>
                    <a:pt x="916" y="175"/>
                  </a:lnTo>
                  <a:lnTo>
                    <a:pt x="916" y="181"/>
                  </a:lnTo>
                  <a:lnTo>
                    <a:pt x="866" y="181"/>
                  </a:lnTo>
                  <a:lnTo>
                    <a:pt x="866" y="175"/>
                  </a:lnTo>
                  <a:close/>
                  <a:moveTo>
                    <a:pt x="940" y="175"/>
                  </a:moveTo>
                  <a:lnTo>
                    <a:pt x="990" y="175"/>
                  </a:lnTo>
                  <a:lnTo>
                    <a:pt x="990" y="181"/>
                  </a:lnTo>
                  <a:lnTo>
                    <a:pt x="940" y="181"/>
                  </a:lnTo>
                  <a:lnTo>
                    <a:pt x="940" y="175"/>
                  </a:lnTo>
                  <a:close/>
                  <a:moveTo>
                    <a:pt x="1014" y="175"/>
                  </a:moveTo>
                  <a:lnTo>
                    <a:pt x="1064" y="175"/>
                  </a:lnTo>
                  <a:lnTo>
                    <a:pt x="1064" y="181"/>
                  </a:lnTo>
                  <a:lnTo>
                    <a:pt x="1014" y="181"/>
                  </a:lnTo>
                  <a:lnTo>
                    <a:pt x="1014" y="175"/>
                  </a:lnTo>
                  <a:close/>
                  <a:moveTo>
                    <a:pt x="1089" y="175"/>
                  </a:moveTo>
                  <a:lnTo>
                    <a:pt x="1138" y="175"/>
                  </a:lnTo>
                  <a:lnTo>
                    <a:pt x="1138" y="181"/>
                  </a:lnTo>
                  <a:lnTo>
                    <a:pt x="1089" y="181"/>
                  </a:lnTo>
                  <a:lnTo>
                    <a:pt x="1089" y="175"/>
                  </a:lnTo>
                  <a:close/>
                  <a:moveTo>
                    <a:pt x="1163" y="175"/>
                  </a:moveTo>
                  <a:lnTo>
                    <a:pt x="1212" y="175"/>
                  </a:lnTo>
                  <a:lnTo>
                    <a:pt x="1212" y="181"/>
                  </a:lnTo>
                  <a:lnTo>
                    <a:pt x="1163" y="181"/>
                  </a:lnTo>
                  <a:lnTo>
                    <a:pt x="1163" y="175"/>
                  </a:lnTo>
                  <a:close/>
                  <a:moveTo>
                    <a:pt x="1237" y="175"/>
                  </a:moveTo>
                  <a:lnTo>
                    <a:pt x="1249" y="175"/>
                  </a:lnTo>
                  <a:lnTo>
                    <a:pt x="1246" y="178"/>
                  </a:lnTo>
                  <a:lnTo>
                    <a:pt x="1246" y="140"/>
                  </a:lnTo>
                  <a:lnTo>
                    <a:pt x="1252" y="140"/>
                  </a:lnTo>
                  <a:lnTo>
                    <a:pt x="1252" y="181"/>
                  </a:lnTo>
                  <a:lnTo>
                    <a:pt x="1237" y="181"/>
                  </a:lnTo>
                  <a:lnTo>
                    <a:pt x="1237" y="175"/>
                  </a:lnTo>
                  <a:close/>
                  <a:moveTo>
                    <a:pt x="1246" y="115"/>
                  </a:moveTo>
                  <a:lnTo>
                    <a:pt x="1246" y="66"/>
                  </a:lnTo>
                  <a:lnTo>
                    <a:pt x="1252" y="66"/>
                  </a:lnTo>
                  <a:lnTo>
                    <a:pt x="1252" y="115"/>
                  </a:lnTo>
                  <a:lnTo>
                    <a:pt x="1246" y="115"/>
                  </a:lnTo>
                  <a:close/>
                  <a:moveTo>
                    <a:pt x="1246" y="41"/>
                  </a:moveTo>
                  <a:lnTo>
                    <a:pt x="1246" y="3"/>
                  </a:lnTo>
                  <a:lnTo>
                    <a:pt x="1249" y="6"/>
                  </a:lnTo>
                  <a:lnTo>
                    <a:pt x="1238" y="6"/>
                  </a:lnTo>
                  <a:lnTo>
                    <a:pt x="1238" y="0"/>
                  </a:lnTo>
                  <a:lnTo>
                    <a:pt x="1252" y="0"/>
                  </a:lnTo>
                  <a:lnTo>
                    <a:pt x="1252" y="41"/>
                  </a:lnTo>
                  <a:lnTo>
                    <a:pt x="1246" y="41"/>
                  </a:lnTo>
                  <a:close/>
                  <a:moveTo>
                    <a:pt x="1213" y="6"/>
                  </a:moveTo>
                  <a:lnTo>
                    <a:pt x="1163" y="6"/>
                  </a:lnTo>
                  <a:lnTo>
                    <a:pt x="1163" y="0"/>
                  </a:lnTo>
                  <a:lnTo>
                    <a:pt x="1213" y="0"/>
                  </a:lnTo>
                  <a:lnTo>
                    <a:pt x="1213" y="6"/>
                  </a:lnTo>
                  <a:close/>
                  <a:moveTo>
                    <a:pt x="1139" y="6"/>
                  </a:moveTo>
                  <a:lnTo>
                    <a:pt x="1089" y="6"/>
                  </a:lnTo>
                  <a:lnTo>
                    <a:pt x="1089" y="0"/>
                  </a:lnTo>
                  <a:lnTo>
                    <a:pt x="1139" y="0"/>
                  </a:lnTo>
                  <a:lnTo>
                    <a:pt x="1139" y="6"/>
                  </a:lnTo>
                  <a:close/>
                  <a:moveTo>
                    <a:pt x="1065" y="6"/>
                  </a:moveTo>
                  <a:lnTo>
                    <a:pt x="1015" y="6"/>
                  </a:lnTo>
                  <a:lnTo>
                    <a:pt x="1015" y="0"/>
                  </a:lnTo>
                  <a:lnTo>
                    <a:pt x="1065" y="0"/>
                  </a:lnTo>
                  <a:lnTo>
                    <a:pt x="1065" y="6"/>
                  </a:lnTo>
                  <a:close/>
                  <a:moveTo>
                    <a:pt x="990" y="6"/>
                  </a:moveTo>
                  <a:lnTo>
                    <a:pt x="941" y="6"/>
                  </a:lnTo>
                  <a:lnTo>
                    <a:pt x="941" y="0"/>
                  </a:lnTo>
                  <a:lnTo>
                    <a:pt x="990" y="0"/>
                  </a:lnTo>
                  <a:lnTo>
                    <a:pt x="990" y="6"/>
                  </a:lnTo>
                  <a:close/>
                  <a:moveTo>
                    <a:pt x="916" y="6"/>
                  </a:moveTo>
                  <a:lnTo>
                    <a:pt x="867" y="6"/>
                  </a:lnTo>
                  <a:lnTo>
                    <a:pt x="867" y="0"/>
                  </a:lnTo>
                  <a:lnTo>
                    <a:pt x="916" y="0"/>
                  </a:lnTo>
                  <a:lnTo>
                    <a:pt x="916" y="6"/>
                  </a:lnTo>
                  <a:close/>
                  <a:moveTo>
                    <a:pt x="842" y="6"/>
                  </a:moveTo>
                  <a:lnTo>
                    <a:pt x="793" y="6"/>
                  </a:lnTo>
                  <a:lnTo>
                    <a:pt x="793" y="0"/>
                  </a:lnTo>
                  <a:lnTo>
                    <a:pt x="842" y="0"/>
                  </a:lnTo>
                  <a:lnTo>
                    <a:pt x="842" y="6"/>
                  </a:lnTo>
                  <a:close/>
                  <a:moveTo>
                    <a:pt x="768" y="6"/>
                  </a:moveTo>
                  <a:lnTo>
                    <a:pt x="718" y="6"/>
                  </a:lnTo>
                  <a:lnTo>
                    <a:pt x="718" y="0"/>
                  </a:lnTo>
                  <a:lnTo>
                    <a:pt x="768" y="0"/>
                  </a:lnTo>
                  <a:lnTo>
                    <a:pt x="768" y="6"/>
                  </a:lnTo>
                  <a:close/>
                  <a:moveTo>
                    <a:pt x="694" y="6"/>
                  </a:moveTo>
                  <a:lnTo>
                    <a:pt x="644" y="6"/>
                  </a:lnTo>
                  <a:lnTo>
                    <a:pt x="644" y="0"/>
                  </a:lnTo>
                  <a:lnTo>
                    <a:pt x="694" y="0"/>
                  </a:lnTo>
                  <a:lnTo>
                    <a:pt x="694" y="6"/>
                  </a:lnTo>
                  <a:close/>
                  <a:moveTo>
                    <a:pt x="619" y="6"/>
                  </a:moveTo>
                  <a:lnTo>
                    <a:pt x="570" y="6"/>
                  </a:lnTo>
                  <a:lnTo>
                    <a:pt x="570" y="0"/>
                  </a:lnTo>
                  <a:lnTo>
                    <a:pt x="619" y="0"/>
                  </a:lnTo>
                  <a:lnTo>
                    <a:pt x="619" y="6"/>
                  </a:lnTo>
                  <a:close/>
                  <a:moveTo>
                    <a:pt x="545" y="6"/>
                  </a:moveTo>
                  <a:lnTo>
                    <a:pt x="496" y="6"/>
                  </a:lnTo>
                  <a:lnTo>
                    <a:pt x="496" y="0"/>
                  </a:lnTo>
                  <a:lnTo>
                    <a:pt x="545" y="0"/>
                  </a:lnTo>
                  <a:lnTo>
                    <a:pt x="545" y="6"/>
                  </a:lnTo>
                  <a:close/>
                  <a:moveTo>
                    <a:pt x="471" y="6"/>
                  </a:moveTo>
                  <a:lnTo>
                    <a:pt x="422" y="6"/>
                  </a:lnTo>
                  <a:lnTo>
                    <a:pt x="422" y="0"/>
                  </a:lnTo>
                  <a:lnTo>
                    <a:pt x="471" y="0"/>
                  </a:lnTo>
                  <a:lnTo>
                    <a:pt x="471" y="6"/>
                  </a:lnTo>
                  <a:close/>
                  <a:moveTo>
                    <a:pt x="397" y="6"/>
                  </a:moveTo>
                  <a:lnTo>
                    <a:pt x="348" y="6"/>
                  </a:lnTo>
                  <a:lnTo>
                    <a:pt x="348" y="0"/>
                  </a:lnTo>
                  <a:lnTo>
                    <a:pt x="397" y="0"/>
                  </a:lnTo>
                  <a:lnTo>
                    <a:pt x="397" y="6"/>
                  </a:lnTo>
                  <a:close/>
                  <a:moveTo>
                    <a:pt x="323" y="6"/>
                  </a:moveTo>
                  <a:lnTo>
                    <a:pt x="274" y="6"/>
                  </a:lnTo>
                  <a:lnTo>
                    <a:pt x="274" y="0"/>
                  </a:lnTo>
                  <a:lnTo>
                    <a:pt x="323" y="0"/>
                  </a:lnTo>
                  <a:lnTo>
                    <a:pt x="323" y="6"/>
                  </a:lnTo>
                  <a:close/>
                  <a:moveTo>
                    <a:pt x="248" y="6"/>
                  </a:moveTo>
                  <a:lnTo>
                    <a:pt x="199" y="6"/>
                  </a:lnTo>
                  <a:lnTo>
                    <a:pt x="199" y="0"/>
                  </a:lnTo>
                  <a:lnTo>
                    <a:pt x="248" y="0"/>
                  </a:lnTo>
                  <a:lnTo>
                    <a:pt x="248" y="6"/>
                  </a:lnTo>
                  <a:close/>
                  <a:moveTo>
                    <a:pt x="174" y="6"/>
                  </a:moveTo>
                  <a:lnTo>
                    <a:pt x="125" y="6"/>
                  </a:lnTo>
                  <a:lnTo>
                    <a:pt x="125" y="0"/>
                  </a:lnTo>
                  <a:lnTo>
                    <a:pt x="174" y="0"/>
                  </a:lnTo>
                  <a:lnTo>
                    <a:pt x="174" y="6"/>
                  </a:lnTo>
                  <a:close/>
                  <a:moveTo>
                    <a:pt x="100" y="6"/>
                  </a:moveTo>
                  <a:lnTo>
                    <a:pt x="51" y="6"/>
                  </a:lnTo>
                  <a:lnTo>
                    <a:pt x="51" y="0"/>
                  </a:lnTo>
                  <a:lnTo>
                    <a:pt x="100" y="0"/>
                  </a:lnTo>
                  <a:lnTo>
                    <a:pt x="100" y="6"/>
                  </a:lnTo>
                  <a:close/>
                  <a:moveTo>
                    <a:pt x="26" y="6"/>
                  </a:moveTo>
                  <a:lnTo>
                    <a:pt x="3" y="6"/>
                  </a:lnTo>
                  <a:lnTo>
                    <a:pt x="3" y="0"/>
                  </a:lnTo>
                  <a:lnTo>
                    <a:pt x="26" y="0"/>
                  </a:lnTo>
                  <a:lnTo>
                    <a:pt x="26" y="6"/>
                  </a:lnTo>
                  <a:close/>
                </a:path>
              </a:pathLst>
            </a:custGeom>
            <a:solidFill>
              <a:srgbClr val="1E4E79"/>
            </a:solidFill>
            <a:ln w="0" cap="flat">
              <a:solidFill>
                <a:srgbClr val="1E4E7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3" name="Freeform 155"/>
            <p:cNvSpPr>
              <a:spLocks noEditPoints="1"/>
            </p:cNvSpPr>
            <p:nvPr/>
          </p:nvSpPr>
          <p:spPr bwMode="auto">
            <a:xfrm>
              <a:off x="1890" y="2587"/>
              <a:ext cx="536" cy="181"/>
            </a:xfrm>
            <a:custGeom>
              <a:avLst/>
              <a:gdLst>
                <a:gd name="T0" fmla="*/ 6 w 536"/>
                <a:gd name="T1" fmla="*/ 53 h 181"/>
                <a:gd name="T2" fmla="*/ 0 w 536"/>
                <a:gd name="T3" fmla="*/ 3 h 181"/>
                <a:gd name="T4" fmla="*/ 6 w 536"/>
                <a:gd name="T5" fmla="*/ 77 h 181"/>
                <a:gd name="T6" fmla="*/ 0 w 536"/>
                <a:gd name="T7" fmla="*/ 127 h 181"/>
                <a:gd name="T8" fmla="*/ 6 w 536"/>
                <a:gd name="T9" fmla="*/ 77 h 181"/>
                <a:gd name="T10" fmla="*/ 6 w 536"/>
                <a:gd name="T11" fmla="*/ 178 h 181"/>
                <a:gd name="T12" fmla="*/ 25 w 536"/>
                <a:gd name="T13" fmla="*/ 175 h 181"/>
                <a:gd name="T14" fmla="*/ 0 w 536"/>
                <a:gd name="T15" fmla="*/ 181 h 181"/>
                <a:gd name="T16" fmla="*/ 6 w 536"/>
                <a:gd name="T17" fmla="*/ 151 h 181"/>
                <a:gd name="T18" fmla="*/ 100 w 536"/>
                <a:gd name="T19" fmla="*/ 175 h 181"/>
                <a:gd name="T20" fmla="*/ 50 w 536"/>
                <a:gd name="T21" fmla="*/ 181 h 181"/>
                <a:gd name="T22" fmla="*/ 125 w 536"/>
                <a:gd name="T23" fmla="*/ 175 h 181"/>
                <a:gd name="T24" fmla="*/ 174 w 536"/>
                <a:gd name="T25" fmla="*/ 181 h 181"/>
                <a:gd name="T26" fmla="*/ 125 w 536"/>
                <a:gd name="T27" fmla="*/ 175 h 181"/>
                <a:gd name="T28" fmla="*/ 248 w 536"/>
                <a:gd name="T29" fmla="*/ 175 h 181"/>
                <a:gd name="T30" fmla="*/ 199 w 536"/>
                <a:gd name="T31" fmla="*/ 181 h 181"/>
                <a:gd name="T32" fmla="*/ 273 w 536"/>
                <a:gd name="T33" fmla="*/ 175 h 181"/>
                <a:gd name="T34" fmla="*/ 322 w 536"/>
                <a:gd name="T35" fmla="*/ 181 h 181"/>
                <a:gd name="T36" fmla="*/ 273 w 536"/>
                <a:gd name="T37" fmla="*/ 175 h 181"/>
                <a:gd name="T38" fmla="*/ 396 w 536"/>
                <a:gd name="T39" fmla="*/ 175 h 181"/>
                <a:gd name="T40" fmla="*/ 347 w 536"/>
                <a:gd name="T41" fmla="*/ 181 h 181"/>
                <a:gd name="T42" fmla="*/ 421 w 536"/>
                <a:gd name="T43" fmla="*/ 175 h 181"/>
                <a:gd name="T44" fmla="*/ 471 w 536"/>
                <a:gd name="T45" fmla="*/ 181 h 181"/>
                <a:gd name="T46" fmla="*/ 421 w 536"/>
                <a:gd name="T47" fmla="*/ 175 h 181"/>
                <a:gd name="T48" fmla="*/ 532 w 536"/>
                <a:gd name="T49" fmla="*/ 175 h 181"/>
                <a:gd name="T50" fmla="*/ 529 w 536"/>
                <a:gd name="T51" fmla="*/ 165 h 181"/>
                <a:gd name="T52" fmla="*/ 536 w 536"/>
                <a:gd name="T53" fmla="*/ 181 h 181"/>
                <a:gd name="T54" fmla="*/ 495 w 536"/>
                <a:gd name="T55" fmla="*/ 175 h 181"/>
                <a:gd name="T56" fmla="*/ 529 w 536"/>
                <a:gd name="T57" fmla="*/ 92 h 181"/>
                <a:gd name="T58" fmla="*/ 536 w 536"/>
                <a:gd name="T59" fmla="*/ 141 h 181"/>
                <a:gd name="T60" fmla="*/ 529 w 536"/>
                <a:gd name="T61" fmla="*/ 67 h 181"/>
                <a:gd name="T62" fmla="*/ 536 w 536"/>
                <a:gd name="T63" fmla="*/ 18 h 181"/>
                <a:gd name="T64" fmla="*/ 529 w 536"/>
                <a:gd name="T65" fmla="*/ 67 h 181"/>
                <a:gd name="T66" fmla="*/ 472 w 536"/>
                <a:gd name="T67" fmla="*/ 6 h 181"/>
                <a:gd name="T68" fmla="*/ 522 w 536"/>
                <a:gd name="T69" fmla="*/ 0 h 181"/>
                <a:gd name="T70" fmla="*/ 448 w 536"/>
                <a:gd name="T71" fmla="*/ 6 h 181"/>
                <a:gd name="T72" fmla="*/ 398 w 536"/>
                <a:gd name="T73" fmla="*/ 0 h 181"/>
                <a:gd name="T74" fmla="*/ 448 w 536"/>
                <a:gd name="T75" fmla="*/ 6 h 181"/>
                <a:gd name="T76" fmla="*/ 324 w 536"/>
                <a:gd name="T77" fmla="*/ 6 h 181"/>
                <a:gd name="T78" fmla="*/ 373 w 536"/>
                <a:gd name="T79" fmla="*/ 0 h 181"/>
                <a:gd name="T80" fmla="*/ 299 w 536"/>
                <a:gd name="T81" fmla="*/ 6 h 181"/>
                <a:gd name="T82" fmla="*/ 250 w 536"/>
                <a:gd name="T83" fmla="*/ 0 h 181"/>
                <a:gd name="T84" fmla="*/ 299 w 536"/>
                <a:gd name="T85" fmla="*/ 6 h 181"/>
                <a:gd name="T86" fmla="*/ 176 w 536"/>
                <a:gd name="T87" fmla="*/ 6 h 181"/>
                <a:gd name="T88" fmla="*/ 225 w 536"/>
                <a:gd name="T89" fmla="*/ 0 h 181"/>
                <a:gd name="T90" fmla="*/ 151 w 536"/>
                <a:gd name="T91" fmla="*/ 6 h 181"/>
                <a:gd name="T92" fmla="*/ 102 w 536"/>
                <a:gd name="T93" fmla="*/ 0 h 181"/>
                <a:gd name="T94" fmla="*/ 151 w 536"/>
                <a:gd name="T95" fmla="*/ 6 h 181"/>
                <a:gd name="T96" fmla="*/ 27 w 536"/>
                <a:gd name="T97" fmla="*/ 6 h 181"/>
                <a:gd name="T98" fmla="*/ 77 w 536"/>
                <a:gd name="T9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6" h="181">
                  <a:moveTo>
                    <a:pt x="6" y="3"/>
                  </a:moveTo>
                  <a:lnTo>
                    <a:pt x="6" y="53"/>
                  </a:lnTo>
                  <a:lnTo>
                    <a:pt x="0" y="53"/>
                  </a:lnTo>
                  <a:lnTo>
                    <a:pt x="0" y="3"/>
                  </a:lnTo>
                  <a:lnTo>
                    <a:pt x="6" y="3"/>
                  </a:lnTo>
                  <a:close/>
                  <a:moveTo>
                    <a:pt x="6" y="77"/>
                  </a:moveTo>
                  <a:lnTo>
                    <a:pt x="6" y="127"/>
                  </a:lnTo>
                  <a:lnTo>
                    <a:pt x="0" y="127"/>
                  </a:lnTo>
                  <a:lnTo>
                    <a:pt x="0" y="77"/>
                  </a:lnTo>
                  <a:lnTo>
                    <a:pt x="6" y="77"/>
                  </a:lnTo>
                  <a:close/>
                  <a:moveTo>
                    <a:pt x="6" y="151"/>
                  </a:moveTo>
                  <a:lnTo>
                    <a:pt x="6" y="178"/>
                  </a:lnTo>
                  <a:lnTo>
                    <a:pt x="3" y="175"/>
                  </a:lnTo>
                  <a:lnTo>
                    <a:pt x="25" y="175"/>
                  </a:lnTo>
                  <a:lnTo>
                    <a:pt x="25" y="181"/>
                  </a:lnTo>
                  <a:lnTo>
                    <a:pt x="0" y="181"/>
                  </a:lnTo>
                  <a:lnTo>
                    <a:pt x="0" y="151"/>
                  </a:lnTo>
                  <a:lnTo>
                    <a:pt x="6" y="151"/>
                  </a:lnTo>
                  <a:close/>
                  <a:moveTo>
                    <a:pt x="50" y="175"/>
                  </a:moveTo>
                  <a:lnTo>
                    <a:pt x="100" y="175"/>
                  </a:lnTo>
                  <a:lnTo>
                    <a:pt x="100" y="181"/>
                  </a:lnTo>
                  <a:lnTo>
                    <a:pt x="50" y="181"/>
                  </a:lnTo>
                  <a:lnTo>
                    <a:pt x="50" y="175"/>
                  </a:lnTo>
                  <a:close/>
                  <a:moveTo>
                    <a:pt x="125" y="175"/>
                  </a:moveTo>
                  <a:lnTo>
                    <a:pt x="174" y="175"/>
                  </a:lnTo>
                  <a:lnTo>
                    <a:pt x="174" y="181"/>
                  </a:lnTo>
                  <a:lnTo>
                    <a:pt x="125" y="181"/>
                  </a:lnTo>
                  <a:lnTo>
                    <a:pt x="125" y="175"/>
                  </a:lnTo>
                  <a:close/>
                  <a:moveTo>
                    <a:pt x="199" y="175"/>
                  </a:moveTo>
                  <a:lnTo>
                    <a:pt x="248" y="175"/>
                  </a:lnTo>
                  <a:lnTo>
                    <a:pt x="248" y="181"/>
                  </a:lnTo>
                  <a:lnTo>
                    <a:pt x="199" y="181"/>
                  </a:lnTo>
                  <a:lnTo>
                    <a:pt x="199" y="175"/>
                  </a:lnTo>
                  <a:close/>
                  <a:moveTo>
                    <a:pt x="273" y="175"/>
                  </a:moveTo>
                  <a:lnTo>
                    <a:pt x="322" y="175"/>
                  </a:lnTo>
                  <a:lnTo>
                    <a:pt x="322" y="181"/>
                  </a:lnTo>
                  <a:lnTo>
                    <a:pt x="273" y="181"/>
                  </a:lnTo>
                  <a:lnTo>
                    <a:pt x="273" y="175"/>
                  </a:lnTo>
                  <a:close/>
                  <a:moveTo>
                    <a:pt x="347" y="175"/>
                  </a:moveTo>
                  <a:lnTo>
                    <a:pt x="396" y="175"/>
                  </a:lnTo>
                  <a:lnTo>
                    <a:pt x="396" y="181"/>
                  </a:lnTo>
                  <a:lnTo>
                    <a:pt x="347" y="181"/>
                  </a:lnTo>
                  <a:lnTo>
                    <a:pt x="347" y="175"/>
                  </a:lnTo>
                  <a:close/>
                  <a:moveTo>
                    <a:pt x="421" y="175"/>
                  </a:moveTo>
                  <a:lnTo>
                    <a:pt x="471" y="175"/>
                  </a:lnTo>
                  <a:lnTo>
                    <a:pt x="471" y="181"/>
                  </a:lnTo>
                  <a:lnTo>
                    <a:pt x="421" y="181"/>
                  </a:lnTo>
                  <a:lnTo>
                    <a:pt x="421" y="175"/>
                  </a:lnTo>
                  <a:close/>
                  <a:moveTo>
                    <a:pt x="495" y="175"/>
                  </a:moveTo>
                  <a:lnTo>
                    <a:pt x="532" y="175"/>
                  </a:lnTo>
                  <a:lnTo>
                    <a:pt x="529" y="178"/>
                  </a:lnTo>
                  <a:lnTo>
                    <a:pt x="529" y="165"/>
                  </a:lnTo>
                  <a:lnTo>
                    <a:pt x="536" y="165"/>
                  </a:lnTo>
                  <a:lnTo>
                    <a:pt x="536" y="181"/>
                  </a:lnTo>
                  <a:lnTo>
                    <a:pt x="495" y="181"/>
                  </a:lnTo>
                  <a:lnTo>
                    <a:pt x="495" y="175"/>
                  </a:lnTo>
                  <a:close/>
                  <a:moveTo>
                    <a:pt x="529" y="141"/>
                  </a:moveTo>
                  <a:lnTo>
                    <a:pt x="529" y="92"/>
                  </a:lnTo>
                  <a:lnTo>
                    <a:pt x="536" y="92"/>
                  </a:lnTo>
                  <a:lnTo>
                    <a:pt x="536" y="141"/>
                  </a:lnTo>
                  <a:lnTo>
                    <a:pt x="529" y="141"/>
                  </a:lnTo>
                  <a:close/>
                  <a:moveTo>
                    <a:pt x="529" y="67"/>
                  </a:moveTo>
                  <a:lnTo>
                    <a:pt x="529" y="18"/>
                  </a:lnTo>
                  <a:lnTo>
                    <a:pt x="536" y="18"/>
                  </a:lnTo>
                  <a:lnTo>
                    <a:pt x="536" y="67"/>
                  </a:lnTo>
                  <a:lnTo>
                    <a:pt x="529" y="67"/>
                  </a:lnTo>
                  <a:close/>
                  <a:moveTo>
                    <a:pt x="522" y="6"/>
                  </a:moveTo>
                  <a:lnTo>
                    <a:pt x="472" y="6"/>
                  </a:lnTo>
                  <a:lnTo>
                    <a:pt x="472" y="0"/>
                  </a:lnTo>
                  <a:lnTo>
                    <a:pt x="522" y="0"/>
                  </a:lnTo>
                  <a:lnTo>
                    <a:pt x="522" y="6"/>
                  </a:lnTo>
                  <a:close/>
                  <a:moveTo>
                    <a:pt x="448" y="6"/>
                  </a:moveTo>
                  <a:lnTo>
                    <a:pt x="398" y="6"/>
                  </a:lnTo>
                  <a:lnTo>
                    <a:pt x="398" y="0"/>
                  </a:lnTo>
                  <a:lnTo>
                    <a:pt x="448" y="0"/>
                  </a:lnTo>
                  <a:lnTo>
                    <a:pt x="448" y="6"/>
                  </a:lnTo>
                  <a:close/>
                  <a:moveTo>
                    <a:pt x="373" y="6"/>
                  </a:moveTo>
                  <a:lnTo>
                    <a:pt x="324" y="6"/>
                  </a:lnTo>
                  <a:lnTo>
                    <a:pt x="324" y="0"/>
                  </a:lnTo>
                  <a:lnTo>
                    <a:pt x="373" y="0"/>
                  </a:lnTo>
                  <a:lnTo>
                    <a:pt x="373" y="6"/>
                  </a:lnTo>
                  <a:close/>
                  <a:moveTo>
                    <a:pt x="299" y="6"/>
                  </a:moveTo>
                  <a:lnTo>
                    <a:pt x="250" y="6"/>
                  </a:lnTo>
                  <a:lnTo>
                    <a:pt x="250" y="0"/>
                  </a:lnTo>
                  <a:lnTo>
                    <a:pt x="299" y="0"/>
                  </a:lnTo>
                  <a:lnTo>
                    <a:pt x="299" y="6"/>
                  </a:lnTo>
                  <a:close/>
                  <a:moveTo>
                    <a:pt x="225" y="6"/>
                  </a:moveTo>
                  <a:lnTo>
                    <a:pt x="176" y="6"/>
                  </a:lnTo>
                  <a:lnTo>
                    <a:pt x="176" y="0"/>
                  </a:lnTo>
                  <a:lnTo>
                    <a:pt x="225" y="0"/>
                  </a:lnTo>
                  <a:lnTo>
                    <a:pt x="225" y="6"/>
                  </a:lnTo>
                  <a:close/>
                  <a:moveTo>
                    <a:pt x="151" y="6"/>
                  </a:moveTo>
                  <a:lnTo>
                    <a:pt x="102" y="6"/>
                  </a:lnTo>
                  <a:lnTo>
                    <a:pt x="102" y="0"/>
                  </a:lnTo>
                  <a:lnTo>
                    <a:pt x="151" y="0"/>
                  </a:lnTo>
                  <a:lnTo>
                    <a:pt x="151" y="6"/>
                  </a:lnTo>
                  <a:close/>
                  <a:moveTo>
                    <a:pt x="77" y="6"/>
                  </a:moveTo>
                  <a:lnTo>
                    <a:pt x="27" y="6"/>
                  </a:lnTo>
                  <a:lnTo>
                    <a:pt x="27" y="0"/>
                  </a:lnTo>
                  <a:lnTo>
                    <a:pt x="77" y="0"/>
                  </a:lnTo>
                  <a:lnTo>
                    <a:pt x="77" y="6"/>
                  </a:lnTo>
                  <a:close/>
                </a:path>
              </a:pathLst>
            </a:custGeom>
            <a:solidFill>
              <a:srgbClr val="1E4E79"/>
            </a:solidFill>
            <a:ln w="0" cap="flat">
              <a:solidFill>
                <a:srgbClr val="1E4E7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存储结构</a:t>
            </a:r>
            <a:r>
              <a:rPr lang="en-US" altLang="zh-CN" dirty="0"/>
              <a:t>(</a:t>
            </a:r>
            <a:r>
              <a:rPr lang="en-US" altLang="zh-CN" b="0" dirty="0"/>
              <a:t>Disk Storage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块</a:t>
            </a:r>
            <a:r>
              <a:rPr lang="en-US" altLang="zh-CN" dirty="0"/>
              <a:t>(Chunk)</a:t>
            </a:r>
            <a:endParaRPr lang="zh-CN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用于存储数据的连续的磁盘空间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可以是一个裸设备或其一部分，也可以是文件系统中的一个文件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单个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最大容量为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4TB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单个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GBase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8s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数据库服务实例最多可有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32767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/>
              <a:t>数据库空间</a:t>
            </a:r>
            <a:r>
              <a:rPr lang="en-US" altLang="zh-CN" dirty="0"/>
              <a:t>(</a:t>
            </a:r>
            <a:r>
              <a:rPr lang="en-US" altLang="zh-CN" dirty="0" err="1"/>
              <a:t>DbSpace</a:t>
            </a:r>
            <a:r>
              <a:rPr lang="en-US" altLang="zh-CN" dirty="0"/>
              <a:t>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的集合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创建时至少包含一个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1905000"/>
            <a:ext cx="5381625" cy="32759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日志和检查点</a:t>
            </a:r>
            <a:r>
              <a:rPr lang="en-US" altLang="zh-CN" dirty="0"/>
              <a:t>(</a:t>
            </a:r>
            <a:r>
              <a:rPr lang="en-US" altLang="zh-CN" b="0" dirty="0"/>
              <a:t>Log &amp; </a:t>
            </a:r>
            <a:r>
              <a:rPr lang="en-US" altLang="zh-CN" b="0" dirty="0" err="1"/>
              <a:t>CheckPoint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日志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高效事务的解决方案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事务一致性的保证措施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分为物理日志和逻辑日志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日志文件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物理上表现为 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顺序读写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日志缓冲区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存在于共享内存的驻留段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日志和检查点</a:t>
            </a:r>
            <a:r>
              <a:rPr lang="en-US" altLang="zh-CN" dirty="0"/>
              <a:t>(</a:t>
            </a:r>
            <a:r>
              <a:rPr lang="en-US" altLang="zh-CN" b="0" dirty="0"/>
              <a:t>Log &amp; </a:t>
            </a:r>
            <a:r>
              <a:rPr lang="en-US" altLang="zh-CN" b="0" dirty="0" err="1"/>
              <a:t>CheckPoint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物理日志</a:t>
            </a:r>
            <a:r>
              <a:rPr lang="en-US" altLang="zh-CN" dirty="0"/>
              <a:t>(Physical Log)</a:t>
            </a:r>
            <a:endParaRPr lang="zh-CN" altLang="en-US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物理日志是保证一致性的手段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物理日志存储被修改的数据页的前像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(Before-image)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在缓冲区中某个数据页被修改前，该数据页会被写入物理日志中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物理日志用于系统失败后进行数据恢复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(Recovery)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" y="2262505"/>
            <a:ext cx="6568440" cy="248920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/>
        </p:nvGraphicFramePr>
        <p:xfrm>
          <a:off x="501650" y="4052570"/>
          <a:ext cx="1287780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260"/>
                <a:gridCol w="429260"/>
                <a:gridCol w="429260"/>
              </a:tblGrid>
              <a:tr h="1955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501650" y="2649855"/>
          <a:ext cx="1287780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260"/>
                <a:gridCol w="429260"/>
                <a:gridCol w="429260"/>
              </a:tblGrid>
              <a:tr h="1955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4078605" y="3989705"/>
          <a:ext cx="843280" cy="390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"/>
                <a:gridCol w="414655"/>
              </a:tblGrid>
              <a:tr h="1955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日志和检查点</a:t>
            </a:r>
            <a:r>
              <a:rPr lang="en-US" altLang="zh-CN" dirty="0"/>
              <a:t>(</a:t>
            </a:r>
            <a:r>
              <a:rPr lang="en-US" altLang="zh-CN" b="0" dirty="0"/>
              <a:t>Log &amp; </a:t>
            </a:r>
            <a:r>
              <a:rPr lang="en-US" altLang="zh-CN" b="0" dirty="0" err="1"/>
              <a:t>CheckPoint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逻辑日志</a:t>
            </a:r>
            <a:r>
              <a:rPr lang="en-US" altLang="zh-CN" sz="2400" dirty="0"/>
              <a:t>(Logical Log)</a:t>
            </a:r>
            <a:endParaRPr lang="zh-CN" altLang="en-US" sz="24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逻辑日志也是保证一致性的一种手段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同时也是提升事务性能的一种手段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逻辑日志记录了事务的细节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缓冲区中所有数据页的修改都会被写入逻辑日志中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逻辑日志中记录的内容还包括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DDL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DbSpace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的变化情况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CheckPoint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日志和检查点</a:t>
            </a:r>
            <a:r>
              <a:rPr lang="en-US" altLang="zh-CN" dirty="0"/>
              <a:t>(</a:t>
            </a:r>
            <a:r>
              <a:rPr lang="en-US" altLang="zh-CN" b="0" dirty="0"/>
              <a:t>Log &amp; </a:t>
            </a:r>
            <a:r>
              <a:rPr lang="en-US" altLang="zh-CN" b="0" dirty="0" err="1"/>
              <a:t>CheckPoint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检查点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CheckPoint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检查点是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GBase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8s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数据库服务的事件</a:t>
            </a: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检查点用于维护数据库服务的一致性状态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检查点事件发生时，缓冲区中所有被修改的数据页写回到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检查点事件本身会被记录在逻辑日志中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日志和检查点</a:t>
            </a:r>
            <a:r>
              <a:rPr lang="en-US" altLang="zh-CN" dirty="0"/>
              <a:t>(</a:t>
            </a:r>
            <a:r>
              <a:rPr lang="en-US" altLang="zh-CN" b="0" dirty="0"/>
              <a:t>Log &amp; </a:t>
            </a:r>
            <a:r>
              <a:rPr lang="en-US" altLang="zh-CN" b="0" dirty="0" err="1"/>
              <a:t>CheckPoint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事务的基本过程</a:t>
            </a:r>
            <a:endParaRPr lang="en-US" altLang="zh-CN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数据页被从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中读取到缓冲区中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数据页在被修改前被保存到物理日志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数据页被修改，修改的相关信息记录到逻辑日志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检查点事件发生时，缓冲区中被修改的数据页写回到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1631315"/>
            <a:ext cx="6057900" cy="27743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日志和检查点</a:t>
            </a:r>
            <a:r>
              <a:rPr lang="en-US" altLang="zh-CN" dirty="0"/>
              <a:t>(</a:t>
            </a:r>
            <a:r>
              <a:rPr lang="en-US" altLang="zh-CN" b="0" dirty="0"/>
              <a:t>Log &amp; </a:t>
            </a:r>
            <a:r>
              <a:rPr lang="en-US" altLang="zh-CN" b="0" dirty="0" err="1"/>
              <a:t>CheckPoint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快速恢复</a:t>
            </a:r>
            <a:r>
              <a:rPr lang="en-US" altLang="zh-CN" sz="2400" dirty="0"/>
              <a:t>(Fast Recovery)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数据库服务异常停止时，数据可能处于不一致状态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数据库服务启动时检测到异常停止，会开始进行快速恢复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快速恢复的过程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从逻辑日志中定位最后一个检查点事件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从逻辑日志中确定最后的检查点事件之后修改的数据页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根据物理日志把修改的数据页读取到缓冲区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根据逻辑日志的内容对缓冲区进行重做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如果事务未完成，则自动回滚这些未完成的事务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触发检查点事件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63954" y="1520651"/>
            <a:ext cx="10718800" cy="48887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微软雅黑" panose="020B0503020204020204" pitchFamily="34" charset="-122"/>
              </a:rPr>
              <a:t> </a:t>
            </a:r>
            <a:r>
              <a:rPr lang="zh-CN" altLang="en-US" sz="2400" dirty="0"/>
              <a:t>事务型关系数据库的原理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 err="1"/>
              <a:t>GBase</a:t>
            </a:r>
            <a:r>
              <a:rPr lang="en-US" altLang="zh-CN" sz="2400" dirty="0"/>
              <a:t> 8s </a:t>
            </a:r>
            <a:r>
              <a:rPr lang="zh-CN" altLang="en-US" sz="2400" dirty="0"/>
              <a:t>数据库的进程</a:t>
            </a:r>
            <a:r>
              <a:rPr lang="en-US" altLang="zh-CN" sz="2400" dirty="0"/>
              <a:t>/</a:t>
            </a:r>
            <a:r>
              <a:rPr lang="zh-CN" altLang="en-US" sz="2400" dirty="0"/>
              <a:t>多线程架构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en-US" altLang="zh-CN" sz="2400" dirty="0" err="1"/>
              <a:t>GBase</a:t>
            </a:r>
            <a:r>
              <a:rPr lang="en-US" altLang="zh-CN" sz="2400" dirty="0"/>
              <a:t> 8s </a:t>
            </a:r>
            <a:r>
              <a:rPr lang="zh-CN" altLang="en-US" sz="2400" dirty="0"/>
              <a:t>数据库的共享内存的组成及作用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en-US" altLang="zh-CN" sz="2400" dirty="0" err="1"/>
              <a:t>GBase</a:t>
            </a:r>
            <a:r>
              <a:rPr lang="en-US" altLang="zh-CN" sz="2400" dirty="0"/>
              <a:t> 8s </a:t>
            </a:r>
            <a:r>
              <a:rPr lang="zh-CN" altLang="en-US" sz="2400" dirty="0"/>
              <a:t>数据库物理日志</a:t>
            </a:r>
            <a:r>
              <a:rPr lang="zh-CN" altLang="en-US" sz="2400" dirty="0">
                <a:sym typeface="+mn-ea"/>
              </a:rPr>
              <a:t>的存储结构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dirty="0" err="1">
                <a:sym typeface="+mn-ea"/>
              </a:rPr>
              <a:t>GBase</a:t>
            </a:r>
            <a:r>
              <a:rPr lang="en-US" altLang="zh-CN" sz="2400" dirty="0">
                <a:sym typeface="+mn-ea"/>
              </a:rPr>
              <a:t> 8s </a:t>
            </a:r>
            <a:r>
              <a:rPr lang="zh-CN" altLang="en-US" sz="2400" dirty="0">
                <a:sym typeface="+mn-ea"/>
              </a:rPr>
              <a:t>数据库的</a:t>
            </a:r>
            <a:r>
              <a:rPr lang="zh-CN" altLang="en-US" sz="2400" dirty="0"/>
              <a:t>和逻辑日志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</a:t>
            </a:r>
            <a:r>
              <a:rPr lang="en-US" altLang="zh-CN" sz="2400" dirty="0" err="1"/>
              <a:t>GBase</a:t>
            </a:r>
            <a:r>
              <a:rPr lang="en-US" altLang="zh-CN" sz="2400" dirty="0"/>
              <a:t> 8s </a:t>
            </a:r>
            <a:r>
              <a:rPr lang="zh-CN" altLang="en-US" sz="2400" dirty="0"/>
              <a:t>数据库的检查点和快速恢复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 !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 w="9525">
          <a:noFill/>
          <a:miter lim="800000"/>
        </a:ln>
      </a:spPr>
      <a:bodyPr anchor="b"/>
      <a:lstStyle>
        <a:defPPr algn="ctr">
          <a:spcBef>
            <a:spcPct val="20000"/>
          </a:spcBef>
          <a:buClr>
            <a:schemeClr val="hlink"/>
          </a:buClr>
          <a:buFont typeface="Wingdings" panose="05000000000000000000" pitchFamily="2" charset="2"/>
          <a:buNone/>
          <a:defRPr sz="3200" b="1" kern="0" dirty="0" smtClean="0">
            <a:solidFill>
              <a:srgbClr val="C00000"/>
            </a:solidFill>
            <a:latin typeface="微软雅黑" panose="020B0503020204020204" pitchFamily="34" charset="-122"/>
            <a:ea typeface="微软雅黑" panose="020B0503020204020204" pitchFamily="34" charset="-122"/>
            <a:cs typeface="+mj-cs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3071</Words>
  <Application>Microsoft Office PowerPoint</Application>
  <PresentationFormat>自定义</PresentationFormat>
  <Paragraphs>339</Paragraphs>
  <Slides>32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Calibri Light</vt:lpstr>
      <vt:lpstr>微软雅黑 Light</vt:lpstr>
      <vt:lpstr>Times New Roman</vt:lpstr>
      <vt:lpstr>Calibri</vt:lpstr>
      <vt:lpstr>微软雅黑</vt:lpstr>
      <vt:lpstr>MS PGothic</vt:lpstr>
      <vt:lpstr>Verdana</vt:lpstr>
      <vt:lpstr>Webdings</vt:lpstr>
      <vt:lpstr>Office 主题</vt:lpstr>
      <vt:lpstr>GBase 8s 数据库原理与架构 </vt:lpstr>
      <vt:lpstr>内容提要</vt:lpstr>
      <vt:lpstr>目录</vt:lpstr>
      <vt:lpstr>事务型关系数据库</vt:lpstr>
      <vt:lpstr>事务型关系数据库</vt:lpstr>
      <vt:lpstr>事务型关系数据库</vt:lpstr>
      <vt:lpstr>事务型关系数据库</vt:lpstr>
      <vt:lpstr>目录</vt:lpstr>
      <vt:lpstr>GBase 8s 数据库架构概览(Architecture)</vt:lpstr>
      <vt:lpstr>GBase 8s 数据库服务组件(Component)</vt:lpstr>
      <vt:lpstr>GBase 8s 数据库服务组件(Component)</vt:lpstr>
      <vt:lpstr>进程/多线程结构(Process/Multi-Threading)</vt:lpstr>
      <vt:lpstr>进程/多线程结构(Process/Multi-Threading)</vt:lpstr>
      <vt:lpstr>进程/多线程结构(Process/Multi-Threading)</vt:lpstr>
      <vt:lpstr>进程/多线程结构(Process/Multi-Threading)</vt:lpstr>
      <vt:lpstr>进程/多线程结构(Process/Multi-Threading)</vt:lpstr>
      <vt:lpstr>进程/多线程结构(Process/Multi-Threading)</vt:lpstr>
      <vt:lpstr>共享内存结构(Share Memory)</vt:lpstr>
      <vt:lpstr>共享内存结构(Share Memory)</vt:lpstr>
      <vt:lpstr>共享内存结构(Share Memory)</vt:lpstr>
      <vt:lpstr>存储结构(Disk Storage)</vt:lpstr>
      <vt:lpstr>存储结构(Disk Storage)</vt:lpstr>
      <vt:lpstr>存储结构(Disk Storage)</vt:lpstr>
      <vt:lpstr>存储结构(Disk Storage)</vt:lpstr>
      <vt:lpstr>日志和检查点(Log &amp; CheckPoint)</vt:lpstr>
      <vt:lpstr>日志和检查点(Log &amp; CheckPoint)</vt:lpstr>
      <vt:lpstr>日志和检查点(Log &amp; CheckPoint)</vt:lpstr>
      <vt:lpstr>日志和检查点(Log &amp; CheckPoint)</vt:lpstr>
      <vt:lpstr>日志和检查点(Log &amp; CheckPoint)</vt:lpstr>
      <vt:lpstr>日志和检查点(Log &amp; CheckPoint)</vt:lpstr>
      <vt:lpstr>回顾</vt:lpstr>
      <vt:lpstr>Thank you !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2013-08-14T15:08:00Z</dcterms:created>
  <dc:creator>Gbase Market</dc:creator>
  <cp:lastModifiedBy>3</cp:lastModifiedBy>
  <dcterms:modified xsi:type="dcterms:W3CDTF">2019-01-03T01:51:13Z</dcterms:modified>
  <cp:revision>1006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