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74" r:id="rId7"/>
    <p:sldId id="267" r:id="rId8"/>
    <p:sldId id="270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62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54864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100584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DBboys 技术白皮书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6015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dirty="0" smtClean="0">
                <a:solidFill>
                  <a:srgbClr val="00C1F0"/>
                </a:solidFill>
                <a:latin typeface="微软雅黑"/>
                <a:ea typeface="微软雅黑"/>
              </a:rPr>
              <a:t>新一代</a:t>
            </a:r>
            <a:r>
              <a:rPr lang="zh-CN" altLang="en-US" sz="2400" b="0" dirty="0" smtClean="0">
                <a:solidFill>
                  <a:srgbClr val="00C1F0"/>
                </a:solidFill>
                <a:latin typeface="微软雅黑"/>
                <a:ea typeface="微软雅黑"/>
              </a:rPr>
              <a:t>一专多能</a:t>
            </a:r>
            <a:r>
              <a:rPr sz="2400" b="0" dirty="0" smtClean="0">
                <a:solidFill>
                  <a:srgbClr val="00C1F0"/>
                </a:solidFill>
                <a:latin typeface="微软雅黑"/>
                <a:ea typeface="微软雅黑"/>
              </a:rPr>
              <a:t>数据库开发与运维客户端</a:t>
            </a:r>
            <a:endParaRPr sz="2400" b="0" dirty="0">
              <a:solidFill>
                <a:srgbClr val="00C1F0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6015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800" b="0" dirty="0" smtClean="0">
                <a:solidFill>
                  <a:srgbClr val="7E95B8"/>
                </a:solidFill>
                <a:latin typeface="微软雅黑"/>
                <a:ea typeface="微软雅黑"/>
              </a:rPr>
              <a:t>专业的数据库管理能力，兼具</a:t>
            </a:r>
            <a:r>
              <a:rPr lang="en-US" altLang="zh-CN" sz="1800" b="0" dirty="0" smtClean="0">
                <a:solidFill>
                  <a:srgbClr val="7E95B8"/>
                </a:solidFill>
                <a:latin typeface="微软雅黑"/>
                <a:ea typeface="微软雅黑"/>
              </a:rPr>
              <a:t>SSH</a:t>
            </a:r>
            <a:r>
              <a:rPr lang="zh-CN" altLang="en-US" sz="1800" b="0" dirty="0" smtClean="0">
                <a:solidFill>
                  <a:srgbClr val="7E95B8"/>
                </a:solidFill>
                <a:latin typeface="微软雅黑"/>
                <a:ea typeface="微软雅黑"/>
              </a:rPr>
              <a:t>连接、数据迁移、</a:t>
            </a:r>
            <a:r>
              <a:rPr lang="en-US" altLang="zh-CN" sz="1800" b="0" dirty="0" smtClean="0">
                <a:solidFill>
                  <a:srgbClr val="7E95B8"/>
                </a:solidFill>
                <a:latin typeface="微软雅黑"/>
                <a:ea typeface="微软雅黑"/>
              </a:rPr>
              <a:t>Markdown</a:t>
            </a:r>
            <a:r>
              <a:rPr lang="zh-CN" altLang="en-US" dirty="0">
                <a:solidFill>
                  <a:srgbClr val="7E95B8"/>
                </a:solidFill>
                <a:latin typeface="微软雅黑"/>
                <a:ea typeface="微软雅黑"/>
              </a:rPr>
              <a:t> </a:t>
            </a:r>
            <a:r>
              <a:rPr lang="en-US" altLang="zh-CN" sz="1800" b="0" dirty="0" smtClean="0">
                <a:solidFill>
                  <a:srgbClr val="7E95B8"/>
                </a:solidFill>
                <a:latin typeface="微软雅黑"/>
                <a:ea typeface="微软雅黑"/>
              </a:rPr>
              <a:t>AI</a:t>
            </a:r>
            <a:r>
              <a:rPr lang="zh-CN" altLang="en-US" sz="1800" b="0" dirty="0" smtClean="0">
                <a:solidFill>
                  <a:srgbClr val="7E95B8"/>
                </a:solidFill>
                <a:latin typeface="微软雅黑"/>
                <a:ea typeface="微软雅黑"/>
              </a:rPr>
              <a:t>知识库能力</a:t>
            </a:r>
            <a:endParaRPr sz="1800" b="0" dirty="0">
              <a:solidFill>
                <a:srgbClr val="7E95B8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015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altLang="zh-CN" sz="1400" dirty="0">
                <a:solidFill>
                  <a:srgbClr val="7E95B8"/>
                </a:solidFill>
                <a:latin typeface="微软雅黑"/>
                <a:ea typeface="微软雅黑"/>
              </a:rPr>
              <a:t>GPL</a:t>
            </a:r>
            <a:r>
              <a:rPr sz="1400" b="0" dirty="0" smtClean="0">
                <a:solidFill>
                  <a:srgbClr val="7E95B8"/>
                </a:solidFill>
                <a:latin typeface="微软雅黑"/>
                <a:ea typeface="微软雅黑"/>
              </a:rPr>
              <a:t>开源协议  </a:t>
            </a:r>
            <a:r>
              <a:rPr sz="1400" b="0" dirty="0">
                <a:solidFill>
                  <a:srgbClr val="7E95B8"/>
                </a:solidFill>
                <a:latin typeface="微软雅黑"/>
                <a:ea typeface="微软雅黑"/>
              </a:rPr>
              <a:t>|  Windows / Linux x64 / Linux ARM64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3504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C7499"/>
                </a:solidFill>
                <a:latin typeface="微软雅黑"/>
                <a:ea typeface="微软雅黑"/>
              </a:rPr>
              <a:t>2026 年 8 月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B2A4A"/>
                </a:solidFill>
                <a:latin typeface="微软雅黑"/>
                <a:ea typeface="微软雅黑"/>
              </a:rPr>
              <a:t>01  </a:t>
            </a:r>
            <a:r>
              <a:rPr lang="zh-CN" altLang="en-US" sz="2800" b="1" dirty="0">
                <a:solidFill>
                  <a:srgbClr val="1B2A4A"/>
                </a:solidFill>
                <a:latin typeface="微软雅黑"/>
                <a:ea typeface="微软雅黑"/>
              </a:rPr>
              <a:t>产</a:t>
            </a:r>
            <a:r>
              <a:rPr lang="zh-CN" alt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品简介</a:t>
            </a:r>
            <a:endParaRPr sz="2800" b="1" dirty="0">
              <a:solidFill>
                <a:srgbClr val="1B2A4A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95F6B"/>
                </a:solidFill>
                <a:latin typeface="微软雅黑"/>
                <a:ea typeface="微软雅黑"/>
              </a:rPr>
              <a:t>产品定位与核心价值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64440"/>
            <a:ext cx="1099851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sz="18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D</a:t>
            </a:r>
            <a:r>
              <a:rPr lang="en-US" altLang="zh-CN" dirty="0">
                <a:solidFill>
                  <a:srgbClr val="595F6B"/>
                </a:solidFill>
                <a:latin typeface="微软雅黑"/>
                <a:ea typeface="微软雅黑"/>
              </a:rPr>
              <a:t>B</a:t>
            </a:r>
            <a:r>
              <a:rPr sz="18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boys</a:t>
            </a:r>
            <a:r>
              <a:rPr lang="en-US" sz="18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 </a:t>
            </a:r>
            <a:r>
              <a:rPr lang="zh-CN" altLang="en-US" sz="18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是</a:t>
            </a:r>
            <a:r>
              <a:rPr lang="zh-CN" altLang="en-US" dirty="0" smtClean="0">
                <a:solidFill>
                  <a:srgbClr val="595F6B"/>
                </a:solidFill>
                <a:latin typeface="微软雅黑"/>
                <a:ea typeface="微软雅黑"/>
              </a:rPr>
              <a:t>新</a:t>
            </a:r>
            <a:r>
              <a:rPr lang="zh-CN" altLang="en-US" dirty="0">
                <a:solidFill>
                  <a:srgbClr val="595F6B"/>
                </a:solidFill>
                <a:latin typeface="微软雅黑"/>
                <a:ea typeface="微软雅黑"/>
              </a:rPr>
              <a:t>一代一专多能数据库开发与运维客户</a:t>
            </a:r>
            <a:r>
              <a:rPr lang="zh-CN" altLang="en-US" dirty="0" smtClean="0">
                <a:solidFill>
                  <a:srgbClr val="595F6B"/>
                </a:solidFill>
                <a:latin typeface="微软雅黑"/>
                <a:ea typeface="微软雅黑"/>
              </a:rPr>
              <a:t>端</a:t>
            </a:r>
            <a:r>
              <a:rPr lang="zh-CN" altLang="en-US" sz="18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。</a:t>
            </a:r>
            <a:endParaRPr lang="en-US" altLang="zh-CN" sz="1800" b="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595F6B"/>
                </a:solidFill>
                <a:latin typeface="微软雅黑"/>
                <a:ea typeface="微软雅黑"/>
              </a:rPr>
              <a:t>专业的数据库管理能力，兼具</a:t>
            </a:r>
            <a:r>
              <a:rPr lang="en-US" altLang="zh-CN" dirty="0">
                <a:solidFill>
                  <a:srgbClr val="595F6B"/>
                </a:solidFill>
                <a:latin typeface="微软雅黑"/>
                <a:ea typeface="微软雅黑"/>
              </a:rPr>
              <a:t>SSH</a:t>
            </a:r>
            <a:r>
              <a:rPr lang="zh-CN" altLang="en-US" dirty="0">
                <a:solidFill>
                  <a:srgbClr val="595F6B"/>
                </a:solidFill>
                <a:latin typeface="微软雅黑"/>
                <a:ea typeface="微软雅黑"/>
              </a:rPr>
              <a:t>连接、数据迁移、</a:t>
            </a:r>
            <a:r>
              <a:rPr lang="en-US" altLang="zh-CN" dirty="0">
                <a:solidFill>
                  <a:srgbClr val="595F6B"/>
                </a:solidFill>
                <a:latin typeface="微软雅黑"/>
                <a:ea typeface="微软雅黑"/>
              </a:rPr>
              <a:t>Markdown AI</a:t>
            </a:r>
            <a:r>
              <a:rPr lang="zh-CN" altLang="en-US" dirty="0">
                <a:solidFill>
                  <a:srgbClr val="595F6B"/>
                </a:solidFill>
                <a:latin typeface="微软雅黑"/>
                <a:ea typeface="微软雅黑"/>
              </a:rPr>
              <a:t>知识库能</a:t>
            </a:r>
            <a:r>
              <a:rPr lang="zh-CN" altLang="en-US" dirty="0" smtClean="0">
                <a:solidFill>
                  <a:srgbClr val="595F6B"/>
                </a:solidFill>
                <a:latin typeface="微软雅黑"/>
                <a:ea typeface="微软雅黑"/>
              </a:rPr>
              <a:t>力。</a:t>
            </a:r>
            <a:endParaRPr lang="zh-CN" altLang="en-US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2560320" cy="30175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2560320" cy="73152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00200" y="3154680"/>
            <a:ext cx="822960" cy="82296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2800" b="1" dirty="0">
                <a:solidFill>
                  <a:srgbClr val="FFFFFF"/>
                </a:solidFill>
                <a:latin typeface="微软雅黑"/>
                <a:ea typeface="微软雅黑"/>
              </a:rPr>
              <a:t>专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25603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b="1" dirty="0">
                <a:solidFill>
                  <a:srgbClr val="1B2A4A"/>
                </a:solidFill>
                <a:latin typeface="微软雅黑"/>
                <a:ea typeface="微软雅黑"/>
              </a:rPr>
              <a:t>专</a:t>
            </a:r>
            <a:r>
              <a:rPr lang="zh-CN" altLang="en-US" b="1" dirty="0" smtClean="0">
                <a:solidFill>
                  <a:srgbClr val="1B2A4A"/>
                </a:solidFill>
                <a:latin typeface="微软雅黑"/>
                <a:ea typeface="微软雅黑"/>
              </a:rPr>
              <a:t>业的数据库管理</a:t>
            </a:r>
            <a:endParaRPr sz="1800" b="1" dirty="0">
              <a:solidFill>
                <a:srgbClr val="1B2A4A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7236" y="4617720"/>
            <a:ext cx="256032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安装卸载</a:t>
            </a:r>
            <a:endParaRPr lang="en-US" altLang="zh-CN" sz="12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zh-CN" altLang="en-US" sz="1200" dirty="0">
                <a:solidFill>
                  <a:srgbClr val="595F6B"/>
                </a:solidFill>
                <a:latin typeface="微软雅黑"/>
                <a:ea typeface="微软雅黑"/>
              </a:rPr>
              <a:t>实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例管理</a:t>
            </a:r>
            <a:endParaRPr lang="en-US" altLang="zh-CN" sz="12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en-US" altLang="zh-CN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SQL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执行</a:t>
            </a:r>
            <a:endParaRPr lang="en-US" altLang="zh-CN" sz="12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zh-CN" altLang="en-US" sz="1200" dirty="0">
                <a:solidFill>
                  <a:srgbClr val="595F6B"/>
                </a:solidFill>
                <a:latin typeface="微软雅黑"/>
                <a:ea typeface="微软雅黑"/>
              </a:rPr>
              <a:t>数据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库对象展示</a:t>
            </a:r>
            <a:endParaRPr lang="en-US" altLang="zh-CN" sz="12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zh-CN" altLang="en-US" sz="1200" dirty="0">
                <a:solidFill>
                  <a:srgbClr val="595F6B"/>
                </a:solidFill>
                <a:latin typeface="微软雅黑"/>
                <a:ea typeface="微软雅黑"/>
              </a:rPr>
              <a:t>导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入导出</a:t>
            </a:r>
            <a:endParaRPr lang="en-US" altLang="zh-CN" sz="1200" dirty="0" smtClean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74720" y="2834640"/>
            <a:ext cx="2560320" cy="30175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2834640"/>
            <a:ext cx="2560320" cy="7315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43400" y="3154680"/>
            <a:ext cx="822960" cy="82296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2800" b="1" dirty="0" smtClean="0">
                <a:solidFill>
                  <a:srgbClr val="FFFFFF"/>
                </a:solidFill>
                <a:latin typeface="微软雅黑"/>
                <a:ea typeface="微软雅黑"/>
              </a:rPr>
              <a:t>能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4720" y="4114800"/>
            <a:ext cx="25603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altLang="zh-CN" sz="1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SSH</a:t>
            </a:r>
            <a:r>
              <a:rPr lang="zh-CN" altLang="en-US" sz="1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连接</a:t>
            </a:r>
            <a:endParaRPr sz="1800" b="1" dirty="0">
              <a:solidFill>
                <a:srgbClr val="1B2A4A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0" y="4617720"/>
            <a:ext cx="219456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altLang="zh-CN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SSH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连接</a:t>
            </a:r>
            <a:endParaRPr lang="en-US" altLang="zh-CN" sz="12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en-US" altLang="zh-CN" sz="12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SFTP</a:t>
            </a:r>
            <a:r>
              <a:rPr lang="zh-CN" altLang="en-US" sz="12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传输</a:t>
            </a:r>
            <a:endParaRPr lang="en-US" altLang="zh-CN" sz="1200" b="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en-US" altLang="zh-CN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SZ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、</a:t>
            </a:r>
            <a:r>
              <a:rPr lang="en-US" altLang="zh-CN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RZ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（</a:t>
            </a:r>
            <a:r>
              <a:rPr lang="en-US" altLang="zh-CN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Zmodem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）支持</a:t>
            </a:r>
            <a:endParaRPr lang="en-US" altLang="zh-CN" sz="12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zh-CN" altLang="en-US" sz="1200" b="0" dirty="0">
                <a:solidFill>
                  <a:srgbClr val="595F6B"/>
                </a:solidFill>
                <a:latin typeface="微软雅黑"/>
                <a:ea typeface="微软雅黑"/>
              </a:rPr>
              <a:t>密</a:t>
            </a:r>
            <a:r>
              <a:rPr lang="zh-CN" altLang="en-US" sz="12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码</a:t>
            </a:r>
            <a:r>
              <a:rPr lang="en-US" altLang="zh-CN" sz="12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/</a:t>
            </a:r>
            <a:r>
              <a:rPr lang="zh-CN" altLang="en-US" sz="12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密钥支持</a:t>
            </a:r>
            <a:endParaRPr lang="en-US" altLang="zh-CN" sz="1200" b="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zh-CN" altLang="en-US" sz="1200" dirty="0">
                <a:solidFill>
                  <a:srgbClr val="595F6B"/>
                </a:solidFill>
                <a:latin typeface="微软雅黑"/>
                <a:ea typeface="微软雅黑"/>
              </a:rPr>
              <a:t>数据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库</a:t>
            </a:r>
            <a:r>
              <a:rPr lang="en-US" altLang="zh-CN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SSH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隧道连接</a:t>
            </a:r>
            <a:endParaRPr sz="12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2560320" cy="30175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2560320" cy="73152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086600" y="3154680"/>
            <a:ext cx="822960" cy="822960"/>
          </a:xfrm>
          <a:prstGeom prst="ellipse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2800" b="1" dirty="0">
                <a:solidFill>
                  <a:srgbClr val="FFFFFF"/>
                </a:solidFill>
                <a:latin typeface="微软雅黑"/>
                <a:ea typeface="微软雅黑"/>
              </a:rPr>
              <a:t>能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0" y="4114800"/>
            <a:ext cx="25603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数据迁移</a:t>
            </a:r>
            <a:endParaRPr sz="1800" b="1" dirty="0">
              <a:solidFill>
                <a:srgbClr val="1B2A4A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4617720"/>
            <a:ext cx="21945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2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自定义迁移对象</a:t>
            </a:r>
            <a:endParaRPr lang="en-US" altLang="zh-CN" sz="1200" b="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zh-CN" altLang="en-US" sz="1200" dirty="0">
                <a:solidFill>
                  <a:srgbClr val="595F6B"/>
                </a:solidFill>
                <a:latin typeface="微软雅黑"/>
                <a:ea typeface="微软雅黑"/>
              </a:rPr>
              <a:t>自定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义数据类型映射</a:t>
            </a:r>
            <a:endParaRPr lang="en-US" altLang="zh-CN" sz="12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zh-CN" altLang="en-US" sz="1200" b="0" dirty="0">
                <a:solidFill>
                  <a:srgbClr val="595F6B"/>
                </a:solidFill>
                <a:latin typeface="微软雅黑"/>
                <a:ea typeface="微软雅黑"/>
              </a:rPr>
              <a:t>单</a:t>
            </a:r>
            <a:r>
              <a:rPr lang="zh-CN" altLang="en-US" sz="12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个数据库对象复制粘贴</a:t>
            </a:r>
            <a:endParaRPr lang="en-US" altLang="zh-CN" sz="1200" b="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zh-CN" altLang="en-US" sz="1200" dirty="0">
                <a:solidFill>
                  <a:srgbClr val="595F6B"/>
                </a:solidFill>
                <a:latin typeface="微软雅黑"/>
                <a:ea typeface="微软雅黑"/>
              </a:rPr>
              <a:t>迁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移数据</a:t>
            </a:r>
            <a:r>
              <a:rPr lang="en-US" altLang="zh-CN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where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过滤</a:t>
            </a:r>
            <a:endParaRPr sz="12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961120" y="2834640"/>
            <a:ext cx="2560320" cy="30175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2834640"/>
            <a:ext cx="2560320" cy="73152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829800" y="3154680"/>
            <a:ext cx="822960" cy="82296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2800" b="1" dirty="0" smtClean="0">
                <a:solidFill>
                  <a:srgbClr val="FFFFFF"/>
                </a:solidFill>
                <a:latin typeface="微软雅黑"/>
                <a:ea typeface="微软雅黑"/>
              </a:rPr>
              <a:t>能</a:t>
            </a:r>
            <a:endParaRPr sz="2800" b="1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61120" y="4114800"/>
            <a:ext cx="25603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altLang="zh-CN" sz="1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MD</a:t>
            </a:r>
            <a:r>
              <a:rPr lang="zh-CN" altLang="en-US" sz="1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知识库及</a:t>
            </a:r>
            <a:r>
              <a:rPr lang="en-US" altLang="zh-CN" sz="1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AI</a:t>
            </a:r>
            <a:r>
              <a:rPr lang="zh-CN" altLang="en-US" b="1" dirty="0">
                <a:solidFill>
                  <a:srgbClr val="1B2A4A"/>
                </a:solidFill>
                <a:latin typeface="微软雅黑"/>
                <a:ea typeface="微软雅黑"/>
              </a:rPr>
              <a:t>助手</a:t>
            </a:r>
            <a:endParaRPr sz="1800" b="1" dirty="0">
              <a:solidFill>
                <a:srgbClr val="1B2A4A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0" y="4617720"/>
            <a:ext cx="21945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Markdown</a:t>
            </a:r>
            <a:r>
              <a:rPr lang="zh-CN" altLang="en-US" sz="1200" dirty="0">
                <a:solidFill>
                  <a:srgbClr val="595F6B"/>
                </a:solidFill>
                <a:latin typeface="微软雅黑"/>
                <a:ea typeface="微软雅黑"/>
              </a:rPr>
              <a:t>知识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库管理</a:t>
            </a:r>
            <a:endParaRPr lang="en-US" altLang="zh-CN" sz="12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zh-CN" altLang="en-US" sz="1200" b="0" dirty="0">
                <a:solidFill>
                  <a:srgbClr val="595F6B"/>
                </a:solidFill>
                <a:latin typeface="微软雅黑"/>
                <a:ea typeface="微软雅黑"/>
              </a:rPr>
              <a:t>图</a:t>
            </a:r>
            <a:r>
              <a:rPr lang="zh-CN" altLang="en-US" sz="12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片自动粘贴</a:t>
            </a:r>
            <a:endParaRPr lang="en-US" altLang="zh-CN" sz="1200" b="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 algn="ctr"/>
            <a:r>
              <a:rPr lang="en-US" altLang="zh-CN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AI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基于本地</a:t>
            </a:r>
            <a:r>
              <a:rPr lang="en-US" altLang="zh-CN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md</a:t>
            </a:r>
            <a:r>
              <a:rPr lang="zh-CN" altLang="en-US" sz="1200" dirty="0" smtClean="0">
                <a:solidFill>
                  <a:srgbClr val="595F6B"/>
                </a:solidFill>
                <a:latin typeface="微软雅黑"/>
                <a:ea typeface="微软雅黑"/>
              </a:rPr>
              <a:t>知识库问答</a:t>
            </a:r>
            <a:endParaRPr sz="12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822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1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1</a:t>
            </a:r>
            <a:endParaRPr sz="11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DBboys </a:t>
            </a:r>
            <a:r>
              <a:rPr lang="zh-CN" altLang="en-US" sz="1000" dirty="0">
                <a:solidFill>
                  <a:srgbClr val="AAB0BC"/>
                </a:solidFill>
                <a:latin typeface="微软雅黑"/>
                <a:ea typeface="微软雅黑"/>
              </a:rPr>
              <a:t>技术白皮书 </a:t>
            </a:r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www.dbboys.com</a:t>
            </a:r>
            <a:endParaRPr lang="en-US" altLang="zh-CN" sz="1000" dirty="0">
              <a:solidFill>
                <a:srgbClr val="AAB0BC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微软雅黑"/>
                <a:ea typeface="微软雅黑"/>
              </a:rPr>
              <a:t>02  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F6B"/>
                </a:solidFill>
                <a:latin typeface="微软雅黑"/>
                <a:ea typeface="微软雅黑"/>
              </a:rPr>
              <a:t>分层设计与模块划分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40168"/>
            <a:ext cx="2377440" cy="777240"/>
          </a:xfrm>
          <a:prstGeom prst="rect">
            <a:avLst/>
          </a:prstGeom>
          <a:solidFill>
            <a:srgbClr val="3D5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23048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UI 展现层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340168"/>
            <a:ext cx="7680960" cy="777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468184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B2A4A"/>
                </a:solidFill>
                <a:latin typeface="微软雅黑"/>
                <a:ea typeface="微软雅黑"/>
              </a:rPr>
              <a:t>ui  |  fxml / css 资源  |  深色·浅色双主题  |  国际化 i18n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272856"/>
            <a:ext cx="2377440" cy="777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455736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业务服务层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2272856"/>
            <a:ext cx="7680960" cy="777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400872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B2A4A"/>
                </a:solidFill>
                <a:latin typeface="微软雅黑"/>
                <a:ea typeface="微软雅黑"/>
              </a:rPr>
              <a:t>service（连接/元数据/DDL/巡检/迁移）  |  search（Lucene 全文检索）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205544"/>
            <a:ext cx="2377440" cy="7772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38842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方言适配层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205544"/>
            <a:ext cx="7680960" cy="777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03320" y="3333560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B2A4A"/>
                </a:solidFill>
                <a:latin typeface="微软雅黑"/>
                <a:ea typeface="微软雅黑"/>
              </a:rPr>
              <a:t>dialect：gbase8s / informix / mysql / oracle / postgresql / dameng / sqlite / genericjdbc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138232"/>
            <a:ext cx="2377440" cy="777240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321112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核心抽象层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138232"/>
            <a:ext cx="7680960" cy="777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03320" y="4266248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B2A4A"/>
                </a:solidFill>
                <a:latin typeface="微软雅黑"/>
                <a:ea typeface="微软雅黑"/>
              </a:rPr>
              <a:t>core：DatabasePlatform / ConnectionService / DdlRepository / SqlParser 能力接口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070920"/>
            <a:ext cx="2377440" cy="777240"/>
          </a:xfrm>
          <a:prstGeom prst="rect">
            <a:avLst/>
          </a:prstGeom>
          <a:solidFill>
            <a:srgbClr val="595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2538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基础设施层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5070920"/>
            <a:ext cx="7680960" cy="7772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5198936"/>
            <a:ext cx="7315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B2A4A"/>
                </a:solidFill>
                <a:latin typeface="微软雅黑"/>
                <a:ea typeface="微软雅黑"/>
              </a:rPr>
              <a:t>infra  |  remote（SSH/SFTP/远程安装）  |  model  |  app（启动/上下文/线程池）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04932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E86DE"/>
                </a:solidFill>
                <a:latin typeface="微软雅黑"/>
                <a:ea typeface="微软雅黑"/>
              </a:rPr>
              <a:t>设计要点：以「能力接口 + 方言实现」解耦数据库差异，新增数据库只需扩展方言包，UI 与服务层零改动。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46520"/>
            <a:ext cx="822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1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2</a:t>
            </a:r>
            <a:endParaRPr sz="11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DBboys </a:t>
            </a:r>
            <a:r>
              <a:rPr lang="zh-CN" altLang="en-US" sz="1000" dirty="0">
                <a:solidFill>
                  <a:srgbClr val="AAB0BC"/>
                </a:solidFill>
                <a:latin typeface="微软雅黑"/>
                <a:ea typeface="微软雅黑"/>
              </a:rPr>
              <a:t>技术白皮书 </a:t>
            </a:r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www.dbboys.com</a:t>
            </a:r>
            <a:endParaRPr lang="en-US" altLang="zh-CN" sz="1000" dirty="0">
              <a:solidFill>
                <a:srgbClr val="AAB0BC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微软雅黑"/>
                <a:ea typeface="微软雅黑"/>
              </a:rPr>
              <a:t>03  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F6B"/>
                </a:solidFill>
                <a:latin typeface="微软雅黑"/>
                <a:ea typeface="微软雅黑"/>
              </a:rPr>
              <a:t>关键技术选型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051560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领域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技术选型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用途说明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965960"/>
            <a:ext cx="10515600" cy="51206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04825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/>
                <a:ea typeface="微软雅黑"/>
              </a:rPr>
              <a:t>UI 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4825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JavaFX 25.0.3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4825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现代化桌面 UI，支持 CSS 主题与 FXML 布局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478024"/>
            <a:ext cx="105156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5603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/>
                <a:ea typeface="微软雅黑"/>
              </a:rPr>
              <a:t>运行环境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OpenJDK 25.0.2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最新 LTS 级 JDK，模块化运行时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990088"/>
            <a:ext cx="10515600" cy="51206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07238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/>
                <a:ea typeface="微软雅黑"/>
              </a:rPr>
              <a:t>SSH / SFTP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07238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Apache MINA SSHD 2.19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7238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SSH 终端、SFTP 传输、SSH 隧道、ZModem(sz/rz)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502152"/>
            <a:ext cx="105156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58444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/>
                <a:ea typeface="微软雅黑"/>
              </a:rPr>
              <a:t>全文检索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5844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Lucene + IK Analyzer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84448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知识库中文分词索引与检索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014216"/>
            <a:ext cx="10515600" cy="51206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09651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/>
                <a:ea typeface="微软雅黑"/>
              </a:rPr>
              <a:t>Excel 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09651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Apache POI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9651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Excel 格式数据导入导出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526280"/>
            <a:ext cx="105156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60857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/>
                <a:ea typeface="微软雅黑"/>
              </a:rPr>
              <a:t>JSON 解析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60857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org.json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0857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AI 接口与配置数据解析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038344"/>
            <a:ext cx="10515600" cy="512064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5840" y="51206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/>
                <a:ea typeface="微软雅黑"/>
              </a:rPr>
              <a:t>日志框架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1206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Apache Log4j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1206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分级日志、按天滚动归档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550408"/>
            <a:ext cx="1051560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632704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微软雅黑"/>
                <a:ea typeface="微软雅黑"/>
              </a:rPr>
              <a:t>构建分发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63270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jlink + jpackage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63270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裁剪运行时、生成平台原生安装镜像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46520"/>
            <a:ext cx="822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1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3</a:t>
            </a:r>
            <a:endParaRPr sz="11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" y="644652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DBboys </a:t>
            </a:r>
            <a:r>
              <a:rPr lang="zh-CN" altLang="en-US" sz="1000" dirty="0">
                <a:solidFill>
                  <a:srgbClr val="AAB0BC"/>
                </a:solidFill>
                <a:latin typeface="微软雅黑"/>
                <a:ea typeface="微软雅黑"/>
              </a:rPr>
              <a:t>技术白皮书 </a:t>
            </a:r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www.dbboys.com</a:t>
            </a:r>
            <a:endParaRPr lang="en-US" altLang="zh-CN" sz="1000" dirty="0">
              <a:solidFill>
                <a:srgbClr val="AAB0BC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04  </a:t>
            </a:r>
            <a:r>
              <a:rPr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核心功能 </a:t>
            </a:r>
            <a:r>
              <a:rPr sz="2800" b="1" dirty="0">
                <a:solidFill>
                  <a:srgbClr val="1B2A4A"/>
                </a:solidFill>
                <a:latin typeface="微软雅黑"/>
                <a:ea typeface="微软雅黑"/>
              </a:rPr>
              <a:t>· </a:t>
            </a:r>
            <a:r>
              <a:rPr lang="zh-CN" alt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专业的</a:t>
            </a:r>
            <a:r>
              <a:rPr lang="zh-CN" alt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数</a:t>
            </a:r>
            <a:r>
              <a:rPr lang="zh-CN" altLang="en-US" sz="2800" b="1" dirty="0">
                <a:solidFill>
                  <a:srgbClr val="1B2A4A"/>
                </a:solidFill>
                <a:latin typeface="微软雅黑"/>
                <a:ea typeface="微软雅黑"/>
              </a:rPr>
              <a:t>据</a:t>
            </a:r>
            <a:r>
              <a:rPr lang="zh-CN" alt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库管理能力</a:t>
            </a:r>
            <a:endParaRPr sz="2800" b="1" dirty="0">
              <a:solidFill>
                <a:srgbClr val="1B2A4A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专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业能力</a:t>
            </a:r>
            <a:endParaRPr sz="14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19" y="1234438"/>
            <a:ext cx="10319861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安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装卸载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支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持多种数据库安装卸载</a:t>
            </a:r>
            <a:endParaRPr lang="en-US" sz="1400" b="1" dirty="0" smtClean="0">
              <a:solidFill>
                <a:srgbClr val="2E86DE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只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读连接</a:t>
            </a:r>
            <a:r>
              <a:rPr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支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持只读连接，避免生产环境误操作</a:t>
            </a:r>
            <a:endParaRPr lang="en-US" sz="1400" b="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连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接指定驱动及属性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支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持连接指定驱动，编辑连接属性，适配不同数据库版本指定对应版本驱动</a:t>
            </a:r>
          </a:p>
          <a:p>
            <a:pPr>
              <a:spcAft>
                <a:spcPts val="1200"/>
              </a:spcAft>
            </a:pPr>
            <a:r>
              <a:rPr lang="zh-CN" altLang="en-US"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异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构复制粘贴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支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持数据库对象复制，支持粘贴到异构数据库，自动转换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DDL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及迁移数据</a:t>
            </a:r>
            <a:endParaRPr lang="zh-CN" altLang="en-US" sz="1400" dirty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变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更记录  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连接执行的变更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SQL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全记录，变更操作可追溯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统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计更新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右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键对表、库做统计更新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实例管理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参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数、巡检、日志、容量、锁表等管理能力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丰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富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的对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象信息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数据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库对象列表显示表行数、大小，索引、触发器是否禁用等关键信息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智能 </a:t>
            </a:r>
            <a:r>
              <a:rPr lang="en-US" altLang="zh-CN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SQL 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识别  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自动识别 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SQL 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类型，一键执行整个脚本文件，支持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DELIMITER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指定分隔符</a:t>
            </a:r>
          </a:p>
          <a:p>
            <a:pPr>
              <a:spcAft>
                <a:spcPts val="1200"/>
              </a:spcAft>
            </a:pPr>
            <a:r>
              <a:rPr lang="zh-CN" altLang="en-US"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智能补全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基于元数据的 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SQL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智能补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全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en-US" altLang="zh-CN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SQLMODE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自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动识别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支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持不同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SQLMODE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的数据库自动识别当前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SQLMODE</a:t>
            </a:r>
            <a:endParaRPr lang="zh-CN" altLang="en-US" sz="1400" dirty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结果集管理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结果集插入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/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删除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/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保存，表头显示数据类型，大对象点击查看编辑</a:t>
            </a: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多格式导出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单表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/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多表导出 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CSV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、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JSON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（包含大对象） ，支持全库导出导入</a:t>
            </a: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en-US" altLang="zh-CN" sz="1400" b="1" dirty="0">
                <a:solidFill>
                  <a:srgbClr val="1B2A4A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助手内嵌  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SQL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编辑面板直接调用 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AI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助手，辅助编写与转换 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SQL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endParaRPr lang="en-US" altLang="zh-CN" sz="1400" dirty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endParaRPr lang="zh-CN" altLang="en-US" sz="1400" dirty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endParaRPr sz="14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1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4</a:t>
            </a:r>
            <a:endParaRPr sz="11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DBboys </a:t>
            </a:r>
            <a:r>
              <a:rPr lang="zh-CN" altLang="en-US" sz="1000" dirty="0">
                <a:solidFill>
                  <a:srgbClr val="AAB0BC"/>
                </a:solidFill>
                <a:latin typeface="微软雅黑"/>
                <a:ea typeface="微软雅黑"/>
              </a:rPr>
              <a:t>技术白皮书 </a:t>
            </a:r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www.dbboys.com</a:t>
            </a:r>
            <a:endParaRPr lang="en-US" altLang="zh-CN" sz="1000" dirty="0">
              <a:solidFill>
                <a:srgbClr val="AAB0BC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04  </a:t>
            </a:r>
            <a:r>
              <a:rPr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核心功能 </a:t>
            </a:r>
            <a:r>
              <a:rPr sz="2800" b="1" dirty="0">
                <a:solidFill>
                  <a:srgbClr val="1B2A4A"/>
                </a:solidFill>
                <a:latin typeface="微软雅黑"/>
                <a:ea typeface="微软雅黑"/>
              </a:rPr>
              <a:t>· </a:t>
            </a:r>
            <a:r>
              <a:rPr lang="zh-CN" altLang="en-US" sz="2800" b="1" dirty="0">
                <a:solidFill>
                  <a:srgbClr val="1B2A4A"/>
                </a:solidFill>
                <a:latin typeface="微软雅黑"/>
                <a:ea typeface="微软雅黑"/>
              </a:rPr>
              <a:t>兼</a:t>
            </a:r>
            <a:r>
              <a:rPr lang="zh-CN" alt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具</a:t>
            </a:r>
            <a:r>
              <a:rPr lang="en-US" altLang="zh-CN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SSH</a:t>
            </a:r>
            <a:r>
              <a:rPr lang="zh-CN" alt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、数据迁移、</a:t>
            </a:r>
            <a:r>
              <a:rPr lang="en-US" altLang="zh-CN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MD</a:t>
            </a:r>
            <a:r>
              <a:rPr lang="zh-CN" alt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、</a:t>
            </a:r>
            <a:r>
              <a:rPr lang="en-US" altLang="zh-CN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AI</a:t>
            </a:r>
            <a:r>
              <a:rPr lang="zh-CN" alt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能力</a:t>
            </a:r>
            <a:endParaRPr sz="2800" b="1" dirty="0">
              <a:solidFill>
                <a:srgbClr val="1B2A4A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兼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具能力</a:t>
            </a:r>
            <a:endParaRPr sz="14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263013"/>
            <a:ext cx="9719786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zh-CN" altLang="en-US"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终端渲染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基于 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JavaFX Canvas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的终端模拟器，支持 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top/nmon/vi/less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等交互命令</a:t>
            </a: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en-US" altLang="zh-CN" sz="1400" b="1" dirty="0">
                <a:solidFill>
                  <a:srgbClr val="1B2A4A"/>
                </a:solidFill>
                <a:latin typeface="微软雅黑"/>
                <a:ea typeface="微软雅黑"/>
              </a:rPr>
              <a:t>SFTP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文件传输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可视化 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SFTP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文件管理，支持非空文件夹递归删除</a:t>
            </a: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en-US" altLang="zh-CN" sz="1400" b="1" dirty="0">
                <a:solidFill>
                  <a:srgbClr val="1B2A4A"/>
                </a:solidFill>
                <a:latin typeface="微软雅黑"/>
                <a:ea typeface="微软雅黑"/>
              </a:rPr>
              <a:t>ZModem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支持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原生支持 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sz/rz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文件传输</a:t>
            </a: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en-US" altLang="zh-CN" sz="1400" b="1" dirty="0">
                <a:solidFill>
                  <a:srgbClr val="1B2A4A"/>
                </a:solidFill>
                <a:latin typeface="微软雅黑"/>
                <a:ea typeface="微软雅黑"/>
              </a:rPr>
              <a:t>SSH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连接共用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数据库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SSH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隧道连接、远程安装等可选用已有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SSH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连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接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迁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移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自定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义数据映射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数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据类型自动映射，可自定义、增加或删除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迁移异构 </a:t>
            </a:r>
            <a:r>
              <a:rPr lang="en-US" altLang="zh-CN" sz="1400" b="1" dirty="0">
                <a:solidFill>
                  <a:srgbClr val="1B2A4A"/>
                </a:solidFill>
                <a:latin typeface="微软雅黑"/>
                <a:ea typeface="微软雅黑"/>
              </a:rPr>
              <a:t>DDL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自动转换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跨数据库类型 </a:t>
            </a:r>
            <a:r>
              <a:rPr lang="en-US" altLang="zh-CN" sz="1400" dirty="0">
                <a:solidFill>
                  <a:srgbClr val="595F6B"/>
                </a:solidFill>
                <a:latin typeface="微软雅黑"/>
                <a:ea typeface="微软雅黑"/>
              </a:rPr>
              <a:t>DDL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自动映射转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换</a:t>
            </a:r>
          </a:p>
          <a:p>
            <a:pPr>
              <a:spcAft>
                <a:spcPts val="1200"/>
              </a:spcAft>
            </a:pPr>
            <a:r>
              <a:rPr lang="zh-CN" altLang="en-US"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迁移对象自由选择  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自定义勾选所有迁移对象：表、视图、索引、序列、存储过程等</a:t>
            </a:r>
          </a:p>
          <a:p>
            <a:pPr>
              <a:spcAft>
                <a:spcPts val="1200"/>
              </a:spcAft>
            </a:pPr>
            <a:r>
              <a:rPr lang="zh-CN" altLang="en-US" sz="1400" b="1" dirty="0" smtClean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迁移数据过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滤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迁移数据支持 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对表增加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where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条件过滤，按需迁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移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en-US" altLang="zh-CN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MD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文档标题自动编号  </a:t>
            </a:r>
            <a:r>
              <a:rPr lang="zh-CN" altLang="en-US" sz="1400" dirty="0">
                <a:solidFill>
                  <a:srgbClr val="595F6B"/>
                </a:solidFill>
                <a:latin typeface="微软雅黑"/>
                <a:ea typeface="微软雅黑"/>
              </a:rPr>
              <a:t>标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题自动编号，缩进</a:t>
            </a:r>
            <a:endParaRPr lang="zh-CN" altLang="en-US" sz="1400" dirty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兼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容</a:t>
            </a:r>
            <a:r>
              <a:rPr lang="en-US" altLang="zh-CN" sz="1400" b="1" dirty="0">
                <a:solidFill>
                  <a:srgbClr val="1B2A4A"/>
                </a:solidFill>
                <a:latin typeface="微软雅黑"/>
                <a:ea typeface="微软雅黑"/>
              </a:rPr>
              <a:t>docusaurus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  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兼容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docusaurus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，线上线下知识库可同步共享同一套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md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文档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图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片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直接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粘贴  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MD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文档支持图片直接粘贴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zh-CN" altLang="en-US" sz="1400" b="1" dirty="0">
                <a:solidFill>
                  <a:srgbClr val="1B2A4A"/>
                </a:solidFill>
                <a:latin typeface="微软雅黑"/>
                <a:ea typeface="微软雅黑"/>
              </a:rPr>
              <a:t>自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动滚动截图  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超长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MD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自动滚动截图生产长图片</a:t>
            </a:r>
            <a:endParaRPr lang="en-US" altLang="zh-CN" sz="1400" dirty="0" smtClean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r>
              <a:rPr lang="zh-CN" altLang="en-US" sz="1400" b="1" dirty="0">
                <a:solidFill>
                  <a:srgbClr val="2E86DE"/>
                </a:solidFill>
                <a:latin typeface="微软雅黑"/>
                <a:ea typeface="微软雅黑"/>
              </a:rPr>
              <a:t>▪ </a:t>
            </a:r>
            <a:r>
              <a:rPr lang="en-US" altLang="zh-CN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AI</a:t>
            </a:r>
            <a:r>
              <a:rPr lang="zh-CN" altLang="en-US" sz="14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知识库  </a:t>
            </a:r>
            <a:r>
              <a:rPr lang="en-US" altLang="zh-CN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AI</a:t>
            </a:r>
            <a:r>
              <a:rPr lang="zh-CN" altLang="en-US" sz="1400" dirty="0" smtClean="0">
                <a:solidFill>
                  <a:srgbClr val="595F6B"/>
                </a:solidFill>
                <a:latin typeface="微软雅黑"/>
                <a:ea typeface="微软雅黑"/>
              </a:rPr>
              <a:t>基于本地文档回答，并提供文档链接</a:t>
            </a:r>
            <a:endParaRPr lang="zh-CN" altLang="en-US" sz="1400" dirty="0">
              <a:solidFill>
                <a:srgbClr val="595F6B"/>
              </a:solidFill>
              <a:latin typeface="微软雅黑"/>
              <a:ea typeface="微软雅黑"/>
            </a:endParaRPr>
          </a:p>
          <a:p>
            <a:pPr>
              <a:spcAft>
                <a:spcPts val="1200"/>
              </a:spcAft>
            </a:pPr>
            <a:endParaRPr lang="en-US" altLang="zh-CN" sz="140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822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1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5</a:t>
            </a:r>
            <a:endParaRPr sz="11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DBboys </a:t>
            </a:r>
            <a:r>
              <a:rPr lang="zh-CN" altLang="en-US" sz="1000" dirty="0">
                <a:solidFill>
                  <a:srgbClr val="AAB0BC"/>
                </a:solidFill>
                <a:latin typeface="微软雅黑"/>
                <a:ea typeface="微软雅黑"/>
              </a:rPr>
              <a:t>技术白皮书 </a:t>
            </a:r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www.dbboys.com</a:t>
            </a:r>
            <a:endParaRPr lang="en-US" altLang="zh-CN" sz="1000" dirty="0">
              <a:solidFill>
                <a:srgbClr val="AAB0BC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6086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微软雅黑"/>
                <a:ea typeface="微软雅黑"/>
              </a:rPr>
              <a:t>05  数据库适配矩阵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F6B"/>
                </a:solidFill>
                <a:latin typeface="微软雅黑"/>
                <a:ea typeface="微软雅黑"/>
              </a:rPr>
              <a:t>多数据库支持能力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011680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数据库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417320"/>
            <a:ext cx="97840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148132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连接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0168" y="1417320"/>
            <a:ext cx="97840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0168" y="148132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SQL工作台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8576" y="1417320"/>
            <a:ext cx="97840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48132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对象浏览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86984" y="1417320"/>
            <a:ext cx="97840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86984" y="148132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DDL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5392" y="1417320"/>
            <a:ext cx="97840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148132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巡检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1417320"/>
            <a:ext cx="97840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148132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空间管理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22208" y="1417320"/>
            <a:ext cx="97840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22208" y="148132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参数管理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0616" y="1417320"/>
            <a:ext cx="97840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0616" y="148132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远程安装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79024" y="1417320"/>
            <a:ext cx="978408" cy="4572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79024" y="148132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实例启停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1874520"/>
            <a:ext cx="2011680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194767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  <a:ea typeface="微软雅黑"/>
              </a:rPr>
              <a:t>GBase 8S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1874520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51760" y="194767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0168" y="1874520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0168" y="194767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08576" y="1874520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08576" y="194767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86984" y="1874520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86984" y="194767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65392" y="1874520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65392" y="194767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1874520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43800" y="194767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1874520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22208" y="194767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0616" y="1874520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00616" y="194767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479024" y="1874520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479024" y="194767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2350008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" y="2423160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  <a:ea typeface="微软雅黑"/>
              </a:rPr>
              <a:t>Informix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350008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51760" y="242316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30168" y="2350008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630168" y="242316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08576" y="2350008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608576" y="242316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86984" y="2350008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86984" y="242316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65392" y="2350008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65392" y="242316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43800" y="2350008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543800" y="242316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522208" y="2350008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522208" y="242316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0616" y="2350008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500616" y="242316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79024" y="2350008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479024" y="242316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2825496"/>
            <a:ext cx="2011680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7240" y="2898648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  <a:ea typeface="微软雅黑"/>
              </a:rPr>
              <a:t>MySQL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51760" y="2825496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51760" y="28986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30168" y="2825496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630168" y="28986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08576" y="2825496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608576" y="28986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86984" y="2825496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586984" y="28986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65392" y="2825496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65392" y="28986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43800" y="2825496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43800" y="28986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22208" y="2825496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22208" y="28986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500616" y="2825496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500616" y="28986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479024" y="2825496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479024" y="289864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3300984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77240" y="3374136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  <a:ea typeface="微软雅黑"/>
              </a:rPr>
              <a:t>Oracle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51760" y="3300984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651760" y="3374136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30168" y="3300984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630168" y="3374136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08576" y="3300984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608576" y="3374136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86984" y="3300984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586984" y="3374136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65392" y="3300984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565392" y="3374136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43800" y="3300984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543800" y="3374136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22208" y="3300984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522208" y="3374136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500616" y="3300984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500616" y="3374136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479024" y="3300984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479024" y="3374136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080" y="3776472"/>
            <a:ext cx="2011680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77240" y="3849624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  <a:ea typeface="微软雅黑"/>
              </a:rPr>
              <a:t>PostgreSQL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51760" y="3776472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51760" y="3849624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30168" y="3776472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630168" y="3849624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08576" y="3776472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608576" y="3849624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586984" y="3776472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586984" y="3849624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565392" y="3776472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565392" y="3849624"/>
            <a:ext cx="97840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  <a:p>
            <a:pPr algn="ctr"/>
            <a:endParaRPr sz="1300" b="0" dirty="0">
              <a:solidFill>
                <a:srgbClr val="C0C6CF"/>
              </a:solidFill>
              <a:latin typeface="微软雅黑"/>
              <a:ea typeface="微软雅黑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7543800" y="3776472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543800" y="3849624"/>
            <a:ext cx="978408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300" b="1" dirty="0" smtClean="0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  <a:endParaRPr lang="zh-CN" altLang="en-US" sz="1300" b="1" dirty="0">
              <a:solidFill>
                <a:srgbClr val="27AE60"/>
              </a:solidFill>
              <a:latin typeface="微软雅黑"/>
              <a:ea typeface="微软雅黑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8522208" y="3776472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522208" y="3849624"/>
            <a:ext cx="978408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300" b="1" dirty="0" smtClean="0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  <a:endParaRPr lang="zh-CN" altLang="en-US" sz="1300" b="1" dirty="0">
              <a:solidFill>
                <a:srgbClr val="27AE60"/>
              </a:solidFill>
              <a:latin typeface="微软雅黑"/>
              <a:ea typeface="微软雅黑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9500616" y="3776472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500616" y="3849624"/>
            <a:ext cx="978408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300" b="1" dirty="0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  <a:p>
            <a:pPr algn="ctr"/>
            <a:endParaRPr sz="1300" b="0" dirty="0">
              <a:solidFill>
                <a:srgbClr val="C0C6CF"/>
              </a:solidFill>
              <a:latin typeface="微软雅黑"/>
              <a:ea typeface="微软雅黑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10479024" y="3776472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0479024" y="3849624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0080" y="4251960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777240" y="432511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  <a:ea typeface="微软雅黑"/>
              </a:rPr>
              <a:t>达梦 (DM)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651760" y="4251960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651760" y="432511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630168" y="4251960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630168" y="432511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608576" y="4251960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608576" y="432511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586984" y="4251960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586984" y="432511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565392" y="4251960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565392" y="432511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543800" y="4251960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543800" y="432511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522208" y="4251960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522208" y="432511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500616" y="4251960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500616" y="432511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479024" y="4251960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479024" y="4325112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40080" y="4727448"/>
            <a:ext cx="2011680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77240" y="4800600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  <a:ea typeface="微软雅黑"/>
              </a:rPr>
              <a:t>SQLite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651760" y="4727448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651760" y="480060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30168" y="4727448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630168" y="480060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608576" y="4727448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608576" y="480060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586984" y="4727448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586984" y="480060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565392" y="4727448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565392" y="480060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43800" y="4727448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7543800" y="480060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522208" y="4727448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522208" y="480060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500616" y="4727448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9500616" y="480060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479024" y="4727448"/>
            <a:ext cx="978408" cy="47548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479024" y="4800600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40080" y="5202936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77240" y="5276088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微软雅黑"/>
                <a:ea typeface="微软雅黑"/>
              </a:rPr>
              <a:t>通用 JDBC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651760" y="5202936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2651760" y="527608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630168" y="5202936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3630168" y="527608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08576" y="5202936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608576" y="527608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586984" y="5202936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5586984" y="527608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●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565392" y="5202936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565392" y="527608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543800" y="5202936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543800" y="527608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522208" y="5202936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8522208" y="527608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500616" y="5202936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9500616" y="527608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479024" y="5202936"/>
            <a:ext cx="97840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10479024" y="5276088"/>
            <a:ext cx="9784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C0C6CF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40080" y="5815584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适配能力依赖数据库类型、驱动、用户权限和版本；应用菜单「帮助 → 适配列表」可查看详细适配项。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247120" y="6446520"/>
            <a:ext cx="822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1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6</a:t>
            </a:r>
            <a:endParaRPr sz="11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502920" y="644652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DBboys </a:t>
            </a:r>
            <a:r>
              <a:rPr lang="zh-CN" altLang="en-US" sz="1000" dirty="0">
                <a:solidFill>
                  <a:srgbClr val="AAB0BC"/>
                </a:solidFill>
                <a:latin typeface="微软雅黑"/>
                <a:ea typeface="微软雅黑"/>
              </a:rPr>
              <a:t>技术白皮书 </a:t>
            </a:r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www.dbboys.com</a:t>
            </a:r>
            <a:endParaRPr lang="en-US" altLang="zh-CN" sz="1000" dirty="0">
              <a:solidFill>
                <a:srgbClr val="AAB0BC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0</a:t>
            </a:r>
            <a:r>
              <a:rPr 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6</a:t>
            </a:r>
            <a:r>
              <a:rPr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  </a:t>
            </a:r>
            <a:r>
              <a:rPr sz="2800" b="1" dirty="0">
                <a:solidFill>
                  <a:srgbClr val="1B2A4A"/>
                </a:solidFill>
                <a:latin typeface="微软雅黑"/>
                <a:ea typeface="微软雅黑"/>
              </a:rPr>
              <a:t>构建与分发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F6B"/>
                </a:solidFill>
                <a:latin typeface="微软雅黑"/>
                <a:ea typeface="微软雅黑"/>
              </a:rPr>
              <a:t>跨平台打包体系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103120" cy="1737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103120" cy="50292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1 编译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javac 编译 338 个</a:t>
            </a:r>
          </a:p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Java 源文件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06623" y="2331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95F6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3512" y="1737360"/>
            <a:ext cx="2103120" cy="1737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53512" y="1737360"/>
            <a:ext cx="2103120" cy="5029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3512" y="1828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2 资源复制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42316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fxml / css / i18n</a:t>
            </a:r>
          </a:p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IK 分词配置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5" y="2331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95F6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66944" y="1737360"/>
            <a:ext cx="2103120" cy="1737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66944" y="1737360"/>
            <a:ext cx="2103120" cy="502920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66944" y="1828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3 jlink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242316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裁剪生成最小化</a:t>
            </a:r>
          </a:p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Java 运行时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7" y="2331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95F6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0376" y="1737360"/>
            <a:ext cx="2103120" cy="1737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580376" y="1737360"/>
            <a:ext cx="2103120" cy="5029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0376" y="1828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4 jpackage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6" y="242316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打包平台原生</a:t>
            </a:r>
          </a:p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app-image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23317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95F6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93808" y="1737360"/>
            <a:ext cx="2103120" cy="1737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93808" y="1737360"/>
            <a:ext cx="21031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93808" y="182880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5 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242316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build/dist/dbboys.zip</a:t>
            </a:r>
          </a:p>
          <a:p>
            <a:pPr algn="ctr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绿色解压即用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2A4A"/>
                </a:solidFill>
                <a:latin typeface="微软雅黑"/>
                <a:ea typeface="微软雅黑"/>
              </a:rPr>
              <a:t>支持平台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43400"/>
            <a:ext cx="10698480" cy="530352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443484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Windows x64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43484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F6B"/>
                </a:solidFill>
                <a:latin typeface="微软雅黑"/>
                <a:ea typeface="微软雅黑"/>
              </a:rPr>
              <a:t>build.bat 一键构建，输出 dbboys.exe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983480"/>
            <a:ext cx="10698480" cy="530352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0120" y="50749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Linux x64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07492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95F6B"/>
                </a:solidFill>
                <a:latin typeface="微软雅黑"/>
                <a:ea typeface="微软雅黑"/>
              </a:rPr>
              <a:t>build.sh 一键构建，start.sh 启动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5623560"/>
            <a:ext cx="10698480" cy="530352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57150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86DE"/>
                </a:solidFill>
                <a:latin typeface="微软雅黑"/>
                <a:ea typeface="微软雅黑"/>
              </a:rPr>
              <a:t>Linux ARM64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715000"/>
            <a:ext cx="75895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300" dirty="0">
                <a:solidFill>
                  <a:srgbClr val="595F6B"/>
                </a:solidFill>
                <a:latin typeface="微软雅黑"/>
                <a:ea typeface="微软雅黑"/>
              </a:rPr>
              <a:t>build.sh </a:t>
            </a:r>
            <a:r>
              <a:rPr lang="zh-CN" altLang="en-US" sz="1300" dirty="0">
                <a:solidFill>
                  <a:srgbClr val="595F6B"/>
                </a:solidFill>
                <a:latin typeface="微软雅黑"/>
                <a:ea typeface="微软雅黑"/>
              </a:rPr>
              <a:t>一键构建，</a:t>
            </a:r>
            <a:r>
              <a:rPr lang="en-US" altLang="zh-CN" sz="1300" dirty="0">
                <a:solidFill>
                  <a:srgbClr val="595F6B"/>
                </a:solidFill>
                <a:latin typeface="微软雅黑"/>
                <a:ea typeface="微软雅黑"/>
              </a:rPr>
              <a:t>start.sh </a:t>
            </a:r>
            <a:r>
              <a:rPr lang="zh-CN" altLang="en-US" sz="1300" dirty="0">
                <a:solidFill>
                  <a:srgbClr val="595F6B"/>
                </a:solidFill>
                <a:latin typeface="微软雅黑"/>
                <a:ea typeface="微软雅黑"/>
              </a:rPr>
              <a:t>启动</a:t>
            </a:r>
            <a:endParaRPr lang="zh-CN" altLang="en-US" sz="130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822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1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7</a:t>
            </a:r>
            <a:endParaRPr sz="11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DBboys </a:t>
            </a:r>
            <a:r>
              <a:rPr lang="zh-CN" altLang="en-US" sz="1000" dirty="0">
                <a:solidFill>
                  <a:srgbClr val="AAB0BC"/>
                </a:solidFill>
                <a:latin typeface="微软雅黑"/>
                <a:ea typeface="微软雅黑"/>
              </a:rPr>
              <a:t>技术白皮书 </a:t>
            </a:r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www.dbboys.com</a:t>
            </a:r>
            <a:endParaRPr lang="en-US" altLang="zh-CN" sz="1000" dirty="0">
              <a:solidFill>
                <a:srgbClr val="AAB0BC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0</a:t>
            </a:r>
            <a:r>
              <a:rPr 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7</a:t>
            </a:r>
            <a:r>
              <a:rPr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  </a:t>
            </a:r>
            <a:r>
              <a:rPr sz="2800" b="1" dirty="0">
                <a:solidFill>
                  <a:srgbClr val="1B2A4A"/>
                </a:solidFill>
                <a:latin typeface="微软雅黑"/>
                <a:ea typeface="微软雅黑"/>
              </a:rPr>
              <a:t>版本演进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F6B"/>
                </a:solidFill>
                <a:latin typeface="微软雅黑"/>
                <a:ea typeface="微软雅黑"/>
              </a:rPr>
              <a:t>持续迭代（2026.01 首发至今）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645920"/>
            <a:ext cx="45720" cy="4480560"/>
          </a:xfrm>
          <a:prstGeom prst="rect">
            <a:avLst/>
          </a:prstGeom>
          <a:solidFill>
            <a:srgbClr val="D5D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07008" y="1709928"/>
            <a:ext cx="292608" cy="292608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E86DE"/>
                </a:solidFill>
                <a:latin typeface="微软雅黑"/>
                <a:ea typeface="微软雅黑"/>
              </a:rPr>
              <a:t>01月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5819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微软雅黑"/>
                <a:ea typeface="微软雅黑"/>
              </a:rPr>
              <a:t>首次发布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92938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GBase 8S 连接、SQL 工作台、对象浏览</a:t>
            </a:r>
          </a:p>
        </p:txBody>
      </p:sp>
      <p:sp>
        <p:nvSpPr>
          <p:cNvPr id="11" name="Oval 10"/>
          <p:cNvSpPr/>
          <p:nvPr/>
        </p:nvSpPr>
        <p:spPr>
          <a:xfrm>
            <a:off x="1207008" y="2487168"/>
            <a:ext cx="292608" cy="29260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27AE60"/>
                </a:solidFill>
                <a:latin typeface="微软雅黑"/>
                <a:ea typeface="微软雅黑"/>
              </a:rPr>
              <a:t>03月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35915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微软雅黑"/>
                <a:ea typeface="微软雅黑"/>
              </a:rPr>
              <a:t>深色主题 +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70662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主题切换、AI 问答、全库 DDL 导出</a:t>
            </a:r>
          </a:p>
        </p:txBody>
      </p:sp>
      <p:sp>
        <p:nvSpPr>
          <p:cNvPr id="15" name="Oval 14"/>
          <p:cNvSpPr/>
          <p:nvPr/>
        </p:nvSpPr>
        <p:spPr>
          <a:xfrm>
            <a:off x="1207008" y="3264408"/>
            <a:ext cx="292608" cy="292608"/>
          </a:xfrm>
          <a:prstGeom prst="ellipse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15468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68B1F"/>
                </a:solidFill>
                <a:latin typeface="微软雅黑"/>
                <a:ea typeface="微软雅黑"/>
              </a:rPr>
              <a:t>04月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13639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微软雅黑"/>
                <a:ea typeface="微软雅黑"/>
              </a:rPr>
              <a:t>多库扩展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48386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Informix / Oracle / MySQL / 达梦接入，Qwen 模型</a:t>
            </a:r>
          </a:p>
        </p:txBody>
      </p:sp>
      <p:sp>
        <p:nvSpPr>
          <p:cNvPr id="19" name="Oval 18"/>
          <p:cNvSpPr/>
          <p:nvPr/>
        </p:nvSpPr>
        <p:spPr>
          <a:xfrm>
            <a:off x="1207008" y="4041648"/>
            <a:ext cx="292608" cy="292608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8E44AD"/>
                </a:solidFill>
                <a:latin typeface="微软雅黑"/>
                <a:ea typeface="微软雅黑"/>
              </a:rPr>
              <a:t>05月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91363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微软雅黑"/>
                <a:ea typeface="微软雅黑"/>
              </a:rPr>
              <a:t>运维强化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26110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远程安装卸载、锁表处理、浅色主题、智能补全、SSH 隧道</a:t>
            </a:r>
          </a:p>
        </p:txBody>
      </p:sp>
      <p:sp>
        <p:nvSpPr>
          <p:cNvPr id="23" name="Oval 22"/>
          <p:cNvSpPr/>
          <p:nvPr/>
        </p:nvSpPr>
        <p:spPr>
          <a:xfrm>
            <a:off x="1207008" y="4818888"/>
            <a:ext cx="292608" cy="292608"/>
          </a:xfrm>
          <a:prstGeom prst="ellipse">
            <a:avLst/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470916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16A085"/>
                </a:solidFill>
                <a:latin typeface="微软雅黑"/>
                <a:ea typeface="微软雅黑"/>
              </a:rPr>
              <a:t>07月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69087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微软雅黑"/>
                <a:ea typeface="微软雅黑"/>
              </a:rPr>
              <a:t>SSH 终端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038344"/>
            <a:ext cx="941832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 </a:t>
            </a:r>
            <a:r>
              <a:rPr sz="1200" b="0" dirty="0">
                <a:solidFill>
                  <a:srgbClr val="595F6B"/>
                </a:solidFill>
                <a:latin typeface="微软雅黑"/>
                <a:ea typeface="微软雅黑"/>
              </a:rPr>
              <a:t>SSH 终端、SFTP、ZModem sz/rz、PostgreSQL 支持</a:t>
            </a:r>
          </a:p>
        </p:txBody>
      </p:sp>
      <p:sp>
        <p:nvSpPr>
          <p:cNvPr id="27" name="Oval 26"/>
          <p:cNvSpPr/>
          <p:nvPr/>
        </p:nvSpPr>
        <p:spPr>
          <a:xfrm>
            <a:off x="1207008" y="5596128"/>
            <a:ext cx="292608" cy="29260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48640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08月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468112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微软雅黑"/>
                <a:ea typeface="微软雅黑"/>
              </a:rPr>
              <a:t>数据迁移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81558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F6B"/>
                </a:solidFill>
                <a:latin typeface="微软雅黑"/>
                <a:ea typeface="微软雅黑"/>
              </a:rPr>
              <a:t>异构 DDL 转换数据迁移、库表复制粘贴、PG 远程安装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822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1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8</a:t>
            </a:r>
            <a:endParaRPr sz="11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DBboys </a:t>
            </a:r>
            <a:r>
              <a:rPr lang="zh-CN" altLang="en-US" sz="1000" dirty="0">
                <a:solidFill>
                  <a:srgbClr val="AAB0BC"/>
                </a:solidFill>
                <a:latin typeface="微软雅黑"/>
                <a:ea typeface="微软雅黑"/>
              </a:rPr>
              <a:t>技术白皮书 </a:t>
            </a:r>
            <a:r>
              <a:rPr lang="en-US" altLang="zh-CN" sz="1000" dirty="0">
                <a:solidFill>
                  <a:srgbClr val="AAB0BC"/>
                </a:solidFill>
                <a:latin typeface="微软雅黑"/>
                <a:ea typeface="微软雅黑"/>
              </a:rPr>
              <a:t>www.dbboys.com</a:t>
            </a:r>
            <a:endParaRPr lang="en-US" altLang="zh-CN" sz="1000" dirty="0">
              <a:solidFill>
                <a:srgbClr val="AAB0BC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475488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0</a:t>
            </a:r>
            <a:r>
              <a:rPr lang="en-US"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8</a:t>
            </a:r>
            <a:r>
              <a:rPr sz="2800" b="1" dirty="0" smtClean="0">
                <a:solidFill>
                  <a:srgbClr val="1B2A4A"/>
                </a:solidFill>
                <a:latin typeface="微软雅黑"/>
                <a:ea typeface="微软雅黑"/>
              </a:rPr>
              <a:t>  </a:t>
            </a:r>
            <a:r>
              <a:rPr sz="2800" b="1" dirty="0">
                <a:solidFill>
                  <a:srgbClr val="1B2A4A"/>
                </a:solidFill>
                <a:latin typeface="微软雅黑"/>
                <a:ea typeface="微软雅黑"/>
              </a:rPr>
              <a:t>界面预览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412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F6B"/>
                </a:solidFill>
                <a:latin typeface="微软雅黑"/>
                <a:ea typeface="微软雅黑"/>
              </a:rPr>
              <a:t>产品截图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822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1100" b="0" dirty="0" smtClean="0">
                <a:solidFill>
                  <a:srgbClr val="595F6B"/>
                </a:solidFill>
                <a:latin typeface="微软雅黑"/>
                <a:ea typeface="微软雅黑"/>
              </a:rPr>
              <a:t>9</a:t>
            </a:r>
            <a:endParaRPr sz="1100" b="0" dirty="0">
              <a:solidFill>
                <a:srgbClr val="595F6B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AAB0BC"/>
                </a:solidFill>
                <a:latin typeface="微软雅黑"/>
                <a:ea typeface="微软雅黑"/>
              </a:rPr>
              <a:t>DBboys </a:t>
            </a:r>
            <a:r>
              <a:rPr sz="1000" b="0" dirty="0" smtClean="0">
                <a:solidFill>
                  <a:srgbClr val="AAB0BC"/>
                </a:solidFill>
                <a:latin typeface="微软雅黑"/>
                <a:ea typeface="微软雅黑"/>
              </a:rPr>
              <a:t>技术白皮书</a:t>
            </a:r>
            <a:r>
              <a:rPr lang="en-US" sz="1000" b="0" dirty="0" smtClean="0">
                <a:solidFill>
                  <a:srgbClr val="AAB0BC"/>
                </a:solidFill>
                <a:latin typeface="微软雅黑"/>
                <a:ea typeface="微软雅黑"/>
              </a:rPr>
              <a:t> www.dbboys.com</a:t>
            </a:r>
            <a:endParaRPr sz="1000" b="0" dirty="0">
              <a:solidFill>
                <a:srgbClr val="AAB0BC"/>
              </a:solidFill>
              <a:latin typeface="微软雅黑"/>
              <a:ea typeface="微软雅黑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471" y="1249872"/>
            <a:ext cx="9487059" cy="50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45720"/>
          </a:xfrm>
          <a:prstGeom prst="rect">
            <a:avLst/>
          </a:prstGeom>
          <a:solidFill>
            <a:srgbClr val="F6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开源许可与未来展望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5129" y="2593771"/>
            <a:ext cx="10822781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dirty="0">
                <a:solidFill>
                  <a:srgbClr val="9FC1F0"/>
                </a:solidFill>
                <a:latin typeface="微软雅黑"/>
                <a:ea typeface="微软雅黑"/>
              </a:rPr>
              <a:t>基于 </a:t>
            </a:r>
            <a:r>
              <a:rPr lang="en-US" altLang="zh-CN" dirty="0" smtClean="0">
                <a:solidFill>
                  <a:srgbClr val="9FC1F0"/>
                </a:solidFill>
                <a:latin typeface="微软雅黑"/>
                <a:ea typeface="微软雅黑"/>
              </a:rPr>
              <a:t>GPL </a:t>
            </a:r>
            <a:r>
              <a:rPr sz="1800" b="0" dirty="0" smtClean="0">
                <a:solidFill>
                  <a:srgbClr val="9FC1F0"/>
                </a:solidFill>
                <a:latin typeface="微软雅黑"/>
                <a:ea typeface="微软雅黑"/>
              </a:rPr>
              <a:t>开源 </a:t>
            </a:r>
            <a:r>
              <a:rPr sz="1800" b="0" dirty="0">
                <a:solidFill>
                  <a:srgbClr val="9FC1F0"/>
                </a:solidFill>
                <a:latin typeface="微软雅黑"/>
                <a:ea typeface="微软雅黑"/>
              </a:rPr>
              <a:t>· 源码托管开放 · </a:t>
            </a:r>
            <a:r>
              <a:rPr sz="1800" b="0" dirty="0" smtClean="0">
                <a:solidFill>
                  <a:srgbClr val="9FC1F0"/>
                </a:solidFill>
                <a:latin typeface="微软雅黑"/>
                <a:ea typeface="微软雅黑"/>
              </a:rPr>
              <a:t>欢迎社区共建</a:t>
            </a:r>
            <a:r>
              <a:rPr lang="en-US" altLang="zh-CN" dirty="0">
                <a:solidFill>
                  <a:srgbClr val="9FC1F0"/>
                </a:solidFill>
                <a:latin typeface="微软雅黑"/>
                <a:ea typeface="微软雅黑"/>
              </a:rPr>
              <a:t>· </a:t>
            </a:r>
            <a:r>
              <a:rPr lang="en-US" altLang="zh-CN" dirty="0" smtClean="0">
                <a:solidFill>
                  <a:srgbClr val="9FC1F0"/>
                </a:solidFill>
                <a:latin typeface="微软雅黑"/>
                <a:ea typeface="微软雅黑"/>
              </a:rPr>
              <a:t>https</a:t>
            </a:r>
            <a:r>
              <a:rPr lang="en-US" altLang="zh-CN" dirty="0">
                <a:solidFill>
                  <a:srgbClr val="9FC1F0"/>
                </a:solidFill>
                <a:latin typeface="微软雅黑"/>
                <a:ea typeface="微软雅黑"/>
              </a:rPr>
              <a:t>://github.com/dbboys3/dbboys</a:t>
            </a:r>
          </a:p>
          <a:p>
            <a:pPr algn="ctr"/>
            <a:endParaRPr sz="1800" b="0" dirty="0">
              <a:solidFill>
                <a:srgbClr val="9FC1F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63040" y="3749039"/>
            <a:ext cx="2194560" cy="1371600"/>
          </a:xfrm>
          <a:prstGeom prst="rect">
            <a:avLst/>
          </a:prstGeom>
          <a:solidFill>
            <a:srgbClr val="24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3931920"/>
            <a:ext cx="192024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1300" dirty="0">
                <a:solidFill>
                  <a:srgbClr val="D8E2F2"/>
                </a:solidFill>
                <a:latin typeface="微软雅黑"/>
                <a:ea typeface="微软雅黑"/>
              </a:rPr>
              <a:t>深</a:t>
            </a:r>
            <a:r>
              <a:rPr lang="zh-CN" altLang="en-US" sz="1300" dirty="0" smtClean="0">
                <a:solidFill>
                  <a:srgbClr val="D8E2F2"/>
                </a:solidFill>
                <a:latin typeface="微软雅黑"/>
                <a:ea typeface="微软雅黑"/>
              </a:rPr>
              <a:t>度适配数据库</a:t>
            </a:r>
            <a:r>
              <a:rPr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：</a:t>
            </a:r>
            <a:r>
              <a:rPr lang="zh-CN" altLang="en-US"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对象提示信息，实例管理能力</a:t>
            </a:r>
            <a:endParaRPr sz="1300" b="0" dirty="0">
              <a:solidFill>
                <a:srgbClr val="D8E2F2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86200" y="3749039"/>
            <a:ext cx="2194560" cy="1371600"/>
          </a:xfrm>
          <a:prstGeom prst="rect">
            <a:avLst/>
          </a:prstGeom>
          <a:solidFill>
            <a:srgbClr val="24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3931920"/>
            <a:ext cx="192024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>
                <a:solidFill>
                  <a:srgbClr val="D8E2F2"/>
                </a:solidFill>
                <a:latin typeface="微软雅黑"/>
                <a:ea typeface="微软雅黑"/>
              </a:rPr>
              <a:t>扩展数据库适配：</a:t>
            </a:r>
            <a:r>
              <a:rPr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更多</a:t>
            </a:r>
            <a:r>
              <a:rPr lang="zh-CN" altLang="en-US"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国内外主流</a:t>
            </a:r>
            <a:r>
              <a:rPr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数据库接入</a:t>
            </a:r>
            <a:endParaRPr sz="1300" b="0" dirty="0">
              <a:solidFill>
                <a:srgbClr val="D8E2F2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360" y="3749039"/>
            <a:ext cx="2194560" cy="1371600"/>
          </a:xfrm>
          <a:prstGeom prst="rect">
            <a:avLst/>
          </a:prstGeom>
          <a:solidFill>
            <a:srgbClr val="24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931920"/>
            <a:ext cx="192024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>
                <a:solidFill>
                  <a:srgbClr val="D8E2F2"/>
                </a:solidFill>
                <a:latin typeface="微软雅黑"/>
                <a:ea typeface="微软雅黑"/>
              </a:rPr>
              <a:t>完善迁移体系：</a:t>
            </a:r>
            <a:r>
              <a:rPr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更多异构组合</a:t>
            </a:r>
            <a:r>
              <a:rPr lang="zh-CN" altLang="en-US"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深度验证适配</a:t>
            </a:r>
            <a:endParaRPr sz="1300" b="0" dirty="0">
              <a:solidFill>
                <a:srgbClr val="D8E2F2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32519" y="3749039"/>
            <a:ext cx="2194560" cy="1371600"/>
          </a:xfrm>
          <a:prstGeom prst="rect">
            <a:avLst/>
          </a:prstGeom>
          <a:solidFill>
            <a:srgbClr val="243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79" y="3931920"/>
            <a:ext cx="192024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altLang="zh-CN" sz="1300" dirty="0" smtClean="0">
                <a:solidFill>
                  <a:srgbClr val="D8E2F2"/>
                </a:solidFill>
                <a:latin typeface="微软雅黑"/>
                <a:ea typeface="微软雅黑"/>
              </a:rPr>
              <a:t>AI</a:t>
            </a:r>
            <a:r>
              <a:rPr lang="zh-CN" altLang="en-US" sz="1300" dirty="0" smtClean="0">
                <a:solidFill>
                  <a:srgbClr val="D8E2F2"/>
                </a:solidFill>
                <a:latin typeface="微软雅黑"/>
                <a:ea typeface="微软雅黑"/>
              </a:rPr>
              <a:t>能力提升</a:t>
            </a:r>
            <a:r>
              <a:rPr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：</a:t>
            </a:r>
            <a:r>
              <a:rPr lang="zh-CN" altLang="en-US"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深度融合</a:t>
            </a:r>
            <a:r>
              <a:rPr lang="en-US" altLang="zh-CN"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AI</a:t>
            </a:r>
            <a:r>
              <a:rPr lang="zh-CN" altLang="en-US" sz="1300" b="0" dirty="0" smtClean="0">
                <a:solidFill>
                  <a:srgbClr val="D8E2F2"/>
                </a:solidFill>
                <a:latin typeface="微软雅黑"/>
                <a:ea typeface="微软雅黑"/>
              </a:rPr>
              <a:t>能力</a:t>
            </a:r>
            <a:endParaRPr sz="1300" b="0" dirty="0">
              <a:solidFill>
                <a:srgbClr val="D8E2F2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360152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F68B1F"/>
                </a:solidFill>
                <a:latin typeface="微软雅黑"/>
                <a:ea typeface="微软雅黑"/>
              </a:rPr>
              <a:t>新一代一专多能数据库开发与运维客户端</a:t>
            </a:r>
            <a:endParaRPr lang="zh-CN" altLang="en-US" sz="2000" b="1" dirty="0">
              <a:solidFill>
                <a:srgbClr val="F68B1F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6263640"/>
            <a:ext cx="103601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5C7499"/>
                </a:solidFill>
                <a:latin typeface="微软雅黑"/>
                <a:ea typeface="微软雅黑"/>
              </a:rPr>
              <a:t>DBboys 技术白皮书 · </a:t>
            </a:r>
            <a:r>
              <a:rPr sz="1200" b="0" dirty="0" smtClean="0">
                <a:solidFill>
                  <a:srgbClr val="5C7499"/>
                </a:solidFill>
                <a:latin typeface="微软雅黑"/>
                <a:ea typeface="微软雅黑"/>
              </a:rPr>
              <a:t>2026</a:t>
            </a:r>
            <a:r>
              <a:rPr lang="en-US" sz="1200" b="0" dirty="0" smtClean="0">
                <a:solidFill>
                  <a:srgbClr val="5C7499"/>
                </a:solidFill>
                <a:latin typeface="微软雅黑"/>
                <a:ea typeface="微软雅黑"/>
              </a:rPr>
              <a:t>  www.dbboys.com</a:t>
            </a:r>
            <a:endParaRPr sz="1200" b="0" dirty="0">
              <a:solidFill>
                <a:srgbClr val="5C7499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</TotalTime>
  <Words>1568</Words>
  <Application>Microsoft Office PowerPoint</Application>
  <PresentationFormat>宽屏</PresentationFormat>
  <Paragraphs>277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L3</cp:lastModifiedBy>
  <cp:revision>54</cp:revision>
  <dcterms:created xsi:type="dcterms:W3CDTF">2013-01-27T09:14:16Z</dcterms:created>
  <dcterms:modified xsi:type="dcterms:W3CDTF">2026-09-01T12:31:39Z</dcterms:modified>
  <cp:category/>
</cp:coreProperties>
</file>